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NTERIOR-image-3.jpe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NTERIOR_NG-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image" Target="../media/image-1004-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ERIOR">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pic>
        <p:nvPicPr>
          <p:cNvPr id="3" name="Image 1" descr="gdex_lockup_color.png">    </p:cNvPr>
          <p:cNvPicPr>
            <a:picLocks noChangeAspect="1"/>
          </p:cNvPicPr>
          <p:nvPr/>
        </p:nvPicPr>
        <p:blipFill>
          <a:blip r:embed="rId2"/>
          <a:stretch>
            <a:fillRect/>
          </a:stretch>
        </p:blipFill>
        <p:spPr>
          <a:xfrm>
            <a:off x="10616184" y="6126480"/>
            <a:ext cx="960120" cy="484632"/>
          </a:xfrm>
          <a:prstGeom prst="rect">
            <a:avLst/>
          </a:prstGeom>
        </p:spPr>
      </p:pic>
      <p:sp>
        <p:nvSpPr>
          <p:cNvPr id="4"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IOR_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sp>
        <p:nvSpPr>
          <p:cNvPr id="3"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TERIOR_DARK">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nsf_ncar_logo_white.png">    </p:cNvPr>
          <p:cNvPicPr>
            <a:picLocks noChangeAspect="1"/>
          </p:cNvPicPr>
          <p:nvPr/>
        </p:nvPicPr>
        <p:blipFill>
          <a:blip r:embed="rId2"/>
          <a:stretch>
            <a:fillRect/>
          </a:stretch>
        </p:blipFill>
        <p:spPr>
          <a:xfrm>
            <a:off x="9683496" y="402336"/>
            <a:ext cx="1892808" cy="521208"/>
          </a:xfrm>
          <a:prstGeom prst="rect">
            <a:avLst/>
          </a:prstGeom>
        </p:spPr>
      </p:pic>
      <p:pic>
        <p:nvPicPr>
          <p:cNvPr id="4" name="Image 2" descr="gdex_lockup_white.png">    </p:cNvPr>
          <p:cNvPicPr>
            <a:picLocks noChangeAspect="1"/>
          </p:cNvPicPr>
          <p:nvPr/>
        </p:nvPicPr>
        <p:blipFill>
          <a:blip r:embed="rId3"/>
          <a:stretch>
            <a:fillRect/>
          </a:stretch>
        </p:blipFill>
        <p:spPr>
          <a:xfrm>
            <a:off x="10616184" y="6126480"/>
            <a:ext cx="960120" cy="484632"/>
          </a:xfrm>
          <a:prstGeom prst="rect">
            <a:avLst/>
          </a:prstGeom>
        </p:spPr>
      </p:pic>
      <p:sp>
        <p:nvSpPr>
          <p:cNvPr id="5" name="Shape 0"/>
          <p:cNvSpPr/>
          <p:nvPr/>
        </p:nvSpPr>
        <p:spPr>
          <a:xfrm>
            <a:off x="612648" y="6437376"/>
            <a:ext cx="0" cy="201168"/>
          </a:xfrm>
          <a:prstGeom prst="line">
            <a:avLst/>
          </a:prstGeom>
          <a:noFill/>
          <a:ln w="9525">
            <a:solidFill>
              <a:srgbClr val="FFFFFF"/>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NCAR/rda-python-dsquasar" TargetMode="External"/><Relationship Id="rId2" Type="http://schemas.openxmlformats.org/officeDocument/2006/relationships/hyperlink" Target="https://pypi.org/project/rda-python-dsquasar" TargetMode="External"/><Relationship Id="rId3" Type="http://schemas.openxmlformats.org/officeDocument/2006/relationships/hyperlink" Target="https://github.com/NCAR/rda-python-dsquasar" TargetMode="External"/><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4" Type="http://schemas.openxmlformats.org/officeDocument/2006/relationships/hyperlink" Target="https://github.com/NCAR/rda-python-dsquasar" TargetMode="External"/><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1837"/>
        </a:solidFill>
      </p:bgPr>
    </p:bg>
    <p:spTree>
      <p:nvGrpSpPr>
        <p:cNvPr id="1" name=""/>
        <p:cNvGrpSpPr/>
        <p:nvPr/>
      </p:nvGrpSpPr>
      <p:grpSpPr>
        <a:xfrm>
          <a:off x="0" y="0"/>
          <a:ext cx="0" cy="0"/>
          <a:chOff x="0" y="0"/>
          <a:chExt cx="0" cy="0"/>
        </a:xfrm>
      </p:grpSpPr>
      <p:pic>
        <p:nvPicPr>
          <p:cNvPr id="2" name="Image 0" descr="cover_earth.jpg">    </p:cNvPr>
          <p:cNvPicPr>
            <a:picLocks noChangeAspect="1"/>
          </p:cNvPicPr>
          <p:nvPr/>
        </p:nvPicPr>
        <p:blipFill>
          <a:blip r:embed="rId1"/>
          <a:stretch>
            <a:fillRect/>
          </a:stretch>
        </p:blipFill>
        <p:spPr>
          <a:xfrm>
            <a:off x="3081528" y="0"/>
            <a:ext cx="9107424" cy="6858000"/>
          </a:xfrm>
          <a:prstGeom prst="rect">
            <a:avLst/>
          </a:prstGeom>
        </p:spPr>
      </p:pic>
      <p:pic>
        <p:nvPicPr>
          <p:cNvPr id="3" name="Image 1" descr="cover_blue.png">    </p:cNvPr>
          <p:cNvPicPr>
            <a:picLocks noChangeAspect="1"/>
          </p:cNvPicPr>
          <p:nvPr/>
        </p:nvPicPr>
        <p:blipFill>
          <a:blip r:embed="rId2"/>
          <a:stretch>
            <a:fillRect/>
          </a:stretch>
        </p:blipFill>
        <p:spPr>
          <a:xfrm>
            <a:off x="0" y="0"/>
            <a:ext cx="8686800" cy="6858000"/>
          </a:xfrm>
          <a:prstGeom prst="rect">
            <a:avLst/>
          </a:prstGeom>
        </p:spPr>
      </p:pic>
      <p:pic>
        <p:nvPicPr>
          <p:cNvPr id="4" name="Image 2" descr="nsf_ncar_logo_white.png">    </p:cNvPr>
          <p:cNvPicPr>
            <a:picLocks noChangeAspect="1"/>
          </p:cNvPicPr>
          <p:nvPr/>
        </p:nvPicPr>
        <p:blipFill>
          <a:blip r:embed="rId3"/>
          <a:stretch>
            <a:fillRect/>
          </a:stretch>
        </p:blipFill>
        <p:spPr>
          <a:xfrm>
            <a:off x="841248" y="758952"/>
            <a:ext cx="3794760" cy="1042416"/>
          </a:xfrm>
          <a:prstGeom prst="rect">
            <a:avLst/>
          </a:prstGeom>
        </p:spPr>
      </p:pic>
      <p:pic>
        <p:nvPicPr>
          <p:cNvPr id="5" name="Image 3" descr="gdex_lockup_white.png">    </p:cNvPr>
          <p:cNvPicPr>
            <a:picLocks noChangeAspect="1"/>
          </p:cNvPicPr>
          <p:nvPr/>
        </p:nvPicPr>
        <p:blipFill>
          <a:blip r:embed="rId4"/>
          <a:stretch>
            <a:fillRect/>
          </a:stretch>
        </p:blipFill>
        <p:spPr>
          <a:xfrm>
            <a:off x="8247888" y="722376"/>
            <a:ext cx="2212848" cy="1115568"/>
          </a:xfrm>
          <a:prstGeom prst="rect">
            <a:avLst/>
          </a:prstGeom>
        </p:spPr>
      </p:pic>
      <p:sp>
        <p:nvSpPr>
          <p:cNvPr id="6" name="Shape 0"/>
          <p:cNvSpPr/>
          <p:nvPr/>
        </p:nvSpPr>
        <p:spPr>
          <a:xfrm>
            <a:off x="0" y="2258568"/>
            <a:ext cx="210312" cy="3429000"/>
          </a:xfrm>
          <a:prstGeom prst="rect">
            <a:avLst/>
          </a:prstGeom>
          <a:solidFill>
            <a:srgbClr val="FAA119"/>
          </a:solidFill>
          <a:ln/>
        </p:spPr>
      </p:sp>
      <p:sp>
        <p:nvSpPr>
          <p:cNvPr id="7" name="Text 1"/>
          <p:cNvSpPr/>
          <p:nvPr/>
        </p:nvSpPr>
        <p:spPr>
          <a:xfrm>
            <a:off x="923544" y="2002536"/>
            <a:ext cx="5029200" cy="274320"/>
          </a:xfrm>
          <a:prstGeom prst="rect">
            <a:avLst/>
          </a:prstGeom>
          <a:noFill/>
          <a:ln/>
        </p:spPr>
        <p:txBody>
          <a:bodyPr wrap="square" lIns="0" tIns="0" rIns="0" bIns="0" rtlCol="0" anchor="ctr"/>
          <a:lstStyle/>
          <a:p>
            <a:pPr indent="0" marL="0">
              <a:buNone/>
            </a:pPr>
            <a:r>
              <a:rPr lang="en-US" sz="1100" b="1" spc="100" kern="0" dirty="0">
                <a:solidFill>
                  <a:srgbClr val="FFFFFF"/>
                </a:solidFill>
                <a:latin typeface="Poppins" pitchFamily="34" charset="0"/>
                <a:ea typeface="Poppins" pitchFamily="34" charset="-122"/>
                <a:cs typeface="Poppins" pitchFamily="34" charset="-120"/>
              </a:rPr>
              <a:t>UPDATED AUGUST 2026</a:t>
            </a:r>
            <a:endParaRPr lang="en-US" sz="1100" dirty="0"/>
          </a:p>
        </p:txBody>
      </p:sp>
      <p:sp>
        <p:nvSpPr>
          <p:cNvPr id="8" name="Text 2"/>
          <p:cNvSpPr/>
          <p:nvPr/>
        </p:nvSpPr>
        <p:spPr>
          <a:xfrm>
            <a:off x="923544" y="2331720"/>
            <a:ext cx="5029200" cy="1691640"/>
          </a:xfrm>
          <a:prstGeom prst="rect">
            <a:avLst/>
          </a:prstGeom>
          <a:noFill/>
          <a:ln/>
        </p:spPr>
        <p:txBody>
          <a:bodyPr wrap="square" lIns="0" tIns="0" rIns="0" bIns="0" rtlCol="0" anchor="t"/>
          <a:lstStyle/>
          <a:p>
            <a:pPr indent="0" marL="0">
              <a:lnSpc>
                <a:spcPct val="95000"/>
              </a:lnSpc>
              <a:buNone/>
            </a:pPr>
            <a:r>
              <a:rPr lang="en-US" sz="2900" b="1" dirty="0">
                <a:solidFill>
                  <a:srgbClr val="FFFFFF"/>
                </a:solidFill>
                <a:latin typeface="Poppins" pitchFamily="34" charset="0"/>
                <a:ea typeface="Poppins" pitchFamily="34" charset="-122"/>
                <a:cs typeface="Poppins" pitchFamily="34" charset="-120"/>
              </a:rPr>
              <a:t>dsquasar: Backing Up the GDEX Archive onto Quasar</a:t>
            </a:r>
            <a:endParaRPr lang="en-US" sz="2900" dirty="0"/>
          </a:p>
        </p:txBody>
      </p:sp>
      <p:sp>
        <p:nvSpPr>
          <p:cNvPr id="9" name="Text 3"/>
          <p:cNvSpPr/>
          <p:nvPr/>
        </p:nvSpPr>
        <p:spPr>
          <a:xfrm>
            <a:off x="923544" y="4069080"/>
            <a:ext cx="5029200" cy="365760"/>
          </a:xfrm>
          <a:prstGeom prst="rect">
            <a:avLst/>
          </a:prstGeom>
          <a:noFill/>
          <a:ln/>
        </p:spPr>
        <p:txBody>
          <a:bodyPr wrap="square" lIns="0" tIns="0" rIns="0" bIns="0" rtlCol="0" anchor="ctr"/>
          <a:lstStyle/>
          <a:p>
            <a:pPr indent="0" marL="0">
              <a:buNone/>
            </a:pPr>
            <a:r>
              <a:rPr lang="en-US" sz="1300" b="1" dirty="0">
                <a:solidFill>
                  <a:srgbClr val="FFFFFF"/>
                </a:solidFill>
                <a:latin typeface="Poppins" pitchFamily="34" charset="0"/>
                <a:ea typeface="Poppins" pitchFamily="34" charset="-122"/>
                <a:cs typeface="Poppins" pitchFamily="34" charset="-120"/>
              </a:rPr>
              <a:t>Gather → List → Tar → Transfer, tracked end-to-end in GDEXDB</a:t>
            </a:r>
            <a:endParaRPr lang="en-US" sz="1300" dirty="0"/>
          </a:p>
        </p:txBody>
      </p:sp>
      <p:sp>
        <p:nvSpPr>
          <p:cNvPr id="10" name="Shape 4"/>
          <p:cNvSpPr/>
          <p:nvPr/>
        </p:nvSpPr>
        <p:spPr>
          <a:xfrm>
            <a:off x="923544" y="4581144"/>
            <a:ext cx="804672" cy="0"/>
          </a:xfrm>
          <a:prstGeom prst="line">
            <a:avLst/>
          </a:prstGeom>
          <a:noFill/>
          <a:ln w="38100">
            <a:solidFill>
              <a:srgbClr val="42C0FF"/>
            </a:solidFill>
            <a:prstDash val="solid"/>
          </a:ln>
        </p:spPr>
      </p:sp>
      <p:sp>
        <p:nvSpPr>
          <p:cNvPr id="11" name="Text 5"/>
          <p:cNvSpPr/>
          <p:nvPr/>
        </p:nvSpPr>
        <p:spPr>
          <a:xfrm>
            <a:off x="923544" y="4828032"/>
            <a:ext cx="5029200" cy="32004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Zaihua Ji</a:t>
            </a:r>
            <a:endParaRPr lang="en-US" sz="1600" dirty="0"/>
          </a:p>
        </p:txBody>
      </p:sp>
      <p:sp>
        <p:nvSpPr>
          <p:cNvPr id="12" name="Text 6"/>
          <p:cNvSpPr/>
          <p:nvPr/>
        </p:nvSpPr>
        <p:spPr>
          <a:xfrm>
            <a:off x="923544" y="5148072"/>
            <a:ext cx="5029200" cy="320040"/>
          </a:xfrm>
          <a:prstGeom prst="rect">
            <a:avLst/>
          </a:prstGeom>
          <a:noFill/>
          <a:ln/>
        </p:spPr>
        <p:txBody>
          <a:bodyPr wrap="square" lIns="0" tIns="0" rIns="0" bIns="0" rtlCol="0" anchor="ctr"/>
          <a:lstStyle/>
          <a:p>
            <a:pPr indent="0" marL="0">
              <a:buNone/>
            </a:pPr>
            <a:r>
              <a:rPr lang="en-US" sz="1600" dirty="0">
                <a:solidFill>
                  <a:srgbClr val="FFFFFF"/>
                </a:solidFill>
                <a:latin typeface="Poppins" pitchFamily="34" charset="0"/>
                <a:ea typeface="Poppins" pitchFamily="34" charset="-122"/>
                <a:cs typeface="Poppins" pitchFamily="34" charset="-120"/>
              </a:rPr>
              <a:t>Software Engineer  •  zji@ucar.edu</a:t>
            </a:r>
            <a:endParaRPr lang="en-US" sz="1600" dirty="0"/>
          </a:p>
        </p:txBody>
      </p:sp>
      <p:sp>
        <p:nvSpPr>
          <p:cNvPr id="13" name="Text 7"/>
          <p:cNvSpPr/>
          <p:nvPr/>
        </p:nvSpPr>
        <p:spPr>
          <a:xfrm>
            <a:off x="923544" y="5559552"/>
            <a:ext cx="5029200" cy="457200"/>
          </a:xfrm>
          <a:prstGeom prst="rect">
            <a:avLst/>
          </a:prstGeom>
          <a:noFill/>
          <a:ln/>
        </p:spPr>
        <p:txBody>
          <a:bodyPr wrap="square" lIns="0" tIns="0" rIns="0" bIns="0" rtlCol="0" anchor="ctr"/>
          <a:lstStyle/>
          <a:p>
            <a:pPr indent="0" marL="0">
              <a:lnSpc>
                <a:spcPct val="110000"/>
              </a:lnSpc>
              <a:buNone/>
            </a:pPr>
            <a:r>
              <a:rPr lang="en-US" sz="950" dirty="0">
                <a:solidFill>
                  <a:srgbClr val="FFFFFF"/>
                </a:solidFill>
                <a:latin typeface="Poppins" pitchFamily="34" charset="0"/>
                <a:ea typeface="Poppins" pitchFamily="34" charset="-122"/>
                <a:cs typeface="Poppins" pitchFamily="34" charset="-120"/>
              </a:rPr>
              <a:t>BACKUP &amp; DISASTER RECOVERY • BATCH OPERATIONS • COMPANION UTILITY TO DSARCH</a:t>
            </a:r>
            <a:endParaRPr lang="en-US" sz="950" dirty="0"/>
          </a:p>
        </p:txBody>
      </p:sp>
      <p:sp>
        <p:nvSpPr>
          <p:cNvPr id="14" name="Text 8"/>
          <p:cNvSpPr/>
          <p:nvPr/>
        </p:nvSpPr>
        <p:spPr>
          <a:xfrm>
            <a:off x="923544" y="6217920"/>
            <a:ext cx="5029200" cy="411480"/>
          </a:xfrm>
          <a:prstGeom prst="rect">
            <a:avLst/>
          </a:prstGeom>
          <a:noFill/>
          <a:ln/>
        </p:spPr>
        <p:txBody>
          <a:bodyPr wrap="square" lIns="0" tIns="0" rIns="0" bIns="0" rtlCol="0" anchor="ctr"/>
          <a:lstStyle/>
          <a:p>
            <a:pPr indent="0" marL="0">
              <a:lnSpc>
                <a:spcPct val="110000"/>
              </a:lnSpc>
              <a:buNone/>
            </a:pPr>
            <a:r>
              <a:rPr lang="en-US" sz="700" i="1" dirty="0">
                <a:solidFill>
                  <a:srgbClr val="FFFFFF"/>
                </a:solidFill>
                <a:latin typeface="Poppins" pitchFamily="34" charset="0"/>
                <a:ea typeface="Poppins" pitchFamily="34" charset="-122"/>
                <a:cs typeface="Poppins" pitchFamily="34" charset="-120"/>
              </a:rPr>
              <a:t>Tars are built through dsarch AQ, uploaded through dsglobus, and scheduled by dscheck — every step tracked in GDEXDB.</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OVERVIEW</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What is dsquasar?</a:t>
            </a:r>
            <a:endParaRPr lang="en-US" sz="3200" dirty="0"/>
          </a:p>
        </p:txBody>
      </p:sp>
      <p:sp>
        <p:nvSpPr>
          <p:cNvPr id="4" name="Text 2"/>
          <p:cNvSpPr/>
          <p:nvPr/>
        </p:nvSpPr>
        <p:spPr>
          <a:xfrm>
            <a:off x="457200" y="1481328"/>
            <a:ext cx="4846320" cy="1737360"/>
          </a:xfrm>
          <a:prstGeom prst="rect">
            <a:avLst/>
          </a:prstGeom>
          <a:noFill/>
          <a:ln/>
        </p:spPr>
        <p:txBody>
          <a:bodyPr wrap="square" lIns="0" tIns="0" rIns="0" bIns="0" rtlCol="0" anchor="t"/>
          <a:lstStyle/>
          <a:p>
            <a:pPr indent="0" marL="0">
              <a:lnSpc>
                <a:spcPct val="112000"/>
              </a:lnSpc>
              <a:buNone/>
            </a:pPr>
            <a:r>
              <a:rPr lang="en-US" sz="1500" b="1" dirty="0">
                <a:solidFill>
                  <a:srgbClr val="0057C2"/>
                </a:solidFill>
                <a:latin typeface="Poppins" pitchFamily="34" charset="0"/>
                <a:ea typeface="Poppins" pitchFamily="34" charset="-122"/>
                <a:cs typeface="Poppins" pitchFamily="34" charset="-120"/>
              </a:rPr>
              <a:t>dsquasar</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keeps a </a:t>
            </a:r>
            <a:pPr indent="0" marL="0">
              <a:lnSpc>
                <a:spcPct val="112000"/>
              </a:lnSpc>
              <a:buNone/>
            </a:pPr>
            <a:r>
              <a:rPr lang="en-US" sz="1500" b="1" dirty="0">
                <a:solidFill>
                  <a:srgbClr val="00357A"/>
                </a:solidFill>
                <a:latin typeface="Poppins" pitchFamily="34" charset="0"/>
                <a:ea typeface="Poppins" pitchFamily="34" charset="-122"/>
                <a:cs typeface="Poppins" pitchFamily="34" charset="-120"/>
              </a:rPr>
              <a:t>tape copy of the whole GDEX archive</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It finds files never backed up, bundles them into large tar files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dsarch AQ</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then uploads many tars at once to the Quasar end points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dsglobus</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a:t>
            </a:r>
            <a:endParaRPr lang="en-US" sz="1500" dirty="0"/>
          </a:p>
        </p:txBody>
      </p:sp>
      <p:sp>
        <p:nvSpPr>
          <p:cNvPr id="5" name="Shape 3"/>
          <p:cNvSpPr/>
          <p:nvPr/>
        </p:nvSpPr>
        <p:spPr>
          <a:xfrm>
            <a:off x="457200" y="3337560"/>
            <a:ext cx="4846320" cy="2697480"/>
          </a:xfrm>
          <a:prstGeom prst="roundRect">
            <a:avLst>
              <a:gd name="adj" fmla="val 3390"/>
            </a:avLst>
          </a:prstGeom>
          <a:solidFill>
            <a:srgbClr val="DCEBF7"/>
          </a:solidFill>
          <a:ln w="12700">
            <a:solidFill>
              <a:srgbClr val="A9D6F2"/>
            </a:solidFill>
            <a:prstDash val="solid"/>
          </a:ln>
        </p:spPr>
      </p:sp>
      <p:sp>
        <p:nvSpPr>
          <p:cNvPr id="6" name="Shape 4"/>
          <p:cNvSpPr/>
          <p:nvPr/>
        </p:nvSpPr>
        <p:spPr>
          <a:xfrm>
            <a:off x="457200" y="3337560"/>
            <a:ext cx="109728" cy="2697480"/>
          </a:xfrm>
          <a:prstGeom prst="rect">
            <a:avLst/>
          </a:prstGeom>
          <a:solidFill>
            <a:srgbClr val="0057C2"/>
          </a:solidFill>
          <a:ln/>
        </p:spPr>
      </p:sp>
      <p:sp>
        <p:nvSpPr>
          <p:cNvPr id="7" name="Text 5"/>
          <p:cNvSpPr/>
          <p:nvPr/>
        </p:nvSpPr>
        <p:spPr>
          <a:xfrm>
            <a:off x="731520" y="3493008"/>
            <a:ext cx="4434840" cy="365760"/>
          </a:xfrm>
          <a:prstGeom prst="rect">
            <a:avLst/>
          </a:prstGeom>
          <a:noFill/>
          <a:ln/>
        </p:spPr>
        <p:txBody>
          <a:bodyPr wrap="square" lIns="0" tIns="0" rIns="0" bIns="0" rtlCol="0" anchor="ctr"/>
          <a:lstStyle/>
          <a:p>
            <a:pPr indent="0" marL="0">
              <a:buNone/>
            </a:pPr>
            <a:r>
              <a:rPr lang="en-US" sz="1450" b="1" dirty="0">
                <a:solidFill>
                  <a:srgbClr val="0057C2"/>
                </a:solidFill>
                <a:latin typeface="Poppins" pitchFamily="34" charset="0"/>
                <a:ea typeface="Poppins" pitchFamily="34" charset="-122"/>
                <a:cs typeface="Poppins" pitchFamily="34" charset="-120"/>
              </a:rPr>
              <a:t>Driven entirely by GDEXDB flags</a:t>
            </a:r>
            <a:endParaRPr lang="en-US" sz="1450" dirty="0"/>
          </a:p>
        </p:txBody>
      </p:sp>
      <p:sp>
        <p:nvSpPr>
          <p:cNvPr id="8" name="Shape 6"/>
          <p:cNvSpPr/>
          <p:nvPr/>
        </p:nvSpPr>
        <p:spPr>
          <a:xfrm>
            <a:off x="731520" y="3877056"/>
            <a:ext cx="4279392" cy="0"/>
          </a:xfrm>
          <a:prstGeom prst="line">
            <a:avLst/>
          </a:prstGeom>
          <a:noFill/>
          <a:ln w="12700">
            <a:solidFill>
              <a:srgbClr val="A9D6F2"/>
            </a:solidFill>
            <a:prstDash val="solid"/>
          </a:ln>
        </p:spPr>
      </p:sp>
      <p:sp>
        <p:nvSpPr>
          <p:cNvPr id="9" name="Text 7"/>
          <p:cNvSpPr/>
          <p:nvPr/>
        </p:nvSpPr>
        <p:spPr>
          <a:xfrm>
            <a:off x="731520" y="3986784"/>
            <a:ext cx="4389120" cy="1920240"/>
          </a:xfrm>
          <a:prstGeom prst="rect">
            <a:avLst/>
          </a:prstGeom>
          <a:noFill/>
          <a:ln/>
        </p:spPr>
        <p:txBody>
          <a:bodyPr wrap="square" lIns="0" tIns="0" rIns="0" bIns="0" rtlCol="0" anchor="t"/>
          <a:lstStyle/>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Nothing is configured per run: a dataset joins the backup when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set;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dsgroup.backflag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refines it per group.</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Any file with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bid = 0</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not backed up yet, and is picked up automatically.</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Every tar gets a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bfile</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record whose status tracks it from list to tape.</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Work is resumable: a run that stops leaves its pending records behind.</a:t>
            </a:r>
            <a:endParaRPr lang="en-US" sz="1200" dirty="0"/>
          </a:p>
        </p:txBody>
      </p:sp>
      <p:sp>
        <p:nvSpPr>
          <p:cNvPr id="10" name="Shape 8"/>
          <p:cNvSpPr/>
          <p:nvPr/>
        </p:nvSpPr>
        <p:spPr>
          <a:xfrm>
            <a:off x="571500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1" name="Shape 9"/>
          <p:cNvSpPr/>
          <p:nvPr/>
        </p:nvSpPr>
        <p:spPr>
          <a:xfrm>
            <a:off x="5916168" y="1728216"/>
            <a:ext cx="566928" cy="566928"/>
          </a:xfrm>
          <a:prstGeom prst="ellipse">
            <a:avLst/>
          </a:prstGeom>
          <a:solidFill>
            <a:srgbClr val="0057C2"/>
          </a:solidFill>
          <a:ln/>
        </p:spPr>
      </p:sp>
      <p:sp>
        <p:nvSpPr>
          <p:cNvPr id="12" name="Text 10"/>
          <p:cNvSpPr/>
          <p:nvPr/>
        </p:nvSpPr>
        <p:spPr>
          <a:xfrm>
            <a:off x="591616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3" name="Text 11"/>
          <p:cNvSpPr/>
          <p:nvPr/>
        </p:nvSpPr>
        <p:spPr>
          <a:xfrm>
            <a:off x="662940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Gather</a:t>
            </a:r>
            <a:endParaRPr lang="en-US" sz="1500" dirty="0"/>
          </a:p>
        </p:txBody>
      </p:sp>
      <p:sp>
        <p:nvSpPr>
          <p:cNvPr id="14" name="Text 12"/>
          <p:cNvSpPr/>
          <p:nvPr/>
        </p:nvSpPr>
        <p:spPr>
          <a:xfrm>
            <a:off x="662940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find Web/Saved files still to back up</a:t>
            </a:r>
            <a:endParaRPr lang="en-US" sz="1200" dirty="0"/>
          </a:p>
        </p:txBody>
      </p:sp>
      <p:sp>
        <p:nvSpPr>
          <p:cNvPr id="15" name="Shape 13"/>
          <p:cNvSpPr/>
          <p:nvPr/>
        </p:nvSpPr>
        <p:spPr>
          <a:xfrm>
            <a:off x="900684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6" name="Shape 14"/>
          <p:cNvSpPr/>
          <p:nvPr/>
        </p:nvSpPr>
        <p:spPr>
          <a:xfrm>
            <a:off x="9208008" y="1728216"/>
            <a:ext cx="566928" cy="566928"/>
          </a:xfrm>
          <a:prstGeom prst="ellipse">
            <a:avLst/>
          </a:prstGeom>
          <a:solidFill>
            <a:srgbClr val="0092DB"/>
          </a:solidFill>
          <a:ln/>
        </p:spPr>
      </p:sp>
      <p:sp>
        <p:nvSpPr>
          <p:cNvPr id="17" name="Text 15"/>
          <p:cNvSpPr/>
          <p:nvPr/>
        </p:nvSpPr>
        <p:spPr>
          <a:xfrm>
            <a:off x="920800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992124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List</a:t>
            </a:r>
            <a:endParaRPr lang="en-US" sz="1500" dirty="0"/>
          </a:p>
        </p:txBody>
      </p:sp>
      <p:sp>
        <p:nvSpPr>
          <p:cNvPr id="19" name="Text 17"/>
          <p:cNvSpPr/>
          <p:nvPr/>
        </p:nvSpPr>
        <p:spPr>
          <a:xfrm>
            <a:off x="992124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write dsarch input files, add bfile records</a:t>
            </a:r>
            <a:endParaRPr lang="en-US" sz="1200" dirty="0"/>
          </a:p>
        </p:txBody>
      </p:sp>
      <p:sp>
        <p:nvSpPr>
          <p:cNvPr id="20" name="Shape 18"/>
          <p:cNvSpPr/>
          <p:nvPr/>
        </p:nvSpPr>
        <p:spPr>
          <a:xfrm>
            <a:off x="571500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1" name="Shape 19"/>
          <p:cNvSpPr/>
          <p:nvPr/>
        </p:nvSpPr>
        <p:spPr>
          <a:xfrm>
            <a:off x="5916168" y="3328416"/>
            <a:ext cx="566928" cy="566928"/>
          </a:xfrm>
          <a:prstGeom prst="ellipse">
            <a:avLst/>
          </a:prstGeom>
          <a:solidFill>
            <a:srgbClr val="0057C2"/>
          </a:solidFill>
          <a:ln/>
        </p:spPr>
      </p:sp>
      <p:sp>
        <p:nvSpPr>
          <p:cNvPr id="22" name="Text 20"/>
          <p:cNvSpPr/>
          <p:nvPr/>
        </p:nvSpPr>
        <p:spPr>
          <a:xfrm>
            <a:off x="591616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3" name="Text 21"/>
          <p:cNvSpPr/>
          <p:nvPr/>
        </p:nvSpPr>
        <p:spPr>
          <a:xfrm>
            <a:off x="662940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Tar</a:t>
            </a:r>
            <a:endParaRPr lang="en-US" sz="1500" dirty="0"/>
          </a:p>
        </p:txBody>
      </p:sp>
      <p:sp>
        <p:nvSpPr>
          <p:cNvPr id="24" name="Text 22"/>
          <p:cNvSpPr/>
          <p:nvPr/>
        </p:nvSpPr>
        <p:spPr>
          <a:xfrm>
            <a:off x="662940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bundle into &gt;=5 GB tar files via dsarch</a:t>
            </a:r>
            <a:endParaRPr lang="en-US" sz="1200" dirty="0"/>
          </a:p>
        </p:txBody>
      </p:sp>
      <p:sp>
        <p:nvSpPr>
          <p:cNvPr id="25" name="Shape 23"/>
          <p:cNvSpPr/>
          <p:nvPr/>
        </p:nvSpPr>
        <p:spPr>
          <a:xfrm>
            <a:off x="900684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6" name="Shape 24"/>
          <p:cNvSpPr/>
          <p:nvPr/>
        </p:nvSpPr>
        <p:spPr>
          <a:xfrm>
            <a:off x="9208008" y="3328416"/>
            <a:ext cx="566928" cy="566928"/>
          </a:xfrm>
          <a:prstGeom prst="ellipse">
            <a:avLst/>
          </a:prstGeom>
          <a:solidFill>
            <a:srgbClr val="0092DB"/>
          </a:solidFill>
          <a:ln/>
        </p:spPr>
      </p:sp>
      <p:sp>
        <p:nvSpPr>
          <p:cNvPr id="27" name="Text 25"/>
          <p:cNvSpPr/>
          <p:nvPr/>
        </p:nvSpPr>
        <p:spPr>
          <a:xfrm>
            <a:off x="920800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92124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Transfer</a:t>
            </a:r>
            <a:endParaRPr lang="en-US" sz="1500" dirty="0"/>
          </a:p>
        </p:txBody>
      </p:sp>
      <p:sp>
        <p:nvSpPr>
          <p:cNvPr id="29" name="Text 27"/>
          <p:cNvSpPr/>
          <p:nvPr/>
        </p:nvSpPr>
        <p:spPr>
          <a:xfrm>
            <a:off x="992124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dsglobus batches to gdex-quasar (+drdata)</a:t>
            </a:r>
            <a:endParaRPr lang="en-US" sz="1200" dirty="0"/>
          </a:p>
        </p:txBody>
      </p:sp>
      <p:sp>
        <p:nvSpPr>
          <p:cNvPr id="30" name="Shape 28"/>
          <p:cNvSpPr/>
          <p:nvPr/>
        </p:nvSpPr>
        <p:spPr>
          <a:xfrm>
            <a:off x="571500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1" name="Shape 29"/>
          <p:cNvSpPr/>
          <p:nvPr/>
        </p:nvSpPr>
        <p:spPr>
          <a:xfrm>
            <a:off x="5916168" y="4928616"/>
            <a:ext cx="566928" cy="566928"/>
          </a:xfrm>
          <a:prstGeom prst="ellipse">
            <a:avLst/>
          </a:prstGeom>
          <a:solidFill>
            <a:srgbClr val="0057C2"/>
          </a:solidFill>
          <a:ln/>
        </p:spPr>
      </p:sp>
      <p:sp>
        <p:nvSpPr>
          <p:cNvPr id="32" name="Text 30"/>
          <p:cNvSpPr/>
          <p:nvPr/>
        </p:nvSpPr>
        <p:spPr>
          <a:xfrm>
            <a:off x="591616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3" name="Text 31"/>
          <p:cNvSpPr/>
          <p:nvPr/>
        </p:nvSpPr>
        <p:spPr>
          <a:xfrm>
            <a:off x="662940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Verify</a:t>
            </a:r>
            <a:endParaRPr lang="en-US" sz="1500" dirty="0"/>
          </a:p>
        </p:txBody>
      </p:sp>
      <p:sp>
        <p:nvSpPr>
          <p:cNvPr id="34" name="Text 32"/>
          <p:cNvSpPr/>
          <p:nvPr/>
        </p:nvSpPr>
        <p:spPr>
          <a:xfrm>
            <a:off x="662940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compare sizes on tape, reset if wrong</a:t>
            </a:r>
            <a:endParaRPr lang="en-US" sz="1200" dirty="0"/>
          </a:p>
        </p:txBody>
      </p:sp>
      <p:sp>
        <p:nvSpPr>
          <p:cNvPr id="35" name="Shape 33"/>
          <p:cNvSpPr/>
          <p:nvPr/>
        </p:nvSpPr>
        <p:spPr>
          <a:xfrm>
            <a:off x="900684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6" name="Shape 34"/>
          <p:cNvSpPr/>
          <p:nvPr/>
        </p:nvSpPr>
        <p:spPr>
          <a:xfrm>
            <a:off x="9208008" y="4928616"/>
            <a:ext cx="566928" cy="566928"/>
          </a:xfrm>
          <a:prstGeom prst="ellipse">
            <a:avLst/>
          </a:prstGeom>
          <a:solidFill>
            <a:srgbClr val="0092DB"/>
          </a:solidFill>
          <a:ln/>
        </p:spPr>
      </p:sp>
      <p:sp>
        <p:nvSpPr>
          <p:cNvPr id="37" name="Text 35"/>
          <p:cNvSpPr/>
          <p:nvPr/>
        </p:nvSpPr>
        <p:spPr>
          <a:xfrm>
            <a:off x="920800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8" name="Text 36"/>
          <p:cNvSpPr/>
          <p:nvPr/>
        </p:nvSpPr>
        <p:spPr>
          <a:xfrm>
            <a:off x="992124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a:t>
            </a:r>
            <a:endParaRPr lang="en-US" sz="1500" dirty="0"/>
          </a:p>
        </p:txBody>
      </p:sp>
      <p:sp>
        <p:nvSpPr>
          <p:cNvPr id="39" name="Text 37"/>
          <p:cNvSpPr/>
          <p:nvPr/>
        </p:nvSpPr>
        <p:spPr>
          <a:xfrm>
            <a:off x="992124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statistics &amp; email for specialists</a:t>
            </a:r>
            <a:endParaRPr lang="en-US" sz="120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GET IT &amp; LEARN IT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Install &amp; Resources</a:t>
            </a:r>
            <a:endParaRPr lang="en-US" sz="3200" dirty="0"/>
          </a:p>
        </p:txBody>
      </p:sp>
      <p:sp>
        <p:nvSpPr>
          <p:cNvPr id="4" name="Shape 2"/>
          <p:cNvSpPr/>
          <p:nvPr/>
        </p:nvSpPr>
        <p:spPr>
          <a:xfrm>
            <a:off x="45720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5" name="Shape 3"/>
          <p:cNvSpPr/>
          <p:nvPr/>
        </p:nvSpPr>
        <p:spPr>
          <a:xfrm>
            <a:off x="457200" y="1691640"/>
            <a:ext cx="3602736" cy="128016"/>
          </a:xfrm>
          <a:prstGeom prst="rect">
            <a:avLst/>
          </a:prstGeom>
          <a:solidFill>
            <a:srgbClr val="0057C2"/>
          </a:solidFill>
          <a:ln/>
        </p:spPr>
      </p:sp>
      <p:sp>
        <p:nvSpPr>
          <p:cNvPr id="6" name="Shape 4"/>
          <p:cNvSpPr/>
          <p:nvPr/>
        </p:nvSpPr>
        <p:spPr>
          <a:xfrm>
            <a:off x="731520" y="2075688"/>
            <a:ext cx="566928" cy="566928"/>
          </a:xfrm>
          <a:prstGeom prst="ellipse">
            <a:avLst/>
          </a:prstGeom>
          <a:solidFill>
            <a:srgbClr val="0057C2"/>
          </a:solidFill>
          <a:ln/>
        </p:spPr>
      </p:sp>
      <p:sp>
        <p:nvSpPr>
          <p:cNvPr id="7" name="Text 5"/>
          <p:cNvSpPr/>
          <p:nvPr/>
        </p:nvSpPr>
        <p:spPr>
          <a:xfrm>
            <a:off x="73152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8" name="Text 6"/>
          <p:cNvSpPr/>
          <p:nvPr/>
        </p:nvSpPr>
        <p:spPr>
          <a:xfrm>
            <a:off x="141732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GitHub Repository</a:t>
            </a:r>
            <a:endParaRPr lang="en-US" sz="1600" dirty="0"/>
          </a:p>
        </p:txBody>
      </p:sp>
      <p:sp>
        <p:nvSpPr>
          <p:cNvPr id="9" name="Text 7"/>
          <p:cNvSpPr/>
          <p:nvPr/>
        </p:nvSpPr>
        <p:spPr>
          <a:xfrm>
            <a:off x="73152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Source code, issues, and contributions.</a:t>
            </a:r>
            <a:endParaRPr lang="en-US" sz="1250" dirty="0"/>
          </a:p>
        </p:txBody>
      </p:sp>
      <p:sp>
        <p:nvSpPr>
          <p:cNvPr id="10" name="Shape 8"/>
          <p:cNvSpPr/>
          <p:nvPr/>
        </p:nvSpPr>
        <p:spPr>
          <a:xfrm>
            <a:off x="731520" y="3703320"/>
            <a:ext cx="3054096" cy="749808"/>
          </a:xfrm>
          <a:prstGeom prst="roundRect">
            <a:avLst>
              <a:gd name="adj" fmla="val 6098"/>
            </a:avLst>
          </a:prstGeom>
          <a:solidFill>
            <a:srgbClr val="011837"/>
          </a:solidFill>
          <a:ln/>
        </p:spPr>
      </p:sp>
      <p:sp>
        <p:nvSpPr>
          <p:cNvPr id="11" name="Text 9"/>
          <p:cNvSpPr/>
          <p:nvPr/>
        </p:nvSpPr>
        <p:spPr>
          <a:xfrm>
            <a:off x="85953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git clone https://github.com/</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NCAR/rda-python-dsquasar.git</a:t>
            </a:r>
            <a:endParaRPr lang="en-US" sz="1050" dirty="0"/>
          </a:p>
        </p:txBody>
      </p:sp>
      <p:sp>
        <p:nvSpPr>
          <p:cNvPr id="12" name="Shape 10"/>
          <p:cNvSpPr/>
          <p:nvPr/>
        </p:nvSpPr>
        <p:spPr>
          <a:xfrm>
            <a:off x="731520" y="4800600"/>
            <a:ext cx="3054096" cy="0"/>
          </a:xfrm>
          <a:prstGeom prst="line">
            <a:avLst/>
          </a:prstGeom>
          <a:noFill/>
          <a:ln w="12700">
            <a:solidFill>
              <a:srgbClr val="A9D6F2"/>
            </a:solidFill>
            <a:prstDash val="solid"/>
          </a:ln>
        </p:spPr>
      </p:sp>
      <p:sp>
        <p:nvSpPr>
          <p:cNvPr id="13" name="Text 11"/>
          <p:cNvSpPr/>
          <p:nvPr/>
        </p:nvSpPr>
        <p:spPr>
          <a:xfrm>
            <a:off x="731520" y="4855464"/>
            <a:ext cx="3218688" cy="310896"/>
          </a:xfrm>
          <a:prstGeom prst="rect">
            <a:avLst/>
          </a:prstGeom>
          <a:noFill/>
          <a:ln/>
        </p:spPr>
        <p:txBody>
          <a:bodyPr wrap="square" lIns="0" tIns="0" rIns="0" bIns="0" rtlCol="0" anchor="ctr"/>
          <a:lstStyle/>
          <a:p>
            <a:pPr indent="0" marL="0">
              <a:buNone/>
            </a:pPr>
            <a:r>
              <a:rPr lang="en-US" sz="950" b="1" dirty="0">
                <a:solidFill>
                  <a:srgbClr val="0057C2"/>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950" dirty="0"/>
          </a:p>
        </p:txBody>
      </p:sp>
      <p:sp>
        <p:nvSpPr>
          <p:cNvPr id="14" name="Shape 12"/>
          <p:cNvSpPr/>
          <p:nvPr/>
        </p:nvSpPr>
        <p:spPr>
          <a:xfrm>
            <a:off x="429768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15" name="Shape 13"/>
          <p:cNvSpPr/>
          <p:nvPr/>
        </p:nvSpPr>
        <p:spPr>
          <a:xfrm>
            <a:off x="4297680" y="1691640"/>
            <a:ext cx="3602736" cy="128016"/>
          </a:xfrm>
          <a:prstGeom prst="rect">
            <a:avLst/>
          </a:prstGeom>
          <a:solidFill>
            <a:srgbClr val="0097A7"/>
          </a:solidFill>
          <a:ln/>
        </p:spPr>
      </p:sp>
      <p:sp>
        <p:nvSpPr>
          <p:cNvPr id="16" name="Shape 14"/>
          <p:cNvSpPr/>
          <p:nvPr/>
        </p:nvSpPr>
        <p:spPr>
          <a:xfrm>
            <a:off x="4572000" y="2075688"/>
            <a:ext cx="566928" cy="566928"/>
          </a:xfrm>
          <a:prstGeom prst="ellipse">
            <a:avLst/>
          </a:prstGeom>
          <a:solidFill>
            <a:srgbClr val="0097A7"/>
          </a:solidFill>
          <a:ln/>
        </p:spPr>
      </p:sp>
      <p:sp>
        <p:nvSpPr>
          <p:cNvPr id="17" name="Text 15"/>
          <p:cNvSpPr/>
          <p:nvPr/>
        </p:nvSpPr>
        <p:spPr>
          <a:xfrm>
            <a:off x="457200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525780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PyPI Package</a:t>
            </a:r>
            <a:endParaRPr lang="en-US" sz="1600" dirty="0"/>
          </a:p>
        </p:txBody>
      </p:sp>
      <p:sp>
        <p:nvSpPr>
          <p:cNvPr id="19" name="Text 17"/>
          <p:cNvSpPr/>
          <p:nvPr/>
        </p:nvSpPr>
        <p:spPr>
          <a:xfrm>
            <a:off x="457200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Install the released package with pip; pulls in rda_python_common and rda_python_dsarch.</a:t>
            </a:r>
            <a:endParaRPr lang="en-US" sz="1250" dirty="0"/>
          </a:p>
        </p:txBody>
      </p:sp>
      <p:sp>
        <p:nvSpPr>
          <p:cNvPr id="20" name="Shape 18"/>
          <p:cNvSpPr/>
          <p:nvPr/>
        </p:nvSpPr>
        <p:spPr>
          <a:xfrm>
            <a:off x="4572000" y="3703320"/>
            <a:ext cx="3054096" cy="749808"/>
          </a:xfrm>
          <a:prstGeom prst="roundRect">
            <a:avLst>
              <a:gd name="adj" fmla="val 6098"/>
            </a:avLst>
          </a:prstGeom>
          <a:solidFill>
            <a:srgbClr val="011837"/>
          </a:solidFill>
          <a:ln/>
        </p:spPr>
      </p:sp>
      <p:sp>
        <p:nvSpPr>
          <p:cNvPr id="21" name="Text 19"/>
          <p:cNvSpPr/>
          <p:nvPr/>
        </p:nvSpPr>
        <p:spPr>
          <a:xfrm>
            <a:off x="470001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pip install rda_python_dsquasar</a:t>
            </a:r>
            <a:endParaRPr lang="en-US" sz="1050" dirty="0"/>
          </a:p>
        </p:txBody>
      </p:sp>
      <p:sp>
        <p:nvSpPr>
          <p:cNvPr id="22" name="Shape 20"/>
          <p:cNvSpPr/>
          <p:nvPr/>
        </p:nvSpPr>
        <p:spPr>
          <a:xfrm>
            <a:off x="4572000" y="4800600"/>
            <a:ext cx="3054096" cy="0"/>
          </a:xfrm>
          <a:prstGeom prst="line">
            <a:avLst/>
          </a:prstGeom>
          <a:noFill/>
          <a:ln w="12700">
            <a:solidFill>
              <a:srgbClr val="A9D6F2"/>
            </a:solidFill>
            <a:prstDash val="solid"/>
          </a:ln>
        </p:spPr>
      </p:sp>
      <p:sp>
        <p:nvSpPr>
          <p:cNvPr id="23" name="Text 21"/>
          <p:cNvSpPr/>
          <p:nvPr/>
        </p:nvSpPr>
        <p:spPr>
          <a:xfrm>
            <a:off x="4572000" y="4855464"/>
            <a:ext cx="3218688" cy="310896"/>
          </a:xfrm>
          <a:prstGeom prst="rect">
            <a:avLst/>
          </a:prstGeom>
          <a:noFill/>
          <a:ln/>
        </p:spPr>
        <p:txBody>
          <a:bodyPr wrap="square" lIns="0" tIns="0" rIns="0" bIns="0" rtlCol="0" anchor="ctr"/>
          <a:lstStyle/>
          <a:p>
            <a:pPr indent="0" marL="0">
              <a:buNone/>
            </a:pPr>
            <a:r>
              <a:rPr lang="en-US" sz="950" b="1" dirty="0">
                <a:solidFill>
                  <a:srgbClr val="0097A7"/>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pypi.org/project/rda-python-dsquasar</a:t>
            </a:r>
            <a:endParaRPr lang="en-US" sz="950" dirty="0"/>
          </a:p>
        </p:txBody>
      </p:sp>
      <p:sp>
        <p:nvSpPr>
          <p:cNvPr id="24" name="Shape 22"/>
          <p:cNvSpPr/>
          <p:nvPr/>
        </p:nvSpPr>
        <p:spPr>
          <a:xfrm>
            <a:off x="813816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25" name="Shape 23"/>
          <p:cNvSpPr/>
          <p:nvPr/>
        </p:nvSpPr>
        <p:spPr>
          <a:xfrm>
            <a:off x="8138160" y="1691640"/>
            <a:ext cx="3602736" cy="128016"/>
          </a:xfrm>
          <a:prstGeom prst="rect">
            <a:avLst/>
          </a:prstGeom>
          <a:solidFill>
            <a:srgbClr val="C25E00"/>
          </a:solidFill>
          <a:ln/>
        </p:spPr>
      </p:sp>
      <p:sp>
        <p:nvSpPr>
          <p:cNvPr id="26" name="Shape 24"/>
          <p:cNvSpPr/>
          <p:nvPr/>
        </p:nvSpPr>
        <p:spPr>
          <a:xfrm>
            <a:off x="8412480" y="2075688"/>
            <a:ext cx="566928" cy="566928"/>
          </a:xfrm>
          <a:prstGeom prst="ellipse">
            <a:avLst/>
          </a:prstGeom>
          <a:solidFill>
            <a:srgbClr val="C25E00"/>
          </a:solidFill>
          <a:ln/>
        </p:spPr>
      </p:sp>
      <p:sp>
        <p:nvSpPr>
          <p:cNvPr id="27" name="Text 25"/>
          <p:cNvSpPr/>
          <p:nvPr/>
        </p:nvSpPr>
        <p:spPr>
          <a:xfrm>
            <a:off x="841248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09828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Built-in Help</a:t>
            </a:r>
            <a:endParaRPr lang="en-US" sz="1600" dirty="0"/>
          </a:p>
        </p:txBody>
      </p:sp>
      <p:sp>
        <p:nvSpPr>
          <p:cNvPr id="29" name="Text 27"/>
          <p:cNvSpPr/>
          <p:nvPr/>
        </p:nvSpPr>
        <p:spPr>
          <a:xfrm>
            <a:off x="841248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The full usage document ships with the package and is shown by -h.</a:t>
            </a:r>
            <a:endParaRPr lang="en-US" sz="1250" dirty="0"/>
          </a:p>
        </p:txBody>
      </p:sp>
      <p:sp>
        <p:nvSpPr>
          <p:cNvPr id="30" name="Shape 28"/>
          <p:cNvSpPr/>
          <p:nvPr/>
        </p:nvSpPr>
        <p:spPr>
          <a:xfrm>
            <a:off x="8412480" y="3703320"/>
            <a:ext cx="3054096" cy="749808"/>
          </a:xfrm>
          <a:prstGeom prst="roundRect">
            <a:avLst>
              <a:gd name="adj" fmla="val 6098"/>
            </a:avLst>
          </a:prstGeom>
          <a:solidFill>
            <a:srgbClr val="011837"/>
          </a:solidFill>
          <a:ln/>
        </p:spPr>
      </p:sp>
      <p:sp>
        <p:nvSpPr>
          <p:cNvPr id="31" name="Text 29"/>
          <p:cNvSpPr/>
          <p:nvPr/>
        </p:nvSpPr>
        <p:spPr>
          <a:xfrm>
            <a:off x="854049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dsquasar -h</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renders dsquasar.usg</a:t>
            </a:r>
            <a:endParaRPr lang="en-US" sz="1050" dirty="0"/>
          </a:p>
        </p:txBody>
      </p:sp>
      <p:sp>
        <p:nvSpPr>
          <p:cNvPr id="32" name="Shape 30"/>
          <p:cNvSpPr/>
          <p:nvPr/>
        </p:nvSpPr>
        <p:spPr>
          <a:xfrm>
            <a:off x="8412480" y="4800600"/>
            <a:ext cx="3054096" cy="0"/>
          </a:xfrm>
          <a:prstGeom prst="line">
            <a:avLst/>
          </a:prstGeom>
          <a:noFill/>
          <a:ln w="12700">
            <a:solidFill>
              <a:srgbClr val="A9D6F2"/>
            </a:solidFill>
            <a:prstDash val="solid"/>
          </a:ln>
        </p:spPr>
      </p:sp>
      <p:sp>
        <p:nvSpPr>
          <p:cNvPr id="33" name="Text 31"/>
          <p:cNvSpPr/>
          <p:nvPr/>
        </p:nvSpPr>
        <p:spPr>
          <a:xfrm>
            <a:off x="8412480" y="4855464"/>
            <a:ext cx="3218688" cy="310896"/>
          </a:xfrm>
          <a:prstGeom prst="rect">
            <a:avLst/>
          </a:prstGeom>
          <a:noFill/>
          <a:ln/>
        </p:spPr>
        <p:txBody>
          <a:bodyPr wrap="square" lIns="0" tIns="0" rIns="0" bIns="0" rtlCol="0" anchor="ctr"/>
          <a:lstStyle/>
          <a:p>
            <a:pPr indent="0" marL="0">
              <a:buNone/>
            </a:pPr>
            <a:r>
              <a:rPr lang="en-US" sz="950" b="1" dirty="0">
                <a:solidFill>
                  <a:srgbClr val="C25E00"/>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src/rda_python_dsquasar/dsquasar.usg</a:t>
            </a:r>
            <a:endParaRPr lang="en-US" sz="950" dirty="0"/>
          </a:p>
        </p:txBody>
      </p:sp>
      <p:sp>
        <p:nvSpPr>
          <p:cNvPr id="34" name="Text 32"/>
          <p:cNvSpPr/>
          <p:nvPr/>
        </p:nvSpPr>
        <p:spPr>
          <a:xfrm>
            <a:off x="457200" y="5989320"/>
            <a:ext cx="11274552" cy="365760"/>
          </a:xfrm>
          <a:prstGeom prst="rect">
            <a:avLst/>
          </a:prstGeom>
          <a:noFill/>
          <a:ln/>
        </p:spPr>
        <p:txBody>
          <a:bodyPr wrap="square" lIns="0" tIns="0" rIns="0" bIns="0" rtlCol="0" anchor="ctr"/>
          <a:lstStyle/>
          <a:p>
            <a:pPr algn="ctr" indent="0" marL="0">
              <a:buNone/>
            </a:pPr>
            <a:r>
              <a:rPr lang="en-US" sz="1300" b="1" dirty="0">
                <a:solidFill>
                  <a:srgbClr val="C25E00"/>
                </a:solidFill>
                <a:latin typeface="Poppins" pitchFamily="34" charset="0"/>
                <a:ea typeface="Poppins" pitchFamily="34" charset="-122"/>
                <a:cs typeface="Poppins" pitchFamily="34" charset="-120"/>
              </a:rPr>
              <a:t>one console command:  </a:t>
            </a:r>
            <a:pPr algn="ctr" indent="0" marL="0">
              <a:buNone/>
            </a:pPr>
            <a:r>
              <a:rPr lang="en-US" sz="1300" b="1" dirty="0">
                <a:solidFill>
                  <a:srgbClr val="00357A"/>
                </a:solidFill>
                <a:latin typeface="Courier New" pitchFamily="34" charset="0"/>
                <a:ea typeface="Courier New" pitchFamily="34" charset="-122"/>
                <a:cs typeface="Courier New" pitchFamily="34" charset="-120"/>
              </a:rPr>
              <a:t>dsquasar</a:t>
            </a:r>
            <a:pPr algn="ctr" indent="0" marL="0">
              <a:buNone/>
            </a:pPr>
            <a:r>
              <a:rPr lang="en-US" sz="1300" dirty="0">
                <a:solidFill>
                  <a:srgbClr val="00357A"/>
                </a:solidFill>
                <a:latin typeface="Poppins" pitchFamily="34" charset="0"/>
                <a:ea typeface="Poppins" pitchFamily="34" charset="-122"/>
                <a:cs typeface="Poppins" pitchFamily="34" charset="-120"/>
              </a:rPr>
              <a:t>  backs up the whole GDEX archive onto the Quasar end points.</a:t>
            </a:r>
            <a:endParaRPr lang="en-US" sz="1300" dirty="0"/>
          </a:p>
        </p:txBody>
      </p:sp>
      <p:sp>
        <p:nvSpPr>
          <p:cNvPr id="35" name="Text 3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a:t>
            </a:r>
            <a:endParaRPr lang="en-US" sz="950" dirty="0"/>
          </a:p>
        </p:txBody>
      </p:sp>
      <p:sp>
        <p:nvSpPr>
          <p:cNvPr id="36" name="Text 3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HOW IT WORKS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Four-Stage Backup Pipeline</a:t>
            </a:r>
            <a:endParaRPr lang="en-US" sz="3200" dirty="0"/>
          </a:p>
        </p:txBody>
      </p:sp>
      <p:sp>
        <p:nvSpPr>
          <p:cNvPr id="4" name="Shape 2"/>
          <p:cNvSpPr/>
          <p:nvPr/>
        </p:nvSpPr>
        <p:spPr>
          <a:xfrm>
            <a:off x="566928" y="2011680"/>
            <a:ext cx="2514600" cy="2286000"/>
          </a:xfrm>
          <a:prstGeom prst="roundRect">
            <a:avLst>
              <a:gd name="adj" fmla="val 4000"/>
            </a:avLst>
          </a:prstGeom>
          <a:solidFill>
            <a:srgbClr val="DCEBF7"/>
          </a:solidFill>
          <a:ln w="25400">
            <a:solidFill>
              <a:srgbClr val="0057C2"/>
            </a:solidFill>
            <a:prstDash val="solid"/>
          </a:ln>
        </p:spPr>
      </p:sp>
      <p:sp>
        <p:nvSpPr>
          <p:cNvPr id="5" name="Shape 3"/>
          <p:cNvSpPr/>
          <p:nvPr/>
        </p:nvSpPr>
        <p:spPr>
          <a:xfrm>
            <a:off x="1504188" y="2267712"/>
            <a:ext cx="640080" cy="640080"/>
          </a:xfrm>
          <a:prstGeom prst="ellipse">
            <a:avLst/>
          </a:prstGeom>
          <a:solidFill>
            <a:srgbClr val="0057C2"/>
          </a:solidFill>
          <a:ln/>
        </p:spPr>
      </p:sp>
      <p:sp>
        <p:nvSpPr>
          <p:cNvPr id="6" name="Text 4"/>
          <p:cNvSpPr/>
          <p:nvPr/>
        </p:nvSpPr>
        <p:spPr>
          <a:xfrm>
            <a:off x="1504188"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1</a:t>
            </a:r>
            <a:endParaRPr lang="en-US" sz="2400" dirty="0"/>
          </a:p>
        </p:txBody>
      </p:sp>
      <p:sp>
        <p:nvSpPr>
          <p:cNvPr id="7" name="Text 5"/>
          <p:cNvSpPr/>
          <p:nvPr/>
        </p:nvSpPr>
        <p:spPr>
          <a:xfrm>
            <a:off x="658368"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GDEX Files</a:t>
            </a:r>
            <a:endParaRPr lang="en-US" sz="1500" dirty="0"/>
          </a:p>
        </p:txBody>
      </p:sp>
      <p:sp>
        <p:nvSpPr>
          <p:cNvPr id="8" name="Text 6"/>
          <p:cNvSpPr/>
          <p:nvPr/>
        </p:nvSpPr>
        <p:spPr>
          <a:xfrm>
            <a:off x="704088"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Web &amp; Saved files with bid = 0 on disk or object store</a:t>
            </a:r>
            <a:endParaRPr lang="en-US" sz="1150" dirty="0"/>
          </a:p>
        </p:txBody>
      </p:sp>
      <p:sp>
        <p:nvSpPr>
          <p:cNvPr id="9" name="Text 7"/>
          <p:cNvSpPr/>
          <p:nvPr/>
        </p:nvSpPr>
        <p:spPr>
          <a:xfrm>
            <a:off x="3099816" y="2011680"/>
            <a:ext cx="347472" cy="22860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3465576" y="2011680"/>
            <a:ext cx="2514600" cy="2286000"/>
          </a:xfrm>
          <a:prstGeom prst="roundRect">
            <a:avLst>
              <a:gd name="adj" fmla="val 4000"/>
            </a:avLst>
          </a:prstGeom>
          <a:solidFill>
            <a:srgbClr val="DCEBF7"/>
          </a:solidFill>
          <a:ln w="25400">
            <a:solidFill>
              <a:srgbClr val="0092DB"/>
            </a:solidFill>
            <a:prstDash val="solid"/>
          </a:ln>
        </p:spPr>
      </p:sp>
      <p:sp>
        <p:nvSpPr>
          <p:cNvPr id="11" name="Shape 9"/>
          <p:cNvSpPr/>
          <p:nvPr/>
        </p:nvSpPr>
        <p:spPr>
          <a:xfrm>
            <a:off x="4402836" y="2267712"/>
            <a:ext cx="640080" cy="640080"/>
          </a:xfrm>
          <a:prstGeom prst="ellipse">
            <a:avLst/>
          </a:prstGeom>
          <a:solidFill>
            <a:srgbClr val="0092DB"/>
          </a:solidFill>
          <a:ln/>
        </p:spPr>
      </p:sp>
      <p:sp>
        <p:nvSpPr>
          <p:cNvPr id="12" name="Text 10"/>
          <p:cNvSpPr/>
          <p:nvPr/>
        </p:nvSpPr>
        <p:spPr>
          <a:xfrm>
            <a:off x="4402836"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2</a:t>
            </a:r>
            <a:endParaRPr lang="en-US" sz="2400" dirty="0"/>
          </a:p>
        </p:txBody>
      </p:sp>
      <p:sp>
        <p:nvSpPr>
          <p:cNvPr id="13" name="Text 11"/>
          <p:cNvSpPr/>
          <p:nvPr/>
        </p:nvSpPr>
        <p:spPr>
          <a:xfrm>
            <a:off x="3557016"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Input Lists</a:t>
            </a:r>
            <a:endParaRPr lang="en-US" sz="1500" dirty="0"/>
          </a:p>
        </p:txBody>
      </p:sp>
      <p:sp>
        <p:nvSpPr>
          <p:cNvPr id="14" name="Text 12"/>
          <p:cNvSpPr/>
          <p:nvPr/>
        </p:nvSpPr>
        <p:spPr>
          <a:xfrm>
            <a:off x="3602736"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dsarch input files + bfile record, status 'N'</a:t>
            </a:r>
            <a:endParaRPr lang="en-US" sz="1150" dirty="0"/>
          </a:p>
        </p:txBody>
      </p:sp>
      <p:sp>
        <p:nvSpPr>
          <p:cNvPr id="15" name="Text 13"/>
          <p:cNvSpPr/>
          <p:nvPr/>
        </p:nvSpPr>
        <p:spPr>
          <a:xfrm>
            <a:off x="5998464" y="2011680"/>
            <a:ext cx="347472" cy="2286000"/>
          </a:xfrm>
          <a:prstGeom prst="rect">
            <a:avLst/>
          </a:prstGeom>
          <a:noFill/>
          <a:ln/>
        </p:spPr>
        <p:txBody>
          <a:bodyPr wrap="square" lIns="0" tIns="0" rIns="0" bIns="0" rtlCol="0" anchor="ctr"/>
          <a:lstStyle/>
          <a:p>
            <a:pPr algn="ctr" indent="0" marL="0">
              <a:buNone/>
            </a:pPr>
            <a:r>
              <a:rPr lang="en-US" sz="2600" b="1" dirty="0">
                <a:solidFill>
                  <a:srgbClr val="0092DB"/>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6364224" y="2011680"/>
            <a:ext cx="2514600" cy="2286000"/>
          </a:xfrm>
          <a:prstGeom prst="roundRect">
            <a:avLst>
              <a:gd name="adj" fmla="val 4000"/>
            </a:avLst>
          </a:prstGeom>
          <a:solidFill>
            <a:srgbClr val="DCEBF7"/>
          </a:solidFill>
          <a:ln w="25400">
            <a:solidFill>
              <a:srgbClr val="0097A7"/>
            </a:solidFill>
            <a:prstDash val="solid"/>
          </a:ln>
        </p:spPr>
      </p:sp>
      <p:sp>
        <p:nvSpPr>
          <p:cNvPr id="17" name="Shape 15"/>
          <p:cNvSpPr/>
          <p:nvPr/>
        </p:nvSpPr>
        <p:spPr>
          <a:xfrm>
            <a:off x="7301484" y="2267712"/>
            <a:ext cx="640080" cy="640080"/>
          </a:xfrm>
          <a:prstGeom prst="ellipse">
            <a:avLst/>
          </a:prstGeom>
          <a:solidFill>
            <a:srgbClr val="0097A7"/>
          </a:solidFill>
          <a:ln/>
        </p:spPr>
      </p:sp>
      <p:sp>
        <p:nvSpPr>
          <p:cNvPr id="18" name="Text 16"/>
          <p:cNvSpPr/>
          <p:nvPr/>
        </p:nvSpPr>
        <p:spPr>
          <a:xfrm>
            <a:off x="7301484"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3</a:t>
            </a:r>
            <a:endParaRPr lang="en-US" sz="2400" dirty="0"/>
          </a:p>
        </p:txBody>
      </p:sp>
      <p:sp>
        <p:nvSpPr>
          <p:cNvPr id="19" name="Text 17"/>
          <p:cNvSpPr/>
          <p:nvPr/>
        </p:nvSpPr>
        <p:spPr>
          <a:xfrm>
            <a:off x="6455664"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Tar Files</a:t>
            </a:r>
            <a:endParaRPr lang="en-US" sz="1500" dirty="0"/>
          </a:p>
        </p:txBody>
      </p:sp>
      <p:sp>
        <p:nvSpPr>
          <p:cNvPr id="20" name="Text 18"/>
          <p:cNvSpPr/>
          <p:nvPr/>
        </p:nvSpPr>
        <p:spPr>
          <a:xfrm>
            <a:off x="6501384"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built on gdex-glade by dsarch AQ -TO, status 'T'</a:t>
            </a:r>
            <a:endParaRPr lang="en-US" sz="1150" dirty="0"/>
          </a:p>
        </p:txBody>
      </p:sp>
      <p:sp>
        <p:nvSpPr>
          <p:cNvPr id="21" name="Text 19"/>
          <p:cNvSpPr/>
          <p:nvPr/>
        </p:nvSpPr>
        <p:spPr>
          <a:xfrm>
            <a:off x="8897112" y="2011680"/>
            <a:ext cx="347472" cy="22860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22" name="Shape 20"/>
          <p:cNvSpPr/>
          <p:nvPr/>
        </p:nvSpPr>
        <p:spPr>
          <a:xfrm>
            <a:off x="9262872" y="2011680"/>
            <a:ext cx="2514600" cy="2286000"/>
          </a:xfrm>
          <a:prstGeom prst="roundRect">
            <a:avLst>
              <a:gd name="adj" fmla="val 4000"/>
            </a:avLst>
          </a:prstGeom>
          <a:solidFill>
            <a:srgbClr val="011837"/>
          </a:solidFill>
          <a:ln w="25400">
            <a:solidFill>
              <a:srgbClr val="011837"/>
            </a:solidFill>
            <a:prstDash val="solid"/>
          </a:ln>
        </p:spPr>
      </p:sp>
      <p:sp>
        <p:nvSpPr>
          <p:cNvPr id="23" name="Shape 21"/>
          <p:cNvSpPr/>
          <p:nvPr/>
        </p:nvSpPr>
        <p:spPr>
          <a:xfrm>
            <a:off x="10200132" y="2267712"/>
            <a:ext cx="640080" cy="640080"/>
          </a:xfrm>
          <a:prstGeom prst="ellipse">
            <a:avLst/>
          </a:prstGeom>
          <a:solidFill>
            <a:srgbClr val="011837"/>
          </a:solidFill>
          <a:ln/>
        </p:spPr>
      </p:sp>
      <p:sp>
        <p:nvSpPr>
          <p:cNvPr id="24" name="Text 22"/>
          <p:cNvSpPr/>
          <p:nvPr/>
        </p:nvSpPr>
        <p:spPr>
          <a:xfrm>
            <a:off x="10200132"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4</a:t>
            </a:r>
            <a:endParaRPr lang="en-US" sz="2400" dirty="0"/>
          </a:p>
        </p:txBody>
      </p:sp>
      <p:sp>
        <p:nvSpPr>
          <p:cNvPr id="25" name="Text 23"/>
          <p:cNvSpPr/>
          <p:nvPr/>
        </p:nvSpPr>
        <p:spPr>
          <a:xfrm>
            <a:off x="9354312" y="2999232"/>
            <a:ext cx="23317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Quasar Tape</a:t>
            </a:r>
            <a:endParaRPr lang="en-US" sz="1500" dirty="0"/>
          </a:p>
        </p:txBody>
      </p:sp>
      <p:sp>
        <p:nvSpPr>
          <p:cNvPr id="26" name="Text 24"/>
          <p:cNvSpPr/>
          <p:nvPr/>
        </p:nvSpPr>
        <p:spPr>
          <a:xfrm>
            <a:off x="9400032"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C3D7EE"/>
                </a:solidFill>
                <a:latin typeface="Poppins" pitchFamily="34" charset="0"/>
                <a:ea typeface="Poppins" pitchFamily="34" charset="-122"/>
                <a:cs typeface="Poppins" pitchFamily="34" charset="-120"/>
              </a:rPr>
              <a:t>dsglobus transfer to gdex-quasar (+drdata), status 'A'</a:t>
            </a:r>
            <a:endParaRPr lang="en-US" sz="1150" dirty="0"/>
          </a:p>
        </p:txBody>
      </p:sp>
      <p:sp>
        <p:nvSpPr>
          <p:cNvPr id="27" name="Text 25"/>
          <p:cNvSpPr/>
          <p:nvPr/>
        </p:nvSpPr>
        <p:spPr>
          <a:xfrm>
            <a:off x="2724912" y="4343400"/>
            <a:ext cx="1097280" cy="320040"/>
          </a:xfrm>
          <a:prstGeom prst="rect">
            <a:avLst/>
          </a:prstGeom>
          <a:noFill/>
          <a:ln/>
        </p:spPr>
        <p:txBody>
          <a:bodyPr wrap="square" lIns="0" tIns="0" rIns="0" bIns="0" rtlCol="0" anchor="ctr"/>
          <a:lstStyle/>
          <a:p>
            <a:pPr algn="ctr" indent="0" marL="0">
              <a:buNone/>
            </a:pPr>
            <a:r>
              <a:rPr lang="en-US" sz="1400" b="1" dirty="0">
                <a:solidFill>
                  <a:srgbClr val="0057C2"/>
                </a:solidFill>
                <a:latin typeface="Courier New" pitchFamily="34" charset="0"/>
                <a:ea typeface="Courier New" pitchFamily="34" charset="-122"/>
                <a:cs typeface="Courier New" pitchFamily="34" charset="-120"/>
              </a:rPr>
              <a:t>-A 1</a:t>
            </a:r>
            <a:endParaRPr lang="en-US" sz="1400" dirty="0"/>
          </a:p>
        </p:txBody>
      </p:sp>
      <p:sp>
        <p:nvSpPr>
          <p:cNvPr id="28" name="Text 26"/>
          <p:cNvSpPr/>
          <p:nvPr/>
        </p:nvSpPr>
        <p:spPr>
          <a:xfrm>
            <a:off x="5623560" y="4343400"/>
            <a:ext cx="1097280" cy="320040"/>
          </a:xfrm>
          <a:prstGeom prst="rect">
            <a:avLst/>
          </a:prstGeom>
          <a:noFill/>
          <a:ln/>
        </p:spPr>
        <p:txBody>
          <a:bodyPr wrap="square" lIns="0" tIns="0" rIns="0" bIns="0" rtlCol="0" anchor="ctr"/>
          <a:lstStyle/>
          <a:p>
            <a:pPr algn="ctr" indent="0" marL="0">
              <a:buNone/>
            </a:pPr>
            <a:r>
              <a:rPr lang="en-US" sz="1400" b="1" dirty="0">
                <a:solidFill>
                  <a:srgbClr val="0097A7"/>
                </a:solidFill>
                <a:latin typeface="Courier New" pitchFamily="34" charset="0"/>
                <a:ea typeface="Courier New" pitchFamily="34" charset="-122"/>
                <a:cs typeface="Courier New" pitchFamily="34" charset="-120"/>
              </a:rPr>
              <a:t>-A 2</a:t>
            </a:r>
            <a:endParaRPr lang="en-US" sz="1400" dirty="0"/>
          </a:p>
        </p:txBody>
      </p:sp>
      <p:sp>
        <p:nvSpPr>
          <p:cNvPr id="29" name="Text 27"/>
          <p:cNvSpPr/>
          <p:nvPr/>
        </p:nvSpPr>
        <p:spPr>
          <a:xfrm>
            <a:off x="8522208" y="4343400"/>
            <a:ext cx="1097280" cy="320040"/>
          </a:xfrm>
          <a:prstGeom prst="rect">
            <a:avLst/>
          </a:prstGeom>
          <a:noFill/>
          <a:ln/>
        </p:spPr>
        <p:txBody>
          <a:bodyPr wrap="square" lIns="0" tIns="0" rIns="0" bIns="0" rtlCol="0" anchor="ctr"/>
          <a:lstStyle/>
          <a:p>
            <a:pPr algn="ctr" indent="0" marL="0">
              <a:buNone/>
            </a:pPr>
            <a:r>
              <a:rPr lang="en-US" sz="1400" b="1" dirty="0">
                <a:solidFill>
                  <a:srgbClr val="C25E00"/>
                </a:solidFill>
                <a:latin typeface="Courier New" pitchFamily="34" charset="0"/>
                <a:ea typeface="Courier New" pitchFamily="34" charset="-122"/>
                <a:cs typeface="Courier New" pitchFamily="34" charset="-120"/>
              </a:rPr>
              <a:t>-A 4</a:t>
            </a:r>
            <a:endParaRPr lang="en-US" sz="1400" dirty="0"/>
          </a:p>
        </p:txBody>
      </p:sp>
      <p:sp>
        <p:nvSpPr>
          <p:cNvPr id="30" name="Shape 28"/>
          <p:cNvSpPr/>
          <p:nvPr/>
        </p:nvSpPr>
        <p:spPr>
          <a:xfrm>
            <a:off x="502920" y="4892040"/>
            <a:ext cx="11201400" cy="1234440"/>
          </a:xfrm>
          <a:prstGeom prst="roundRect">
            <a:avLst>
              <a:gd name="adj" fmla="val 7407"/>
            </a:avLst>
          </a:prstGeom>
          <a:solidFill>
            <a:srgbClr val="C7E4F5"/>
          </a:solidFill>
          <a:ln w="12700">
            <a:solidFill>
              <a:srgbClr val="A9D6F2"/>
            </a:solidFill>
            <a:prstDash val="solid"/>
          </a:ln>
        </p:spPr>
      </p:sp>
      <p:sp>
        <p:nvSpPr>
          <p:cNvPr id="31" name="Shape 29"/>
          <p:cNvSpPr/>
          <p:nvPr/>
        </p:nvSpPr>
        <p:spPr>
          <a:xfrm>
            <a:off x="731520" y="5138928"/>
            <a:ext cx="731520" cy="731520"/>
          </a:xfrm>
          <a:prstGeom prst="ellipse">
            <a:avLst/>
          </a:prstGeom>
          <a:solidFill>
            <a:srgbClr val="0057C2"/>
          </a:solidFill>
          <a:ln/>
        </p:spPr>
      </p:sp>
      <p:sp>
        <p:nvSpPr>
          <p:cNvPr id="32" name="Text 30"/>
          <p:cNvSpPr/>
          <p:nvPr/>
        </p:nvSpPr>
        <p:spPr>
          <a:xfrm>
            <a:off x="731520" y="5138928"/>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a:t>
            </a:r>
            <a:endParaRPr lang="en-US" sz="2200" dirty="0"/>
          </a:p>
        </p:txBody>
      </p:sp>
      <p:sp>
        <p:nvSpPr>
          <p:cNvPr id="33" name="Text 31"/>
          <p:cNvSpPr/>
          <p:nvPr/>
        </p:nvSpPr>
        <p:spPr>
          <a:xfrm>
            <a:off x="1645920" y="5074920"/>
            <a:ext cx="9875520" cy="868680"/>
          </a:xfrm>
          <a:prstGeom prst="rect">
            <a:avLst/>
          </a:prstGeom>
          <a:noFill/>
          <a:ln/>
        </p:spPr>
        <p:txBody>
          <a:bodyPr wrap="square" lIns="0" tIns="0" rIns="0" bIns="0" rtlCol="0" anchor="ctr"/>
          <a:lstStyle/>
          <a:p>
            <a:pPr indent="0" marL="0">
              <a:lnSpc>
                <a:spcPct val="110000"/>
              </a:lnSpc>
              <a:buNone/>
            </a:pPr>
            <a:r>
              <a:rPr lang="en-US" sz="1400" b="1" dirty="0">
                <a:solidFill>
                  <a:srgbClr val="0057C2"/>
                </a:solidFill>
                <a:latin typeface="Poppins" pitchFamily="34" charset="0"/>
                <a:ea typeface="Poppins" pitchFamily="34" charset="-122"/>
                <a:cs typeface="Poppins" pitchFamily="34" charset="-120"/>
              </a:rPr>
              <a:t>-A 3 is the workhorse.  </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It runs stages 1 and 2 together: files listed this run are tarred immediately, and existing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'N'</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records left by an earlier run are picked up too.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4</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then moves the tars to tape. Use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7</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for the full chain in one run.</a:t>
            </a:r>
            <a:endParaRPr lang="en-US" sz="140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3</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DATA MODEL</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What dsquasar Reads and Writes in GDEXDB</a:t>
            </a:r>
            <a:endParaRPr lang="en-US" sz="2900" dirty="0"/>
          </a:p>
        </p:txBody>
      </p:sp>
      <p:sp>
        <p:nvSpPr>
          <p:cNvPr id="4" name="Shape 2"/>
          <p:cNvSpPr/>
          <p:nvPr/>
        </p:nvSpPr>
        <p:spPr>
          <a:xfrm>
            <a:off x="457200" y="1554480"/>
            <a:ext cx="3611880" cy="4114800"/>
          </a:xfrm>
          <a:prstGeom prst="roundRect">
            <a:avLst>
              <a:gd name="adj" fmla="val 2532"/>
            </a:avLst>
          </a:prstGeom>
          <a:solidFill>
            <a:srgbClr val="FFFFFF"/>
          </a:solidFill>
          <a:ln w="25400">
            <a:solidFill>
              <a:srgbClr val="0057C2"/>
            </a:solidFill>
            <a:prstDash val="solid"/>
          </a:ln>
          <a:effectLst>
            <a:outerShdw sx="100000" sy="100000" kx="0" ky="0" algn="bl" rotWithShape="0" blurRad="76200" dist="25400" dir="5400000">
              <a:srgbClr val="C3D7EE">
                <a:alpha val="30000"/>
              </a:srgbClr>
            </a:outerShdw>
          </a:effectLst>
        </p:spPr>
      </p:sp>
      <p:sp>
        <p:nvSpPr>
          <p:cNvPr id="5" name="Shape 3"/>
          <p:cNvSpPr/>
          <p:nvPr/>
        </p:nvSpPr>
        <p:spPr>
          <a:xfrm>
            <a:off x="457200" y="1554480"/>
            <a:ext cx="3611880" cy="1051560"/>
          </a:xfrm>
          <a:prstGeom prst="roundRect">
            <a:avLst>
              <a:gd name="adj" fmla="val 8696"/>
            </a:avLst>
          </a:prstGeom>
          <a:solidFill>
            <a:srgbClr val="0057C2"/>
          </a:solidFill>
          <a:ln/>
        </p:spPr>
      </p:sp>
      <p:sp>
        <p:nvSpPr>
          <p:cNvPr id="6" name="Shape 4"/>
          <p:cNvSpPr/>
          <p:nvPr/>
        </p:nvSpPr>
        <p:spPr>
          <a:xfrm>
            <a:off x="457200" y="2103120"/>
            <a:ext cx="3611880" cy="502920"/>
          </a:xfrm>
          <a:prstGeom prst="rect">
            <a:avLst/>
          </a:prstGeom>
          <a:solidFill>
            <a:srgbClr val="0057C2"/>
          </a:solidFill>
          <a:ln/>
        </p:spPr>
      </p:sp>
      <p:sp>
        <p:nvSpPr>
          <p:cNvPr id="7" name="Text 5"/>
          <p:cNvSpPr/>
          <p:nvPr/>
        </p:nvSpPr>
        <p:spPr>
          <a:xfrm>
            <a:off x="685800"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Flags</a:t>
            </a:r>
            <a:endParaRPr lang="en-US" sz="2000" dirty="0"/>
          </a:p>
        </p:txBody>
      </p:sp>
      <p:sp>
        <p:nvSpPr>
          <p:cNvPr id="8" name="Text 6"/>
          <p:cNvSpPr/>
          <p:nvPr/>
        </p:nvSpPr>
        <p:spPr>
          <a:xfrm>
            <a:off x="685800"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dataset / dsgroup   </a:t>
            </a:r>
            <a:pPr indent="0" marL="0">
              <a:buNone/>
            </a:pPr>
            <a:r>
              <a:rPr lang="en-US" sz="1200" b="1" dirty="0">
                <a:solidFill>
                  <a:srgbClr val="FFFFFF"/>
                </a:solidFill>
                <a:latin typeface="Poppins" pitchFamily="34" charset="0"/>
                <a:ea typeface="Poppins" pitchFamily="34" charset="-122"/>
                <a:cs typeface="Poppins" pitchFamily="34" charset="-120"/>
              </a:rPr>
              <a:t>read</a:t>
            </a:r>
            <a:endParaRPr lang="en-US" sz="1200" dirty="0"/>
          </a:p>
        </p:txBody>
      </p:sp>
      <p:sp>
        <p:nvSpPr>
          <p:cNvPr id="9" name="Text 7"/>
          <p:cNvSpPr/>
          <p:nvPr/>
        </p:nvSpPr>
        <p:spPr>
          <a:xfrm>
            <a:off x="731520"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'B' — Backup copy only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'D' — Backup + Drdata copy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'N' — do not back up</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group flag 'P' inherits the dataset flag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dataset.pid / lockhost — the run lock</a:t>
            </a:r>
            <a:endParaRPr lang="en-US" sz="1300" dirty="0"/>
          </a:p>
        </p:txBody>
      </p:sp>
      <p:sp>
        <p:nvSpPr>
          <p:cNvPr id="10" name="Shape 8"/>
          <p:cNvSpPr/>
          <p:nvPr/>
        </p:nvSpPr>
        <p:spPr>
          <a:xfrm>
            <a:off x="4325112" y="1554480"/>
            <a:ext cx="3611880" cy="4114800"/>
          </a:xfrm>
          <a:prstGeom prst="roundRect">
            <a:avLst>
              <a:gd name="adj" fmla="val 2532"/>
            </a:avLst>
          </a:prstGeom>
          <a:solidFill>
            <a:srgbClr val="FFFFFF"/>
          </a:solidFill>
          <a:ln w="25400">
            <a:solidFill>
              <a:srgbClr val="0092DB"/>
            </a:solidFill>
            <a:prstDash val="solid"/>
          </a:ln>
          <a:effectLst>
            <a:outerShdw sx="100000" sy="100000" kx="0" ky="0" algn="bl" rotWithShape="0" blurRad="76200" dist="25400" dir="5400000">
              <a:srgbClr val="C3D7EE">
                <a:alpha val="30000"/>
              </a:srgbClr>
            </a:outerShdw>
          </a:effectLst>
        </p:spPr>
      </p:sp>
      <p:sp>
        <p:nvSpPr>
          <p:cNvPr id="11" name="Shape 9"/>
          <p:cNvSpPr/>
          <p:nvPr/>
        </p:nvSpPr>
        <p:spPr>
          <a:xfrm>
            <a:off x="4325112" y="1554480"/>
            <a:ext cx="3611880" cy="1051560"/>
          </a:xfrm>
          <a:prstGeom prst="roundRect">
            <a:avLst>
              <a:gd name="adj" fmla="val 8696"/>
            </a:avLst>
          </a:prstGeom>
          <a:solidFill>
            <a:srgbClr val="0092DB"/>
          </a:solidFill>
          <a:ln/>
        </p:spPr>
      </p:sp>
      <p:sp>
        <p:nvSpPr>
          <p:cNvPr id="12" name="Shape 10"/>
          <p:cNvSpPr/>
          <p:nvPr/>
        </p:nvSpPr>
        <p:spPr>
          <a:xfrm>
            <a:off x="4325112" y="2103120"/>
            <a:ext cx="3611880" cy="502920"/>
          </a:xfrm>
          <a:prstGeom prst="rect">
            <a:avLst/>
          </a:prstGeom>
          <a:solidFill>
            <a:srgbClr val="0092DB"/>
          </a:solidFill>
          <a:ln/>
        </p:spPr>
      </p:sp>
      <p:sp>
        <p:nvSpPr>
          <p:cNvPr id="13" name="Text 11"/>
          <p:cNvSpPr/>
          <p:nvPr/>
        </p:nvSpPr>
        <p:spPr>
          <a:xfrm>
            <a:off x="4553712"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Data Files</a:t>
            </a:r>
            <a:endParaRPr lang="en-US" sz="2000" dirty="0"/>
          </a:p>
        </p:txBody>
      </p:sp>
      <p:sp>
        <p:nvSpPr>
          <p:cNvPr id="14" name="Text 12"/>
          <p:cNvSpPr/>
          <p:nvPr/>
        </p:nvSpPr>
        <p:spPr>
          <a:xfrm>
            <a:off x="4553712"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wfile / sfile   </a:t>
            </a:r>
            <a:pPr indent="0" marL="0">
              <a:buNone/>
            </a:pPr>
            <a:r>
              <a:rPr lang="en-US" sz="1200" b="1" dirty="0">
                <a:solidFill>
                  <a:srgbClr val="FFFFFF"/>
                </a:solidFill>
                <a:latin typeface="Poppins" pitchFamily="34" charset="0"/>
                <a:ea typeface="Poppins" pitchFamily="34" charset="-122"/>
                <a:cs typeface="Poppins" pitchFamily="34" charset="-120"/>
              </a:rPr>
              <a:t>read + update</a:t>
            </a:r>
            <a:endParaRPr lang="en-US" sz="1200" dirty="0"/>
          </a:p>
        </p:txBody>
      </p:sp>
      <p:sp>
        <p:nvSpPr>
          <p:cNvPr id="15" name="Text 13"/>
          <p:cNvSpPr/>
          <p:nvPr/>
        </p:nvSpPr>
        <p:spPr>
          <a:xfrm>
            <a:off x="4599432"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0 ⇒ not backed up yet</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&lt;bfile&gt; ⇒ inside that tar</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data_size / checksum / timestamps re-verified on disk before tarring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locflag 'O' files are pulled from object storage first</a:t>
            </a:r>
            <a:endParaRPr lang="en-US" sz="1300" dirty="0"/>
          </a:p>
        </p:txBody>
      </p:sp>
      <p:sp>
        <p:nvSpPr>
          <p:cNvPr id="16" name="Shape 14"/>
          <p:cNvSpPr/>
          <p:nvPr/>
        </p:nvSpPr>
        <p:spPr>
          <a:xfrm>
            <a:off x="8193024" y="1554480"/>
            <a:ext cx="3611880" cy="4114800"/>
          </a:xfrm>
          <a:prstGeom prst="roundRect">
            <a:avLst>
              <a:gd name="adj" fmla="val 2532"/>
            </a:avLst>
          </a:prstGeom>
          <a:solidFill>
            <a:srgbClr val="FFFFFF"/>
          </a:solidFill>
          <a:ln w="25400">
            <a:solidFill>
              <a:srgbClr val="0097A7"/>
            </a:solidFill>
            <a:prstDash val="solid"/>
          </a:ln>
          <a:effectLst>
            <a:outerShdw sx="100000" sy="100000" kx="0" ky="0" algn="bl" rotWithShape="0" blurRad="76200" dist="25400" dir="5400000">
              <a:srgbClr val="C3D7EE">
                <a:alpha val="30000"/>
              </a:srgbClr>
            </a:outerShdw>
          </a:effectLst>
        </p:spPr>
      </p:sp>
      <p:sp>
        <p:nvSpPr>
          <p:cNvPr id="17" name="Shape 15"/>
          <p:cNvSpPr/>
          <p:nvPr/>
        </p:nvSpPr>
        <p:spPr>
          <a:xfrm>
            <a:off x="8193024" y="1554480"/>
            <a:ext cx="3611880" cy="1051560"/>
          </a:xfrm>
          <a:prstGeom prst="roundRect">
            <a:avLst>
              <a:gd name="adj" fmla="val 8696"/>
            </a:avLst>
          </a:prstGeom>
          <a:solidFill>
            <a:srgbClr val="0097A7"/>
          </a:solidFill>
          <a:ln/>
        </p:spPr>
      </p:sp>
      <p:sp>
        <p:nvSpPr>
          <p:cNvPr id="18" name="Shape 16"/>
          <p:cNvSpPr/>
          <p:nvPr/>
        </p:nvSpPr>
        <p:spPr>
          <a:xfrm>
            <a:off x="8193024" y="2103120"/>
            <a:ext cx="3611880" cy="502920"/>
          </a:xfrm>
          <a:prstGeom prst="rect">
            <a:avLst/>
          </a:prstGeom>
          <a:solidFill>
            <a:srgbClr val="0097A7"/>
          </a:solidFill>
          <a:ln/>
        </p:spPr>
      </p:sp>
      <p:sp>
        <p:nvSpPr>
          <p:cNvPr id="19" name="Text 17"/>
          <p:cNvSpPr/>
          <p:nvPr/>
        </p:nvSpPr>
        <p:spPr>
          <a:xfrm>
            <a:off x="8421624"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File Record</a:t>
            </a:r>
            <a:endParaRPr lang="en-US" sz="2000" dirty="0"/>
          </a:p>
        </p:txBody>
      </p:sp>
      <p:sp>
        <p:nvSpPr>
          <p:cNvPr id="20" name="Text 18"/>
          <p:cNvSpPr/>
          <p:nvPr/>
        </p:nvSpPr>
        <p:spPr>
          <a:xfrm>
            <a:off x="8421624"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bfile   </a:t>
            </a:r>
            <a:pPr indent="0" marL="0">
              <a:buNone/>
            </a:pPr>
            <a:r>
              <a:rPr lang="en-US" sz="1200" b="1" dirty="0">
                <a:solidFill>
                  <a:srgbClr val="FFFFFF"/>
                </a:solidFill>
                <a:latin typeface="Poppins" pitchFamily="34" charset="0"/>
                <a:ea typeface="Poppins" pitchFamily="34" charset="-122"/>
                <a:cs typeface="Poppins" pitchFamily="34" charset="-120"/>
              </a:rPr>
              <a:t>write</a:t>
            </a:r>
            <a:endParaRPr lang="en-US" sz="1200" dirty="0"/>
          </a:p>
        </p:txBody>
      </p:sp>
      <p:sp>
        <p:nvSpPr>
          <p:cNvPr id="21" name="Text 19"/>
          <p:cNvSpPr/>
          <p:nvPr/>
        </p:nvSpPr>
        <p:spPr>
          <a:xfrm>
            <a:off x="8467344"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one record per tar file</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status 'N' → 'T' → 'A'</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type 'B' or 'D'; dsids lists extra datasets</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note holds the whole input-file listing — the manifest of what is inside</a:t>
            </a:r>
            <a:endParaRPr lang="en-US" sz="1300" dirty="0"/>
          </a:p>
        </p:txBody>
      </p:sp>
      <p:sp>
        <p:nvSpPr>
          <p:cNvPr id="22" name="Text 20"/>
          <p:cNvSpPr/>
          <p:nvPr/>
        </p:nvSpPr>
        <p:spPr>
          <a:xfrm>
            <a:off x="457200" y="5870448"/>
            <a:ext cx="9966960" cy="41148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The bfile note is the recovery key:  </a:t>
            </a:r>
            <a:pPr algn="ctr" indent="0" marL="0">
              <a:buNone/>
            </a:pPr>
            <a:r>
              <a:rPr lang="en-US" sz="1150" dirty="0">
                <a:solidFill>
                  <a:srgbClr val="53565A"/>
                </a:solidFill>
                <a:latin typeface="Poppins" pitchFamily="34" charset="0"/>
                <a:ea typeface="Poppins" pitchFamily="34" charset="-122"/>
                <a:cs typeface="Poppins" pitchFamily="34" charset="-120"/>
              </a:rPr>
              <a:t>it records every member file, its size and checksum, so a tar can be re-listed, re-tarred, or restored without re-reading the archive.</a:t>
            </a:r>
            <a:endParaRPr lang="en-US" sz="115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4</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GENERAL USAGE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Anatomy of a Command</a:t>
            </a:r>
            <a:endParaRPr lang="en-US" sz="3200" dirty="0"/>
          </a:p>
        </p:txBody>
      </p:sp>
      <p:sp>
        <p:nvSpPr>
          <p:cNvPr id="4" name="Shape 2"/>
          <p:cNvSpPr/>
          <p:nvPr/>
        </p:nvSpPr>
        <p:spPr>
          <a:xfrm>
            <a:off x="457200" y="1508760"/>
            <a:ext cx="11247120" cy="868680"/>
          </a:xfrm>
          <a:prstGeom prst="roundRect">
            <a:avLst>
              <a:gd name="adj" fmla="val 8421"/>
            </a:avLst>
          </a:prstGeom>
          <a:solidFill>
            <a:srgbClr val="011837"/>
          </a:solidFill>
          <a:ln/>
        </p:spPr>
      </p:sp>
      <p:sp>
        <p:nvSpPr>
          <p:cNvPr id="5" name="Text 3"/>
          <p:cNvSpPr/>
          <p:nvPr/>
        </p:nvSpPr>
        <p:spPr>
          <a:xfrm>
            <a:off x="685800" y="1508760"/>
            <a:ext cx="10789920" cy="868680"/>
          </a:xfrm>
          <a:prstGeom prst="rect">
            <a:avLst/>
          </a:prstGeom>
          <a:noFill/>
          <a:ln/>
        </p:spPr>
        <p:txBody>
          <a:bodyPr wrap="square" lIns="0" tIns="0" rIns="0" bIns="0" rtlCol="0" anchor="ctr"/>
          <a:lstStyle/>
          <a:p>
            <a:pPr indent="0" marL="0">
              <a:buNone/>
            </a:pPr>
            <a:r>
              <a:rPr lang="en-US" sz="2000" dirty="0">
                <a:solidFill>
                  <a:srgbClr val="FFFFFF"/>
                </a:solidFill>
                <a:latin typeface="Courier New" pitchFamily="34" charset="0"/>
                <a:ea typeface="Courier New" pitchFamily="34" charset="-122"/>
                <a:cs typeface="Courier New" pitchFamily="34" charset="-120"/>
              </a:rPr>
              <a:t>dsquasar </a:t>
            </a:r>
            <a:pPr indent="0" marL="0">
              <a:buNone/>
            </a:pPr>
            <a:r>
              <a:rPr lang="en-US" sz="2000" b="1" dirty="0">
                <a:solidFill>
                  <a:srgbClr val="42C0FF"/>
                </a:solidFill>
                <a:latin typeface="Courier New" pitchFamily="34" charset="0"/>
                <a:ea typeface="Courier New" pitchFamily="34" charset="-122"/>
                <a:cs typeface="Courier New" pitchFamily="34" charset="-120"/>
              </a:rPr>
              <a:t>(-a | -t dNNNNNN…) </a:t>
            </a:r>
            <a:pPr indent="0" marL="0">
              <a:buNone/>
            </a:pPr>
            <a:r>
              <a:rPr lang="en-US" sz="2000" b="1" dirty="0">
                <a:solidFill>
                  <a:srgbClr val="F0A030"/>
                </a:solidFill>
                <a:latin typeface="Courier New" pitchFamily="34" charset="0"/>
                <a:ea typeface="Courier New" pitchFamily="34" charset="-122"/>
                <a:cs typeface="Courier New" pitchFamily="34" charset="-120"/>
              </a:rPr>
              <a:t>[-A Bits] </a:t>
            </a:r>
            <a:pPr indent="0" marL="0">
              <a:buNone/>
            </a:pPr>
            <a:r>
              <a:rPr lang="en-US" sz="2000" b="1" dirty="0">
                <a:solidFill>
                  <a:srgbClr val="0097A7"/>
                </a:solidFill>
                <a:latin typeface="Courier New" pitchFamily="34" charset="0"/>
                <a:ea typeface="Courier New" pitchFamily="34" charset="-122"/>
                <a:cs typeface="Courier New" pitchFamily="34" charset="-120"/>
              </a:rPr>
              <a:t>[-B|-D] </a:t>
            </a:r>
            <a:pPr indent="0" marL="0">
              <a:buNone/>
            </a:pPr>
            <a:r>
              <a:rPr lang="en-US" sz="2000" b="1" dirty="0">
                <a:solidFill>
                  <a:srgbClr val="C3D7EE"/>
                </a:solidFill>
                <a:latin typeface="Courier New" pitchFamily="34" charset="0"/>
                <a:ea typeface="Courier New" pitchFamily="34" charset="-122"/>
                <a:cs typeface="Courier New" pitchFamily="34" charset="-120"/>
              </a:rPr>
              <a:t>[Run…] </a:t>
            </a:r>
            <a:pPr indent="0" marL="0">
              <a:buNone/>
            </a:pPr>
            <a:r>
              <a:rPr lang="en-US" sz="2000" dirty="0">
                <a:solidFill>
                  <a:srgbClr val="C3D7EE"/>
                </a:solidFill>
                <a:latin typeface="Courier New" pitchFamily="34" charset="0"/>
                <a:ea typeface="Courier New" pitchFamily="34" charset="-122"/>
                <a:cs typeface="Courier New" pitchFamily="34" charset="-120"/>
              </a:rPr>
              <a:t>[-e|-E]</a:t>
            </a:r>
            <a:endParaRPr lang="en-US" sz="2000" dirty="0"/>
          </a:p>
        </p:txBody>
      </p:sp>
      <p:sp>
        <p:nvSpPr>
          <p:cNvPr id="6" name="Shape 4"/>
          <p:cNvSpPr/>
          <p:nvPr/>
        </p:nvSpPr>
        <p:spPr>
          <a:xfrm>
            <a:off x="457200" y="2697480"/>
            <a:ext cx="2688336" cy="2194560"/>
          </a:xfrm>
          <a:prstGeom prst="roundRect">
            <a:avLst>
              <a:gd name="adj" fmla="val 4167"/>
            </a:avLst>
          </a:prstGeom>
          <a:solidFill>
            <a:srgbClr val="DCEBF7"/>
          </a:solidFill>
          <a:ln w="25400">
            <a:solidFill>
              <a:srgbClr val="42C0FF"/>
            </a:solidFill>
            <a:prstDash val="solid"/>
          </a:ln>
        </p:spPr>
      </p:sp>
      <p:sp>
        <p:nvSpPr>
          <p:cNvPr id="7" name="Text 5"/>
          <p:cNvSpPr/>
          <p:nvPr/>
        </p:nvSpPr>
        <p:spPr>
          <a:xfrm>
            <a:off x="676656"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Scope</a:t>
            </a:r>
            <a:endParaRPr lang="en-US" sz="1900" dirty="0"/>
          </a:p>
        </p:txBody>
      </p:sp>
      <p:sp>
        <p:nvSpPr>
          <p:cNvPr id="8" name="Shape 6"/>
          <p:cNvSpPr/>
          <p:nvPr/>
        </p:nvSpPr>
        <p:spPr>
          <a:xfrm>
            <a:off x="676656" y="3355848"/>
            <a:ext cx="2249424" cy="365760"/>
          </a:xfrm>
          <a:prstGeom prst="roundRect">
            <a:avLst>
              <a:gd name="adj" fmla="val 20000"/>
            </a:avLst>
          </a:prstGeom>
          <a:solidFill>
            <a:srgbClr val="42C0FF"/>
          </a:solidFill>
          <a:ln/>
        </p:spPr>
      </p:sp>
      <p:sp>
        <p:nvSpPr>
          <p:cNvPr id="9" name="Text 7"/>
          <p:cNvSpPr/>
          <p:nvPr/>
        </p:nvSpPr>
        <p:spPr>
          <a:xfrm>
            <a:off x="676656" y="3355848"/>
            <a:ext cx="2249424" cy="365760"/>
          </a:xfrm>
          <a:prstGeom prst="rect">
            <a:avLst/>
          </a:prstGeom>
          <a:noFill/>
          <a:ln/>
        </p:spPr>
        <p:txBody>
          <a:bodyPr wrap="square" lIns="0" tIns="0" rIns="0" bIns="0" rtlCol="0" anchor="ctr"/>
          <a:lstStyle/>
          <a:p>
            <a:pPr algn="ctr" indent="0" marL="0">
              <a:buNone/>
            </a:pPr>
            <a:r>
              <a:rPr lang="en-US" sz="1100" b="1" dirty="0">
                <a:solidFill>
                  <a:srgbClr val="011837"/>
                </a:solidFill>
                <a:latin typeface="Courier New" pitchFamily="34" charset="0"/>
                <a:ea typeface="Courier New" pitchFamily="34" charset="-122"/>
                <a:cs typeface="Courier New" pitchFamily="34" charset="-120"/>
              </a:rPr>
              <a:t>required</a:t>
            </a:r>
            <a:endParaRPr lang="en-US" sz="1100" dirty="0"/>
          </a:p>
        </p:txBody>
      </p:sp>
      <p:sp>
        <p:nvSpPr>
          <p:cNvPr id="10" name="Text 8"/>
          <p:cNvSpPr/>
          <p:nvPr/>
        </p:nvSpPr>
        <p:spPr>
          <a:xfrm>
            <a:off x="676656"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Which datasets. -a walks every dataset with a Backup flag; -t takes IDs and accepts the SQL wildcard %.</a:t>
            </a:r>
            <a:endParaRPr lang="en-US" sz="1200" dirty="0"/>
          </a:p>
        </p:txBody>
      </p:sp>
      <p:sp>
        <p:nvSpPr>
          <p:cNvPr id="11" name="Shape 9"/>
          <p:cNvSpPr/>
          <p:nvPr/>
        </p:nvSpPr>
        <p:spPr>
          <a:xfrm>
            <a:off x="3364992" y="2697480"/>
            <a:ext cx="2688336" cy="2194560"/>
          </a:xfrm>
          <a:prstGeom prst="roundRect">
            <a:avLst>
              <a:gd name="adj" fmla="val 4167"/>
            </a:avLst>
          </a:prstGeom>
          <a:solidFill>
            <a:srgbClr val="DCEBF7"/>
          </a:solidFill>
          <a:ln w="25400">
            <a:solidFill>
              <a:srgbClr val="C25E00"/>
            </a:solidFill>
            <a:prstDash val="solid"/>
          </a:ln>
        </p:spPr>
      </p:sp>
      <p:sp>
        <p:nvSpPr>
          <p:cNvPr id="12" name="Text 10"/>
          <p:cNvSpPr/>
          <p:nvPr/>
        </p:nvSpPr>
        <p:spPr>
          <a:xfrm>
            <a:off x="3584448" y="2880360"/>
            <a:ext cx="2276856" cy="411480"/>
          </a:xfrm>
          <a:prstGeom prst="rect">
            <a:avLst/>
          </a:prstGeom>
          <a:noFill/>
          <a:ln/>
        </p:spPr>
        <p:txBody>
          <a:bodyPr wrap="square" lIns="0" tIns="0" rIns="0" bIns="0" rtlCol="0" anchor="ctr"/>
          <a:lstStyle/>
          <a:p>
            <a:pPr indent="0" marL="0">
              <a:buNone/>
            </a:pPr>
            <a:r>
              <a:rPr lang="en-US" sz="1900" b="1" dirty="0">
                <a:solidFill>
                  <a:srgbClr val="6E8300"/>
                </a:solidFill>
                <a:latin typeface="Poppins" pitchFamily="34" charset="0"/>
                <a:ea typeface="Poppins" pitchFamily="34" charset="-122"/>
                <a:cs typeface="Poppins" pitchFamily="34" charset="-120"/>
              </a:rPr>
              <a:t>Action</a:t>
            </a:r>
            <a:endParaRPr lang="en-US" sz="1900" dirty="0"/>
          </a:p>
        </p:txBody>
      </p:sp>
      <p:sp>
        <p:nvSpPr>
          <p:cNvPr id="13" name="Shape 11"/>
          <p:cNvSpPr/>
          <p:nvPr/>
        </p:nvSpPr>
        <p:spPr>
          <a:xfrm>
            <a:off x="3584448" y="3355848"/>
            <a:ext cx="2249424" cy="365760"/>
          </a:xfrm>
          <a:prstGeom prst="roundRect">
            <a:avLst>
              <a:gd name="adj" fmla="val 20000"/>
            </a:avLst>
          </a:prstGeom>
          <a:solidFill>
            <a:srgbClr val="C25E00"/>
          </a:solidFill>
          <a:ln/>
        </p:spPr>
      </p:sp>
      <p:sp>
        <p:nvSpPr>
          <p:cNvPr id="14" name="Text 12"/>
          <p:cNvSpPr/>
          <p:nvPr/>
        </p:nvSpPr>
        <p:spPr>
          <a:xfrm>
            <a:off x="3584448"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 Bits</a:t>
            </a:r>
            <a:endParaRPr lang="en-US" sz="1100" dirty="0"/>
          </a:p>
        </p:txBody>
      </p:sp>
      <p:sp>
        <p:nvSpPr>
          <p:cNvPr id="15" name="Text 13"/>
          <p:cNvSpPr/>
          <p:nvPr/>
        </p:nvSpPr>
        <p:spPr>
          <a:xfrm>
            <a:off x="3584448"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What to do, as a bitmask: 1 list, 2 tar, 4 transfer, 8 check, 16 stats. Defaults to 3.</a:t>
            </a:r>
            <a:endParaRPr lang="en-US" sz="1200" dirty="0"/>
          </a:p>
        </p:txBody>
      </p:sp>
      <p:sp>
        <p:nvSpPr>
          <p:cNvPr id="16" name="Shape 14"/>
          <p:cNvSpPr/>
          <p:nvPr/>
        </p:nvSpPr>
        <p:spPr>
          <a:xfrm>
            <a:off x="6272784" y="2697480"/>
            <a:ext cx="2688336" cy="2194560"/>
          </a:xfrm>
          <a:prstGeom prst="roundRect">
            <a:avLst>
              <a:gd name="adj" fmla="val 4167"/>
            </a:avLst>
          </a:prstGeom>
          <a:solidFill>
            <a:srgbClr val="DCEBF7"/>
          </a:solidFill>
          <a:ln w="25400">
            <a:solidFill>
              <a:srgbClr val="0097A7"/>
            </a:solidFill>
            <a:prstDash val="solid"/>
          </a:ln>
        </p:spPr>
      </p:sp>
      <p:sp>
        <p:nvSpPr>
          <p:cNvPr id="17" name="Text 15"/>
          <p:cNvSpPr/>
          <p:nvPr/>
        </p:nvSpPr>
        <p:spPr>
          <a:xfrm>
            <a:off x="6492240" y="2880360"/>
            <a:ext cx="2276856" cy="411480"/>
          </a:xfrm>
          <a:prstGeom prst="rect">
            <a:avLst/>
          </a:prstGeom>
          <a:noFill/>
          <a:ln/>
        </p:spPr>
        <p:txBody>
          <a:bodyPr wrap="square" lIns="0" tIns="0" rIns="0" bIns="0" rtlCol="0" anchor="ctr"/>
          <a:lstStyle/>
          <a:p>
            <a:pPr indent="0" marL="0">
              <a:buNone/>
            </a:pPr>
            <a:r>
              <a:rPr lang="en-US" sz="1900" b="1" dirty="0">
                <a:solidFill>
                  <a:srgbClr val="00797C"/>
                </a:solidFill>
                <a:latin typeface="Poppins" pitchFamily="34" charset="0"/>
                <a:ea typeface="Poppins" pitchFamily="34" charset="-122"/>
                <a:cs typeface="Poppins" pitchFamily="34" charset="-120"/>
              </a:rPr>
              <a:t>Copies</a:t>
            </a:r>
            <a:endParaRPr lang="en-US" sz="1900" dirty="0"/>
          </a:p>
        </p:txBody>
      </p:sp>
      <p:sp>
        <p:nvSpPr>
          <p:cNvPr id="18" name="Shape 16"/>
          <p:cNvSpPr/>
          <p:nvPr/>
        </p:nvSpPr>
        <p:spPr>
          <a:xfrm>
            <a:off x="6492240" y="3355848"/>
            <a:ext cx="2249424" cy="365760"/>
          </a:xfrm>
          <a:prstGeom prst="roundRect">
            <a:avLst>
              <a:gd name="adj" fmla="val 20000"/>
            </a:avLst>
          </a:prstGeom>
          <a:solidFill>
            <a:srgbClr val="0097A7"/>
          </a:solidFill>
          <a:ln/>
        </p:spPr>
      </p:sp>
      <p:sp>
        <p:nvSpPr>
          <p:cNvPr id="19" name="Text 17"/>
          <p:cNvSpPr/>
          <p:nvPr/>
        </p:nvSpPr>
        <p:spPr>
          <a:xfrm>
            <a:off x="6492240"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 -D</a:t>
            </a:r>
            <a:endParaRPr lang="en-US" sz="1100" dirty="0"/>
          </a:p>
        </p:txBody>
      </p:sp>
      <p:sp>
        <p:nvSpPr>
          <p:cNvPr id="20" name="Text 18"/>
          <p:cNvSpPr/>
          <p:nvPr/>
        </p:nvSpPr>
        <p:spPr>
          <a:xfrm>
            <a:off x="6492240"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A filter, not an override. -B keeps single copy datasets, -D keeps two copy ones. Default: each dataset follows its own flag.</a:t>
            </a:r>
            <a:endParaRPr lang="en-US" sz="1200" dirty="0"/>
          </a:p>
        </p:txBody>
      </p:sp>
      <p:sp>
        <p:nvSpPr>
          <p:cNvPr id="21" name="Shape 19"/>
          <p:cNvSpPr/>
          <p:nvPr/>
        </p:nvSpPr>
        <p:spPr>
          <a:xfrm>
            <a:off x="9180576" y="2697480"/>
            <a:ext cx="2688336" cy="2194560"/>
          </a:xfrm>
          <a:prstGeom prst="roundRect">
            <a:avLst>
              <a:gd name="adj" fmla="val 4167"/>
            </a:avLst>
          </a:prstGeom>
          <a:solidFill>
            <a:srgbClr val="DCEBF7"/>
          </a:solidFill>
          <a:ln w="25400">
            <a:solidFill>
              <a:srgbClr val="0092DB"/>
            </a:solidFill>
            <a:prstDash val="solid"/>
          </a:ln>
        </p:spPr>
      </p:sp>
      <p:sp>
        <p:nvSpPr>
          <p:cNvPr id="22" name="Text 20"/>
          <p:cNvSpPr/>
          <p:nvPr/>
        </p:nvSpPr>
        <p:spPr>
          <a:xfrm>
            <a:off x="9400032"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Run control</a:t>
            </a:r>
            <a:endParaRPr lang="en-US" sz="1900" dirty="0"/>
          </a:p>
        </p:txBody>
      </p:sp>
      <p:sp>
        <p:nvSpPr>
          <p:cNvPr id="23" name="Shape 21"/>
          <p:cNvSpPr/>
          <p:nvPr/>
        </p:nvSpPr>
        <p:spPr>
          <a:xfrm>
            <a:off x="9400032" y="3355848"/>
            <a:ext cx="2249424" cy="365760"/>
          </a:xfrm>
          <a:prstGeom prst="roundRect">
            <a:avLst>
              <a:gd name="adj" fmla="val 20000"/>
            </a:avLst>
          </a:prstGeom>
          <a:solidFill>
            <a:srgbClr val="0092DB"/>
          </a:solidFill>
          <a:ln/>
        </p:spPr>
      </p:sp>
      <p:sp>
        <p:nvSpPr>
          <p:cNvPr id="24" name="Text 22"/>
          <p:cNvSpPr/>
          <p:nvPr/>
        </p:nvSpPr>
        <p:spPr>
          <a:xfrm>
            <a:off x="9400032"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-d -m -l -n -W -w -u</a:t>
            </a:r>
            <a:endParaRPr lang="en-US" sz="1100" dirty="0"/>
          </a:p>
        </p:txBody>
      </p:sp>
      <p:sp>
        <p:nvSpPr>
          <p:cNvPr id="25" name="Text 23"/>
          <p:cNvSpPr/>
          <p:nvPr/>
        </p:nvSpPr>
        <p:spPr>
          <a:xfrm>
            <a:off x="9400032"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How it runs: background, PBS delay, processes, locking, dry run, worker slots.</a:t>
            </a:r>
            <a:endParaRPr lang="en-US" sz="1200" dirty="0"/>
          </a:p>
        </p:txBody>
      </p:sp>
      <p:sp>
        <p:nvSpPr>
          <p:cNvPr id="26" name="Shape 24"/>
          <p:cNvSpPr/>
          <p:nvPr/>
        </p:nvSpPr>
        <p:spPr>
          <a:xfrm>
            <a:off x="457200" y="5120640"/>
            <a:ext cx="11247120" cy="960120"/>
          </a:xfrm>
          <a:prstGeom prst="roundRect">
            <a:avLst>
              <a:gd name="adj" fmla="val 9524"/>
            </a:avLst>
          </a:prstGeom>
          <a:solidFill>
            <a:srgbClr val="C7E4F5"/>
          </a:solidFill>
          <a:ln w="12700">
            <a:solidFill>
              <a:srgbClr val="A9D6F2"/>
            </a:solidFill>
            <a:prstDash val="solid"/>
          </a:ln>
        </p:spPr>
      </p:sp>
      <p:sp>
        <p:nvSpPr>
          <p:cNvPr id="27" name="Text 25"/>
          <p:cNvSpPr/>
          <p:nvPr/>
        </p:nvSpPr>
        <p:spPr>
          <a:xfrm>
            <a:off x="731520" y="5166360"/>
            <a:ext cx="10789920" cy="86868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Poppins" pitchFamily="34" charset="0"/>
                <a:ea typeface="Poppins" pitchFamily="34" charset="-122"/>
                <a:cs typeface="Poppins" pitchFamily="34" charset="-120"/>
              </a:rPr>
              <a:t>Notes   </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either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or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must be given, otherwise the usage is shown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wins over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with a warning  •  the run always chdir's to the shared Quasar work directory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-h</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prints the full usage document.</a:t>
            </a:r>
            <a:endParaRPr lang="en-US" sz="1300" dirty="0"/>
          </a:p>
        </p:txBody>
      </p:sp>
      <p:sp>
        <p:nvSpPr>
          <p:cNvPr id="28" name="Text 2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5</a:t>
            </a:r>
            <a:endParaRPr lang="en-US" sz="950" dirty="0"/>
          </a:p>
        </p:txBody>
      </p:sp>
      <p:sp>
        <p:nvSpPr>
          <p:cNvPr id="29" name="Text 2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QUICK START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Six Commands That Cover Most Work</a:t>
            </a:r>
            <a:endParaRPr lang="en-US" sz="3200" dirty="0"/>
          </a:p>
        </p:txBody>
      </p:sp>
      <p:sp>
        <p:nvSpPr>
          <p:cNvPr id="4" name="Shape 2"/>
          <p:cNvSpPr/>
          <p:nvPr/>
        </p:nvSpPr>
        <p:spPr>
          <a:xfrm>
            <a:off x="457200" y="1554480"/>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Shape 3"/>
          <p:cNvSpPr/>
          <p:nvPr/>
        </p:nvSpPr>
        <p:spPr>
          <a:xfrm>
            <a:off x="658368" y="1737360"/>
            <a:ext cx="457200" cy="457200"/>
          </a:xfrm>
          <a:prstGeom prst="ellipse">
            <a:avLst/>
          </a:prstGeom>
          <a:solidFill>
            <a:srgbClr val="0057C2"/>
          </a:solidFill>
          <a:ln/>
        </p:spPr>
      </p:sp>
      <p:sp>
        <p:nvSpPr>
          <p:cNvPr id="6" name="Text 4"/>
          <p:cNvSpPr/>
          <p:nvPr/>
        </p:nvSpPr>
        <p:spPr>
          <a:xfrm>
            <a:off x="658368"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7" name="Text 5"/>
          <p:cNvSpPr/>
          <p:nvPr/>
        </p:nvSpPr>
        <p:spPr>
          <a:xfrm>
            <a:off x="1234440"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See what is waiting</a:t>
            </a:r>
            <a:endParaRPr lang="en-US" sz="1500" dirty="0"/>
          </a:p>
        </p:txBody>
      </p:sp>
      <p:sp>
        <p:nvSpPr>
          <p:cNvPr id="8" name="Text 6"/>
          <p:cNvSpPr/>
          <p:nvPr/>
        </p:nvSpPr>
        <p:spPr>
          <a:xfrm>
            <a:off x="1234440"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Counts only — gathers and reports, performs no backup.</a:t>
            </a:r>
            <a:endParaRPr lang="en-US" sz="1150" dirty="0"/>
          </a:p>
        </p:txBody>
      </p:sp>
      <p:sp>
        <p:nvSpPr>
          <p:cNvPr id="9" name="Shape 7"/>
          <p:cNvSpPr/>
          <p:nvPr/>
        </p:nvSpPr>
        <p:spPr>
          <a:xfrm>
            <a:off x="658368" y="2395728"/>
            <a:ext cx="5129784" cy="420624"/>
          </a:xfrm>
          <a:prstGeom prst="roundRect">
            <a:avLst>
              <a:gd name="adj" fmla="val 10870"/>
            </a:avLst>
          </a:prstGeom>
          <a:solidFill>
            <a:srgbClr val="011837"/>
          </a:solidFill>
          <a:ln/>
        </p:spPr>
      </p:sp>
      <p:sp>
        <p:nvSpPr>
          <p:cNvPr id="10" name="Text 8"/>
          <p:cNvSpPr/>
          <p:nvPr/>
        </p:nvSpPr>
        <p:spPr>
          <a:xfrm>
            <a:off x="786384"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d123456 -n</a:t>
            </a:r>
            <a:endParaRPr lang="en-US" sz="1200" dirty="0"/>
          </a:p>
        </p:txBody>
      </p:sp>
      <p:sp>
        <p:nvSpPr>
          <p:cNvPr id="11" name="Shape 9"/>
          <p:cNvSpPr/>
          <p:nvPr/>
        </p:nvSpPr>
        <p:spPr>
          <a:xfrm>
            <a:off x="6199632" y="1554480"/>
            <a:ext cx="553212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12" name="Shape 10"/>
          <p:cNvSpPr/>
          <p:nvPr/>
        </p:nvSpPr>
        <p:spPr>
          <a:xfrm>
            <a:off x="6400800" y="1737360"/>
            <a:ext cx="457200" cy="457200"/>
          </a:xfrm>
          <a:prstGeom prst="ellipse">
            <a:avLst/>
          </a:prstGeom>
          <a:solidFill>
            <a:srgbClr val="0092DB"/>
          </a:solidFill>
          <a:ln/>
        </p:spPr>
      </p:sp>
      <p:sp>
        <p:nvSpPr>
          <p:cNvPr id="13" name="Text 11"/>
          <p:cNvSpPr/>
          <p:nvPr/>
        </p:nvSpPr>
        <p:spPr>
          <a:xfrm>
            <a:off x="6400800"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4" name="Text 12"/>
          <p:cNvSpPr/>
          <p:nvPr/>
        </p:nvSpPr>
        <p:spPr>
          <a:xfrm>
            <a:off x="6976872"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Back up one dataset</a:t>
            </a:r>
            <a:endParaRPr lang="en-US" sz="1500" dirty="0"/>
          </a:p>
        </p:txBody>
      </p:sp>
      <p:sp>
        <p:nvSpPr>
          <p:cNvPr id="15" name="Text 13"/>
          <p:cNvSpPr/>
          <p:nvPr/>
        </p:nvSpPr>
        <p:spPr>
          <a:xfrm>
            <a:off x="6976872"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Create the input lists and build the tar files.</a:t>
            </a:r>
            <a:endParaRPr lang="en-US" sz="1150" dirty="0"/>
          </a:p>
        </p:txBody>
      </p:sp>
      <p:sp>
        <p:nvSpPr>
          <p:cNvPr id="16" name="Shape 14"/>
          <p:cNvSpPr/>
          <p:nvPr/>
        </p:nvSpPr>
        <p:spPr>
          <a:xfrm>
            <a:off x="6400800" y="2395728"/>
            <a:ext cx="5129784" cy="420624"/>
          </a:xfrm>
          <a:prstGeom prst="roundRect">
            <a:avLst>
              <a:gd name="adj" fmla="val 10870"/>
            </a:avLst>
          </a:prstGeom>
          <a:solidFill>
            <a:srgbClr val="011837"/>
          </a:solidFill>
          <a:ln/>
        </p:spPr>
      </p:sp>
      <p:sp>
        <p:nvSpPr>
          <p:cNvPr id="17" name="Text 15"/>
          <p:cNvSpPr/>
          <p:nvPr/>
        </p:nvSpPr>
        <p:spPr>
          <a:xfrm>
            <a:off x="6528816"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3</a:t>
            </a:r>
            <a:endParaRPr lang="en-US" sz="1200" dirty="0"/>
          </a:p>
        </p:txBody>
      </p:sp>
      <p:sp>
        <p:nvSpPr>
          <p:cNvPr id="18" name="Shape 16"/>
          <p:cNvSpPr/>
          <p:nvPr/>
        </p:nvSpPr>
        <p:spPr>
          <a:xfrm>
            <a:off x="457200" y="3035808"/>
            <a:ext cx="553212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9" name="Shape 17"/>
          <p:cNvSpPr/>
          <p:nvPr/>
        </p:nvSpPr>
        <p:spPr>
          <a:xfrm>
            <a:off x="658368" y="3218688"/>
            <a:ext cx="457200" cy="457200"/>
          </a:xfrm>
          <a:prstGeom prst="ellipse">
            <a:avLst/>
          </a:prstGeom>
          <a:solidFill>
            <a:srgbClr val="0097A7"/>
          </a:solidFill>
          <a:ln/>
        </p:spPr>
      </p:sp>
      <p:sp>
        <p:nvSpPr>
          <p:cNvPr id="20" name="Text 18"/>
          <p:cNvSpPr/>
          <p:nvPr/>
        </p:nvSpPr>
        <p:spPr>
          <a:xfrm>
            <a:off x="658368"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21" name="Text 19"/>
          <p:cNvSpPr/>
          <p:nvPr/>
        </p:nvSpPr>
        <p:spPr>
          <a:xfrm>
            <a:off x="1234440"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Send the tars to tape</a:t>
            </a:r>
            <a:endParaRPr lang="en-US" sz="1500" dirty="0"/>
          </a:p>
        </p:txBody>
      </p:sp>
      <p:sp>
        <p:nvSpPr>
          <p:cNvPr id="22" name="Text 20"/>
          <p:cNvSpPr/>
          <p:nvPr/>
        </p:nvSpPr>
        <p:spPr>
          <a:xfrm>
            <a:off x="1234440"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Batches built tars into &gt;=90 GB dsglobus transfers.</a:t>
            </a:r>
            <a:endParaRPr lang="en-US" sz="1150" dirty="0"/>
          </a:p>
        </p:txBody>
      </p:sp>
      <p:sp>
        <p:nvSpPr>
          <p:cNvPr id="23" name="Shape 21"/>
          <p:cNvSpPr/>
          <p:nvPr/>
        </p:nvSpPr>
        <p:spPr>
          <a:xfrm>
            <a:off x="658368" y="3877056"/>
            <a:ext cx="5129784" cy="420624"/>
          </a:xfrm>
          <a:prstGeom prst="roundRect">
            <a:avLst>
              <a:gd name="adj" fmla="val 10870"/>
            </a:avLst>
          </a:prstGeom>
          <a:solidFill>
            <a:srgbClr val="011837"/>
          </a:solidFill>
          <a:ln/>
        </p:spPr>
      </p:sp>
      <p:sp>
        <p:nvSpPr>
          <p:cNvPr id="24" name="Text 22"/>
          <p:cNvSpPr/>
          <p:nvPr/>
        </p:nvSpPr>
        <p:spPr>
          <a:xfrm>
            <a:off x="786384"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4</a:t>
            </a:r>
            <a:endParaRPr lang="en-US" sz="1200" dirty="0"/>
          </a:p>
        </p:txBody>
      </p:sp>
      <p:sp>
        <p:nvSpPr>
          <p:cNvPr id="25" name="Shape 23"/>
          <p:cNvSpPr/>
          <p:nvPr/>
        </p:nvSpPr>
        <p:spPr>
          <a:xfrm>
            <a:off x="6199632" y="3035808"/>
            <a:ext cx="5532120" cy="1371600"/>
          </a:xfrm>
          <a:prstGeom prst="roundRect">
            <a:avLst>
              <a:gd name="adj" fmla="val 5333"/>
            </a:avLst>
          </a:prstGeom>
          <a:solidFill>
            <a:srgbClr val="FFFFFF"/>
          </a:solidFill>
          <a:ln w="19050">
            <a:solidFill>
              <a:srgbClr val="C25E00"/>
            </a:solidFill>
            <a:prstDash val="solid"/>
          </a:ln>
          <a:effectLst>
            <a:outerShdw sx="100000" sy="100000" kx="0" ky="0" algn="bl" rotWithShape="0" blurRad="50800" dist="25400" dir="5400000">
              <a:srgbClr val="C3D7EE">
                <a:alpha val="25000"/>
              </a:srgbClr>
            </a:outerShdw>
          </a:effectLst>
        </p:spPr>
      </p:sp>
      <p:sp>
        <p:nvSpPr>
          <p:cNvPr id="26" name="Shape 24"/>
          <p:cNvSpPr/>
          <p:nvPr/>
        </p:nvSpPr>
        <p:spPr>
          <a:xfrm>
            <a:off x="6400800" y="3218688"/>
            <a:ext cx="457200" cy="457200"/>
          </a:xfrm>
          <a:prstGeom prst="ellipse">
            <a:avLst/>
          </a:prstGeom>
          <a:solidFill>
            <a:srgbClr val="C25E00"/>
          </a:solidFill>
          <a:ln/>
        </p:spPr>
      </p:sp>
      <p:sp>
        <p:nvSpPr>
          <p:cNvPr id="27" name="Text 25"/>
          <p:cNvSpPr/>
          <p:nvPr/>
        </p:nvSpPr>
        <p:spPr>
          <a:xfrm>
            <a:off x="6400800"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8" name="Text 26"/>
          <p:cNvSpPr/>
          <p:nvPr/>
        </p:nvSpPr>
        <p:spPr>
          <a:xfrm>
            <a:off x="6976872"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The nightly production run</a:t>
            </a:r>
            <a:endParaRPr lang="en-US" sz="1500" dirty="0"/>
          </a:p>
        </p:txBody>
      </p:sp>
      <p:sp>
        <p:nvSpPr>
          <p:cNvPr id="29" name="Text 27"/>
          <p:cNvSpPr/>
          <p:nvPr/>
        </p:nvSpPr>
        <p:spPr>
          <a:xfrm>
            <a:off x="6976872"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All flagged datasets, as a PBS batch job with email.</a:t>
            </a:r>
            <a:endParaRPr lang="en-US" sz="1150" dirty="0"/>
          </a:p>
        </p:txBody>
      </p:sp>
      <p:sp>
        <p:nvSpPr>
          <p:cNvPr id="30" name="Shape 28"/>
          <p:cNvSpPr/>
          <p:nvPr/>
        </p:nvSpPr>
        <p:spPr>
          <a:xfrm>
            <a:off x="6400800" y="3877056"/>
            <a:ext cx="5129784" cy="420624"/>
          </a:xfrm>
          <a:prstGeom prst="roundRect">
            <a:avLst>
              <a:gd name="adj" fmla="val 10870"/>
            </a:avLst>
          </a:prstGeom>
          <a:solidFill>
            <a:srgbClr val="011837"/>
          </a:solidFill>
          <a:ln/>
        </p:spPr>
      </p:sp>
      <p:sp>
        <p:nvSpPr>
          <p:cNvPr id="31" name="Text 29"/>
          <p:cNvSpPr/>
          <p:nvPr/>
        </p:nvSpPr>
        <p:spPr>
          <a:xfrm>
            <a:off x="6528816"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3 -e -b -d PBS</a:t>
            </a:r>
            <a:endParaRPr lang="en-US" sz="1200" dirty="0"/>
          </a:p>
        </p:txBody>
      </p:sp>
      <p:sp>
        <p:nvSpPr>
          <p:cNvPr id="32" name="Shape 30"/>
          <p:cNvSpPr/>
          <p:nvPr/>
        </p:nvSpPr>
        <p:spPr>
          <a:xfrm>
            <a:off x="457200" y="4517136"/>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33" name="Shape 31"/>
          <p:cNvSpPr/>
          <p:nvPr/>
        </p:nvSpPr>
        <p:spPr>
          <a:xfrm>
            <a:off x="658368" y="4700016"/>
            <a:ext cx="457200" cy="457200"/>
          </a:xfrm>
          <a:prstGeom prst="ellipse">
            <a:avLst/>
          </a:prstGeom>
          <a:solidFill>
            <a:srgbClr val="0057C2"/>
          </a:solidFill>
          <a:ln/>
        </p:spPr>
      </p:sp>
      <p:sp>
        <p:nvSpPr>
          <p:cNvPr id="34" name="Text 32"/>
          <p:cNvSpPr/>
          <p:nvPr/>
        </p:nvSpPr>
        <p:spPr>
          <a:xfrm>
            <a:off x="658368"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5</a:t>
            </a:r>
            <a:endParaRPr lang="en-US" sz="1500" dirty="0"/>
          </a:p>
        </p:txBody>
      </p:sp>
      <p:sp>
        <p:nvSpPr>
          <p:cNvPr id="35" name="Text 33"/>
          <p:cNvSpPr/>
          <p:nvPr/>
        </p:nvSpPr>
        <p:spPr>
          <a:xfrm>
            <a:off x="1234440"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 on everything</a:t>
            </a:r>
            <a:endParaRPr lang="en-US" sz="1500" dirty="0"/>
          </a:p>
        </p:txBody>
      </p:sp>
      <p:sp>
        <p:nvSpPr>
          <p:cNvPr id="36" name="Text 34"/>
          <p:cNvSpPr/>
          <p:nvPr/>
        </p:nvSpPr>
        <p:spPr>
          <a:xfrm>
            <a:off x="1234440"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Backup statistics for all datasets, mailed to the specialist.</a:t>
            </a:r>
            <a:endParaRPr lang="en-US" sz="1150" dirty="0"/>
          </a:p>
        </p:txBody>
      </p:sp>
      <p:sp>
        <p:nvSpPr>
          <p:cNvPr id="37" name="Shape 35"/>
          <p:cNvSpPr/>
          <p:nvPr/>
        </p:nvSpPr>
        <p:spPr>
          <a:xfrm>
            <a:off x="658368" y="5358384"/>
            <a:ext cx="5129784" cy="420624"/>
          </a:xfrm>
          <a:prstGeom prst="roundRect">
            <a:avLst>
              <a:gd name="adj" fmla="val 10870"/>
            </a:avLst>
          </a:prstGeom>
          <a:solidFill>
            <a:srgbClr val="011837"/>
          </a:solidFill>
          <a:ln/>
        </p:spPr>
      </p:sp>
      <p:sp>
        <p:nvSpPr>
          <p:cNvPr id="38" name="Text 36"/>
          <p:cNvSpPr/>
          <p:nvPr/>
        </p:nvSpPr>
        <p:spPr>
          <a:xfrm>
            <a:off x="786384"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16 -e</a:t>
            </a:r>
            <a:endParaRPr lang="en-US" sz="1200" dirty="0"/>
          </a:p>
        </p:txBody>
      </p:sp>
      <p:sp>
        <p:nvSpPr>
          <p:cNvPr id="39" name="Shape 37"/>
          <p:cNvSpPr/>
          <p:nvPr/>
        </p:nvSpPr>
        <p:spPr>
          <a:xfrm>
            <a:off x="6199632" y="4517136"/>
            <a:ext cx="553212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40" name="Shape 38"/>
          <p:cNvSpPr/>
          <p:nvPr/>
        </p:nvSpPr>
        <p:spPr>
          <a:xfrm>
            <a:off x="6400800" y="4700016"/>
            <a:ext cx="457200" cy="457200"/>
          </a:xfrm>
          <a:prstGeom prst="ellipse">
            <a:avLst/>
          </a:prstGeom>
          <a:solidFill>
            <a:srgbClr val="53565A"/>
          </a:solidFill>
          <a:ln/>
        </p:spPr>
      </p:sp>
      <p:sp>
        <p:nvSpPr>
          <p:cNvPr id="41" name="Text 39"/>
          <p:cNvSpPr/>
          <p:nvPr/>
        </p:nvSpPr>
        <p:spPr>
          <a:xfrm>
            <a:off x="6400800"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6</a:t>
            </a:r>
            <a:endParaRPr lang="en-US" sz="1500" dirty="0"/>
          </a:p>
        </p:txBody>
      </p:sp>
      <p:sp>
        <p:nvSpPr>
          <p:cNvPr id="42" name="Text 40"/>
          <p:cNvSpPr/>
          <p:nvPr/>
        </p:nvSpPr>
        <p:spPr>
          <a:xfrm>
            <a:off x="6976872"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Clear a stale lock</a:t>
            </a:r>
            <a:endParaRPr lang="en-US" sz="1500" dirty="0"/>
          </a:p>
        </p:txBody>
      </p:sp>
      <p:sp>
        <p:nvSpPr>
          <p:cNvPr id="43" name="Text 41"/>
          <p:cNvSpPr/>
          <p:nvPr/>
        </p:nvSpPr>
        <p:spPr>
          <a:xfrm>
            <a:off x="6976872"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Unlock datasets left locked by a crashed run.</a:t>
            </a:r>
            <a:endParaRPr lang="en-US" sz="1150" dirty="0"/>
          </a:p>
        </p:txBody>
      </p:sp>
      <p:sp>
        <p:nvSpPr>
          <p:cNvPr id="44" name="Shape 42"/>
          <p:cNvSpPr/>
          <p:nvPr/>
        </p:nvSpPr>
        <p:spPr>
          <a:xfrm>
            <a:off x="6400800" y="5358384"/>
            <a:ext cx="5129784" cy="420624"/>
          </a:xfrm>
          <a:prstGeom prst="roundRect">
            <a:avLst>
              <a:gd name="adj" fmla="val 10870"/>
            </a:avLst>
          </a:prstGeom>
          <a:solidFill>
            <a:srgbClr val="011837"/>
          </a:solidFill>
          <a:ln/>
        </p:spPr>
      </p:sp>
      <p:sp>
        <p:nvSpPr>
          <p:cNvPr id="45" name="Text 43"/>
          <p:cNvSpPr/>
          <p:nvPr/>
        </p:nvSpPr>
        <p:spPr>
          <a:xfrm>
            <a:off x="6528816"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d123456 -u</a:t>
            </a:r>
            <a:endParaRPr lang="en-US" sz="1200" dirty="0"/>
          </a:p>
        </p:txBody>
      </p:sp>
      <p:sp>
        <p:nvSpPr>
          <p:cNvPr id="46" name="Text 44"/>
          <p:cNvSpPr/>
          <p:nvPr/>
        </p:nvSpPr>
        <p:spPr>
          <a:xfrm>
            <a:off x="457200" y="5943600"/>
            <a:ext cx="9966960" cy="32004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Everything is incremental.  </a:t>
            </a:r>
            <a:pPr algn="ctr" indent="0" marL="0">
              <a:buNone/>
            </a:pPr>
            <a:r>
              <a:rPr lang="en-US" sz="1150" dirty="0">
                <a:solidFill>
                  <a:srgbClr val="00357A"/>
                </a:solidFill>
                <a:latin typeface="Poppins" pitchFamily="34" charset="0"/>
                <a:ea typeface="Poppins" pitchFamily="34" charset="-122"/>
                <a:cs typeface="Poppins" pitchFamily="34" charset="-120"/>
              </a:rPr>
              <a:t>A file is a candidate only while </a:t>
            </a:r>
            <a:pPr algn="ctr" indent="0" marL="0">
              <a:buNone/>
            </a:pPr>
            <a:r>
              <a:rPr lang="en-US" sz="1150" b="1" dirty="0">
                <a:solidFill>
                  <a:srgbClr val="00357A"/>
                </a:solidFill>
                <a:latin typeface="Courier New" pitchFamily="34" charset="0"/>
                <a:ea typeface="Courier New" pitchFamily="34" charset="-122"/>
                <a:cs typeface="Courier New" pitchFamily="34" charset="-120"/>
              </a:rPr>
              <a:t>bid = 0</a:t>
            </a:r>
            <a:pPr algn="ctr" indent="0" marL="0">
              <a:buNone/>
            </a:pPr>
            <a:r>
              <a:rPr lang="en-US" sz="1150" dirty="0">
                <a:solidFill>
                  <a:srgbClr val="00357A"/>
                </a:solidFill>
                <a:latin typeface="Poppins" pitchFamily="34" charset="0"/>
                <a:ea typeface="Poppins" pitchFamily="34" charset="-122"/>
                <a:cs typeface="Poppins" pitchFamily="34" charset="-120"/>
              </a:rPr>
              <a:t>, so re-running never redoes finished work.</a:t>
            </a:r>
            <a:endParaRPr lang="en-US" sz="1150" dirty="0"/>
          </a:p>
        </p:txBody>
      </p:sp>
      <p:sp>
        <p:nvSpPr>
          <p:cNvPr id="47" name="Text 4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6</a:t>
            </a:r>
            <a:endParaRPr lang="en-US" sz="950" dirty="0"/>
          </a:p>
        </p:txBody>
      </p:sp>
      <p:sp>
        <p:nvSpPr>
          <p:cNvPr id="48" name="Text 4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SCOPE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Backup Flags: What Gets Two Copies</a:t>
            </a:r>
            <a:endParaRPr lang="en-US" sz="3200" dirty="0"/>
          </a:p>
        </p:txBody>
      </p:sp>
      <p:sp>
        <p:nvSpPr>
          <p:cNvPr id="4" name="Text 2"/>
          <p:cNvSpPr/>
          <p:nvPr/>
        </p:nvSpPr>
        <p:spPr>
          <a:xfrm>
            <a:off x="457200" y="1444752"/>
            <a:ext cx="5532120" cy="548640"/>
          </a:xfrm>
          <a:prstGeom prst="rect">
            <a:avLst/>
          </a:prstGeom>
          <a:noFill/>
          <a:ln/>
        </p:spPr>
        <p:txBody>
          <a:bodyPr wrap="square" lIns="0" tIns="0" rIns="0" bIns="0" rtlCol="0" anchor="t"/>
          <a:lstStyle/>
          <a:p>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A dataset is put under Quasar backup by setting </a:t>
            </a:r>
            <a:pPr indent="0" marL="0">
              <a:lnSpc>
                <a:spcPct val="106000"/>
              </a:lnSpc>
              <a:buNone/>
            </a:pPr>
            <a:r>
              <a:rPr lang="en-US" sz="125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 — that one field is the switch, nothing else enrolls a dataset.</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532120" cy="914400"/>
        </p:xfrm>
        <a:graphic>
          <a:graphicData uri="http://schemas.openxmlformats.org/drawingml/2006/table">
            <a:tbl>
              <a:tblPr/>
              <a:tblGrid>
                <a:gridCol w="1051560"/>
                <a:gridCol w="448056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Flag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Value in dataset.backflag / dsgroup.backflag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Quasar Backup only — endpoint gdex-quasar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 Drdata — also gdex-quasar-drdata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Not backed up at all</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Group level only: inherit the dataset's 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3968496"/>
            <a:ext cx="5532120" cy="502920"/>
          </a:xfrm>
          <a:prstGeom prst="rect">
            <a:avLst/>
          </a:prstGeom>
          <a:noFill/>
          <a:ln/>
        </p:spPr>
        <p:txBody>
          <a:bodyPr wrap="square" lIns="0" tIns="0" rIns="0" bIns="0" rtlCol="0" anchor="t"/>
          <a:lstStyle/>
          <a:p>
            <a:pPr indent="0" marL="0">
              <a:lnSpc>
                <a:spcPct val="106000"/>
              </a:lnSpc>
              <a:buNone/>
            </a:pPr>
            <a:r>
              <a:rPr lang="en-US" sz="1200" b="1" dirty="0">
                <a:solidFill>
                  <a:srgbClr val="0057C2"/>
                </a:solidFill>
                <a:latin typeface="Poppins" pitchFamily="34" charset="0"/>
                <a:ea typeface="Poppins" pitchFamily="34" charset="-122"/>
                <a:cs typeface="Poppins" pitchFamily="34" charset="-120"/>
              </a:rPr>
              <a:t>Group flags refine, they do not enroll.  </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Once the dataset flag is set, a top-level </a:t>
            </a:r>
            <a:pPr indent="0" marL="0">
              <a:lnSpc>
                <a:spcPct val="106000"/>
              </a:lnSpc>
              <a:buNone/>
            </a:pPr>
            <a:r>
              <a:rPr lang="en-US" sz="1200" b="1" dirty="0">
                <a:solidFill>
                  <a:srgbClr val="00357A"/>
                </a:solidFill>
                <a:latin typeface="Courier New" pitchFamily="34" charset="0"/>
                <a:ea typeface="Courier New" pitchFamily="34" charset="-122"/>
                <a:cs typeface="Courier New" pitchFamily="34" charset="-120"/>
              </a:rPr>
              <a:t>dsgroup</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 flag is applied group by group.</a:t>
            </a:r>
            <a:endParaRPr lang="en-US" sz="1200" dirty="0"/>
          </a:p>
        </p:txBody>
      </p:sp>
      <p:sp>
        <p:nvSpPr>
          <p:cNvPr id="7" name="Shape 4"/>
          <p:cNvSpPr/>
          <p:nvPr/>
        </p:nvSpPr>
        <p:spPr>
          <a:xfrm>
            <a:off x="457200" y="4498848"/>
            <a:ext cx="5532120" cy="1554480"/>
          </a:xfrm>
          <a:prstGeom prst="roundRect">
            <a:avLst>
              <a:gd name="adj" fmla="val 5294"/>
            </a:avLst>
          </a:prstGeom>
          <a:solidFill>
            <a:srgbClr val="DCEBF7"/>
          </a:solidFill>
          <a:ln w="12700">
            <a:solidFill>
              <a:srgbClr val="A9D6F2"/>
            </a:solidFill>
            <a:prstDash val="solid"/>
          </a:ln>
        </p:spPr>
      </p:sp>
      <p:sp>
        <p:nvSpPr>
          <p:cNvPr id="8" name="Text 5"/>
          <p:cNvSpPr/>
          <p:nvPr/>
        </p:nvSpPr>
        <p:spPr>
          <a:xfrm>
            <a:off x="658368" y="4498848"/>
            <a:ext cx="5166360" cy="1554480"/>
          </a:xfrm>
          <a:prstGeom prst="rect">
            <a:avLst/>
          </a:prstGeom>
          <a:noFill/>
          <a:ln/>
        </p:spPr>
        <p:txBody>
          <a:bodyPr wrap="square" lIns="0" tIns="0" rIns="0" bIns="0" rtlCol="0" anchor="ctr"/>
          <a:lstStyle/>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Set Backup Flag in the web config tool   </a:t>
            </a:r>
            <a:pPr indent="0" marL="0">
              <a:lnSpc>
                <a:spcPct val="118000"/>
              </a:lnSpc>
              <a:buNone/>
            </a:pPr>
            <a:r>
              <a:rPr lang="en-US" sz="10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Dataset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dataset.backflag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the whole dataset</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Group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dsgroup.backflag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one group</a:t>
            </a:r>
            <a:pPr indent="0" marL="0">
              <a:lnSpc>
                <a:spcPct val="118000"/>
              </a:lnSpc>
              <a:buNone/>
            </a:pPr>
            <a:endParaRPr lang="en-US" sz="1050" dirty="0"/>
          </a:p>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Per-run filter: </a:t>
            </a:r>
            <a:endParaRPr lang="en-US" sz="1050" dirty="0"/>
          </a:p>
          <a:p>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-B</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or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limits a run to what is flagged that way; with neither, each dataset follows its own flag.</a:t>
            </a:r>
            <a:endParaRPr lang="en-US" sz="1050" dirty="0"/>
          </a:p>
        </p:txBody>
      </p:sp>
      <p:sp>
        <p:nvSpPr>
          <p:cNvPr id="9" name="Shape 6"/>
          <p:cNvSpPr/>
          <p:nvPr/>
        </p:nvSpPr>
        <p:spPr>
          <a:xfrm>
            <a:off x="6199632" y="1554480"/>
            <a:ext cx="5532120" cy="4526280"/>
          </a:xfrm>
          <a:prstGeom prst="roundRect">
            <a:avLst>
              <a:gd name="adj" fmla="val 2020"/>
            </a:avLst>
          </a:prstGeom>
          <a:solidFill>
            <a:srgbClr val="DCEBF7"/>
          </a:solidFill>
          <a:ln w="12700">
            <a:solidFill>
              <a:srgbClr val="A9D6F2"/>
            </a:solidFill>
            <a:prstDash val="solid"/>
          </a:ln>
        </p:spPr>
      </p:sp>
      <p:sp>
        <p:nvSpPr>
          <p:cNvPr id="10" name="Text 7"/>
          <p:cNvSpPr/>
          <p:nvPr/>
        </p:nvSpPr>
        <p:spPr>
          <a:xfrm>
            <a:off x="644652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Two Globus end points, one source</a:t>
            </a:r>
            <a:endParaRPr lang="en-US" sz="1500" dirty="0"/>
          </a:p>
        </p:txBody>
      </p:sp>
      <p:sp>
        <p:nvSpPr>
          <p:cNvPr id="11" name="Shape 8"/>
          <p:cNvSpPr/>
          <p:nvPr/>
        </p:nvSpPr>
        <p:spPr>
          <a:xfrm>
            <a:off x="6949440" y="2286000"/>
            <a:ext cx="4023360" cy="777240"/>
          </a:xfrm>
          <a:prstGeom prst="roundRect">
            <a:avLst>
              <a:gd name="adj" fmla="val 9412"/>
            </a:avLst>
          </a:prstGeom>
          <a:solidFill>
            <a:srgbClr val="011837"/>
          </a:solidFill>
          <a:ln/>
        </p:spPr>
      </p:sp>
      <p:sp>
        <p:nvSpPr>
          <p:cNvPr id="12" name="Text 9"/>
          <p:cNvSpPr/>
          <p:nvPr/>
        </p:nvSpPr>
        <p:spPr>
          <a:xfrm>
            <a:off x="6949440" y="2286000"/>
            <a:ext cx="4023360"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gdex-glade
</a:t>
            </a:r>
            <a:pPr algn="ctr" indent="0" marL="0">
              <a:buNone/>
            </a:pPr>
            <a:r>
              <a:rPr lang="en-US" sz="1100" dirty="0">
                <a:solidFill>
                  <a:srgbClr val="C3D7EE"/>
                </a:solidFill>
                <a:latin typeface="Poppins" pitchFamily="34" charset="0"/>
                <a:ea typeface="Poppins" pitchFamily="34" charset="-122"/>
                <a:cs typeface="Poppins" pitchFamily="34" charset="-120"/>
              </a:rPr>
              <a:t>tar files built on disk</a:t>
            </a:r>
            <a:endParaRPr lang="en-US" sz="1400" dirty="0"/>
          </a:p>
        </p:txBody>
      </p:sp>
      <p:sp>
        <p:nvSpPr>
          <p:cNvPr id="13" name="Text 10"/>
          <p:cNvSpPr/>
          <p:nvPr/>
        </p:nvSpPr>
        <p:spPr>
          <a:xfrm>
            <a:off x="8503920" y="3108960"/>
            <a:ext cx="914400" cy="411480"/>
          </a:xfrm>
          <a:prstGeom prst="rect">
            <a:avLst/>
          </a:prstGeom>
          <a:noFill/>
          <a:ln/>
        </p:spPr>
        <p:txBody>
          <a:bodyPr wrap="square" lIns="0" tIns="0" rIns="0" bIns="0" rtlCol="0" anchor="ctr"/>
          <a:lstStyle/>
          <a:p>
            <a:pPr algn="ctr" indent="0" marL="0">
              <a:buNone/>
            </a:pPr>
            <a:r>
              <a:rPr lang="en-US" sz="2200" b="1" dirty="0">
                <a:solidFill>
                  <a:srgbClr val="0057C2"/>
                </a:solidFill>
                <a:latin typeface="Poppins" pitchFamily="34" charset="0"/>
                <a:ea typeface="Poppins" pitchFamily="34" charset="-122"/>
                <a:cs typeface="Poppins" pitchFamily="34" charset="-120"/>
              </a:rPr>
              <a:t>↓</a:t>
            </a:r>
            <a:endParaRPr lang="en-US" sz="2200" dirty="0"/>
          </a:p>
        </p:txBody>
      </p:sp>
      <p:sp>
        <p:nvSpPr>
          <p:cNvPr id="14" name="Shape 11"/>
          <p:cNvSpPr/>
          <p:nvPr/>
        </p:nvSpPr>
        <p:spPr>
          <a:xfrm>
            <a:off x="6537960" y="3520440"/>
            <a:ext cx="4846320" cy="914400"/>
          </a:xfrm>
          <a:prstGeom prst="roundRect">
            <a:avLst>
              <a:gd name="adj" fmla="val 8000"/>
            </a:avLst>
          </a:prstGeom>
          <a:solidFill>
            <a:srgbClr val="FFFFFF"/>
          </a:solidFill>
          <a:ln w="25400">
            <a:solidFill>
              <a:srgbClr val="0057C2"/>
            </a:solidFill>
            <a:prstDash val="solid"/>
          </a:ln>
        </p:spPr>
      </p:sp>
      <p:sp>
        <p:nvSpPr>
          <p:cNvPr id="15" name="Text 12"/>
          <p:cNvSpPr/>
          <p:nvPr/>
        </p:nvSpPr>
        <p:spPr>
          <a:xfrm>
            <a:off x="6766560" y="3611880"/>
            <a:ext cx="4480560" cy="365760"/>
          </a:xfrm>
          <a:prstGeom prst="rect">
            <a:avLst/>
          </a:prstGeom>
          <a:noFill/>
          <a:ln/>
        </p:spPr>
        <p:txBody>
          <a:bodyPr wrap="square" lIns="0" tIns="0" rIns="0" bIns="0" rtlCol="0" anchor="ctr"/>
          <a:lstStyle/>
          <a:p>
            <a:pPr indent="0" marL="0">
              <a:buNone/>
            </a:pPr>
            <a:r>
              <a:rPr lang="en-US" sz="1400" b="1" dirty="0">
                <a:solidFill>
                  <a:srgbClr val="0057C2"/>
                </a:solidFill>
                <a:latin typeface="Courier New" pitchFamily="34" charset="0"/>
                <a:ea typeface="Courier New" pitchFamily="34" charset="-122"/>
                <a:cs typeface="Courier New" pitchFamily="34" charset="-120"/>
              </a:rPr>
              <a:t>gdex-quasar</a:t>
            </a:r>
            <a:endParaRPr lang="en-US" sz="1400" dirty="0"/>
          </a:p>
        </p:txBody>
      </p:sp>
      <p:sp>
        <p:nvSpPr>
          <p:cNvPr id="16" name="Text 13"/>
          <p:cNvSpPr/>
          <p:nvPr/>
        </p:nvSpPr>
        <p:spPr>
          <a:xfrm>
            <a:off x="6766560" y="3977640"/>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Backup copy — always written</a:t>
            </a:r>
            <a:endParaRPr lang="en-US" sz="1150" dirty="0"/>
          </a:p>
        </p:txBody>
      </p:sp>
      <p:sp>
        <p:nvSpPr>
          <p:cNvPr id="17" name="Shape 14"/>
          <p:cNvSpPr/>
          <p:nvPr/>
        </p:nvSpPr>
        <p:spPr>
          <a:xfrm>
            <a:off x="6537960" y="4544568"/>
            <a:ext cx="4846320" cy="914400"/>
          </a:xfrm>
          <a:prstGeom prst="roundRect">
            <a:avLst>
              <a:gd name="adj" fmla="val 8000"/>
            </a:avLst>
          </a:prstGeom>
          <a:solidFill>
            <a:srgbClr val="FFFFFF"/>
          </a:solidFill>
          <a:ln w="25400">
            <a:solidFill>
              <a:srgbClr val="0097A7"/>
            </a:solidFill>
            <a:prstDash val="solid"/>
          </a:ln>
        </p:spPr>
      </p:sp>
      <p:sp>
        <p:nvSpPr>
          <p:cNvPr id="18" name="Text 15"/>
          <p:cNvSpPr/>
          <p:nvPr/>
        </p:nvSpPr>
        <p:spPr>
          <a:xfrm>
            <a:off x="6766560" y="4636008"/>
            <a:ext cx="4480560" cy="365760"/>
          </a:xfrm>
          <a:prstGeom prst="rect">
            <a:avLst/>
          </a:prstGeom>
          <a:noFill/>
          <a:ln/>
        </p:spPr>
        <p:txBody>
          <a:bodyPr wrap="square" lIns="0" tIns="0" rIns="0" bIns="0" rtlCol="0" anchor="ctr"/>
          <a:lstStyle/>
          <a:p>
            <a:pPr indent="0" marL="0">
              <a:buNone/>
            </a:pPr>
            <a:r>
              <a:rPr lang="en-US" sz="1400" b="1" dirty="0">
                <a:solidFill>
                  <a:srgbClr val="0097A7"/>
                </a:solidFill>
                <a:latin typeface="Courier New" pitchFamily="34" charset="0"/>
                <a:ea typeface="Courier New" pitchFamily="34" charset="-122"/>
                <a:cs typeface="Courier New" pitchFamily="34" charset="-120"/>
              </a:rPr>
              <a:t>gdex-quasar-drdata</a:t>
            </a:r>
            <a:endParaRPr lang="en-US" sz="1400" dirty="0"/>
          </a:p>
        </p:txBody>
      </p:sp>
      <p:sp>
        <p:nvSpPr>
          <p:cNvPr id="19" name="Text 16"/>
          <p:cNvSpPr/>
          <p:nvPr/>
        </p:nvSpPr>
        <p:spPr>
          <a:xfrm>
            <a:off x="6766560" y="5001768"/>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Disaster-recovery copy — only for flag 'D'</a:t>
            </a:r>
            <a:endParaRPr lang="en-US" sz="1150" dirty="0"/>
          </a:p>
        </p:txBody>
      </p:sp>
      <p:sp>
        <p:nvSpPr>
          <p:cNvPr id="20" name="Text 17"/>
          <p:cNvSpPr/>
          <p:nvPr/>
        </p:nvSpPr>
        <p:spPr>
          <a:xfrm>
            <a:off x="6537960" y="5532120"/>
            <a:ext cx="4846320" cy="45720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 backup writes Drdata first, then Backup; both must succeed before the local tar is deleted.</a:t>
            </a:r>
            <a:endParaRPr lang="en-US" sz="1100" dirty="0"/>
          </a:p>
        </p:txBody>
      </p:sp>
      <p:sp>
        <p:nvSpPr>
          <p:cNvPr id="21" name="Text 1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7</a:t>
            </a:r>
            <a:endParaRPr lang="en-US" sz="950" dirty="0"/>
          </a:p>
        </p:txBody>
      </p:sp>
      <p:sp>
        <p:nvSpPr>
          <p:cNvPr id="22" name="Text 1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-A Action Bitmask</a:t>
            </a:r>
            <a:endParaRPr lang="en-US" sz="3200" dirty="0"/>
          </a:p>
        </p:txBody>
      </p:sp>
      <p:sp>
        <p:nvSpPr>
          <p:cNvPr id="4" name="Shape 2"/>
          <p:cNvSpPr/>
          <p:nvPr/>
        </p:nvSpPr>
        <p:spPr>
          <a:xfrm>
            <a:off x="457200" y="155448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Text 3"/>
          <p:cNvSpPr/>
          <p:nvPr/>
        </p:nvSpPr>
        <p:spPr>
          <a:xfrm>
            <a:off x="640080" y="169164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1</a:t>
            </a:r>
            <a:endParaRPr lang="en-US" sz="2000" dirty="0"/>
          </a:p>
        </p:txBody>
      </p:sp>
      <p:sp>
        <p:nvSpPr>
          <p:cNvPr id="6" name="Text 4"/>
          <p:cNvSpPr/>
          <p:nvPr/>
        </p:nvSpPr>
        <p:spPr>
          <a:xfrm>
            <a:off x="640080"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Create Input</a:t>
            </a:r>
            <a:endParaRPr lang="en-US" sz="1350" dirty="0"/>
          </a:p>
        </p:txBody>
      </p:sp>
      <p:sp>
        <p:nvSpPr>
          <p:cNvPr id="7" name="Text 5"/>
          <p:cNvSpPr/>
          <p:nvPr/>
        </p:nvSpPr>
        <p:spPr>
          <a:xfrm>
            <a:off x="640080"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Web/Saved files, add bfile records 'N'</a:t>
            </a:r>
            <a:endParaRPr lang="en-US" sz="1050" dirty="0"/>
          </a:p>
        </p:txBody>
      </p:sp>
      <p:sp>
        <p:nvSpPr>
          <p:cNvPr id="8" name="Shape 6"/>
          <p:cNvSpPr/>
          <p:nvPr/>
        </p:nvSpPr>
        <p:spPr>
          <a:xfrm>
            <a:off x="3310128" y="155448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9" name="Text 7"/>
          <p:cNvSpPr/>
          <p:nvPr/>
        </p:nvSpPr>
        <p:spPr>
          <a:xfrm>
            <a:off x="3493008" y="169164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2</a:t>
            </a:r>
            <a:endParaRPr lang="en-US" sz="2000" dirty="0"/>
          </a:p>
        </p:txBody>
      </p:sp>
      <p:sp>
        <p:nvSpPr>
          <p:cNvPr id="10" name="Text 8"/>
          <p:cNvSpPr/>
          <p:nvPr/>
        </p:nvSpPr>
        <p:spPr>
          <a:xfrm>
            <a:off x="3493008"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Backup</a:t>
            </a:r>
            <a:endParaRPr lang="en-US" sz="1350" dirty="0"/>
          </a:p>
        </p:txBody>
      </p:sp>
      <p:sp>
        <p:nvSpPr>
          <p:cNvPr id="11" name="Text 9"/>
          <p:cNvSpPr/>
          <p:nvPr/>
        </p:nvSpPr>
        <p:spPr>
          <a:xfrm>
            <a:off x="3493008"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&gt;=5 GB tars from 'N' lists → 'T'</a:t>
            </a:r>
            <a:endParaRPr lang="en-US" sz="1050" dirty="0"/>
          </a:p>
        </p:txBody>
      </p:sp>
      <p:sp>
        <p:nvSpPr>
          <p:cNvPr id="12" name="Shape 10"/>
          <p:cNvSpPr/>
          <p:nvPr/>
        </p:nvSpPr>
        <p:spPr>
          <a:xfrm>
            <a:off x="6163056" y="1554480"/>
            <a:ext cx="2743200" cy="1371600"/>
          </a:xfrm>
          <a:prstGeom prst="roundRect">
            <a:avLst>
              <a:gd name="adj" fmla="val 5333"/>
            </a:avLst>
          </a:prstGeom>
          <a:solidFill>
            <a:srgbClr val="C25E00"/>
          </a:solidFill>
          <a:ln w="12700">
            <a:solidFill>
              <a:srgbClr val="C25E00"/>
            </a:solidFill>
            <a:prstDash val="solid"/>
          </a:ln>
          <a:effectLst>
            <a:outerShdw sx="100000" sy="100000" kx="0" ky="0" algn="bl" rotWithShape="0" blurRad="50800" dist="25400" dir="5400000">
              <a:srgbClr val="C3D7EE">
                <a:alpha val="25000"/>
              </a:srgbClr>
            </a:outerShdw>
          </a:effectLst>
        </p:spPr>
      </p:sp>
      <p:sp>
        <p:nvSpPr>
          <p:cNvPr id="13" name="Text 11"/>
          <p:cNvSpPr/>
          <p:nvPr/>
        </p:nvSpPr>
        <p:spPr>
          <a:xfrm>
            <a:off x="6345936" y="1691640"/>
            <a:ext cx="2377440" cy="384048"/>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-A 3</a:t>
            </a:r>
            <a:endParaRPr lang="en-US" sz="2000" dirty="0"/>
          </a:p>
        </p:txBody>
      </p:sp>
      <p:sp>
        <p:nvSpPr>
          <p:cNvPr id="14" name="Text 12"/>
          <p:cNvSpPr/>
          <p:nvPr/>
        </p:nvSpPr>
        <p:spPr>
          <a:xfrm>
            <a:off x="6345936" y="2057400"/>
            <a:ext cx="2377440" cy="320040"/>
          </a:xfrm>
          <a:prstGeom prst="rect">
            <a:avLst/>
          </a:prstGeom>
          <a:noFill/>
          <a:ln/>
        </p:spPr>
        <p:txBody>
          <a:bodyPr wrap="square" lIns="0" tIns="0" rIns="0" bIns="0" rtlCol="0" anchor="ctr"/>
          <a:lstStyle/>
          <a:p>
            <a:pPr indent="0" marL="0">
              <a:buNone/>
            </a:pPr>
            <a:r>
              <a:rPr lang="en-US" sz="1350" b="1" dirty="0">
                <a:solidFill>
                  <a:srgbClr val="FFFFFF"/>
                </a:solidFill>
                <a:latin typeface="Poppins" pitchFamily="34" charset="0"/>
                <a:ea typeface="Poppins" pitchFamily="34" charset="-122"/>
                <a:cs typeface="Poppins" pitchFamily="34" charset="-120"/>
              </a:rPr>
              <a:t>Create + Tar</a:t>
            </a:r>
            <a:endParaRPr lang="en-US" sz="1350" dirty="0"/>
          </a:p>
        </p:txBody>
      </p:sp>
      <p:sp>
        <p:nvSpPr>
          <p:cNvPr id="15" name="Text 13"/>
          <p:cNvSpPr/>
          <p:nvPr/>
        </p:nvSpPr>
        <p:spPr>
          <a:xfrm>
            <a:off x="6345936"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DBE2E9"/>
                </a:solidFill>
                <a:latin typeface="Poppins" pitchFamily="34" charset="0"/>
                <a:ea typeface="Poppins" pitchFamily="34" charset="-122"/>
                <a:cs typeface="Poppins" pitchFamily="34" charset="-120"/>
              </a:rPr>
              <a:t>the default, and the normal production run</a:t>
            </a:r>
            <a:endParaRPr lang="en-US" sz="1050" dirty="0"/>
          </a:p>
        </p:txBody>
      </p:sp>
      <p:sp>
        <p:nvSpPr>
          <p:cNvPr id="16" name="Shape 14"/>
          <p:cNvSpPr/>
          <p:nvPr/>
        </p:nvSpPr>
        <p:spPr>
          <a:xfrm>
            <a:off x="9015984" y="155448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7" name="Text 15"/>
          <p:cNvSpPr/>
          <p:nvPr/>
        </p:nvSpPr>
        <p:spPr>
          <a:xfrm>
            <a:off x="9198864" y="169164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4</a:t>
            </a:r>
            <a:endParaRPr lang="en-US" sz="2000" dirty="0"/>
          </a:p>
        </p:txBody>
      </p:sp>
      <p:sp>
        <p:nvSpPr>
          <p:cNvPr id="18" name="Text 16"/>
          <p:cNvSpPr/>
          <p:nvPr/>
        </p:nvSpPr>
        <p:spPr>
          <a:xfrm>
            <a:off x="9198864"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Transfer</a:t>
            </a:r>
            <a:endParaRPr lang="en-US" sz="1350" dirty="0"/>
          </a:p>
        </p:txBody>
      </p:sp>
      <p:sp>
        <p:nvSpPr>
          <p:cNvPr id="19" name="Text 17"/>
          <p:cNvSpPr/>
          <p:nvPr/>
        </p:nvSpPr>
        <p:spPr>
          <a:xfrm>
            <a:off x="9198864"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dsglobus batches of 'T' tars to Quasar → 'A'</a:t>
            </a:r>
            <a:endParaRPr lang="en-US" sz="1050" dirty="0"/>
          </a:p>
        </p:txBody>
      </p:sp>
      <p:sp>
        <p:nvSpPr>
          <p:cNvPr id="20" name="Shape 18"/>
          <p:cNvSpPr/>
          <p:nvPr/>
        </p:nvSpPr>
        <p:spPr>
          <a:xfrm>
            <a:off x="457200" y="310896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21" name="Text 19"/>
          <p:cNvSpPr/>
          <p:nvPr/>
        </p:nvSpPr>
        <p:spPr>
          <a:xfrm>
            <a:off x="640080" y="324612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6</a:t>
            </a:r>
            <a:endParaRPr lang="en-US" sz="2000" dirty="0"/>
          </a:p>
        </p:txBody>
      </p:sp>
      <p:sp>
        <p:nvSpPr>
          <p:cNvPr id="22" name="Text 20"/>
          <p:cNvSpPr/>
          <p:nvPr/>
        </p:nvSpPr>
        <p:spPr>
          <a:xfrm>
            <a:off x="640080"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 Transfer</a:t>
            </a:r>
            <a:endParaRPr lang="en-US" sz="1350" dirty="0"/>
          </a:p>
        </p:txBody>
      </p:sp>
      <p:sp>
        <p:nvSpPr>
          <p:cNvPr id="23" name="Text 21"/>
          <p:cNvSpPr/>
          <p:nvPr/>
        </p:nvSpPr>
        <p:spPr>
          <a:xfrm>
            <a:off x="640080"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then ship in one run</a:t>
            </a:r>
            <a:endParaRPr lang="en-US" sz="1050" dirty="0"/>
          </a:p>
        </p:txBody>
      </p:sp>
      <p:sp>
        <p:nvSpPr>
          <p:cNvPr id="24" name="Shape 22"/>
          <p:cNvSpPr/>
          <p:nvPr/>
        </p:nvSpPr>
        <p:spPr>
          <a:xfrm>
            <a:off x="3310128" y="310896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25" name="Text 23"/>
          <p:cNvSpPr/>
          <p:nvPr/>
        </p:nvSpPr>
        <p:spPr>
          <a:xfrm>
            <a:off x="3493008" y="324612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7</a:t>
            </a:r>
            <a:endParaRPr lang="en-US" sz="2000" dirty="0"/>
          </a:p>
        </p:txBody>
      </p:sp>
      <p:sp>
        <p:nvSpPr>
          <p:cNvPr id="26" name="Text 24"/>
          <p:cNvSpPr/>
          <p:nvPr/>
        </p:nvSpPr>
        <p:spPr>
          <a:xfrm>
            <a:off x="3493008"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Full chain</a:t>
            </a:r>
            <a:endParaRPr lang="en-US" sz="1350" dirty="0"/>
          </a:p>
        </p:txBody>
      </p:sp>
      <p:sp>
        <p:nvSpPr>
          <p:cNvPr id="27" name="Text 25"/>
          <p:cNvSpPr/>
          <p:nvPr/>
        </p:nvSpPr>
        <p:spPr>
          <a:xfrm>
            <a:off x="3493008"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tar, and ship end to end</a:t>
            </a:r>
            <a:endParaRPr lang="en-US" sz="1050" dirty="0"/>
          </a:p>
        </p:txBody>
      </p:sp>
      <p:sp>
        <p:nvSpPr>
          <p:cNvPr id="28" name="Shape 26"/>
          <p:cNvSpPr/>
          <p:nvPr/>
        </p:nvSpPr>
        <p:spPr>
          <a:xfrm>
            <a:off x="6163056" y="310896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29" name="Text 27"/>
          <p:cNvSpPr/>
          <p:nvPr/>
        </p:nvSpPr>
        <p:spPr>
          <a:xfrm>
            <a:off x="6345936" y="324612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8</a:t>
            </a:r>
            <a:endParaRPr lang="en-US" sz="2000" dirty="0"/>
          </a:p>
        </p:txBody>
      </p:sp>
      <p:sp>
        <p:nvSpPr>
          <p:cNvPr id="30" name="Text 28"/>
          <p:cNvSpPr/>
          <p:nvPr/>
        </p:nvSpPr>
        <p:spPr>
          <a:xfrm>
            <a:off x="6345936"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Check</a:t>
            </a:r>
            <a:endParaRPr lang="en-US" sz="1350" dirty="0"/>
          </a:p>
        </p:txBody>
      </p:sp>
      <p:sp>
        <p:nvSpPr>
          <p:cNvPr id="31" name="Text 29"/>
          <p:cNvSpPr/>
          <p:nvPr/>
        </p:nvSpPr>
        <p:spPr>
          <a:xfrm>
            <a:off x="6345936"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compare sizes on tape, reset bad ones to 'N'</a:t>
            </a:r>
            <a:endParaRPr lang="en-US" sz="1050" dirty="0"/>
          </a:p>
        </p:txBody>
      </p:sp>
      <p:sp>
        <p:nvSpPr>
          <p:cNvPr id="32" name="Shape 30"/>
          <p:cNvSpPr/>
          <p:nvPr/>
        </p:nvSpPr>
        <p:spPr>
          <a:xfrm>
            <a:off x="9015984" y="3108960"/>
            <a:ext cx="274320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33" name="Text 31"/>
          <p:cNvSpPr/>
          <p:nvPr/>
        </p:nvSpPr>
        <p:spPr>
          <a:xfrm>
            <a:off x="9198864" y="3246120"/>
            <a:ext cx="2377440" cy="384048"/>
          </a:xfrm>
          <a:prstGeom prst="rect">
            <a:avLst/>
          </a:prstGeom>
          <a:noFill/>
          <a:ln/>
        </p:spPr>
        <p:txBody>
          <a:bodyPr wrap="square" lIns="0" tIns="0" rIns="0" bIns="0" rtlCol="0" anchor="ctr"/>
          <a:lstStyle/>
          <a:p>
            <a:pPr indent="0" marL="0">
              <a:buNone/>
            </a:pPr>
            <a:r>
              <a:rPr lang="en-US" sz="2000" b="1" dirty="0">
                <a:solidFill>
                  <a:srgbClr val="53565A"/>
                </a:solidFill>
                <a:latin typeface="Courier New" pitchFamily="34" charset="0"/>
                <a:ea typeface="Courier New" pitchFamily="34" charset="-122"/>
                <a:cs typeface="Courier New" pitchFamily="34" charset="-120"/>
              </a:rPr>
              <a:t>-A 16</a:t>
            </a:r>
            <a:endParaRPr lang="en-US" sz="2000" dirty="0"/>
          </a:p>
        </p:txBody>
      </p:sp>
      <p:sp>
        <p:nvSpPr>
          <p:cNvPr id="34" name="Text 32"/>
          <p:cNvSpPr/>
          <p:nvPr/>
        </p:nvSpPr>
        <p:spPr>
          <a:xfrm>
            <a:off x="9198864"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Statistics</a:t>
            </a:r>
            <a:endParaRPr lang="en-US" sz="1350" dirty="0"/>
          </a:p>
        </p:txBody>
      </p:sp>
      <p:sp>
        <p:nvSpPr>
          <p:cNvPr id="35" name="Text 33"/>
          <p:cNvSpPr/>
          <p:nvPr/>
        </p:nvSpPr>
        <p:spPr>
          <a:xfrm>
            <a:off x="9198864"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dump counts for done and pending work</a:t>
            </a:r>
            <a:endParaRPr lang="en-US" sz="1050" dirty="0"/>
          </a:p>
        </p:txBody>
      </p:sp>
      <p:sp>
        <p:nvSpPr>
          <p:cNvPr id="36" name="Shape 34"/>
          <p:cNvSpPr/>
          <p:nvPr/>
        </p:nvSpPr>
        <p:spPr>
          <a:xfrm>
            <a:off x="457200" y="4892040"/>
            <a:ext cx="11274552" cy="1188720"/>
          </a:xfrm>
          <a:prstGeom prst="roundRect">
            <a:avLst>
              <a:gd name="adj" fmla="val 7692"/>
            </a:avLst>
          </a:prstGeom>
          <a:solidFill>
            <a:srgbClr val="C7E4F5"/>
          </a:solidFill>
          <a:ln w="12700">
            <a:solidFill>
              <a:srgbClr val="A9D6F2"/>
            </a:solidFill>
            <a:prstDash val="solid"/>
          </a:ln>
        </p:spPr>
      </p:sp>
      <p:sp>
        <p:nvSpPr>
          <p:cNvPr id="37" name="Text 35"/>
          <p:cNvSpPr/>
          <p:nvPr/>
        </p:nvSpPr>
        <p:spPr>
          <a:xfrm>
            <a:off x="731520" y="5029200"/>
            <a:ext cx="10789920" cy="914400"/>
          </a:xfrm>
          <a:prstGeom prst="rect">
            <a:avLst/>
          </a:prstGeom>
          <a:noFill/>
          <a:ln/>
        </p:spPr>
        <p:txBody>
          <a:bodyPr wrap="square" lIns="0" tIns="0" rIns="0" bIns="0" rtlCol="0" anchor="ctr"/>
          <a:lstStyle/>
          <a:p>
            <a:pPr indent="0" marL="0">
              <a:lnSpc>
                <a:spcPct val="112000"/>
              </a:lnSpc>
              <a:buNone/>
            </a:pPr>
            <a:r>
              <a:rPr lang="en-US" sz="1350" b="1" dirty="0">
                <a:solidFill>
                  <a:srgbClr val="0057C2"/>
                </a:solidFill>
                <a:latin typeface="Poppins" pitchFamily="34" charset="0"/>
                <a:ea typeface="Poppins" pitchFamily="34" charset="-122"/>
                <a:cs typeface="Poppins" pitchFamily="34" charset="-120"/>
              </a:rPr>
              <a:t>It really is a bitmask.  </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3 = 1+2, 6 = 2+4, 7 = 1+2+4 — only those combinations are accepted.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8</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and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single-process bookkeeping actions;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2</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3</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4</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7</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the batch actions that get PBS cpus and multi-processing.</a:t>
            </a:r>
            <a:endParaRPr lang="en-US" sz="1350" dirty="0"/>
          </a:p>
        </p:txBody>
      </p:sp>
      <p:sp>
        <p:nvSpPr>
          <p:cNvPr id="38" name="Text 3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8</a:t>
            </a:r>
            <a:endParaRPr lang="en-US" sz="950" dirty="0"/>
          </a:p>
        </p:txBody>
      </p:sp>
      <p:sp>
        <p:nvSpPr>
          <p:cNvPr id="39" name="Text 3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RECORDS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bfile Status Lifecycle</a:t>
            </a:r>
            <a:endParaRPr lang="en-US" sz="3200" dirty="0"/>
          </a:p>
        </p:txBody>
      </p:sp>
      <p:sp>
        <p:nvSpPr>
          <p:cNvPr id="4" name="Shape 2"/>
          <p:cNvSpPr/>
          <p:nvPr/>
        </p:nvSpPr>
        <p:spPr>
          <a:xfrm>
            <a:off x="1234440" y="1691640"/>
            <a:ext cx="2834640" cy="1600200"/>
          </a:xfrm>
          <a:prstGeom prst="roundRect">
            <a:avLst>
              <a:gd name="adj" fmla="val 5714"/>
            </a:avLst>
          </a:prstGeom>
          <a:solidFill>
            <a:srgbClr val="DCEBF7"/>
          </a:solidFill>
          <a:ln w="25400">
            <a:solidFill>
              <a:srgbClr val="0057C2"/>
            </a:solidFill>
            <a:prstDash val="solid"/>
          </a:ln>
        </p:spPr>
      </p:sp>
      <p:sp>
        <p:nvSpPr>
          <p:cNvPr id="5" name="Shape 3"/>
          <p:cNvSpPr/>
          <p:nvPr/>
        </p:nvSpPr>
        <p:spPr>
          <a:xfrm>
            <a:off x="1453896" y="1920240"/>
            <a:ext cx="658368" cy="658368"/>
          </a:xfrm>
          <a:prstGeom prst="ellipse">
            <a:avLst/>
          </a:prstGeom>
          <a:solidFill>
            <a:srgbClr val="0057C2"/>
          </a:solidFill>
          <a:ln/>
        </p:spPr>
      </p:sp>
      <p:sp>
        <p:nvSpPr>
          <p:cNvPr id="6" name="Text 4"/>
          <p:cNvSpPr/>
          <p:nvPr/>
        </p:nvSpPr>
        <p:spPr>
          <a:xfrm>
            <a:off x="145389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'N'</a:t>
            </a:r>
            <a:endParaRPr lang="en-US" sz="2000" dirty="0"/>
          </a:p>
        </p:txBody>
      </p:sp>
      <p:sp>
        <p:nvSpPr>
          <p:cNvPr id="7" name="Text 5"/>
          <p:cNvSpPr/>
          <p:nvPr/>
        </p:nvSpPr>
        <p:spPr>
          <a:xfrm>
            <a:off x="224028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Input Files</a:t>
            </a:r>
            <a:endParaRPr lang="en-US" sz="1600" dirty="0"/>
          </a:p>
        </p:txBody>
      </p:sp>
      <p:sp>
        <p:nvSpPr>
          <p:cNvPr id="8" name="Text 6"/>
          <p:cNvSpPr/>
          <p:nvPr/>
        </p:nvSpPr>
        <p:spPr>
          <a:xfrm>
            <a:off x="149047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list exists, the tar does not yet</a:t>
            </a:r>
            <a:endParaRPr lang="en-US" sz="1150" dirty="0"/>
          </a:p>
        </p:txBody>
      </p:sp>
      <p:sp>
        <p:nvSpPr>
          <p:cNvPr id="9" name="Text 7"/>
          <p:cNvSpPr/>
          <p:nvPr/>
        </p:nvSpPr>
        <p:spPr>
          <a:xfrm>
            <a:off x="4069080" y="1691640"/>
            <a:ext cx="548640" cy="16002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4617720" y="1691640"/>
            <a:ext cx="2834640" cy="1600200"/>
          </a:xfrm>
          <a:prstGeom prst="roundRect">
            <a:avLst>
              <a:gd name="adj" fmla="val 5714"/>
            </a:avLst>
          </a:prstGeom>
          <a:solidFill>
            <a:srgbClr val="DCEBF7"/>
          </a:solidFill>
          <a:ln w="25400">
            <a:solidFill>
              <a:srgbClr val="0097A7"/>
            </a:solidFill>
            <a:prstDash val="solid"/>
          </a:ln>
        </p:spPr>
      </p:sp>
      <p:sp>
        <p:nvSpPr>
          <p:cNvPr id="11" name="Shape 9"/>
          <p:cNvSpPr/>
          <p:nvPr/>
        </p:nvSpPr>
        <p:spPr>
          <a:xfrm>
            <a:off x="4837176" y="1920240"/>
            <a:ext cx="658368" cy="658368"/>
          </a:xfrm>
          <a:prstGeom prst="ellipse">
            <a:avLst/>
          </a:prstGeom>
          <a:solidFill>
            <a:srgbClr val="0097A7"/>
          </a:solidFill>
          <a:ln/>
        </p:spPr>
      </p:sp>
      <p:sp>
        <p:nvSpPr>
          <p:cNvPr id="12" name="Text 10"/>
          <p:cNvSpPr/>
          <p:nvPr/>
        </p:nvSpPr>
        <p:spPr>
          <a:xfrm>
            <a:off x="483717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'T'</a:t>
            </a:r>
            <a:endParaRPr lang="en-US" sz="2000" dirty="0"/>
          </a:p>
        </p:txBody>
      </p:sp>
      <p:sp>
        <p:nvSpPr>
          <p:cNvPr id="13" name="Text 11"/>
          <p:cNvSpPr/>
          <p:nvPr/>
        </p:nvSpPr>
        <p:spPr>
          <a:xfrm>
            <a:off x="562356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Tarred</a:t>
            </a:r>
            <a:endParaRPr lang="en-US" sz="1600" dirty="0"/>
          </a:p>
        </p:txBody>
      </p:sp>
      <p:sp>
        <p:nvSpPr>
          <p:cNvPr id="14" name="Text 12"/>
          <p:cNvSpPr/>
          <p:nvPr/>
        </p:nvSpPr>
        <p:spPr>
          <a:xfrm>
            <a:off x="487375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tar built on gdex-glade, not on tape yet</a:t>
            </a:r>
            <a:endParaRPr lang="en-US" sz="1150" dirty="0"/>
          </a:p>
        </p:txBody>
      </p:sp>
      <p:sp>
        <p:nvSpPr>
          <p:cNvPr id="15" name="Text 13"/>
          <p:cNvSpPr/>
          <p:nvPr/>
        </p:nvSpPr>
        <p:spPr>
          <a:xfrm>
            <a:off x="7452360" y="1691640"/>
            <a:ext cx="548640" cy="16002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8001000" y="1691640"/>
            <a:ext cx="2834640" cy="1600200"/>
          </a:xfrm>
          <a:prstGeom prst="roundRect">
            <a:avLst>
              <a:gd name="adj" fmla="val 5714"/>
            </a:avLst>
          </a:prstGeom>
          <a:solidFill>
            <a:srgbClr val="011837"/>
          </a:solidFill>
          <a:ln w="25400">
            <a:solidFill>
              <a:srgbClr val="011837"/>
            </a:solidFill>
            <a:prstDash val="solid"/>
          </a:ln>
        </p:spPr>
      </p:sp>
      <p:sp>
        <p:nvSpPr>
          <p:cNvPr id="17" name="Shape 15"/>
          <p:cNvSpPr/>
          <p:nvPr/>
        </p:nvSpPr>
        <p:spPr>
          <a:xfrm>
            <a:off x="8220456" y="1920240"/>
            <a:ext cx="658368" cy="658368"/>
          </a:xfrm>
          <a:prstGeom prst="ellipse">
            <a:avLst/>
          </a:prstGeom>
          <a:solidFill>
            <a:srgbClr val="011837"/>
          </a:solidFill>
          <a:ln/>
        </p:spPr>
      </p:sp>
      <p:sp>
        <p:nvSpPr>
          <p:cNvPr id="18" name="Text 16"/>
          <p:cNvSpPr/>
          <p:nvPr/>
        </p:nvSpPr>
        <p:spPr>
          <a:xfrm>
            <a:off x="8220456" y="1920240"/>
            <a:ext cx="658368" cy="658368"/>
          </a:xfrm>
          <a:prstGeom prst="rect">
            <a:avLst/>
          </a:prstGeom>
          <a:noFill/>
          <a:ln/>
        </p:spPr>
        <p:txBody>
          <a:bodyPr wrap="square" lIns="0" tIns="0" rIns="0" bIns="0" rtlCol="0" anchor="ctr"/>
          <a:lstStyle/>
          <a:p>
            <a:pPr algn="ctr" indent="0" marL="0">
              <a:buNone/>
            </a:pPr>
            <a:r>
              <a:rPr lang="en-US" sz="2000" b="1" dirty="0">
                <a:solidFill>
                  <a:srgbClr val="42C0FF"/>
                </a:solidFill>
                <a:latin typeface="Poppins" pitchFamily="34" charset="0"/>
                <a:ea typeface="Poppins" pitchFamily="34" charset="-122"/>
                <a:cs typeface="Poppins" pitchFamily="34" charset="-120"/>
              </a:rPr>
              <a:t>'A'</a:t>
            </a:r>
            <a:endParaRPr lang="en-US" sz="2000" dirty="0"/>
          </a:p>
        </p:txBody>
      </p:sp>
      <p:sp>
        <p:nvSpPr>
          <p:cNvPr id="19" name="Text 17"/>
          <p:cNvSpPr/>
          <p:nvPr/>
        </p:nvSpPr>
        <p:spPr>
          <a:xfrm>
            <a:off x="9006840" y="1901952"/>
            <a:ext cx="1691640" cy="36576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Archived</a:t>
            </a:r>
            <a:endParaRPr lang="en-US" sz="1600" dirty="0"/>
          </a:p>
        </p:txBody>
      </p:sp>
      <p:sp>
        <p:nvSpPr>
          <p:cNvPr id="20" name="Text 18"/>
          <p:cNvSpPr/>
          <p:nvPr/>
        </p:nvSpPr>
        <p:spPr>
          <a:xfrm>
            <a:off x="825703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C3D7EE"/>
                </a:solidFill>
                <a:latin typeface="Poppins" pitchFamily="34" charset="0"/>
                <a:ea typeface="Poppins" pitchFamily="34" charset="-122"/>
                <a:cs typeface="Poppins" pitchFamily="34" charset="-120"/>
              </a:rPr>
              <a:t>on Quasar; the local tar has been deleted</a:t>
            </a:r>
            <a:endParaRPr lang="en-US" sz="1150" dirty="0"/>
          </a:p>
        </p:txBody>
      </p:sp>
      <p:sp>
        <p:nvSpPr>
          <p:cNvPr id="21" name="Text 19"/>
          <p:cNvSpPr/>
          <p:nvPr/>
        </p:nvSpPr>
        <p:spPr>
          <a:xfrm>
            <a:off x="3429000" y="3337560"/>
            <a:ext cx="1828800" cy="320040"/>
          </a:xfrm>
          <a:prstGeom prst="rect">
            <a:avLst/>
          </a:prstGeom>
          <a:noFill/>
          <a:ln/>
        </p:spPr>
        <p:txBody>
          <a:bodyPr wrap="square" lIns="0" tIns="0" rIns="0" bIns="0" rtlCol="0" anchor="ctr"/>
          <a:lstStyle/>
          <a:p>
            <a:pPr algn="ctr" indent="0" marL="0">
              <a:buNone/>
            </a:pPr>
            <a:r>
              <a:rPr lang="en-US" sz="1300" b="1" dirty="0">
                <a:solidFill>
                  <a:srgbClr val="0097A7"/>
                </a:solidFill>
                <a:latin typeface="Courier New" pitchFamily="34" charset="0"/>
                <a:ea typeface="Courier New" pitchFamily="34" charset="-122"/>
                <a:cs typeface="Courier New" pitchFamily="34" charset="-120"/>
              </a:rPr>
              <a:t>-A 2 / -A 3</a:t>
            </a:r>
            <a:endParaRPr lang="en-US" sz="1300" dirty="0"/>
          </a:p>
        </p:txBody>
      </p:sp>
      <p:sp>
        <p:nvSpPr>
          <p:cNvPr id="22" name="Text 20"/>
          <p:cNvSpPr/>
          <p:nvPr/>
        </p:nvSpPr>
        <p:spPr>
          <a:xfrm>
            <a:off x="6812280" y="3337560"/>
            <a:ext cx="1828800" cy="320040"/>
          </a:xfrm>
          <a:prstGeom prst="rect">
            <a:avLst/>
          </a:prstGeom>
          <a:noFill/>
          <a:ln/>
        </p:spPr>
        <p:txBody>
          <a:bodyPr wrap="square" lIns="0" tIns="0" rIns="0" bIns="0" rtlCol="0" anchor="ctr"/>
          <a:lstStyle/>
          <a:p>
            <a:pPr algn="ctr" indent="0" marL="0">
              <a:buNone/>
            </a:pPr>
            <a:r>
              <a:rPr lang="en-US" sz="1300" b="1" dirty="0">
                <a:solidFill>
                  <a:srgbClr val="C25E00"/>
                </a:solidFill>
                <a:latin typeface="Courier New" pitchFamily="34" charset="0"/>
                <a:ea typeface="Courier New" pitchFamily="34" charset="-122"/>
                <a:cs typeface="Courier New" pitchFamily="34" charset="-120"/>
              </a:rPr>
              <a:t>-A 4</a:t>
            </a:r>
            <a:endParaRPr lang="en-US" sz="1300" dirty="0"/>
          </a:p>
        </p:txBody>
      </p:sp>
      <p:sp>
        <p:nvSpPr>
          <p:cNvPr id="23" name="Text 21"/>
          <p:cNvSpPr/>
          <p:nvPr/>
        </p:nvSpPr>
        <p:spPr>
          <a:xfrm>
            <a:off x="457200" y="3794760"/>
            <a:ext cx="11247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Records also move backwards — that is the self-healing part</a:t>
            </a:r>
            <a:endParaRPr lang="en-US" sz="1500" dirty="0"/>
          </a:p>
        </p:txBody>
      </p:sp>
      <p:sp>
        <p:nvSpPr>
          <p:cNvPr id="24" name="Shape 22"/>
          <p:cNvSpPr/>
          <p:nvPr/>
        </p:nvSpPr>
        <p:spPr>
          <a:xfrm>
            <a:off x="457200" y="4187952"/>
            <a:ext cx="11247120" cy="548640"/>
          </a:xfrm>
          <a:prstGeom prst="roundRect">
            <a:avLst>
              <a:gd name="adj" fmla="val 13333"/>
            </a:avLst>
          </a:prstGeom>
          <a:solidFill>
            <a:srgbClr val="FFFFFF"/>
          </a:solidFill>
          <a:ln w="19050">
            <a:solidFill>
              <a:srgbClr val="0092DB"/>
            </a:solidFill>
            <a:prstDash val="solid"/>
          </a:ln>
        </p:spPr>
      </p:sp>
      <p:sp>
        <p:nvSpPr>
          <p:cNvPr id="25" name="Text 23"/>
          <p:cNvSpPr/>
          <p:nvPr/>
        </p:nvSpPr>
        <p:spPr>
          <a:xfrm>
            <a:off x="685800" y="4187952"/>
            <a:ext cx="2377440" cy="548640"/>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'T' → 'N'</a:t>
            </a:r>
            <a:endParaRPr lang="en-US" sz="1300" dirty="0"/>
          </a:p>
        </p:txBody>
      </p:sp>
      <p:sp>
        <p:nvSpPr>
          <p:cNvPr id="26" name="Text 24"/>
          <p:cNvSpPr/>
          <p:nvPr/>
        </p:nvSpPr>
        <p:spPr>
          <a:xfrm>
            <a:off x="3108960" y="4187952"/>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the local tar file is missing when a transfer is prepared, so the tar is rebuilt from the stored input lists</a:t>
            </a:r>
            <a:endParaRPr lang="en-US" sz="1250" dirty="0"/>
          </a:p>
        </p:txBody>
      </p:sp>
      <p:sp>
        <p:nvSpPr>
          <p:cNvPr id="27" name="Shape 25"/>
          <p:cNvSpPr/>
          <p:nvPr/>
        </p:nvSpPr>
        <p:spPr>
          <a:xfrm>
            <a:off x="457200" y="4809744"/>
            <a:ext cx="11247120" cy="548640"/>
          </a:xfrm>
          <a:prstGeom prst="roundRect">
            <a:avLst>
              <a:gd name="adj" fmla="val 13333"/>
            </a:avLst>
          </a:prstGeom>
          <a:solidFill>
            <a:srgbClr val="FFFFFF"/>
          </a:solidFill>
          <a:ln w="19050">
            <a:solidFill>
              <a:srgbClr val="0097A7"/>
            </a:solidFill>
            <a:prstDash val="solid"/>
          </a:ln>
        </p:spPr>
      </p:sp>
      <p:sp>
        <p:nvSpPr>
          <p:cNvPr id="28" name="Text 26"/>
          <p:cNvSpPr/>
          <p:nvPr/>
        </p:nvSpPr>
        <p:spPr>
          <a:xfrm>
            <a:off x="685800" y="4809744"/>
            <a:ext cx="2377440" cy="548640"/>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'A' → 'N'</a:t>
            </a:r>
            <a:endParaRPr lang="en-US" sz="1300" dirty="0"/>
          </a:p>
        </p:txBody>
      </p:sp>
      <p:sp>
        <p:nvSpPr>
          <p:cNvPr id="29" name="Text 27"/>
          <p:cNvSpPr/>
          <p:nvPr/>
        </p:nvSpPr>
        <p:spPr>
          <a:xfrm>
            <a:off x="3108960" y="4809744"/>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-A 8 finds the file absent or the wrong size on the end point, so the whole tar is redone</a:t>
            </a:r>
            <a:endParaRPr lang="en-US" sz="1250" dirty="0"/>
          </a:p>
        </p:txBody>
      </p:sp>
      <p:sp>
        <p:nvSpPr>
          <p:cNvPr id="30" name="Shape 28"/>
          <p:cNvSpPr/>
          <p:nvPr/>
        </p:nvSpPr>
        <p:spPr>
          <a:xfrm>
            <a:off x="457200" y="5431536"/>
            <a:ext cx="11247120" cy="548640"/>
          </a:xfrm>
          <a:prstGeom prst="roundRect">
            <a:avLst>
              <a:gd name="adj" fmla="val 13333"/>
            </a:avLst>
          </a:prstGeom>
          <a:solidFill>
            <a:srgbClr val="FFFFFF"/>
          </a:solidFill>
          <a:ln w="19050">
            <a:solidFill>
              <a:srgbClr val="C25E00"/>
            </a:solidFill>
            <a:prstDash val="solid"/>
          </a:ln>
        </p:spPr>
      </p:sp>
      <p:sp>
        <p:nvSpPr>
          <p:cNvPr id="31" name="Text 29"/>
          <p:cNvSpPr/>
          <p:nvPr/>
        </p:nvSpPr>
        <p:spPr>
          <a:xfrm>
            <a:off x="685800" y="5431536"/>
            <a:ext cx="2377440" cy="548640"/>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record dropped</a:t>
            </a:r>
            <a:endParaRPr lang="en-US" sz="1300" dirty="0"/>
          </a:p>
        </p:txBody>
      </p:sp>
      <p:sp>
        <p:nvSpPr>
          <p:cNvPr id="32" name="Text 30"/>
          <p:cNvSpPr/>
          <p:nvPr/>
        </p:nvSpPr>
        <p:spPr>
          <a:xfrm>
            <a:off x="3108960" y="5431536"/>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dsarch reports every member file as already backed up elsewhere, so the duplicate placeholder is deleted</a:t>
            </a:r>
            <a:endParaRPr lang="en-US" sz="1250" dirty="0"/>
          </a:p>
        </p:txBody>
      </p:sp>
      <p:sp>
        <p:nvSpPr>
          <p:cNvPr id="33" name="Text 31"/>
          <p:cNvSpPr/>
          <p:nvPr/>
        </p:nvSpPr>
        <p:spPr>
          <a:xfrm>
            <a:off x="457200" y="5961888"/>
            <a:ext cx="9966960" cy="365760"/>
          </a:xfrm>
          <a:prstGeom prst="rect">
            <a:avLst/>
          </a:prstGeom>
          <a:noFill/>
          <a:ln/>
        </p:spPr>
        <p:txBody>
          <a:bodyPr wrap="square" lIns="0" tIns="0" rIns="0" bIns="0" rtlCol="0" anchor="ctr"/>
          <a:lstStyle/>
          <a:p>
            <a:pPr algn="ctr" indent="0" marL="0">
              <a:buNone/>
            </a:pPr>
            <a:r>
              <a:rPr lang="en-US" sz="1150" dirty="0">
                <a:solidFill>
                  <a:srgbClr val="53565A"/>
                </a:solidFill>
                <a:latin typeface="Poppins" pitchFamily="34" charset="0"/>
                <a:ea typeface="Poppins" pitchFamily="34" charset="-122"/>
                <a:cs typeface="Poppins" pitchFamily="34" charset="-120"/>
              </a:rPr>
              <a:t>Because status drives everything, an interrupted run is never a problem: whatever is still </a:t>
            </a:r>
            <a:pPr algn="ctr" indent="0" marL="0">
              <a:buNone/>
            </a:pPr>
            <a:r>
              <a:rPr lang="en-US" sz="1150" b="1" dirty="0">
                <a:solidFill>
                  <a:srgbClr val="53565A"/>
                </a:solidFill>
                <a:latin typeface="Courier New" pitchFamily="34" charset="0"/>
                <a:ea typeface="Courier New" pitchFamily="34" charset="-122"/>
                <a:cs typeface="Courier New" pitchFamily="34" charset="-120"/>
              </a:rPr>
              <a:t>'N'</a:t>
            </a:r>
            <a:pPr algn="ctr" indent="0" marL="0">
              <a:buNone/>
            </a:pPr>
            <a:r>
              <a:rPr lang="en-US" sz="1150" dirty="0">
                <a:solidFill>
                  <a:srgbClr val="53565A"/>
                </a:solidFill>
                <a:latin typeface="Poppins" pitchFamily="34" charset="0"/>
                <a:ea typeface="Poppins" pitchFamily="34" charset="-122"/>
                <a:cs typeface="Poppins" pitchFamily="34" charset="-120"/>
              </a:rPr>
              <a:t> or </a:t>
            </a:r>
            <a:pPr algn="ctr" indent="0" marL="0">
              <a:buNone/>
            </a:pPr>
            <a:r>
              <a:rPr lang="en-US" sz="1150" b="1" dirty="0">
                <a:solidFill>
                  <a:srgbClr val="53565A"/>
                </a:solidFill>
                <a:latin typeface="Courier New" pitchFamily="34" charset="0"/>
                <a:ea typeface="Courier New" pitchFamily="34" charset="-122"/>
                <a:cs typeface="Courier New" pitchFamily="34" charset="-120"/>
              </a:rPr>
              <a:t>'T'</a:t>
            </a:r>
            <a:pPr algn="ctr" indent="0" marL="0">
              <a:buNone/>
            </a:pPr>
            <a:r>
              <a:rPr lang="en-US" sz="1150" dirty="0">
                <a:solidFill>
                  <a:srgbClr val="53565A"/>
                </a:solidFill>
                <a:latin typeface="Poppins" pitchFamily="34" charset="0"/>
                <a:ea typeface="Poppins" pitchFamily="34" charset="-122"/>
                <a:cs typeface="Poppins" pitchFamily="34" charset="-120"/>
              </a:rPr>
              <a:t> is simply picked up by the next run.</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9</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1 Deep Dive: Building the Input Lists</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flagged dataset</a:t>
            </a:r>
            <a:endParaRPr lang="en-US" sz="1500" dirty="0"/>
          </a:p>
        </p:txBody>
      </p:sp>
      <p:sp>
        <p:nvSpPr>
          <p:cNvPr id="6" name="Text 4"/>
          <p:cNvSpPr/>
          <p:nvPr/>
        </p:nvSpPr>
        <p:spPr>
          <a:xfrm>
            <a:off x="822960" y="2194560"/>
            <a:ext cx="4937760" cy="228600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Lock the dataset, then re-gather its files under the lock</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Skip files already listed in an open 'N' record</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Re-check each file on disk or object storage; fix size, checksum and timestamp in GDEXDB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Append a line per file to a dsarch input file, per type</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Close the group when big enough; add the bfile record</a:t>
            </a:r>
            <a:endParaRPr lang="en-US" sz="1250" dirty="0"/>
          </a:p>
        </p:txBody>
      </p:sp>
      <p:sp>
        <p:nvSpPr>
          <p:cNvPr id="7" name="Text 5"/>
          <p:cNvSpPr/>
          <p:nvPr/>
        </p:nvSpPr>
        <p:spPr>
          <a:xfrm>
            <a:off x="685800" y="4572000"/>
            <a:ext cx="502920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Input file layout</a:t>
            </a:r>
            <a:endParaRPr lang="en-US" sz="1400" dirty="0"/>
          </a:p>
        </p:txBody>
      </p:sp>
      <p:sp>
        <p:nvSpPr>
          <p:cNvPr id="8" name="Shape 6"/>
          <p:cNvSpPr/>
          <p:nvPr/>
        </p:nvSpPr>
        <p:spPr>
          <a:xfrm>
            <a:off x="685800" y="4919472"/>
            <a:ext cx="5074920" cy="1005840"/>
          </a:xfrm>
          <a:prstGeom prst="roundRect">
            <a:avLst>
              <a:gd name="adj" fmla="val 4545"/>
            </a:avLst>
          </a:prstGeom>
          <a:solidFill>
            <a:srgbClr val="011837"/>
          </a:solidFill>
          <a:ln/>
        </p:spPr>
      </p:sp>
      <p:sp>
        <p:nvSpPr>
          <p:cNvPr id="9" name="Text 7"/>
          <p:cNvSpPr/>
          <p:nvPr/>
        </p:nvSpPr>
        <p:spPr>
          <a:xfrm>
            <a:off x="813816" y="4919472"/>
            <a:ext cx="4818888" cy="100584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DS&lt;=&gt;d123456</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WF&lt;:&gt;WT&lt;:&gt;SZ&lt;:&gt;MC&lt;:&gt;</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file.nc&lt;:&gt;data&lt;:&gt;2147483648&lt;:&gt;3f1c…&lt;:&gt;</a:t>
            </a:r>
            <a:endParaRPr lang="en-US" sz="1050" dirty="0"/>
          </a:p>
        </p:txBody>
      </p:sp>
      <p:sp>
        <p:nvSpPr>
          <p:cNvPr id="10" name="Text 8"/>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When is a tar big enough?</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99632" y="1965960"/>
          <a:ext cx="5532120" cy="914400"/>
        </p:xfrm>
        <a:graphic>
          <a:graphicData uri="http://schemas.openxmlformats.org/drawingml/2006/table">
            <a:tbl>
              <a:tblPr/>
              <a:tblGrid>
                <a:gridCol w="146304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Threshold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Rule applied while accumulating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20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 single file alone is enough to be its own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5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normal target size while under 100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accepted minimum once 100 files have piled up</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65 datasets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hard cap on datasets sharing one tar file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2" name="Shape 9"/>
          <p:cNvSpPr/>
          <p:nvPr/>
        </p:nvSpPr>
        <p:spPr>
          <a:xfrm>
            <a:off x="6199632" y="3794760"/>
            <a:ext cx="5532120" cy="1234440"/>
          </a:xfrm>
          <a:prstGeom prst="roundRect">
            <a:avLst>
              <a:gd name="adj" fmla="val 7407"/>
            </a:avLst>
          </a:prstGeom>
          <a:solidFill>
            <a:srgbClr val="DCEBF7"/>
          </a:solidFill>
          <a:ln w="12700">
            <a:solidFill>
              <a:srgbClr val="A9D6F2"/>
            </a:solidFill>
            <a:prstDash val="solid"/>
          </a:ln>
        </p:spPr>
      </p:sp>
      <p:sp>
        <p:nvSpPr>
          <p:cNvPr id="13" name="Text 10"/>
          <p:cNvSpPr/>
          <p:nvPr/>
        </p:nvSpPr>
        <p:spPr>
          <a:xfrm>
            <a:off x="6428232" y="3840480"/>
            <a:ext cx="5074920" cy="1143000"/>
          </a:xfrm>
          <a:prstGeom prst="rect">
            <a:avLst/>
          </a:prstGeom>
          <a:noFill/>
          <a:ln/>
        </p:spPr>
        <p:txBody>
          <a:bodyPr wrap="square" lIns="0" tIns="0" rIns="0" bIns="0" rtlCol="0" anchor="ctr"/>
          <a:lstStyle/>
          <a:p>
            <a:pPr indent="0" marL="0">
              <a:lnSpc>
                <a:spcPct val="108000"/>
              </a:lnSpc>
              <a:buNone/>
            </a:pPr>
            <a:r>
              <a:rPr lang="en-US" sz="1250" b="1" dirty="0">
                <a:solidFill>
                  <a:srgbClr val="0057C2"/>
                </a:solidFill>
                <a:latin typeface="Poppins" pitchFamily="34" charset="0"/>
                <a:ea typeface="Poppins" pitchFamily="34" charset="-122"/>
                <a:cs typeface="Poppins" pitchFamily="34" charset="-120"/>
              </a:rPr>
              <a:t>Small files are the reason.  </a:t>
            </a:r>
            <a:pPr indent="0" marL="0">
              <a:lnSpc>
                <a:spcPct val="108000"/>
              </a:lnSpc>
              <a:buNone/>
            </a:pPr>
            <a:r>
              <a:rPr lang="en-US" sz="1250" dirty="0">
                <a:solidFill>
                  <a:srgbClr val="00357A"/>
                </a:solidFill>
                <a:latin typeface="Poppins" pitchFamily="34" charset="0"/>
                <a:ea typeface="Poppins" pitchFamily="34" charset="-122"/>
                <a:cs typeface="Poppins" pitchFamily="34" charset="-120"/>
              </a:rPr>
              <a:t>Tape wants few large files, so many tiny files are packed together — across datasets if need be — while a single very large file is never split.</a:t>
            </a:r>
            <a:endParaRPr lang="en-US" sz="1250" dirty="0"/>
          </a:p>
        </p:txBody>
      </p:sp>
      <p:sp>
        <p:nvSpPr>
          <p:cNvPr id="14" name="Text 11"/>
          <p:cNvSpPr/>
          <p:nvPr/>
        </p:nvSpPr>
        <p:spPr>
          <a:xfrm>
            <a:off x="6199632" y="513892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Resulting tar file name</a:t>
            </a:r>
            <a:endParaRPr lang="en-US" sz="1400" dirty="0"/>
          </a:p>
        </p:txBody>
      </p:sp>
      <p:sp>
        <p:nvSpPr>
          <p:cNvPr id="15" name="Shape 12"/>
          <p:cNvSpPr/>
          <p:nvPr/>
        </p:nvSpPr>
        <p:spPr>
          <a:xfrm>
            <a:off x="6199632" y="5486400"/>
            <a:ext cx="5532120" cy="457200"/>
          </a:xfrm>
          <a:prstGeom prst="roundRect">
            <a:avLst>
              <a:gd name="adj" fmla="val 10000"/>
            </a:avLst>
          </a:prstGeom>
          <a:solidFill>
            <a:srgbClr val="011837"/>
          </a:solidFill>
          <a:ln/>
        </p:spPr>
      </p:sp>
      <p:sp>
        <p:nvSpPr>
          <p:cNvPr id="16" name="Text 13"/>
          <p:cNvSpPr/>
          <p:nvPr/>
        </p:nvSpPr>
        <p:spPr>
          <a:xfrm>
            <a:off x="6327648" y="5486400"/>
            <a:ext cx="5276088" cy="45720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G001/d123456_sn40321_dn3_fn218.tar</a:t>
            </a:r>
            <a:endParaRPr lang="en-US" sz="1200" dirty="0"/>
          </a:p>
        </p:txBody>
      </p:sp>
      <p:sp>
        <p:nvSpPr>
          <p:cNvPr id="17" name="Text 14"/>
          <p:cNvSpPr/>
          <p:nvPr/>
        </p:nvSpPr>
        <p:spPr>
          <a:xfrm>
            <a:off x="6199632" y="5989320"/>
            <a:ext cx="5532120" cy="274320"/>
          </a:xfrm>
          <a:prstGeom prst="rect">
            <a:avLst/>
          </a:prstGeom>
          <a:noFill/>
          <a:ln/>
        </p:spPr>
        <p:txBody>
          <a:bodyPr wrap="square" lIns="0" tIns="0" rIns="0" bIns="0" rtlCol="0" anchor="ctr"/>
          <a:lstStyle/>
          <a:p>
            <a:pPr indent="0" marL="0">
              <a:buNone/>
            </a:pPr>
            <a:r>
              <a:rPr lang="en-US" sz="1100" dirty="0">
                <a:solidFill>
                  <a:srgbClr val="53565A"/>
                </a:solidFill>
                <a:latin typeface="Poppins" pitchFamily="34" charset="0"/>
                <a:ea typeface="Poppins" pitchFamily="34" charset="-122"/>
                <a:cs typeface="Poppins" pitchFamily="34" charset="-120"/>
              </a:rPr>
              <a:t>subpath / dsid _ bid _ dataset count _ file count</a:t>
            </a:r>
            <a:endParaRPr lang="en-US" sz="110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10</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2 Deep Dive: Building the Tar Files</a:t>
            </a:r>
            <a:endParaRPr lang="en-US" sz="3200" dirty="0"/>
          </a:p>
        </p:txBody>
      </p:sp>
      <p:sp>
        <p:nvSpPr>
          <p:cNvPr id="4" name="Shape 2"/>
          <p:cNvSpPr/>
          <p:nvPr/>
        </p:nvSpPr>
        <p:spPr>
          <a:xfrm>
            <a:off x="457200" y="1554480"/>
            <a:ext cx="11247120" cy="914400"/>
          </a:xfrm>
          <a:prstGeom prst="roundRect">
            <a:avLst>
              <a:gd name="adj" fmla="val 8000"/>
            </a:avLst>
          </a:prstGeom>
          <a:solidFill>
            <a:srgbClr val="011837"/>
          </a:solidFill>
          <a:ln/>
        </p:spPr>
      </p:sp>
      <p:sp>
        <p:nvSpPr>
          <p:cNvPr id="5" name="Text 3"/>
          <p:cNvSpPr/>
          <p:nvPr/>
        </p:nvSpPr>
        <p:spPr>
          <a:xfrm>
            <a:off x="658368" y="1554480"/>
            <a:ext cx="10881360" cy="914400"/>
          </a:xfrm>
          <a:prstGeom prst="rect">
            <a:avLst/>
          </a:prstGeom>
          <a:noFill/>
          <a:ln/>
        </p:spPr>
        <p:txBody>
          <a:bodyPr wrap="square" lIns="0" tIns="0" rIns="0" bIns="0" rtlCol="0" anchor="ctr"/>
          <a:lstStyle/>
          <a:p>
            <a:pPr indent="0" marL="0">
              <a:lnSpc>
                <a:spcPct val="110000"/>
              </a:lnSpc>
              <a:buNone/>
            </a:pPr>
            <a:r>
              <a:rPr lang="en-US" sz="1300" dirty="0">
                <a:solidFill>
                  <a:srgbClr val="FFFFFF"/>
                </a:solidFill>
                <a:latin typeface="Courier New" pitchFamily="34" charset="0"/>
                <a:ea typeface="Courier New" pitchFamily="34" charset="-122"/>
                <a:cs typeface="Courier New" pitchFamily="34" charset="-120"/>
              </a:rPr>
              <a:t>dsarch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 </a:t>
            </a:r>
            <a:pPr indent="0" marL="0">
              <a:lnSpc>
                <a:spcPct val="110000"/>
              </a:lnSpc>
              <a:buNone/>
            </a:pPr>
            <a:r>
              <a:rPr lang="en-US" sz="1300" b="1" dirty="0">
                <a:solidFill>
                  <a:srgbClr val="F0A030"/>
                </a:solidFill>
                <a:latin typeface="Courier New" pitchFamily="34" charset="0"/>
                <a:ea typeface="Courier New" pitchFamily="34" charset="-122"/>
                <a:cs typeface="Courier New" pitchFamily="34" charset="-120"/>
              </a:rPr>
              <a:t>AQ </a:t>
            </a:r>
            <a:pPr indent="0" marL="0">
              <a:lnSpc>
                <a:spcPct val="110000"/>
              </a:lnSpc>
              <a:buNone/>
            </a:pPr>
            <a:r>
              <a:rPr lang="en-US" sz="1300" dirty="0">
                <a:solidFill>
                  <a:srgbClr val="42C0FF"/>
                </a:solidFill>
                <a:latin typeface="Courier New" pitchFamily="34" charset="0"/>
                <a:ea typeface="Courier New" pitchFamily="34" charset="-122"/>
                <a:cs typeface="Courier New" pitchFamily="34" charset="-120"/>
              </a:rPr>
              <a:t>-QT D -QF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G001/d123456_sn40321_dn3_fn218.tar </a:t>
            </a:r>
            <a:pPr indent="0" marL="0">
              <a:lnSpc>
                <a:spcPct val="110000"/>
              </a:lnSpc>
              <a:buNone/>
            </a:pPr>
            <a:r>
              <a:rPr lang="en-US" sz="1300" b="1" dirty="0">
                <a:solidFill>
                  <a:srgbClr val="0097A7"/>
                </a:solidFill>
                <a:latin typeface="Courier New" pitchFamily="34" charset="0"/>
                <a:ea typeface="Courier New" pitchFamily="34" charset="-122"/>
                <a:cs typeface="Courier New" pitchFamily="34" charset="-120"/>
              </a:rPr>
              <a:t>-TO -OE -MD -IF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d123456_W_40321.txt …</a:t>
            </a:r>
            <a:endParaRPr lang="en-US" sz="1300" dirty="0"/>
          </a:p>
        </p:txBody>
      </p:sp>
      <p:sp>
        <p:nvSpPr>
          <p:cNvPr id="6" name="Shape 4"/>
          <p:cNvSpPr/>
          <p:nvPr/>
        </p:nvSpPr>
        <p:spPr>
          <a:xfrm>
            <a:off x="457200" y="2697480"/>
            <a:ext cx="5532120" cy="420624"/>
          </a:xfrm>
          <a:prstGeom prst="rect">
            <a:avLst/>
          </a:prstGeom>
          <a:solidFill>
            <a:srgbClr val="FFFFFF"/>
          </a:solidFill>
          <a:ln w="6350">
            <a:solidFill>
              <a:srgbClr val="A9D6F2"/>
            </a:solidFill>
            <a:prstDash val="solid"/>
          </a:ln>
        </p:spPr>
      </p:sp>
      <p:sp>
        <p:nvSpPr>
          <p:cNvPr id="7" name="Text 5"/>
          <p:cNvSpPr/>
          <p:nvPr/>
        </p:nvSpPr>
        <p:spPr>
          <a:xfrm>
            <a:off x="640080" y="26974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AQ</a:t>
            </a:r>
            <a:endParaRPr lang="en-US" sz="1300" dirty="0"/>
          </a:p>
        </p:txBody>
      </p:sp>
      <p:sp>
        <p:nvSpPr>
          <p:cNvPr id="8" name="Text 6"/>
          <p:cNvSpPr/>
          <p:nvPr/>
        </p:nvSpPr>
        <p:spPr>
          <a:xfrm>
            <a:off x="1600200" y="2697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Archive Quasar — pack the listed files into one tar</a:t>
            </a:r>
            <a:endParaRPr lang="en-US" sz="1150" dirty="0"/>
          </a:p>
        </p:txBody>
      </p:sp>
      <p:sp>
        <p:nvSpPr>
          <p:cNvPr id="9" name="Shape 7"/>
          <p:cNvSpPr/>
          <p:nvPr/>
        </p:nvSpPr>
        <p:spPr>
          <a:xfrm>
            <a:off x="457200" y="3154680"/>
            <a:ext cx="5532120" cy="420624"/>
          </a:xfrm>
          <a:prstGeom prst="rect">
            <a:avLst/>
          </a:prstGeom>
          <a:solidFill>
            <a:srgbClr val="DCEBF7"/>
          </a:solidFill>
          <a:ln w="6350">
            <a:solidFill>
              <a:srgbClr val="A9D6F2"/>
            </a:solidFill>
            <a:prstDash val="solid"/>
          </a:ln>
        </p:spPr>
      </p:sp>
      <p:sp>
        <p:nvSpPr>
          <p:cNvPr id="10" name="Text 8"/>
          <p:cNvSpPr/>
          <p:nvPr/>
        </p:nvSpPr>
        <p:spPr>
          <a:xfrm>
            <a:off x="640080" y="3154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-QT</a:t>
            </a:r>
            <a:endParaRPr lang="en-US" sz="1300" dirty="0"/>
          </a:p>
        </p:txBody>
      </p:sp>
      <p:sp>
        <p:nvSpPr>
          <p:cNvPr id="11" name="Text 9"/>
          <p:cNvSpPr/>
          <p:nvPr/>
        </p:nvSpPr>
        <p:spPr>
          <a:xfrm>
            <a:off x="1600200" y="3154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copy type: 'B' Backup only, or 'D' Backup + Drdata</a:t>
            </a:r>
            <a:endParaRPr lang="en-US" sz="1150" dirty="0"/>
          </a:p>
        </p:txBody>
      </p:sp>
      <p:sp>
        <p:nvSpPr>
          <p:cNvPr id="12" name="Shape 10"/>
          <p:cNvSpPr/>
          <p:nvPr/>
        </p:nvSpPr>
        <p:spPr>
          <a:xfrm>
            <a:off x="457200" y="3611880"/>
            <a:ext cx="5532120" cy="420624"/>
          </a:xfrm>
          <a:prstGeom prst="rect">
            <a:avLst/>
          </a:prstGeom>
          <a:solidFill>
            <a:srgbClr val="FFFFFF"/>
          </a:solidFill>
          <a:ln w="6350">
            <a:solidFill>
              <a:srgbClr val="A9D6F2"/>
            </a:solidFill>
            <a:prstDash val="solid"/>
          </a:ln>
        </p:spPr>
      </p:sp>
      <p:sp>
        <p:nvSpPr>
          <p:cNvPr id="13" name="Text 11"/>
          <p:cNvSpPr/>
          <p:nvPr/>
        </p:nvSpPr>
        <p:spPr>
          <a:xfrm>
            <a:off x="640080" y="3611880"/>
            <a:ext cx="914400" cy="420624"/>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-QF</a:t>
            </a:r>
            <a:endParaRPr lang="en-US" sz="1300" dirty="0"/>
          </a:p>
        </p:txBody>
      </p:sp>
      <p:sp>
        <p:nvSpPr>
          <p:cNvPr id="14" name="Text 12"/>
          <p:cNvSpPr/>
          <p:nvPr/>
        </p:nvSpPr>
        <p:spPr>
          <a:xfrm>
            <a:off x="1600200" y="36118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tar file name recorded in the bfile record</a:t>
            </a:r>
            <a:endParaRPr lang="en-US" sz="1150" dirty="0"/>
          </a:p>
        </p:txBody>
      </p:sp>
      <p:sp>
        <p:nvSpPr>
          <p:cNvPr id="15" name="Shape 13"/>
          <p:cNvSpPr/>
          <p:nvPr/>
        </p:nvSpPr>
        <p:spPr>
          <a:xfrm>
            <a:off x="457200" y="4069080"/>
            <a:ext cx="5532120" cy="420624"/>
          </a:xfrm>
          <a:prstGeom prst="rect">
            <a:avLst/>
          </a:prstGeom>
          <a:solidFill>
            <a:srgbClr val="DCEBF7"/>
          </a:solidFill>
          <a:ln w="6350">
            <a:solidFill>
              <a:srgbClr val="A9D6F2"/>
            </a:solidFill>
            <a:prstDash val="solid"/>
          </a:ln>
        </p:spPr>
      </p:sp>
      <p:sp>
        <p:nvSpPr>
          <p:cNvPr id="16" name="Text 14"/>
          <p:cNvSpPr/>
          <p:nvPr/>
        </p:nvSpPr>
        <p:spPr>
          <a:xfrm>
            <a:off x="640080" y="4069080"/>
            <a:ext cx="914400" cy="420624"/>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-TO</a:t>
            </a:r>
            <a:endParaRPr lang="en-US" sz="1300" dirty="0"/>
          </a:p>
        </p:txBody>
      </p:sp>
      <p:sp>
        <p:nvSpPr>
          <p:cNvPr id="17" name="Text 15"/>
          <p:cNvSpPr/>
          <p:nvPr/>
        </p:nvSpPr>
        <p:spPr>
          <a:xfrm>
            <a:off x="1600200" y="40690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Tar Only — build the tar, do not upload it</a:t>
            </a:r>
            <a:endParaRPr lang="en-US" sz="1150" dirty="0"/>
          </a:p>
        </p:txBody>
      </p:sp>
      <p:sp>
        <p:nvSpPr>
          <p:cNvPr id="18" name="Shape 16"/>
          <p:cNvSpPr/>
          <p:nvPr/>
        </p:nvSpPr>
        <p:spPr>
          <a:xfrm>
            <a:off x="457200" y="4526280"/>
            <a:ext cx="5532120" cy="420624"/>
          </a:xfrm>
          <a:prstGeom prst="rect">
            <a:avLst/>
          </a:prstGeom>
          <a:solidFill>
            <a:srgbClr val="FFFFFF"/>
          </a:solidFill>
          <a:ln w="6350">
            <a:solidFill>
              <a:srgbClr val="A9D6F2"/>
            </a:solidFill>
            <a:prstDash val="solid"/>
          </a:ln>
        </p:spPr>
      </p:sp>
      <p:sp>
        <p:nvSpPr>
          <p:cNvPr id="19" name="Text 17"/>
          <p:cNvSpPr/>
          <p:nvPr/>
        </p:nvSpPr>
        <p:spPr>
          <a:xfrm>
            <a:off x="640080" y="45262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-OE</a:t>
            </a:r>
            <a:endParaRPr lang="en-US" sz="1300" dirty="0"/>
          </a:p>
        </p:txBody>
      </p:sp>
      <p:sp>
        <p:nvSpPr>
          <p:cNvPr id="20" name="Text 18"/>
          <p:cNvSpPr/>
          <p:nvPr/>
        </p:nvSpPr>
        <p:spPr>
          <a:xfrm>
            <a:off x="1600200" y="45262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overwrite an existing Quasar file of that name</a:t>
            </a:r>
            <a:endParaRPr lang="en-US" sz="1150" dirty="0"/>
          </a:p>
        </p:txBody>
      </p:sp>
      <p:sp>
        <p:nvSpPr>
          <p:cNvPr id="21" name="Shape 19"/>
          <p:cNvSpPr/>
          <p:nvPr/>
        </p:nvSpPr>
        <p:spPr>
          <a:xfrm>
            <a:off x="457200" y="4983480"/>
            <a:ext cx="5532120" cy="420624"/>
          </a:xfrm>
          <a:prstGeom prst="rect">
            <a:avLst/>
          </a:prstGeom>
          <a:solidFill>
            <a:srgbClr val="DCEBF7"/>
          </a:solidFill>
          <a:ln w="6350">
            <a:solidFill>
              <a:srgbClr val="A9D6F2"/>
            </a:solidFill>
            <a:prstDash val="solid"/>
          </a:ln>
        </p:spPr>
      </p:sp>
      <p:sp>
        <p:nvSpPr>
          <p:cNvPr id="22" name="Text 20"/>
          <p:cNvSpPr/>
          <p:nvPr/>
        </p:nvSpPr>
        <p:spPr>
          <a:xfrm>
            <a:off x="640080" y="4983480"/>
            <a:ext cx="914400" cy="420624"/>
          </a:xfrm>
          <a:prstGeom prst="rect">
            <a:avLst/>
          </a:prstGeom>
          <a:noFill/>
          <a:ln/>
        </p:spPr>
        <p:txBody>
          <a:bodyPr wrap="square" lIns="0" tIns="0" rIns="0" bIns="0" rtlCol="0" anchor="ctr"/>
          <a:lstStyle/>
          <a:p>
            <a:pPr indent="0" marL="0">
              <a:buNone/>
            </a:pPr>
            <a:r>
              <a:rPr lang="en-US" sz="1300" b="1" dirty="0">
                <a:solidFill>
                  <a:srgbClr val="53565A"/>
                </a:solidFill>
                <a:latin typeface="Courier New" pitchFamily="34" charset="0"/>
                <a:ea typeface="Courier New" pitchFamily="34" charset="-122"/>
                <a:cs typeface="Courier New" pitchFamily="34" charset="-120"/>
              </a:rPr>
              <a:t>-MD</a:t>
            </a:r>
            <a:endParaRPr lang="en-US" sz="1300" dirty="0"/>
          </a:p>
        </p:txBody>
      </p:sp>
      <p:sp>
        <p:nvSpPr>
          <p:cNvPr id="23" name="Text 21"/>
          <p:cNvSpPr/>
          <p:nvPr/>
        </p:nvSpPr>
        <p:spPr>
          <a:xfrm>
            <a:off x="1600200" y="4983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act on any specialist's dataset</a:t>
            </a:r>
            <a:endParaRPr lang="en-US" sz="1150" dirty="0"/>
          </a:p>
        </p:txBody>
      </p:sp>
      <p:sp>
        <p:nvSpPr>
          <p:cNvPr id="24" name="Shape 22"/>
          <p:cNvSpPr/>
          <p:nvPr/>
        </p:nvSpPr>
        <p:spPr>
          <a:xfrm>
            <a:off x="457200" y="5440680"/>
            <a:ext cx="5532120" cy="420624"/>
          </a:xfrm>
          <a:prstGeom prst="rect">
            <a:avLst/>
          </a:prstGeom>
          <a:solidFill>
            <a:srgbClr val="FFFFFF"/>
          </a:solidFill>
          <a:ln w="6350">
            <a:solidFill>
              <a:srgbClr val="A9D6F2"/>
            </a:solidFill>
            <a:prstDash val="solid"/>
          </a:ln>
        </p:spPr>
      </p:sp>
      <p:sp>
        <p:nvSpPr>
          <p:cNvPr id="25" name="Text 23"/>
          <p:cNvSpPr/>
          <p:nvPr/>
        </p:nvSpPr>
        <p:spPr>
          <a:xfrm>
            <a:off x="640080" y="5440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-IF</a:t>
            </a:r>
            <a:endParaRPr lang="en-US" sz="1300" dirty="0"/>
          </a:p>
        </p:txBody>
      </p:sp>
      <p:sp>
        <p:nvSpPr>
          <p:cNvPr id="26" name="Text 24"/>
          <p:cNvSpPr/>
          <p:nvPr/>
        </p:nvSpPr>
        <p:spPr>
          <a:xfrm>
            <a:off x="1600200" y="5440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input files listing what goes into the tar</a:t>
            </a:r>
            <a:endParaRPr lang="en-US" sz="1150" dirty="0"/>
          </a:p>
        </p:txBody>
      </p:sp>
      <p:sp>
        <p:nvSpPr>
          <p:cNvPr id="27" name="Shape 25"/>
          <p:cNvSpPr/>
          <p:nvPr/>
        </p:nvSpPr>
        <p:spPr>
          <a:xfrm>
            <a:off x="6199632" y="2697480"/>
            <a:ext cx="5532120" cy="777240"/>
          </a:xfrm>
          <a:prstGeom prst="roundRect">
            <a:avLst>
              <a:gd name="adj" fmla="val 9412"/>
            </a:avLst>
          </a:prstGeom>
          <a:solidFill>
            <a:srgbClr val="FFFFFF"/>
          </a:solidFill>
          <a:ln w="19050">
            <a:solidFill>
              <a:srgbClr val="0057C2"/>
            </a:solidFill>
            <a:prstDash val="solid"/>
          </a:ln>
        </p:spPr>
      </p:sp>
      <p:sp>
        <p:nvSpPr>
          <p:cNvPr id="28" name="Text 26"/>
          <p:cNvSpPr/>
          <p:nvPr/>
        </p:nvSpPr>
        <p:spPr>
          <a:xfrm>
            <a:off x="6400800" y="2752344"/>
            <a:ext cx="5166360" cy="292608"/>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One child per tar file</a:t>
            </a:r>
            <a:endParaRPr lang="en-US" sz="1300" dirty="0"/>
          </a:p>
        </p:txBody>
      </p:sp>
      <p:sp>
        <p:nvSpPr>
          <p:cNvPr id="29" name="Text 27"/>
          <p:cNvSpPr/>
          <p:nvPr/>
        </p:nvSpPr>
        <p:spPr>
          <a:xfrm>
            <a:off x="6400800" y="302666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With -m N, each tar file is handed to its own child process, so tarring scales widely across cpus.</a:t>
            </a:r>
            <a:endParaRPr lang="en-US" sz="1100" dirty="0"/>
          </a:p>
        </p:txBody>
      </p:sp>
      <p:sp>
        <p:nvSpPr>
          <p:cNvPr id="30" name="Shape 28"/>
          <p:cNvSpPr/>
          <p:nvPr/>
        </p:nvSpPr>
        <p:spPr>
          <a:xfrm>
            <a:off x="6199632" y="3566160"/>
            <a:ext cx="5532120" cy="777240"/>
          </a:xfrm>
          <a:prstGeom prst="roundRect">
            <a:avLst>
              <a:gd name="adj" fmla="val 9412"/>
            </a:avLst>
          </a:prstGeom>
          <a:solidFill>
            <a:srgbClr val="FFFFFF"/>
          </a:solidFill>
          <a:ln w="19050">
            <a:solidFill>
              <a:srgbClr val="0092DB"/>
            </a:solidFill>
            <a:prstDash val="solid"/>
          </a:ln>
        </p:spPr>
      </p:sp>
      <p:sp>
        <p:nvSpPr>
          <p:cNvPr id="31" name="Text 29"/>
          <p:cNvSpPr/>
          <p:nvPr/>
        </p:nvSpPr>
        <p:spPr>
          <a:xfrm>
            <a:off x="6400800" y="3621024"/>
            <a:ext cx="5166360" cy="292608"/>
          </a:xfrm>
          <a:prstGeom prst="rect">
            <a:avLst/>
          </a:prstGeom>
          <a:noFill/>
          <a:ln/>
        </p:spPr>
        <p:txBody>
          <a:bodyPr wrap="square" lIns="0" tIns="0" rIns="0" bIns="0" rtlCol="0" anchor="ctr"/>
          <a:lstStyle/>
          <a:p>
            <a:pPr indent="0" marL="0">
              <a:buNone/>
            </a:pPr>
            <a:r>
              <a:rPr lang="en-US" sz="1300" b="1" dirty="0">
                <a:solidFill>
                  <a:srgbClr val="0092DB"/>
                </a:solidFill>
                <a:latin typeface="Poppins" pitchFamily="34" charset="0"/>
                <a:ea typeface="Poppins" pitchFamily="34" charset="-122"/>
                <a:cs typeface="Poppins" pitchFamily="34" charset="-120"/>
              </a:rPr>
              <a:t>Missing lists are rebuilt</a:t>
            </a:r>
            <a:endParaRPr lang="en-US" sz="1300" dirty="0"/>
          </a:p>
        </p:txBody>
      </p:sp>
      <p:sp>
        <p:nvSpPr>
          <p:cNvPr id="32" name="Text 30"/>
          <p:cNvSpPr/>
          <p:nvPr/>
        </p:nvSpPr>
        <p:spPr>
          <a:xfrm>
            <a:off x="6400800" y="389534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The bfile note holds a copy of every input file, so a list deleted from the work directory is written back out before tarring.</a:t>
            </a:r>
            <a:endParaRPr lang="en-US" sz="1100" dirty="0"/>
          </a:p>
        </p:txBody>
      </p:sp>
      <p:sp>
        <p:nvSpPr>
          <p:cNvPr id="33" name="Shape 31"/>
          <p:cNvSpPr/>
          <p:nvPr/>
        </p:nvSpPr>
        <p:spPr>
          <a:xfrm>
            <a:off x="6199632" y="4434840"/>
            <a:ext cx="5532120" cy="777240"/>
          </a:xfrm>
          <a:prstGeom prst="roundRect">
            <a:avLst>
              <a:gd name="adj" fmla="val 9412"/>
            </a:avLst>
          </a:prstGeom>
          <a:solidFill>
            <a:srgbClr val="FFFFFF"/>
          </a:solidFill>
          <a:ln w="19050">
            <a:solidFill>
              <a:srgbClr val="0097A7"/>
            </a:solidFill>
            <a:prstDash val="solid"/>
          </a:ln>
        </p:spPr>
      </p:sp>
      <p:sp>
        <p:nvSpPr>
          <p:cNvPr id="34" name="Text 32"/>
          <p:cNvSpPr/>
          <p:nvPr/>
        </p:nvSpPr>
        <p:spPr>
          <a:xfrm>
            <a:off x="6400800" y="4489704"/>
            <a:ext cx="5166360" cy="292608"/>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Verified before it counts</a:t>
            </a:r>
            <a:endParaRPr lang="en-US" sz="1300" dirty="0"/>
          </a:p>
        </p:txBody>
      </p:sp>
      <p:sp>
        <p:nvSpPr>
          <p:cNvPr id="35" name="Text 33"/>
          <p:cNvSpPr/>
          <p:nvPr/>
        </p:nvSpPr>
        <p:spPr>
          <a:xfrm>
            <a:off x="6400800" y="476402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After the children finish, the confirmed counts are re-read from GDEXDB, so the summary reports work that actually reached status 'T'.</a:t>
            </a:r>
            <a:endParaRPr lang="en-US" sz="1100" dirty="0"/>
          </a:p>
        </p:txBody>
      </p:sp>
      <p:sp>
        <p:nvSpPr>
          <p:cNvPr id="36" name="Shape 34"/>
          <p:cNvSpPr/>
          <p:nvPr/>
        </p:nvSpPr>
        <p:spPr>
          <a:xfrm>
            <a:off x="6199632" y="5303520"/>
            <a:ext cx="5532120" cy="777240"/>
          </a:xfrm>
          <a:prstGeom prst="roundRect">
            <a:avLst>
              <a:gd name="adj" fmla="val 9412"/>
            </a:avLst>
          </a:prstGeom>
          <a:solidFill>
            <a:srgbClr val="FFFFFF"/>
          </a:solidFill>
          <a:ln w="19050">
            <a:solidFill>
              <a:srgbClr val="C25E00"/>
            </a:solidFill>
            <a:prstDash val="solid"/>
          </a:ln>
        </p:spPr>
      </p:sp>
      <p:sp>
        <p:nvSpPr>
          <p:cNvPr id="37" name="Text 35"/>
          <p:cNvSpPr/>
          <p:nvPr/>
        </p:nvSpPr>
        <p:spPr>
          <a:xfrm>
            <a:off x="6400800" y="5358384"/>
            <a:ext cx="5166360" cy="292608"/>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Duplicates are dropped</a:t>
            </a:r>
            <a:endParaRPr lang="en-US" sz="1300" dirty="0"/>
          </a:p>
        </p:txBody>
      </p:sp>
      <p:sp>
        <p:nvSpPr>
          <p:cNvPr id="38" name="Text 36"/>
          <p:cNvSpPr/>
          <p:nvPr/>
        </p:nvSpPr>
        <p:spPr>
          <a:xfrm>
            <a:off x="6400800" y="563270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If dsarch reports every member as already backed up under a different tar, the placeholder record and its lists are removed.</a:t>
            </a:r>
            <a:endParaRPr lang="en-US" sz="1100" dirty="0"/>
          </a:p>
        </p:txBody>
      </p:sp>
      <p:sp>
        <p:nvSpPr>
          <p:cNvPr id="39" name="Text 37"/>
          <p:cNvSpPr/>
          <p:nvPr/>
        </p:nvSpPr>
        <p:spPr>
          <a:xfrm>
            <a:off x="457200" y="5989320"/>
            <a:ext cx="9966960" cy="36576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In an -A 3 run both phases tar.  </a:t>
            </a:r>
            <a:pPr algn="ctr" indent="0" marL="0">
              <a:buNone/>
            </a:pPr>
            <a:r>
              <a:rPr lang="en-US" sz="1150" dirty="0">
                <a:solidFill>
                  <a:srgbClr val="00357A"/>
                </a:solidFill>
                <a:latin typeface="Poppins" pitchFamily="34" charset="0"/>
                <a:ea typeface="Poppins" pitchFamily="34" charset="-122"/>
                <a:cs typeface="Poppins" pitchFamily="34" charset="-120"/>
              </a:rPr>
              <a:t>A list created this run is tarred right away, and any 'N' record left over from before is tarred too.</a:t>
            </a:r>
            <a:endParaRPr lang="en-US" sz="115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4 Deep Dive: Transferring to Quasar</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batch of tar files</a:t>
            </a:r>
            <a:endParaRPr lang="en-US" sz="1500" dirty="0"/>
          </a:p>
        </p:txBody>
      </p:sp>
      <p:sp>
        <p:nvSpPr>
          <p:cNvPr id="6" name="Text 4"/>
          <p:cNvSpPr/>
          <p:nvPr/>
        </p:nvSpPr>
        <p:spPr>
          <a:xfrm>
            <a:off x="822960" y="2194560"/>
            <a:ext cx="4937760" cy="256032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Walk the 'T' records, accumulating tars until the batch hits 90 GB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Confirm each tar still exists on gdex-glade; if not, reset it to 'N'</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Hand the whole list to dsglobus as one transfer — Drdata first, then Backup</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Wait for both transfers to report finished</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Delete the local tars and set every record to status 'A'</a:t>
            </a:r>
            <a:endParaRPr lang="en-US" sz="1250" dirty="0"/>
          </a:p>
        </p:txBody>
      </p:sp>
      <p:sp>
        <p:nvSpPr>
          <p:cNvPr id="7" name="Shape 5"/>
          <p:cNvSpPr/>
          <p:nvPr/>
        </p:nvSpPr>
        <p:spPr>
          <a:xfrm>
            <a:off x="685800" y="4937760"/>
            <a:ext cx="5074920" cy="960120"/>
          </a:xfrm>
          <a:prstGeom prst="roundRect">
            <a:avLst>
              <a:gd name="adj" fmla="val 7619"/>
            </a:avLst>
          </a:prstGeom>
          <a:solidFill>
            <a:srgbClr val="FFFFFF"/>
          </a:solidFill>
          <a:ln w="19050">
            <a:solidFill>
              <a:srgbClr val="C25E00"/>
            </a:solidFill>
            <a:prstDash val="solid"/>
          </a:ln>
        </p:spPr>
      </p:sp>
      <p:sp>
        <p:nvSpPr>
          <p:cNvPr id="8" name="Text 6"/>
          <p:cNvSpPr/>
          <p:nvPr/>
        </p:nvSpPr>
        <p:spPr>
          <a:xfrm>
            <a:off x="868680" y="4983480"/>
            <a:ext cx="4754880" cy="868680"/>
          </a:xfrm>
          <a:prstGeom prst="rect">
            <a:avLst/>
          </a:prstGeom>
          <a:noFill/>
          <a:ln/>
        </p:spPr>
        <p:txBody>
          <a:bodyPr wrap="square" lIns="0" tIns="0" rIns="0" bIns="0" rtlCol="0" anchor="ctr"/>
          <a:lstStyle/>
          <a:p>
            <a:pPr indent="0" marL="0">
              <a:lnSpc>
                <a:spcPct val="105000"/>
              </a:lnSpc>
              <a:buNone/>
            </a:pPr>
            <a:r>
              <a:rPr lang="en-US" sz="1200" b="1" dirty="0">
                <a:solidFill>
                  <a:srgbClr val="C25E00"/>
                </a:solidFill>
                <a:latin typeface="Poppins" pitchFamily="34" charset="0"/>
                <a:ea typeface="Poppins" pitchFamily="34" charset="-122"/>
                <a:cs typeface="Poppins" pitchFamily="34" charset="-120"/>
              </a:rPr>
              <a:t>All or nothing.  </a:t>
            </a:r>
            <a:pPr indent="0" marL="0">
              <a:lnSpc>
                <a:spcPct val="105000"/>
              </a:lnSpc>
              <a:buNone/>
            </a:pPr>
            <a:r>
              <a:rPr lang="en-US" sz="1200" dirty="0">
                <a:solidFill>
                  <a:srgbClr val="00357A"/>
                </a:solidFill>
                <a:latin typeface="Poppins" pitchFamily="34" charset="0"/>
                <a:ea typeface="Poppins" pitchFamily="34" charset="-122"/>
                <a:cs typeface="Poppins" pitchFamily="34" charset="-120"/>
              </a:rPr>
              <a:t>If either copy fails, no local tar is deleted and no record advances — the whole batch is retried by a later run.</a:t>
            </a:r>
            <a:endParaRPr lang="en-US" sz="1200" dirty="0"/>
          </a:p>
        </p:txBody>
      </p:sp>
      <p:sp>
        <p:nvSpPr>
          <p:cNvPr id="9" name="Text 7"/>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Why batch to 90 GB?</a:t>
            </a:r>
            <a:endParaRPr lang="en-US" sz="1500" dirty="0"/>
          </a:p>
        </p:txBody>
      </p:sp>
      <p:sp>
        <p:nvSpPr>
          <p:cNvPr id="10" name="Shape 8"/>
          <p:cNvSpPr/>
          <p:nvPr/>
        </p:nvSpPr>
        <p:spPr>
          <a:xfrm>
            <a:off x="6199632" y="1938528"/>
            <a:ext cx="5532120" cy="1600200"/>
          </a:xfrm>
          <a:prstGeom prst="roundRect">
            <a:avLst>
              <a:gd name="adj" fmla="val 5714"/>
            </a:avLst>
          </a:prstGeom>
          <a:solidFill>
            <a:srgbClr val="DCEBF7"/>
          </a:solidFill>
          <a:ln w="12700">
            <a:solidFill>
              <a:srgbClr val="A9D6F2"/>
            </a:solidFill>
            <a:prstDash val="solid"/>
          </a:ln>
        </p:spPr>
      </p:sp>
      <p:sp>
        <p:nvSpPr>
          <p:cNvPr id="11" name="Shape 9"/>
          <p:cNvSpPr/>
          <p:nvPr/>
        </p:nvSpPr>
        <p:spPr>
          <a:xfrm>
            <a:off x="6446520" y="2148840"/>
            <a:ext cx="457200" cy="347472"/>
          </a:xfrm>
          <a:prstGeom prst="roundRect">
            <a:avLst>
              <a:gd name="adj" fmla="val 10526"/>
            </a:avLst>
          </a:prstGeom>
          <a:solidFill>
            <a:srgbClr val="0097A7"/>
          </a:solidFill>
          <a:ln/>
        </p:spPr>
      </p:sp>
      <p:sp>
        <p:nvSpPr>
          <p:cNvPr id="12" name="Shape 10"/>
          <p:cNvSpPr/>
          <p:nvPr/>
        </p:nvSpPr>
        <p:spPr>
          <a:xfrm>
            <a:off x="6995160" y="2148840"/>
            <a:ext cx="457200" cy="347472"/>
          </a:xfrm>
          <a:prstGeom prst="roundRect">
            <a:avLst>
              <a:gd name="adj" fmla="val 10526"/>
            </a:avLst>
          </a:prstGeom>
          <a:solidFill>
            <a:srgbClr val="0097A7"/>
          </a:solidFill>
          <a:ln/>
        </p:spPr>
      </p:sp>
      <p:sp>
        <p:nvSpPr>
          <p:cNvPr id="13" name="Shape 11"/>
          <p:cNvSpPr/>
          <p:nvPr/>
        </p:nvSpPr>
        <p:spPr>
          <a:xfrm>
            <a:off x="7543800" y="2148840"/>
            <a:ext cx="457200" cy="347472"/>
          </a:xfrm>
          <a:prstGeom prst="roundRect">
            <a:avLst>
              <a:gd name="adj" fmla="val 10526"/>
            </a:avLst>
          </a:prstGeom>
          <a:solidFill>
            <a:srgbClr val="0097A7"/>
          </a:solidFill>
          <a:ln/>
        </p:spPr>
      </p:sp>
      <p:sp>
        <p:nvSpPr>
          <p:cNvPr id="14" name="Shape 12"/>
          <p:cNvSpPr/>
          <p:nvPr/>
        </p:nvSpPr>
        <p:spPr>
          <a:xfrm>
            <a:off x="8092440" y="2148840"/>
            <a:ext cx="457200" cy="347472"/>
          </a:xfrm>
          <a:prstGeom prst="roundRect">
            <a:avLst>
              <a:gd name="adj" fmla="val 10526"/>
            </a:avLst>
          </a:prstGeom>
          <a:solidFill>
            <a:srgbClr val="0097A7"/>
          </a:solidFill>
          <a:ln/>
        </p:spPr>
      </p:sp>
      <p:sp>
        <p:nvSpPr>
          <p:cNvPr id="15" name="Shape 13"/>
          <p:cNvSpPr/>
          <p:nvPr/>
        </p:nvSpPr>
        <p:spPr>
          <a:xfrm>
            <a:off x="8641080" y="2148840"/>
            <a:ext cx="457200" cy="347472"/>
          </a:xfrm>
          <a:prstGeom prst="roundRect">
            <a:avLst>
              <a:gd name="adj" fmla="val 10526"/>
            </a:avLst>
          </a:prstGeom>
          <a:solidFill>
            <a:srgbClr val="0097A7"/>
          </a:solidFill>
          <a:ln/>
        </p:spPr>
      </p:sp>
      <p:sp>
        <p:nvSpPr>
          <p:cNvPr id="16" name="Shape 14"/>
          <p:cNvSpPr/>
          <p:nvPr/>
        </p:nvSpPr>
        <p:spPr>
          <a:xfrm>
            <a:off x="9189720" y="2148840"/>
            <a:ext cx="457200" cy="347472"/>
          </a:xfrm>
          <a:prstGeom prst="roundRect">
            <a:avLst>
              <a:gd name="adj" fmla="val 10526"/>
            </a:avLst>
          </a:prstGeom>
          <a:solidFill>
            <a:srgbClr val="0097A7"/>
          </a:solidFill>
          <a:ln/>
        </p:spPr>
      </p:sp>
      <p:sp>
        <p:nvSpPr>
          <p:cNvPr id="17" name="Shape 15"/>
          <p:cNvSpPr/>
          <p:nvPr/>
        </p:nvSpPr>
        <p:spPr>
          <a:xfrm>
            <a:off x="9738360" y="2148840"/>
            <a:ext cx="457200" cy="347472"/>
          </a:xfrm>
          <a:prstGeom prst="roundRect">
            <a:avLst>
              <a:gd name="adj" fmla="val 10526"/>
            </a:avLst>
          </a:prstGeom>
          <a:solidFill>
            <a:srgbClr val="0097A7"/>
          </a:solidFill>
          <a:ln/>
        </p:spPr>
      </p:sp>
      <p:sp>
        <p:nvSpPr>
          <p:cNvPr id="18" name="Shape 16"/>
          <p:cNvSpPr/>
          <p:nvPr/>
        </p:nvSpPr>
        <p:spPr>
          <a:xfrm>
            <a:off x="10287000" y="2148840"/>
            <a:ext cx="457200" cy="347472"/>
          </a:xfrm>
          <a:prstGeom prst="roundRect">
            <a:avLst>
              <a:gd name="adj" fmla="val 10526"/>
            </a:avLst>
          </a:prstGeom>
          <a:solidFill>
            <a:srgbClr val="0097A7"/>
          </a:solidFill>
          <a:ln/>
        </p:spPr>
      </p:sp>
      <p:sp>
        <p:nvSpPr>
          <p:cNvPr id="19" name="Shape 17"/>
          <p:cNvSpPr/>
          <p:nvPr/>
        </p:nvSpPr>
        <p:spPr>
          <a:xfrm>
            <a:off x="10835640" y="2148840"/>
            <a:ext cx="457200" cy="347472"/>
          </a:xfrm>
          <a:prstGeom prst="roundRect">
            <a:avLst>
              <a:gd name="adj" fmla="val 10526"/>
            </a:avLst>
          </a:prstGeom>
          <a:solidFill>
            <a:srgbClr val="0097A7"/>
          </a:solidFill>
          <a:ln/>
        </p:spPr>
      </p:sp>
      <p:sp>
        <p:nvSpPr>
          <p:cNvPr id="20" name="Shape 18"/>
          <p:cNvSpPr/>
          <p:nvPr/>
        </p:nvSpPr>
        <p:spPr>
          <a:xfrm>
            <a:off x="6446520" y="2606040"/>
            <a:ext cx="457200" cy="347472"/>
          </a:xfrm>
          <a:prstGeom prst="roundRect">
            <a:avLst>
              <a:gd name="adj" fmla="val 10526"/>
            </a:avLst>
          </a:prstGeom>
          <a:solidFill>
            <a:srgbClr val="0097A7"/>
          </a:solidFill>
          <a:ln/>
        </p:spPr>
      </p:sp>
      <p:sp>
        <p:nvSpPr>
          <p:cNvPr id="21" name="Shape 19"/>
          <p:cNvSpPr/>
          <p:nvPr/>
        </p:nvSpPr>
        <p:spPr>
          <a:xfrm>
            <a:off x="6995160" y="2606040"/>
            <a:ext cx="457200" cy="347472"/>
          </a:xfrm>
          <a:prstGeom prst="roundRect">
            <a:avLst>
              <a:gd name="adj" fmla="val 10526"/>
            </a:avLst>
          </a:prstGeom>
          <a:solidFill>
            <a:srgbClr val="0097A7"/>
          </a:solidFill>
          <a:ln/>
        </p:spPr>
      </p:sp>
      <p:sp>
        <p:nvSpPr>
          <p:cNvPr id="22" name="Shape 20"/>
          <p:cNvSpPr/>
          <p:nvPr/>
        </p:nvSpPr>
        <p:spPr>
          <a:xfrm>
            <a:off x="7543800" y="2606040"/>
            <a:ext cx="457200" cy="347472"/>
          </a:xfrm>
          <a:prstGeom prst="roundRect">
            <a:avLst>
              <a:gd name="adj" fmla="val 10526"/>
            </a:avLst>
          </a:prstGeom>
          <a:solidFill>
            <a:srgbClr val="0097A7"/>
          </a:solidFill>
          <a:ln/>
        </p:spPr>
      </p:sp>
      <p:sp>
        <p:nvSpPr>
          <p:cNvPr id="23" name="Shape 21"/>
          <p:cNvSpPr/>
          <p:nvPr/>
        </p:nvSpPr>
        <p:spPr>
          <a:xfrm>
            <a:off x="8092440" y="2606040"/>
            <a:ext cx="457200" cy="347472"/>
          </a:xfrm>
          <a:prstGeom prst="roundRect">
            <a:avLst>
              <a:gd name="adj" fmla="val 10526"/>
            </a:avLst>
          </a:prstGeom>
          <a:solidFill>
            <a:srgbClr val="0097A7"/>
          </a:solidFill>
          <a:ln/>
        </p:spPr>
      </p:sp>
      <p:sp>
        <p:nvSpPr>
          <p:cNvPr id="24" name="Shape 22"/>
          <p:cNvSpPr/>
          <p:nvPr/>
        </p:nvSpPr>
        <p:spPr>
          <a:xfrm>
            <a:off x="8641080" y="2606040"/>
            <a:ext cx="457200" cy="347472"/>
          </a:xfrm>
          <a:prstGeom prst="roundRect">
            <a:avLst>
              <a:gd name="adj" fmla="val 10526"/>
            </a:avLst>
          </a:prstGeom>
          <a:solidFill>
            <a:srgbClr val="0097A7"/>
          </a:solidFill>
          <a:ln/>
        </p:spPr>
      </p:sp>
      <p:sp>
        <p:nvSpPr>
          <p:cNvPr id="25" name="Shape 23"/>
          <p:cNvSpPr/>
          <p:nvPr/>
        </p:nvSpPr>
        <p:spPr>
          <a:xfrm>
            <a:off x="9189720" y="2606040"/>
            <a:ext cx="457200" cy="347472"/>
          </a:xfrm>
          <a:prstGeom prst="roundRect">
            <a:avLst>
              <a:gd name="adj" fmla="val 10526"/>
            </a:avLst>
          </a:prstGeom>
          <a:solidFill>
            <a:srgbClr val="0097A7"/>
          </a:solidFill>
          <a:ln/>
        </p:spPr>
      </p:sp>
      <p:sp>
        <p:nvSpPr>
          <p:cNvPr id="26" name="Shape 24"/>
          <p:cNvSpPr/>
          <p:nvPr/>
        </p:nvSpPr>
        <p:spPr>
          <a:xfrm>
            <a:off x="9738360" y="2606040"/>
            <a:ext cx="457200" cy="347472"/>
          </a:xfrm>
          <a:prstGeom prst="roundRect">
            <a:avLst>
              <a:gd name="adj" fmla="val 10526"/>
            </a:avLst>
          </a:prstGeom>
          <a:solidFill>
            <a:srgbClr val="0097A7"/>
          </a:solidFill>
          <a:ln/>
        </p:spPr>
      </p:sp>
      <p:sp>
        <p:nvSpPr>
          <p:cNvPr id="27" name="Shape 25"/>
          <p:cNvSpPr/>
          <p:nvPr/>
        </p:nvSpPr>
        <p:spPr>
          <a:xfrm>
            <a:off x="10287000" y="2606040"/>
            <a:ext cx="457200" cy="347472"/>
          </a:xfrm>
          <a:prstGeom prst="roundRect">
            <a:avLst>
              <a:gd name="adj" fmla="val 10526"/>
            </a:avLst>
          </a:prstGeom>
          <a:solidFill>
            <a:srgbClr val="0097A7"/>
          </a:solidFill>
          <a:ln/>
        </p:spPr>
      </p:sp>
      <p:sp>
        <p:nvSpPr>
          <p:cNvPr id="28" name="Shape 26"/>
          <p:cNvSpPr/>
          <p:nvPr/>
        </p:nvSpPr>
        <p:spPr>
          <a:xfrm>
            <a:off x="10835640" y="2606040"/>
            <a:ext cx="457200" cy="347472"/>
          </a:xfrm>
          <a:prstGeom prst="roundRect">
            <a:avLst>
              <a:gd name="adj" fmla="val 10526"/>
            </a:avLst>
          </a:prstGeom>
          <a:solidFill>
            <a:srgbClr val="0097A7"/>
          </a:solidFill>
          <a:ln/>
        </p:spPr>
      </p:sp>
      <p:sp>
        <p:nvSpPr>
          <p:cNvPr id="29" name="Text 27"/>
          <p:cNvSpPr/>
          <p:nvPr/>
        </p:nvSpPr>
        <p:spPr>
          <a:xfrm>
            <a:off x="6446520" y="3108960"/>
            <a:ext cx="5029200" cy="32004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18 tar files × 5 GB  =  one 90 GB dsglobus transfer</a:t>
            </a:r>
            <a:endParaRPr lang="en-US" sz="1300" dirty="0"/>
          </a:p>
        </p:txBody>
      </p:sp>
      <p:sp>
        <p:nvSpPr>
          <p:cNvPr id="30" name="Text 28"/>
          <p:cNvSpPr/>
          <p:nvPr/>
        </p:nvSpPr>
        <p:spPr>
          <a:xfrm>
            <a:off x="6199632" y="3611880"/>
            <a:ext cx="5532120" cy="457200"/>
          </a:xfrm>
          <a:prstGeom prst="rect">
            <a:avLst/>
          </a:prstGeom>
          <a:noFill/>
          <a:ln/>
        </p:spPr>
        <p:txBody>
          <a:bodyPr wrap="square" lIns="0" tIns="0" rIns="0" bIns="0" rtlCol="0" anchor="t"/>
          <a:lstStyle/>
          <a:p>
            <a:pPr indent="0" marL="0">
              <a:lnSpc>
                <a:spcPct val="103000"/>
              </a:lnSpc>
              <a:buNone/>
            </a:pPr>
            <a:r>
              <a:rPr lang="en-US" sz="1100" dirty="0">
                <a:solidFill>
                  <a:srgbClr val="53565A"/>
                </a:solidFill>
                <a:latin typeface="Poppins" pitchFamily="34" charset="0"/>
                <a:ea typeface="Poppins" pitchFamily="34" charset="-122"/>
                <a:cs typeface="Poppins" pitchFamily="34" charset="-120"/>
              </a:rPr>
              <a:t>dsarch AQ can upload a tar as it builds it, but only one at a time. dsquasar calls dsglobus with the whole list, so a batch costs one request, not eighteen.</a:t>
            </a:r>
            <a:endParaRPr lang="en-US" sz="1100" dirty="0"/>
          </a:p>
        </p:txBody>
      </p:sp>
      <p:sp>
        <p:nvSpPr>
          <p:cNvPr id="31" name="Text 29"/>
          <p:cNvSpPr/>
          <p:nvPr/>
        </p:nvSpPr>
        <p:spPr>
          <a:xfrm>
            <a:off x="6199632" y="413308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Source and destination paths</a:t>
            </a:r>
            <a:endParaRPr lang="en-US" sz="1400" dirty="0"/>
          </a:p>
        </p:txBody>
      </p:sp>
      <p:sp>
        <p:nvSpPr>
          <p:cNvPr id="32" name="Shape 30"/>
          <p:cNvSpPr/>
          <p:nvPr/>
        </p:nvSpPr>
        <p:spPr>
          <a:xfrm>
            <a:off x="6199632" y="4462272"/>
            <a:ext cx="5532120" cy="914400"/>
          </a:xfrm>
          <a:prstGeom prst="roundRect">
            <a:avLst>
              <a:gd name="adj" fmla="val 5000"/>
            </a:avLst>
          </a:prstGeom>
          <a:solidFill>
            <a:srgbClr val="011837"/>
          </a:solidFill>
          <a:ln/>
        </p:spPr>
      </p:sp>
      <p:sp>
        <p:nvSpPr>
          <p:cNvPr id="33" name="Text 31"/>
          <p:cNvSpPr/>
          <p:nvPr/>
        </p:nvSpPr>
        <p:spPr>
          <a:xfrm>
            <a:off x="6327648" y="4462272"/>
            <a:ext cx="5276088" cy="91440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from  /data/gdex-quasar/d123456/&lt;tar&gt;      (Web)</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/decsdata/gdex-quasar/d123456/&lt;tar&gt;  (Saved)</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to    /d123456/G001/&lt;tar&gt;</a:t>
            </a:r>
            <a:endParaRPr lang="en-US" sz="1050" dirty="0"/>
          </a:p>
        </p:txBody>
      </p:sp>
      <p:sp>
        <p:nvSpPr>
          <p:cNvPr id="34" name="Shape 32"/>
          <p:cNvSpPr/>
          <p:nvPr/>
        </p:nvSpPr>
        <p:spPr>
          <a:xfrm>
            <a:off x="6199632" y="5486400"/>
            <a:ext cx="5532120" cy="548640"/>
          </a:xfrm>
          <a:prstGeom prst="roundRect">
            <a:avLst>
              <a:gd name="adj" fmla="val 13333"/>
            </a:avLst>
          </a:prstGeom>
          <a:solidFill>
            <a:srgbClr val="C7E4F5"/>
          </a:solidFill>
          <a:ln w="12700">
            <a:solidFill>
              <a:srgbClr val="A9D6F2"/>
            </a:solidFill>
            <a:prstDash val="solid"/>
          </a:ln>
        </p:spPr>
      </p:sp>
      <p:sp>
        <p:nvSpPr>
          <p:cNvPr id="35" name="Text 33"/>
          <p:cNvSpPr/>
          <p:nvPr/>
        </p:nvSpPr>
        <p:spPr>
          <a:xfrm>
            <a:off x="6382512" y="5486400"/>
            <a:ext cx="5166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Single worker only.  </a:t>
            </a:r>
            <a:pPr indent="0" marL="0">
              <a:buNone/>
            </a:pPr>
            <a:r>
              <a:rPr lang="en-US" sz="1150" dirty="0">
                <a:solidFill>
                  <a:srgbClr val="00357A"/>
                </a:solidFill>
                <a:latin typeface="Poppins" pitchFamily="34" charset="0"/>
                <a:ea typeface="Poppins" pitchFamily="34" charset="-122"/>
                <a:cs typeface="Poppins" pitchFamily="34" charset="-120"/>
              </a:rPr>
              <a:t>Transfers claim tars without dataset locks, so -A 4 never runs two workers.</a:t>
            </a:r>
            <a:endParaRPr lang="en-US" sz="1150" dirty="0"/>
          </a:p>
        </p:txBody>
      </p:sp>
      <p:sp>
        <p:nvSpPr>
          <p:cNvPr id="36" name="Text 34"/>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12</a:t>
            </a:r>
            <a:endParaRPr lang="en-US" sz="950" dirty="0"/>
          </a:p>
        </p:txBody>
      </p:sp>
      <p:sp>
        <p:nvSpPr>
          <p:cNvPr id="37" name="Text 35"/>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 CHANGEDAYS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Re-Backing Up Files That Changed</a:t>
            </a:r>
            <a:endParaRPr lang="en-US" sz="3200" dirty="0"/>
          </a:p>
        </p:txBody>
      </p:sp>
      <p:sp>
        <p:nvSpPr>
          <p:cNvPr id="4" name="Text 2"/>
          <p:cNvSpPr/>
          <p:nvPr/>
        </p:nvSpPr>
        <p:spPr>
          <a:xfrm>
            <a:off x="457200" y="1463040"/>
            <a:ext cx="5532120" cy="914400"/>
          </a:xfrm>
          <a:prstGeom prst="rect">
            <a:avLst/>
          </a:prstGeom>
          <a:noFill/>
          <a:ln/>
        </p:spPr>
        <p:txBody>
          <a:bodyPr wrap="square" lIns="0" tIns="0" rIns="0" bIns="0" rtlCol="0" anchor="t"/>
          <a:lstStyle/>
          <a:p>
            <a:pPr indent="0" marL="0">
              <a:lnSpc>
                <a:spcPct val="110000"/>
              </a:lnSpc>
              <a:buNone/>
            </a:pPr>
            <a:r>
              <a:rPr lang="en-US" sz="1350" dirty="0">
                <a:solidFill>
                  <a:srgbClr val="00357A"/>
                </a:solidFill>
                <a:latin typeface="Poppins" pitchFamily="34" charset="0"/>
                <a:ea typeface="Poppins" pitchFamily="34" charset="-122"/>
                <a:cs typeface="Poppins" pitchFamily="34" charset="-120"/>
              </a:rPr>
              <a:t>A file already on tape can be replaced on disk: a corrected version, a re-processed year. The tape copy is then stale. -c looks past the “never backed up” test and picks up files whose GDEXDB record changed recently.</a:t>
            </a:r>
            <a:endParaRPr lang="en-US" sz="1350" dirty="0"/>
          </a:p>
        </p:txBody>
      </p:sp>
      <p:sp>
        <p:nvSpPr>
          <p:cNvPr id="5" name="Shape 3"/>
          <p:cNvSpPr/>
          <p:nvPr/>
        </p:nvSpPr>
        <p:spPr>
          <a:xfrm>
            <a:off x="457200" y="2514600"/>
            <a:ext cx="5532120" cy="502920"/>
          </a:xfrm>
          <a:prstGeom prst="roundRect">
            <a:avLst>
              <a:gd name="adj" fmla="val 9091"/>
            </a:avLst>
          </a:prstGeom>
          <a:solidFill>
            <a:srgbClr val="011837"/>
          </a:solidFill>
          <a:ln/>
        </p:spPr>
      </p:sp>
      <p:sp>
        <p:nvSpPr>
          <p:cNvPr id="6" name="Text 4"/>
          <p:cNvSpPr/>
          <p:nvPr/>
        </p:nvSpPr>
        <p:spPr>
          <a:xfrm>
            <a:off x="585216" y="2514600"/>
            <a:ext cx="5276088" cy="50292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dsquasar -t d123456 -A 1 -c 30</a:t>
            </a:r>
            <a:endParaRPr lang="en-US" sz="1400" dirty="0"/>
          </a:p>
        </p:txBody>
      </p:sp>
      <p:sp>
        <p:nvSpPr>
          <p:cNvPr id="7" name="Text 5"/>
          <p:cNvSpPr/>
          <p:nvPr/>
        </p:nvSpPr>
        <p:spPr>
          <a:xfrm>
            <a:off x="457200" y="3154680"/>
            <a:ext cx="5532120" cy="457200"/>
          </a:xfrm>
          <a:prstGeom prst="rect">
            <a:avLst/>
          </a:prstGeom>
          <a:noFill/>
          <a:ln/>
        </p:spPr>
        <p:txBody>
          <a:bodyPr wrap="square" lIns="0" tIns="0" rIns="0" bIns="0" rtlCol="0" anchor="t"/>
          <a:lstStyle/>
          <a:p>
            <a:pPr indent="0" marL="0">
              <a:buNone/>
            </a:pPr>
            <a:r>
              <a:rPr lang="en-US" sz="1150" dirty="0">
                <a:solidFill>
                  <a:srgbClr val="53565A"/>
                </a:solidFill>
                <a:latin typeface="Poppins" pitchFamily="34" charset="0"/>
                <a:ea typeface="Poppins" pitchFamily="34" charset="-122"/>
                <a:cs typeface="Poppins" pitchFamily="34" charset="-120"/>
              </a:rPr>
              <a:t>Only meaningful with -A 1 — the gather step is what decides which files land in the input lists. Must be greater than 0.</a:t>
            </a:r>
            <a:endParaRPr lang="en-US" sz="1150" dirty="0"/>
          </a:p>
        </p:txBody>
      </p:sp>
      <p:sp>
        <p:nvSpPr>
          <p:cNvPr id="8" name="Text 6"/>
          <p:cNvSpPr/>
          <p:nvPr/>
        </p:nvSpPr>
        <p:spPr>
          <a:xfrm>
            <a:off x="457200" y="370332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What changes</a:t>
            </a:r>
            <a:endParaRPr lang="en-US" sz="1500" dirty="0"/>
          </a:p>
        </p:txBody>
      </p:sp>
      <p:sp>
        <p:nvSpPr>
          <p:cNvPr id="9" name="Shape 7"/>
          <p:cNvSpPr/>
          <p:nvPr/>
        </p:nvSpPr>
        <p:spPr>
          <a:xfrm>
            <a:off x="457200" y="4041648"/>
            <a:ext cx="5532120" cy="603504"/>
          </a:xfrm>
          <a:prstGeom prst="roundRect">
            <a:avLst>
              <a:gd name="adj" fmla="val 10606"/>
            </a:avLst>
          </a:prstGeom>
          <a:solidFill>
            <a:srgbClr val="DCEBF7"/>
          </a:solidFill>
          <a:ln w="12700">
            <a:solidFill>
              <a:srgbClr val="A9D6F2"/>
            </a:solidFill>
            <a:prstDash val="solid"/>
          </a:ln>
        </p:spPr>
      </p:sp>
      <p:sp>
        <p:nvSpPr>
          <p:cNvPr id="10" name="Text 8"/>
          <p:cNvSpPr/>
          <p:nvPr/>
        </p:nvSpPr>
        <p:spPr>
          <a:xfrm>
            <a:off x="621792" y="4041648"/>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Selection</a:t>
            </a:r>
            <a:endParaRPr lang="en-US" sz="1200" dirty="0"/>
          </a:p>
        </p:txBody>
      </p:sp>
      <p:sp>
        <p:nvSpPr>
          <p:cNvPr id="11" name="Text 9"/>
          <p:cNvSpPr/>
          <p:nvPr/>
        </p:nvSpPr>
        <p:spPr>
          <a:xfrm>
            <a:off x="1719072" y="4041648"/>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adds files with a recent change date, even if they already have a backup record</a:t>
            </a:r>
            <a:endParaRPr lang="en-US" sz="1100" dirty="0"/>
          </a:p>
        </p:txBody>
      </p:sp>
      <p:sp>
        <p:nvSpPr>
          <p:cNvPr id="12" name="Shape 10"/>
          <p:cNvSpPr/>
          <p:nvPr/>
        </p:nvSpPr>
        <p:spPr>
          <a:xfrm>
            <a:off x="457200" y="4736592"/>
            <a:ext cx="5532120" cy="603504"/>
          </a:xfrm>
          <a:prstGeom prst="roundRect">
            <a:avLst>
              <a:gd name="adj" fmla="val 10606"/>
            </a:avLst>
          </a:prstGeom>
          <a:solidFill>
            <a:srgbClr val="DCEBF7"/>
          </a:solidFill>
          <a:ln w="12700">
            <a:solidFill>
              <a:srgbClr val="A9D6F2"/>
            </a:solidFill>
            <a:prstDash val="solid"/>
          </a:ln>
        </p:spPr>
      </p:sp>
      <p:sp>
        <p:nvSpPr>
          <p:cNvPr id="13" name="Text 11"/>
          <p:cNvSpPr/>
          <p:nvPr/>
        </p:nvSpPr>
        <p:spPr>
          <a:xfrm>
            <a:off x="621792" y="4736592"/>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Tar name</a:t>
            </a:r>
            <a:endParaRPr lang="en-US" sz="1200" dirty="0"/>
          </a:p>
        </p:txBody>
      </p:sp>
      <p:sp>
        <p:nvSpPr>
          <p:cNvPr id="14" name="Text 12"/>
          <p:cNvSpPr/>
          <p:nvPr/>
        </p:nvSpPr>
        <p:spPr>
          <a:xfrm>
            <a:off x="1719072" y="4736592"/>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gets a  _changed  suffix so the re-backup is obvious on tape</a:t>
            </a:r>
            <a:endParaRPr lang="en-US" sz="1100" dirty="0"/>
          </a:p>
        </p:txBody>
      </p:sp>
      <p:sp>
        <p:nvSpPr>
          <p:cNvPr id="15" name="Shape 13"/>
          <p:cNvSpPr/>
          <p:nvPr/>
        </p:nvSpPr>
        <p:spPr>
          <a:xfrm>
            <a:off x="457200" y="5431536"/>
            <a:ext cx="5532120" cy="603504"/>
          </a:xfrm>
          <a:prstGeom prst="roundRect">
            <a:avLst>
              <a:gd name="adj" fmla="val 10606"/>
            </a:avLst>
          </a:prstGeom>
          <a:solidFill>
            <a:srgbClr val="DCEBF7"/>
          </a:solidFill>
          <a:ln w="12700">
            <a:solidFill>
              <a:srgbClr val="A9D6F2"/>
            </a:solidFill>
            <a:prstDash val="solid"/>
          </a:ln>
        </p:spPr>
      </p:sp>
      <p:sp>
        <p:nvSpPr>
          <p:cNvPr id="16" name="Text 14"/>
          <p:cNvSpPr/>
          <p:nvPr/>
        </p:nvSpPr>
        <p:spPr>
          <a:xfrm>
            <a:off x="621792" y="5431536"/>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Old copy</a:t>
            </a:r>
            <a:endParaRPr lang="en-US" sz="1200" dirty="0"/>
          </a:p>
        </p:txBody>
      </p:sp>
      <p:sp>
        <p:nvSpPr>
          <p:cNvPr id="17" name="Text 15"/>
          <p:cNvSpPr/>
          <p:nvPr/>
        </p:nvSpPr>
        <p:spPr>
          <a:xfrm>
            <a:off x="1719072" y="5431536"/>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stays on Quasar — nothing is deleted; the new tar is an additional version</a:t>
            </a:r>
            <a:endParaRPr lang="en-US" sz="1100" dirty="0"/>
          </a:p>
        </p:txBody>
      </p:sp>
      <p:sp>
        <p:nvSpPr>
          <p:cNvPr id="18" name="Text 16"/>
          <p:cNvSpPr/>
          <p:nvPr/>
        </p:nvSpPr>
        <p:spPr>
          <a:xfrm>
            <a:off x="6309360" y="14630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The four-way gather</a:t>
            </a:r>
            <a:endParaRPr lang="en-US" sz="1500" dirty="0"/>
          </a:p>
        </p:txBody>
      </p:sp>
      <p:sp>
        <p:nvSpPr>
          <p:cNvPr id="19" name="Text 17"/>
          <p:cNvSpPr/>
          <p:nvPr/>
        </p:nvSpPr>
        <p:spPr>
          <a:xfrm>
            <a:off x="6309360" y="1783080"/>
            <a:ext cx="544068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Each dataset is walked for up to four input lists, and -c widens each of them:</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309360" y="2212848"/>
          <a:ext cx="5440680" cy="914400"/>
        </p:xfrm>
        <a:graphic>
          <a:graphicData uri="http://schemas.openxmlformats.org/drawingml/2006/table">
            <a:tbl>
              <a:tblPr/>
              <a:tblGrid>
                <a:gridCol w="137160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List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1" name="Shape 18"/>
          <p:cNvSpPr/>
          <p:nvPr/>
        </p:nvSpPr>
        <p:spPr>
          <a:xfrm>
            <a:off x="6309360" y="4251960"/>
            <a:ext cx="5440680" cy="1051560"/>
          </a:xfrm>
          <a:prstGeom prst="roundRect">
            <a:avLst>
              <a:gd name="adj" fmla="val 6957"/>
            </a:avLst>
          </a:prstGeom>
          <a:solidFill>
            <a:srgbClr val="011837"/>
          </a:solidFill>
          <a:ln/>
        </p:spPr>
      </p:sp>
      <p:sp>
        <p:nvSpPr>
          <p:cNvPr id="22" name="Text 19"/>
          <p:cNvSpPr/>
          <p:nvPr/>
        </p:nvSpPr>
        <p:spPr>
          <a:xfrm>
            <a:off x="6537960" y="4389120"/>
            <a:ext cx="5029200" cy="292608"/>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Pick ChangeDays to match your run cadence</a:t>
            </a:r>
            <a:endParaRPr lang="en-US" sz="1300" dirty="0"/>
          </a:p>
        </p:txBody>
      </p:sp>
      <p:sp>
        <p:nvSpPr>
          <p:cNvPr id="23" name="Text 20"/>
          <p:cNvSpPr/>
          <p:nvPr/>
        </p:nvSpPr>
        <p:spPr>
          <a:xfrm>
            <a:off x="6537960" y="4681728"/>
            <a:ext cx="5029200" cy="548640"/>
          </a:xfrm>
          <a:prstGeom prst="rect">
            <a:avLst/>
          </a:prstGeom>
          <a:noFill/>
          <a:ln/>
        </p:spPr>
        <p:txBody>
          <a:bodyPr wrap="square" lIns="0" tIns="0" rIns="0" bIns="0" rtlCol="0" anchor="t"/>
          <a:lstStyle/>
          <a:p>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A large window re-tars files that were already re-tarred on the previous run, burning tape for nothing. Roughly one gather interval plus a safety margin is the useful range.</a:t>
            </a:r>
            <a:endParaRPr lang="en-US" sz="1100" dirty="0"/>
          </a:p>
        </p:txBody>
      </p:sp>
      <p:sp>
        <p:nvSpPr>
          <p:cNvPr id="24" name="Shape 21"/>
          <p:cNvSpPr/>
          <p:nvPr/>
        </p:nvSpPr>
        <p:spPr>
          <a:xfrm>
            <a:off x="6309360" y="5486400"/>
            <a:ext cx="5440680" cy="566928"/>
          </a:xfrm>
          <a:prstGeom prst="roundRect">
            <a:avLst>
              <a:gd name="adj" fmla="val 12903"/>
            </a:avLst>
          </a:prstGeom>
          <a:solidFill>
            <a:srgbClr val="C7E4F5"/>
          </a:solidFill>
          <a:ln w="12700">
            <a:solidFill>
              <a:srgbClr val="A9D6F2"/>
            </a:solidFill>
            <a:prstDash val="solid"/>
          </a:ln>
        </p:spPr>
      </p:sp>
      <p:sp>
        <p:nvSpPr>
          <p:cNvPr id="25" name="Text 22"/>
          <p:cNvSpPr/>
          <p:nvPr/>
        </p:nvSpPr>
        <p:spPr>
          <a:xfrm>
            <a:off x="6492240" y="5486400"/>
            <a:ext cx="5074920" cy="566928"/>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Group flags still apply.  </a:t>
            </a:r>
            <a:pPr indent="0" marL="0">
              <a:buNone/>
            </a:pPr>
            <a:r>
              <a:rPr lang="en-US" sz="1150" dirty="0">
                <a:solidFill>
                  <a:srgbClr val="00357A"/>
                </a:solidFill>
                <a:latin typeface="Poppins" pitchFamily="34" charset="0"/>
                <a:ea typeface="Poppins" pitchFamily="34" charset="-122"/>
                <a:cs typeface="Poppins" pitchFamily="34" charset="-120"/>
              </a:rPr>
              <a:t>A group with backflag 'N' is skipped even for changed files.</a:t>
            </a:r>
            <a:endParaRPr lang="en-US" sz="1150" dirty="0"/>
          </a:p>
        </p:txBody>
      </p:sp>
      <p:sp>
        <p:nvSpPr>
          <p:cNvPr id="26" name="Text 2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13</a:t>
            </a:r>
            <a:endParaRPr lang="en-US" sz="950" dirty="0"/>
          </a:p>
        </p:txBody>
      </p:sp>
      <p:sp>
        <p:nvSpPr>
          <p:cNvPr id="27" name="Text 2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VERIFY &amp; REPORT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8 Integrity Check  •  -A 16 Statistics</a:t>
            </a:r>
            <a:endParaRPr lang="en-US" sz="3200" dirty="0"/>
          </a:p>
        </p:txBody>
      </p:sp>
      <p:sp>
        <p:nvSpPr>
          <p:cNvPr id="4" name="Shape 2"/>
          <p:cNvSpPr/>
          <p:nvPr/>
        </p:nvSpPr>
        <p:spPr>
          <a:xfrm>
            <a:off x="457200" y="1463040"/>
            <a:ext cx="5532120" cy="4526280"/>
          </a:xfrm>
          <a:prstGeom prst="roundRect">
            <a:avLst>
              <a:gd name="adj" fmla="val 2020"/>
            </a:avLst>
          </a:prstGeom>
          <a:solidFill>
            <a:srgbClr val="FFFFFF"/>
          </a:solidFill>
          <a:ln w="19050">
            <a:solidFill>
              <a:srgbClr val="0057C2"/>
            </a:solidFill>
            <a:prstDash val="solid"/>
          </a:ln>
        </p:spPr>
      </p:sp>
      <p:sp>
        <p:nvSpPr>
          <p:cNvPr id="5" name="Shape 3"/>
          <p:cNvSpPr/>
          <p:nvPr/>
        </p:nvSpPr>
        <p:spPr>
          <a:xfrm>
            <a:off x="685800" y="1691640"/>
            <a:ext cx="457200" cy="457200"/>
          </a:xfrm>
          <a:prstGeom prst="ellipse">
            <a:avLst/>
          </a:prstGeom>
          <a:solidFill>
            <a:srgbClr val="0057C2"/>
          </a:solidFill>
          <a:ln/>
        </p:spPr>
      </p:sp>
      <p:sp>
        <p:nvSpPr>
          <p:cNvPr id="6" name="Text 4"/>
          <p:cNvSpPr/>
          <p:nvPr/>
        </p:nvSpPr>
        <p:spPr>
          <a:xfrm>
            <a:off x="68580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8</a:t>
            </a:r>
            <a:endParaRPr lang="en-US" sz="1600" dirty="0"/>
          </a:p>
        </p:txBody>
      </p:sp>
      <p:sp>
        <p:nvSpPr>
          <p:cNvPr id="7" name="Text 5"/>
          <p:cNvSpPr/>
          <p:nvPr/>
        </p:nvSpPr>
        <p:spPr>
          <a:xfrm>
            <a:off x="1280160" y="1691640"/>
            <a:ext cx="452628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8  —  does tape match the database?</a:t>
            </a:r>
            <a:endParaRPr lang="en-US" sz="1500" dirty="0"/>
          </a:p>
        </p:txBody>
      </p:sp>
      <p:sp>
        <p:nvSpPr>
          <p:cNvPr id="8" name="Text 6"/>
          <p:cNvSpPr/>
          <p:nvPr/>
        </p:nvSpPr>
        <p:spPr>
          <a:xfrm>
            <a:off x="685800" y="2286000"/>
            <a:ext cx="5120640" cy="68580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Walks every bfile record with status 'A' for the selected datasets, asks the Quasar end point for the real file size, and compares it against the size recorded in GDEXDB.</a:t>
            </a:r>
            <a:endParaRPr lang="en-US" sz="1250" dirty="0"/>
          </a:p>
        </p:txBody>
      </p:sp>
      <p:sp>
        <p:nvSpPr>
          <p:cNvPr id="9" name="Shape 7"/>
          <p:cNvSpPr/>
          <p:nvPr/>
        </p:nvSpPr>
        <p:spPr>
          <a:xfrm>
            <a:off x="685800" y="3035808"/>
            <a:ext cx="5120640" cy="457200"/>
          </a:xfrm>
          <a:prstGeom prst="roundRect">
            <a:avLst>
              <a:gd name="adj" fmla="val 10000"/>
            </a:avLst>
          </a:prstGeom>
          <a:solidFill>
            <a:srgbClr val="011837"/>
          </a:solidFill>
          <a:ln/>
        </p:spPr>
      </p:sp>
      <p:sp>
        <p:nvSpPr>
          <p:cNvPr id="10" name="Text 8"/>
          <p:cNvSpPr/>
          <p:nvPr/>
        </p:nvSpPr>
        <p:spPr>
          <a:xfrm>
            <a:off x="813816" y="3035808"/>
            <a:ext cx="486460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8 -e</a:t>
            </a:r>
            <a:endParaRPr lang="en-US" sz="1300" dirty="0"/>
          </a:p>
        </p:txBody>
      </p:sp>
      <p:sp>
        <p:nvSpPr>
          <p:cNvPr id="11" name="Shape 9"/>
          <p:cNvSpPr/>
          <p:nvPr/>
        </p:nvSpPr>
        <p:spPr>
          <a:xfrm>
            <a:off x="685800" y="3657600"/>
            <a:ext cx="5120640" cy="713232"/>
          </a:xfrm>
          <a:prstGeom prst="roundRect">
            <a:avLst>
              <a:gd name="adj" fmla="val 8974"/>
            </a:avLst>
          </a:prstGeom>
          <a:solidFill>
            <a:srgbClr val="DCEBF7"/>
          </a:solidFill>
          <a:ln/>
        </p:spPr>
      </p:sp>
      <p:sp>
        <p:nvSpPr>
          <p:cNvPr id="12" name="Text 10"/>
          <p:cNvSpPr/>
          <p:nvPr/>
        </p:nvSpPr>
        <p:spPr>
          <a:xfrm>
            <a:off x="841248" y="365760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agree</a:t>
            </a:r>
            <a:endParaRPr lang="en-US" sz="1150" dirty="0"/>
          </a:p>
        </p:txBody>
      </p:sp>
      <p:sp>
        <p:nvSpPr>
          <p:cNvPr id="13" name="Text 11"/>
          <p:cNvSpPr/>
          <p:nvPr/>
        </p:nvSpPr>
        <p:spPr>
          <a:xfrm>
            <a:off x="2103120" y="365760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record is left alone; the tape copy is trusted</a:t>
            </a:r>
            <a:endParaRPr lang="en-US" sz="1050" dirty="0"/>
          </a:p>
        </p:txBody>
      </p:sp>
      <p:sp>
        <p:nvSpPr>
          <p:cNvPr id="14" name="Shape 12"/>
          <p:cNvSpPr/>
          <p:nvPr/>
        </p:nvSpPr>
        <p:spPr>
          <a:xfrm>
            <a:off x="685800" y="4434840"/>
            <a:ext cx="5120640" cy="713232"/>
          </a:xfrm>
          <a:prstGeom prst="roundRect">
            <a:avLst>
              <a:gd name="adj" fmla="val 8974"/>
            </a:avLst>
          </a:prstGeom>
          <a:solidFill>
            <a:srgbClr val="DCEBF7"/>
          </a:solidFill>
          <a:ln/>
        </p:spPr>
      </p:sp>
      <p:sp>
        <p:nvSpPr>
          <p:cNvPr id="15" name="Text 13"/>
          <p:cNvSpPr/>
          <p:nvPr/>
        </p:nvSpPr>
        <p:spPr>
          <a:xfrm>
            <a:off x="841248" y="443484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differ</a:t>
            </a:r>
            <a:endParaRPr lang="en-US" sz="1150" dirty="0"/>
          </a:p>
        </p:txBody>
      </p:sp>
      <p:sp>
        <p:nvSpPr>
          <p:cNvPr id="16" name="Text 14"/>
          <p:cNvSpPr/>
          <p:nvPr/>
        </p:nvSpPr>
        <p:spPr>
          <a:xfrm>
            <a:off x="2103120" y="443484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status is reset 'A' → 'N' and the file is re-listed, re-tarred and re-sent on the next -A 3 / -A 4</a:t>
            </a:r>
            <a:endParaRPr lang="en-US" sz="1050" dirty="0"/>
          </a:p>
        </p:txBody>
      </p:sp>
      <p:sp>
        <p:nvSpPr>
          <p:cNvPr id="17" name="Shape 15"/>
          <p:cNvSpPr/>
          <p:nvPr/>
        </p:nvSpPr>
        <p:spPr>
          <a:xfrm>
            <a:off x="685800" y="5212080"/>
            <a:ext cx="5120640" cy="713232"/>
          </a:xfrm>
          <a:prstGeom prst="roundRect">
            <a:avLst>
              <a:gd name="adj" fmla="val 8974"/>
            </a:avLst>
          </a:prstGeom>
          <a:solidFill>
            <a:srgbClr val="DCEBF7"/>
          </a:solidFill>
          <a:ln/>
        </p:spPr>
      </p:sp>
      <p:sp>
        <p:nvSpPr>
          <p:cNvPr id="18" name="Text 16"/>
          <p:cNvSpPr/>
          <p:nvPr/>
        </p:nvSpPr>
        <p:spPr>
          <a:xfrm>
            <a:off x="841248" y="521208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file missing</a:t>
            </a:r>
            <a:endParaRPr lang="en-US" sz="1150" dirty="0"/>
          </a:p>
        </p:txBody>
      </p:sp>
      <p:sp>
        <p:nvSpPr>
          <p:cNvPr id="19" name="Text 17"/>
          <p:cNvSpPr/>
          <p:nvPr/>
        </p:nvSpPr>
        <p:spPr>
          <a:xfrm>
            <a:off x="2103120" y="521208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same reset — the backup is simply redone from the archive</a:t>
            </a:r>
            <a:endParaRPr lang="en-US" sz="1050" dirty="0"/>
          </a:p>
        </p:txBody>
      </p:sp>
      <p:sp>
        <p:nvSpPr>
          <p:cNvPr id="20" name="Shape 18"/>
          <p:cNvSpPr/>
          <p:nvPr/>
        </p:nvSpPr>
        <p:spPr>
          <a:xfrm>
            <a:off x="6309360" y="1463040"/>
            <a:ext cx="5440680" cy="4526280"/>
          </a:xfrm>
          <a:prstGeom prst="roundRect">
            <a:avLst>
              <a:gd name="adj" fmla="val 2020"/>
            </a:avLst>
          </a:prstGeom>
          <a:solidFill>
            <a:srgbClr val="FFFFFF"/>
          </a:solidFill>
          <a:ln w="19050">
            <a:solidFill>
              <a:srgbClr val="0097A7"/>
            </a:solidFill>
            <a:prstDash val="solid"/>
          </a:ln>
        </p:spPr>
      </p:sp>
      <p:sp>
        <p:nvSpPr>
          <p:cNvPr id="21" name="Shape 19"/>
          <p:cNvSpPr/>
          <p:nvPr/>
        </p:nvSpPr>
        <p:spPr>
          <a:xfrm>
            <a:off x="6537960" y="1691640"/>
            <a:ext cx="457200" cy="457200"/>
          </a:xfrm>
          <a:prstGeom prst="ellipse">
            <a:avLst/>
          </a:prstGeom>
          <a:solidFill>
            <a:srgbClr val="0097A7"/>
          </a:solidFill>
          <a:ln/>
        </p:spPr>
      </p:sp>
      <p:sp>
        <p:nvSpPr>
          <p:cNvPr id="22" name="Text 2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16</a:t>
            </a:r>
            <a:endParaRPr lang="en-US" sz="1600" dirty="0"/>
          </a:p>
        </p:txBody>
      </p:sp>
      <p:sp>
        <p:nvSpPr>
          <p:cNvPr id="23" name="Text 21"/>
          <p:cNvSpPr/>
          <p:nvPr/>
        </p:nvSpPr>
        <p:spPr>
          <a:xfrm>
            <a:off x="7132320" y="1691640"/>
            <a:ext cx="443484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16  —  how much is on tape?</a:t>
            </a:r>
            <a:endParaRPr lang="en-US" sz="1500" dirty="0"/>
          </a:p>
        </p:txBody>
      </p:sp>
      <p:sp>
        <p:nvSpPr>
          <p:cNvPr id="24" name="Text 22"/>
          <p:cNvSpPr/>
          <p:nvPr/>
        </p:nvSpPr>
        <p:spPr>
          <a:xfrm>
            <a:off x="6537960" y="2286000"/>
            <a:ext cx="5029200" cy="64008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Reports, per dataset and as a grand total, what is already backed up and what is still waiting. No files are touched — it is a pure read of GDEXDB.</a:t>
            </a:r>
            <a:endParaRPr lang="en-US" sz="1250" dirty="0"/>
          </a:p>
        </p:txBody>
      </p:sp>
      <p:sp>
        <p:nvSpPr>
          <p:cNvPr id="25" name="Shape 23"/>
          <p:cNvSpPr/>
          <p:nvPr/>
        </p:nvSpPr>
        <p:spPr>
          <a:xfrm>
            <a:off x="6537960" y="2999232"/>
            <a:ext cx="5029200" cy="457200"/>
          </a:xfrm>
          <a:prstGeom prst="roundRect">
            <a:avLst>
              <a:gd name="adj" fmla="val 10000"/>
            </a:avLst>
          </a:prstGeom>
          <a:solidFill>
            <a:srgbClr val="011837"/>
          </a:solidFill>
          <a:ln/>
        </p:spPr>
      </p:sp>
      <p:sp>
        <p:nvSpPr>
          <p:cNvPr id="26" name="Text 24"/>
          <p:cNvSpPr/>
          <p:nvPr/>
        </p:nvSpPr>
        <p:spPr>
          <a:xfrm>
            <a:off x="6665976" y="2999232"/>
            <a:ext cx="477316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16 -E</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37960" y="3547872"/>
          <a:ext cx="5029200" cy="914400"/>
        </p:xfrm>
        <a:graphic>
          <a:graphicData uri="http://schemas.openxmlformats.org/drawingml/2006/table">
            <a:tbl>
              <a:tblPr/>
              <a:tblGrid>
                <a:gridCol w="160020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Section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What it shows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Backed up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already on 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Ready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still waiting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Tar files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bfile records by status: N / T /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Per dataset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one line each, plus a summary row</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8" name="Shape 25"/>
          <p:cNvSpPr/>
          <p:nvPr/>
        </p:nvSpPr>
        <p:spPr>
          <a:xfrm>
            <a:off x="6537960" y="5440680"/>
            <a:ext cx="5029200" cy="502920"/>
          </a:xfrm>
          <a:prstGeom prst="roundRect">
            <a:avLst>
              <a:gd name="adj" fmla="val 14545"/>
            </a:avLst>
          </a:prstGeom>
          <a:solidFill>
            <a:srgbClr val="C7E4F5"/>
          </a:solidFill>
          <a:ln w="12700">
            <a:solidFill>
              <a:srgbClr val="A9D6F2"/>
            </a:solidFill>
            <a:prstDash val="solid"/>
          </a:ln>
        </p:spPr>
      </p:sp>
      <p:sp>
        <p:nvSpPr>
          <p:cNvPr id="29" name="Text 26"/>
          <p:cNvSpPr/>
          <p:nvPr/>
        </p:nvSpPr>
        <p:spPr>
          <a:xfrm>
            <a:off x="6720840" y="5440680"/>
            <a:ext cx="4663440" cy="50292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Pair with -e or -E.  </a:t>
            </a:r>
            <a:pPr indent="0" marL="0">
              <a:buNone/>
            </a:pPr>
            <a:r>
              <a:rPr lang="en-US" sz="1150" dirty="0">
                <a:solidFill>
                  <a:srgbClr val="00357A"/>
                </a:solidFill>
                <a:latin typeface="Poppins" pitchFamily="34" charset="0"/>
                <a:ea typeface="Poppins" pitchFamily="34" charset="-122"/>
                <a:cs typeface="Poppins" pitchFamily="34" charset="-120"/>
              </a:rPr>
              <a:t>Statistics are most useful mailed to the specialist.</a:t>
            </a:r>
            <a:endParaRPr lang="en-US" sz="1150" dirty="0"/>
          </a:p>
        </p:txBody>
      </p:sp>
      <p:sp>
        <p:nvSpPr>
          <p:cNvPr id="30" name="Text 2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14</a:t>
            </a:r>
            <a:endParaRPr lang="en-US" sz="950" dirty="0"/>
          </a:p>
        </p:txBody>
      </p:sp>
      <p:sp>
        <p:nvSpPr>
          <p:cNvPr id="31" name="Text 2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 PBS  —  Running as a Batch Job</a:t>
            </a:r>
            <a:endParaRPr lang="en-US" sz="3200" dirty="0"/>
          </a:p>
        </p:txBody>
      </p:sp>
      <p:sp>
        <p:nvSpPr>
          <p:cNvPr id="4" name="Text 2"/>
          <p:cNvSpPr/>
          <p:nvPr/>
        </p:nvSpPr>
        <p:spPr>
          <a:xfrm>
            <a:off x="457200" y="1463040"/>
            <a:ext cx="11292840" cy="566928"/>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the whole archive is far too big for a login session. -d turns the run into a delayed job: dsquasar writes a dscheck record and exits, and the dscheck daemon submits it to PBS when a slot is free.</a:t>
            </a:r>
            <a:endParaRPr lang="en-US" sz="1450" dirty="0"/>
          </a:p>
        </p:txBody>
      </p:sp>
      <p:sp>
        <p:nvSpPr>
          <p:cNvPr id="5" name="Shape 3"/>
          <p:cNvSpPr/>
          <p:nvPr/>
        </p:nvSpPr>
        <p:spPr>
          <a:xfrm>
            <a:off x="457200" y="2103120"/>
            <a:ext cx="11292840" cy="457200"/>
          </a:xfrm>
          <a:prstGeom prst="roundRect">
            <a:avLst>
              <a:gd name="adj" fmla="val 10000"/>
            </a:avLst>
          </a:prstGeom>
          <a:solidFill>
            <a:srgbClr val="011837"/>
          </a:solidFill>
          <a:ln/>
        </p:spPr>
      </p:sp>
      <p:sp>
        <p:nvSpPr>
          <p:cNvPr id="6" name="Text 4"/>
          <p:cNvSpPr/>
          <p:nvPr/>
        </p:nvSpPr>
        <p:spPr>
          <a:xfrm>
            <a:off x="585216" y="2103120"/>
            <a:ext cx="11036808" cy="457200"/>
          </a:xfrm>
          <a:prstGeom prst="rect">
            <a:avLst/>
          </a:prstGeom>
          <a:noFill/>
          <a:ln/>
        </p:spPr>
        <p:txBody>
          <a:bodyPr wrap="square" lIns="0" tIns="0" rIns="0" bIns="0" rtlCol="0" anchor="ctr"/>
          <a:lstStyle/>
          <a:p>
            <a:pPr indent="0" marL="0">
              <a:lnSpc>
                <a:spcPct val="100000"/>
              </a:lnSpc>
              <a:buNone/>
            </a:pPr>
            <a:r>
              <a:rPr lang="en-US" sz="1350" dirty="0">
                <a:solidFill>
                  <a:srgbClr val="0097A7"/>
                </a:solidFill>
                <a:latin typeface="Courier New" pitchFamily="34" charset="0"/>
                <a:ea typeface="Courier New" pitchFamily="34" charset="-122"/>
                <a:cs typeface="Courier New" pitchFamily="34" charset="-120"/>
              </a:rPr>
              <a:t>dsquasar -a -A 3 -e -b -d PBS            # the usual cron line</a:t>
            </a:r>
            <a:endParaRPr lang="en-US" sz="1350" dirty="0"/>
          </a:p>
        </p:txBody>
      </p:sp>
      <p:sp>
        <p:nvSpPr>
          <p:cNvPr id="7" name="Shape 5"/>
          <p:cNvSpPr/>
          <p:nvPr/>
        </p:nvSpPr>
        <p:spPr>
          <a:xfrm>
            <a:off x="457200" y="2743200"/>
            <a:ext cx="11292840" cy="548640"/>
          </a:xfrm>
          <a:prstGeom prst="roundRect">
            <a:avLst>
              <a:gd name="adj" fmla="val 11667"/>
            </a:avLst>
          </a:prstGeom>
          <a:solidFill>
            <a:srgbClr val="DCEBF7"/>
          </a:solidFill>
          <a:ln/>
        </p:spPr>
      </p:sp>
      <p:sp>
        <p:nvSpPr>
          <p:cNvPr id="8" name="Shape 6"/>
          <p:cNvSpPr/>
          <p:nvPr/>
        </p:nvSpPr>
        <p:spPr>
          <a:xfrm>
            <a:off x="621792" y="2816352"/>
            <a:ext cx="402336" cy="402336"/>
          </a:xfrm>
          <a:prstGeom prst="ellipse">
            <a:avLst/>
          </a:prstGeom>
          <a:solidFill>
            <a:srgbClr val="0057C2"/>
          </a:solidFill>
          <a:ln/>
        </p:spPr>
      </p:sp>
      <p:sp>
        <p:nvSpPr>
          <p:cNvPr id="9" name="Text 7"/>
          <p:cNvSpPr/>
          <p:nvPr/>
        </p:nvSpPr>
        <p:spPr>
          <a:xfrm>
            <a:off x="621792" y="28163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43200"/>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Cron fires</a:t>
            </a:r>
            <a:endParaRPr lang="en-US" sz="1250" dirty="0"/>
          </a:p>
        </p:txBody>
      </p:sp>
      <p:sp>
        <p:nvSpPr>
          <p:cNvPr id="11" name="Text 9"/>
          <p:cNvSpPr/>
          <p:nvPr/>
        </p:nvSpPr>
        <p:spPr>
          <a:xfrm>
            <a:off x="2880360" y="2743200"/>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dsquasar -a -A 3 -e -b -d PBS runs on the login host, in background mode.</a:t>
            </a:r>
            <a:endParaRPr lang="en-US" sz="1050" dirty="0"/>
          </a:p>
        </p:txBody>
      </p:sp>
      <p:sp>
        <p:nvSpPr>
          <p:cNvPr id="12" name="Shape 10"/>
          <p:cNvSpPr/>
          <p:nvPr/>
        </p:nvSpPr>
        <p:spPr>
          <a:xfrm>
            <a:off x="457200" y="3364992"/>
            <a:ext cx="11292840" cy="548640"/>
          </a:xfrm>
          <a:prstGeom prst="roundRect">
            <a:avLst>
              <a:gd name="adj" fmla="val 11667"/>
            </a:avLst>
          </a:prstGeom>
          <a:solidFill>
            <a:srgbClr val="DCEBF7"/>
          </a:solidFill>
          <a:ln/>
        </p:spPr>
      </p:sp>
      <p:sp>
        <p:nvSpPr>
          <p:cNvPr id="13" name="Shape 11"/>
          <p:cNvSpPr/>
          <p:nvPr/>
        </p:nvSpPr>
        <p:spPr>
          <a:xfrm>
            <a:off x="621792" y="3438144"/>
            <a:ext cx="402336" cy="402336"/>
          </a:xfrm>
          <a:prstGeom prst="ellipse">
            <a:avLst/>
          </a:prstGeom>
          <a:solidFill>
            <a:srgbClr val="0092DB"/>
          </a:solidFill>
          <a:ln/>
        </p:spPr>
      </p:sp>
      <p:sp>
        <p:nvSpPr>
          <p:cNvPr id="14" name="Text 12"/>
          <p:cNvSpPr/>
          <p:nvPr/>
        </p:nvSpPr>
        <p:spPr>
          <a:xfrm>
            <a:off x="621792" y="34381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64992"/>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Size the job</a:t>
            </a:r>
            <a:endParaRPr lang="en-US" sz="1250" dirty="0"/>
          </a:p>
        </p:txBody>
      </p:sp>
      <p:sp>
        <p:nvSpPr>
          <p:cNvPr id="16" name="Text 14"/>
          <p:cNvSpPr/>
          <p:nvPr/>
        </p:nvSpPr>
        <p:spPr>
          <a:xfrm>
            <a:off x="2880360" y="3364992"/>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pending tar count is turned into a cpu count, and PBS qoptions are written:</a:t>
            </a:r>
            <a:endParaRPr lang="en-US" sz="1050" dirty="0"/>
          </a:p>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walltime + select=1:ncpus=N:mem=Ngb.</a:t>
            </a:r>
            <a:endParaRPr lang="en-US" sz="1050" dirty="0"/>
          </a:p>
        </p:txBody>
      </p:sp>
      <p:sp>
        <p:nvSpPr>
          <p:cNvPr id="17" name="Shape 15"/>
          <p:cNvSpPr/>
          <p:nvPr/>
        </p:nvSpPr>
        <p:spPr>
          <a:xfrm>
            <a:off x="457200" y="3986784"/>
            <a:ext cx="11292840" cy="548640"/>
          </a:xfrm>
          <a:prstGeom prst="roundRect">
            <a:avLst>
              <a:gd name="adj" fmla="val 11667"/>
            </a:avLst>
          </a:prstGeom>
          <a:solidFill>
            <a:srgbClr val="DCEBF7"/>
          </a:solidFill>
          <a:ln/>
        </p:spPr>
      </p:sp>
      <p:sp>
        <p:nvSpPr>
          <p:cNvPr id="18" name="Shape 16"/>
          <p:cNvSpPr/>
          <p:nvPr/>
        </p:nvSpPr>
        <p:spPr>
          <a:xfrm>
            <a:off x="621792" y="4059936"/>
            <a:ext cx="402336" cy="402336"/>
          </a:xfrm>
          <a:prstGeom prst="ellipse">
            <a:avLst/>
          </a:prstGeom>
          <a:solidFill>
            <a:srgbClr val="0097A7"/>
          </a:solidFill>
          <a:ln/>
        </p:spPr>
      </p:sp>
      <p:sp>
        <p:nvSpPr>
          <p:cNvPr id="19" name="Text 17"/>
          <p:cNvSpPr/>
          <p:nvPr/>
        </p:nvSpPr>
        <p:spPr>
          <a:xfrm>
            <a:off x="621792" y="4059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3986784"/>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dscheck record</a:t>
            </a:r>
            <a:endParaRPr lang="en-US" sz="1250" dirty="0"/>
          </a:p>
        </p:txBody>
      </p:sp>
      <p:sp>
        <p:nvSpPr>
          <p:cNvPr id="21" name="Text 19"/>
          <p:cNvSpPr/>
          <p:nvPr/>
        </p:nvSpPr>
        <p:spPr>
          <a:xfrm>
            <a:off x="2880360" y="3986784"/>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A record is inserted keyed on command + specialist + argv + workdir. The argv is left unchanged, so the next identical cron line is recognised as a duplicate and blocks.</a:t>
            </a:r>
            <a:endParaRPr lang="en-US" sz="1050" dirty="0"/>
          </a:p>
        </p:txBody>
      </p:sp>
      <p:sp>
        <p:nvSpPr>
          <p:cNvPr id="22" name="Shape 20"/>
          <p:cNvSpPr/>
          <p:nvPr/>
        </p:nvSpPr>
        <p:spPr>
          <a:xfrm>
            <a:off x="457200" y="4608576"/>
            <a:ext cx="11292840" cy="548640"/>
          </a:xfrm>
          <a:prstGeom prst="roundRect">
            <a:avLst>
              <a:gd name="adj" fmla="val 11667"/>
            </a:avLst>
          </a:prstGeom>
          <a:solidFill>
            <a:srgbClr val="DCEBF7"/>
          </a:solidFill>
          <a:ln/>
        </p:spPr>
      </p:sp>
      <p:sp>
        <p:nvSpPr>
          <p:cNvPr id="23" name="Shape 21"/>
          <p:cNvSpPr/>
          <p:nvPr/>
        </p:nvSpPr>
        <p:spPr>
          <a:xfrm>
            <a:off x="621792" y="4681728"/>
            <a:ext cx="402336" cy="402336"/>
          </a:xfrm>
          <a:prstGeom prst="ellipse">
            <a:avLst/>
          </a:prstGeom>
          <a:solidFill>
            <a:srgbClr val="C25E00"/>
          </a:solidFill>
          <a:ln/>
        </p:spPr>
      </p:sp>
      <p:sp>
        <p:nvSpPr>
          <p:cNvPr id="24" name="Text 22"/>
          <p:cNvSpPr/>
          <p:nvPr/>
        </p:nvSpPr>
        <p:spPr>
          <a:xfrm>
            <a:off x="621792" y="46817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08576"/>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Daemon submits</a:t>
            </a:r>
            <a:endParaRPr lang="en-US" sz="1250" dirty="0"/>
          </a:p>
        </p:txBody>
      </p:sp>
      <p:sp>
        <p:nvSpPr>
          <p:cNvPr id="26" name="Text 24"/>
          <p:cNvSpPr/>
          <p:nvPr/>
        </p:nvSpPr>
        <p:spPr>
          <a:xfrm>
            <a:off x="2880360" y="4608576"/>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dscheck picks the record up, submits to PBS, and dsquasar re-runs there — reading its process count back from the reserved ncpus.</a:t>
            </a:r>
            <a:endParaRPr lang="en-US" sz="1050" dirty="0"/>
          </a:p>
        </p:txBody>
      </p:sp>
      <p:sp>
        <p:nvSpPr>
          <p:cNvPr id="27" name="Shape 25"/>
          <p:cNvSpPr/>
          <p:nvPr/>
        </p:nvSpPr>
        <p:spPr>
          <a:xfrm>
            <a:off x="457200" y="5230368"/>
            <a:ext cx="11292840" cy="548640"/>
          </a:xfrm>
          <a:prstGeom prst="roundRect">
            <a:avLst>
              <a:gd name="adj" fmla="val 11667"/>
            </a:avLst>
          </a:prstGeom>
          <a:solidFill>
            <a:srgbClr val="DCEBF7"/>
          </a:solidFill>
          <a:ln/>
        </p:spPr>
      </p:sp>
      <p:sp>
        <p:nvSpPr>
          <p:cNvPr id="28" name="Shape 26"/>
          <p:cNvSpPr/>
          <p:nvPr/>
        </p:nvSpPr>
        <p:spPr>
          <a:xfrm>
            <a:off x="621792" y="5303520"/>
            <a:ext cx="402336" cy="402336"/>
          </a:xfrm>
          <a:prstGeom prst="ellipse">
            <a:avLst/>
          </a:prstGeom>
          <a:solidFill>
            <a:srgbClr val="0057C2"/>
          </a:solidFill>
          <a:ln/>
        </p:spPr>
      </p:sp>
      <p:sp>
        <p:nvSpPr>
          <p:cNvPr id="29" name="Text 27"/>
          <p:cNvSpPr/>
          <p:nvPr/>
        </p:nvSpPr>
        <p:spPr>
          <a:xfrm>
            <a:off x="621792" y="53035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30368"/>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Retry on failure</a:t>
            </a:r>
            <a:endParaRPr lang="en-US" sz="1250" dirty="0"/>
          </a:p>
        </p:txBody>
      </p:sp>
      <p:sp>
        <p:nvSpPr>
          <p:cNvPr id="31" name="Text 29"/>
          <p:cNvSpPr/>
          <p:nvPr/>
        </p:nvSpPr>
        <p:spPr>
          <a:xfrm>
            <a:off x="2880360" y="5230368"/>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TRYLMTS['dsquasar'] = 3: a failed run is resubmitted up to three times before the record is reported as failed.</a:t>
            </a:r>
            <a:endParaRPr lang="en-US" sz="1050" dirty="0"/>
          </a:p>
        </p:txBody>
      </p:sp>
      <p:sp>
        <p:nvSpPr>
          <p:cNvPr id="32" name="Shape 30"/>
          <p:cNvSpPr/>
          <p:nvPr/>
        </p:nvSpPr>
        <p:spPr>
          <a:xfrm>
            <a:off x="457200" y="5897880"/>
            <a:ext cx="11292840" cy="502920"/>
          </a:xfrm>
          <a:prstGeom prst="roundRect">
            <a:avLst>
              <a:gd name="adj" fmla="val 14545"/>
            </a:avLst>
          </a:prstGeom>
          <a:solidFill>
            <a:srgbClr val="011837"/>
          </a:solidFill>
          <a:ln/>
        </p:spPr>
      </p:sp>
      <p:sp>
        <p:nvSpPr>
          <p:cNvPr id="33" name="Text 31"/>
          <p:cNvSpPr/>
          <p:nvPr/>
        </p:nvSpPr>
        <p:spPr>
          <a:xfrm>
            <a:off x="658368" y="589788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-d takes optional HostName and TryCount.  </a:t>
            </a:r>
            <a:pPr indent="0" marL="0">
              <a:buNone/>
            </a:pPr>
            <a:r>
              <a:rPr lang="en-US" sz="1150" dirty="0">
                <a:solidFill>
                  <a:srgbClr val="C3D7EE"/>
                </a:solidFill>
                <a:latin typeface="Poppins" pitchFamily="34" charset="0"/>
                <a:ea typeface="Poppins" pitchFamily="34" charset="-122"/>
                <a:cs typeface="Poppins" pitchFamily="34" charset="-120"/>
              </a:rPr>
              <a:t>-d PBS is the normal form; a bare -d uses the configured default batch host.</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15</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Often It Runs in Production</a:t>
            </a:r>
            <a:endParaRPr lang="en-US" sz="3200" dirty="0"/>
          </a:p>
        </p:txBody>
      </p:sp>
      <p:sp>
        <p:nvSpPr>
          <p:cNvPr id="4" name="Text 2"/>
          <p:cNvSpPr/>
          <p:nvPr/>
        </p:nvSpPr>
        <p:spPr>
          <a:xfrm>
            <a:off x="457200" y="1444752"/>
            <a:ext cx="11292840" cy="50292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Nobody starts a backup by hand. Four cron entries on cron.hpc.ucar.edu keep the archive current — each one an ssh into casper that leaves a dscheck record behind for PBS.</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11292840" cy="914400"/>
        </p:xfrm>
        <a:graphic>
          <a:graphicData uri="http://schemas.openxmlformats.org/drawingml/2006/table">
            <a:tbl>
              <a:tblPr/>
              <a:tblGrid>
                <a:gridCol w="1965960"/>
                <a:gridCol w="3291840"/>
                <a:gridCol w="60350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Cron time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dsquasar arguments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What the run does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3 -e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list the files still to back up and build the tars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4 -e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ship the finished tars to Quasar</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1 1 */3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-c 1 -A 3 -l N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1 AM on the 1st of every third month — re-back up files that changed</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3 1,15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16 -e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3 AM on the 1st and the 15th — dump the backup statistics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4023360"/>
            <a:ext cx="11292840" cy="274320"/>
          </a:xfrm>
          <a:prstGeom prst="rect">
            <a:avLst/>
          </a:prstGeom>
          <a:noFill/>
          <a:ln/>
        </p:spPr>
        <p:txBody>
          <a:bodyPr wrap="square" lIns="0" tIns="0" rIns="0" bIns="0" rtlCol="0" anchor="ctr"/>
          <a:lstStyle/>
          <a:p>
            <a:pPr indent="0" marL="0">
              <a:buNone/>
            </a:pPr>
            <a:r>
              <a:rPr lang="en-US" sz="1400" b="1" dirty="0">
                <a:solidFill>
                  <a:srgbClr val="00357A"/>
                </a:solidFill>
                <a:latin typeface="Poppins" pitchFamily="34" charset="0"/>
                <a:ea typeface="Poppins" pitchFamily="34" charset="-122"/>
                <a:cs typeface="Poppins" pitchFamily="34" charset="-120"/>
              </a:rPr>
              <a:t>Why running that often is safe</a:t>
            </a:r>
            <a:endParaRPr lang="en-US" sz="1400" dirty="0"/>
          </a:p>
        </p:txBody>
      </p:sp>
      <p:sp>
        <p:nvSpPr>
          <p:cNvPr id="7" name="Shape 4"/>
          <p:cNvSpPr/>
          <p:nvPr/>
        </p:nvSpPr>
        <p:spPr>
          <a:xfrm>
            <a:off x="457200" y="4343400"/>
            <a:ext cx="3611880" cy="1325880"/>
          </a:xfrm>
          <a:prstGeom prst="roundRect">
            <a:avLst>
              <a:gd name="adj" fmla="val 6207"/>
            </a:avLst>
          </a:prstGeom>
          <a:solidFill>
            <a:srgbClr val="DCEBF7"/>
          </a:solidFill>
          <a:ln w="19050">
            <a:solidFill>
              <a:srgbClr val="0057C2"/>
            </a:solidFill>
            <a:prstDash val="solid"/>
          </a:ln>
        </p:spPr>
      </p:sp>
      <p:sp>
        <p:nvSpPr>
          <p:cNvPr id="8" name="Text 5"/>
          <p:cNvSpPr/>
          <p:nvPr/>
        </p:nvSpPr>
        <p:spPr>
          <a:xfrm>
            <a:off x="658368" y="4462272"/>
            <a:ext cx="3200400" cy="320040"/>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Duplicates block</a:t>
            </a:r>
            <a:endParaRPr lang="en-US" sz="1300" dirty="0"/>
          </a:p>
        </p:txBody>
      </p:sp>
      <p:sp>
        <p:nvSpPr>
          <p:cNvPr id="9" name="Text 6"/>
          <p:cNvSpPr/>
          <p:nvPr/>
        </p:nvSpPr>
        <p:spPr>
          <a:xfrm>
            <a:off x="65836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cron line never changes, so dscheck recognises the argv and refuses a second submit while the first record is still pending.</a:t>
            </a:r>
            <a:endParaRPr lang="en-US" sz="1050" dirty="0"/>
          </a:p>
        </p:txBody>
      </p:sp>
      <p:sp>
        <p:nvSpPr>
          <p:cNvPr id="10" name="Shape 7"/>
          <p:cNvSpPr/>
          <p:nvPr/>
        </p:nvSpPr>
        <p:spPr>
          <a:xfrm>
            <a:off x="4297680" y="4343400"/>
            <a:ext cx="3611880" cy="1325880"/>
          </a:xfrm>
          <a:prstGeom prst="roundRect">
            <a:avLst>
              <a:gd name="adj" fmla="val 6207"/>
            </a:avLst>
          </a:prstGeom>
          <a:solidFill>
            <a:srgbClr val="DCEBF7"/>
          </a:solidFill>
          <a:ln w="19050">
            <a:solidFill>
              <a:srgbClr val="0097A7"/>
            </a:solidFill>
            <a:prstDash val="solid"/>
          </a:ln>
        </p:spPr>
      </p:sp>
      <p:sp>
        <p:nvSpPr>
          <p:cNvPr id="11" name="Text 8"/>
          <p:cNvSpPr/>
          <p:nvPr/>
        </p:nvSpPr>
        <p:spPr>
          <a:xfrm>
            <a:off x="4498848" y="4462272"/>
            <a:ext cx="3200400" cy="320040"/>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Nothing is lost</a:t>
            </a:r>
            <a:endParaRPr lang="en-US" sz="1300" dirty="0"/>
          </a:p>
        </p:txBody>
      </p:sp>
      <p:sp>
        <p:nvSpPr>
          <p:cNvPr id="12" name="Text 9"/>
          <p:cNvSpPr/>
          <p:nvPr/>
        </p:nvSpPr>
        <p:spPr>
          <a:xfrm>
            <a:off x="449884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A job killed at the walltime leaves its 'N' and 'T' records on file and its progress report in dscheck.einfo; the next run simply picks them up.</a:t>
            </a:r>
            <a:endParaRPr lang="en-US" sz="1050" dirty="0"/>
          </a:p>
        </p:txBody>
      </p:sp>
      <p:sp>
        <p:nvSpPr>
          <p:cNvPr id="13" name="Shape 10"/>
          <p:cNvSpPr/>
          <p:nvPr/>
        </p:nvSpPr>
        <p:spPr>
          <a:xfrm>
            <a:off x="8138160" y="4343400"/>
            <a:ext cx="3611880" cy="1325880"/>
          </a:xfrm>
          <a:prstGeom prst="roundRect">
            <a:avLst>
              <a:gd name="adj" fmla="val 6207"/>
            </a:avLst>
          </a:prstGeom>
          <a:solidFill>
            <a:srgbClr val="DCEBF7"/>
          </a:solidFill>
          <a:ln w="19050">
            <a:solidFill>
              <a:srgbClr val="C25E00"/>
            </a:solidFill>
            <a:prstDash val="solid"/>
          </a:ln>
        </p:spPr>
      </p:sp>
      <p:sp>
        <p:nvSpPr>
          <p:cNvPr id="14" name="Text 11"/>
          <p:cNvSpPr/>
          <p:nvPr/>
        </p:nvSpPr>
        <p:spPr>
          <a:xfrm>
            <a:off x="8339328" y="4462272"/>
            <a:ext cx="3200400" cy="320040"/>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Build and ship overlap</a:t>
            </a:r>
            <a:endParaRPr lang="en-US" sz="1300" dirty="0"/>
          </a:p>
        </p:txBody>
      </p:sp>
      <p:sp>
        <p:nvSpPr>
          <p:cNvPr id="15" name="Text 12"/>
          <p:cNvSpPr/>
          <p:nvPr/>
        </p:nvSpPr>
        <p:spPr>
          <a:xfrm>
            <a:off x="833932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-A 3 and -A 4 fire at the same minute. One tars what is ready while the other uploads what is already tarred, and the dataset lock keeps them off the same files.</a:t>
            </a:r>
            <a:endParaRPr lang="en-US" sz="1050" dirty="0"/>
          </a:p>
        </p:txBody>
      </p:sp>
      <p:sp>
        <p:nvSpPr>
          <p:cNvPr id="16" name="Shape 13"/>
          <p:cNvSpPr/>
          <p:nvPr/>
        </p:nvSpPr>
        <p:spPr>
          <a:xfrm>
            <a:off x="457200" y="5760720"/>
            <a:ext cx="11292840" cy="502920"/>
          </a:xfrm>
          <a:prstGeom prst="roundRect">
            <a:avLst>
              <a:gd name="adj" fmla="val 14545"/>
            </a:avLst>
          </a:prstGeom>
          <a:solidFill>
            <a:srgbClr val="011837"/>
          </a:solidFill>
          <a:ln/>
        </p:spPr>
      </p:sp>
      <p:sp>
        <p:nvSpPr>
          <p:cNvPr id="17" name="Text 14"/>
          <p:cNvSpPr/>
          <p:nvPr/>
        </p:nvSpPr>
        <p:spPr>
          <a:xfrm>
            <a:off x="658368" y="576072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Where the schedule lives.  </a:t>
            </a:r>
            <a:pPr indent="0" marL="0">
              <a:buNone/>
            </a:pPr>
            <a:r>
              <a:rPr lang="en-US" sz="1150" dirty="0">
                <a:solidFill>
                  <a:srgbClr val="C3D7EE"/>
                </a:solidFill>
                <a:latin typeface="Poppins" pitchFamily="34" charset="0"/>
                <a:ea typeface="Poppins" pitchFamily="34" charset="-122"/>
                <a:cs typeface="Poppins" pitchFamily="34" charset="-120"/>
              </a:rPr>
              <a:t>crontab/cron/zji_cron.cron in the rda-cron-controls repository; every line logs to dssdb/log/cronjob.log, and -e mails the report to the specialist.</a:t>
            </a:r>
            <a:endParaRPr lang="en-US" sz="115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16</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Watching a Run with dscheck</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-d hands the run to dscheck, so dscheck is also where it is watched — in the browser, or on the command line.</a:t>
            </a:r>
            <a:endParaRPr lang="en-US" sz="1450" dirty="0"/>
          </a:p>
        </p:txBody>
      </p:sp>
      <p:sp>
        <p:nvSpPr>
          <p:cNvPr id="5" name="Shape 3"/>
          <p:cNvSpPr/>
          <p:nvPr/>
        </p:nvSpPr>
        <p:spPr>
          <a:xfrm>
            <a:off x="457200" y="1874520"/>
            <a:ext cx="5532120" cy="960120"/>
          </a:xfrm>
          <a:prstGeom prst="roundRect">
            <a:avLst>
              <a:gd name="adj" fmla="val 8571"/>
            </a:avLst>
          </a:prstGeom>
          <a:solidFill>
            <a:srgbClr val="DCEBF7"/>
          </a:solidFill>
          <a:ln w="12700">
            <a:solidFill>
              <a:srgbClr val="A9D6F2"/>
            </a:solidFill>
            <a:prstDash val="solid"/>
          </a:ln>
        </p:spPr>
      </p:sp>
      <p:sp>
        <p:nvSpPr>
          <p:cNvPr id="6" name="Text 4"/>
          <p:cNvSpPr/>
          <p:nvPr/>
        </p:nvSpPr>
        <p:spPr>
          <a:xfrm>
            <a:off x="658368" y="1874520"/>
            <a:ext cx="5120640" cy="960120"/>
          </a:xfrm>
          <a:prstGeom prst="rect">
            <a:avLst/>
          </a:prstGeom>
          <a:noFill/>
          <a:ln/>
        </p:spPr>
        <p:txBody>
          <a:bodyPr wrap="square" lIns="0" tIns="0" rIns="0" bIns="0" rtlCol="0" anchor="ctr"/>
          <a:lstStyle/>
          <a:p>
            <a:pPr indent="0" marL="0">
              <a:lnSpc>
                <a:spcPct val="115000"/>
              </a:lnSpc>
              <a:buNone/>
            </a:pPr>
            <a:r>
              <a:rPr lang="en-US" sz="1300" b="1" dirty="0">
                <a:solidFill>
                  <a:srgbClr val="0057C2"/>
                </a:solidFill>
                <a:latin typeface="Poppins" pitchFamily="34" charset="0"/>
                <a:ea typeface="Poppins" pitchFamily="34" charset="-122"/>
                <a:cs typeface="Poppins" pitchFamily="34" charset="-120"/>
              </a:rPr>
              <a:t>In the browser
</a:t>
            </a:r>
            <a:pPr indent="0" marL="0">
              <a:lnSpc>
                <a:spcPct val="115000"/>
              </a:lnSpc>
              <a:buNone/>
            </a:pPr>
            <a:r>
              <a:rPr lang="en-US" sz="110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5000"/>
              </a:lnSpc>
              <a:buNone/>
            </a:pPr>
            <a:r>
              <a:rPr lang="en-US" sz="1100" dirty="0">
                <a:solidFill>
                  <a:srgbClr val="00357A"/>
                </a:solidFill>
                <a:latin typeface="Poppins" pitchFamily="34" charset="0"/>
                <a:ea typeface="Poppins" pitchFamily="34" charset="-122"/>
                <a:cs typeface="Poppins" pitchFamily="34" charset="-120"/>
              </a:rPr>
              <a:t>  →  DSCHECK → Check Information, then search on Command = dsquasar.</a:t>
            </a:r>
            <a:endParaRPr lang="en-US" sz="1100" dirty="0"/>
          </a:p>
        </p:txBody>
      </p:sp>
      <p:sp>
        <p:nvSpPr>
          <p:cNvPr id="7" name="Shape 5"/>
          <p:cNvSpPr/>
          <p:nvPr/>
        </p:nvSpPr>
        <p:spPr>
          <a:xfrm>
            <a:off x="6309360" y="1874520"/>
            <a:ext cx="5440680" cy="960120"/>
          </a:xfrm>
          <a:prstGeom prst="roundRect">
            <a:avLst>
              <a:gd name="adj" fmla="val 4762"/>
            </a:avLst>
          </a:prstGeom>
          <a:solidFill>
            <a:srgbClr val="011837"/>
          </a:solidFill>
          <a:ln/>
        </p:spPr>
      </p:sp>
      <p:sp>
        <p:nvSpPr>
          <p:cNvPr id="8" name="Text 6"/>
          <p:cNvSpPr/>
          <p:nvPr/>
        </p:nvSpPr>
        <p:spPr>
          <a:xfrm>
            <a:off x="6437376" y="1874520"/>
            <a:ext cx="5184648" cy="96012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the same records from the command line</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dscheck gc -cs -cm dsquasar</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dscheck gc -cs -cm dsquasar -fn all</a:t>
            </a:r>
            <a:endParaRPr lang="en-US" sz="1050" dirty="0"/>
          </a:p>
        </p:txBody>
      </p:sp>
      <p:sp>
        <p:nvSpPr>
          <p:cNvPr id="9" name="Text 7"/>
          <p:cNvSpPr/>
          <p:nvPr/>
        </p:nvSpPr>
        <p:spPr>
          <a:xfrm>
            <a:off x="457200" y="2926080"/>
            <a:ext cx="11292840" cy="320040"/>
          </a:xfrm>
          <a:prstGeom prst="rect">
            <a:avLst/>
          </a:prstGeom>
          <a:noFill/>
          <a:ln/>
        </p:spPr>
        <p:txBody>
          <a:bodyPr wrap="square" lIns="0" tIns="0" rIns="0" bIns="0" rtlCol="0" anchor="ctr"/>
          <a:lstStyle/>
          <a:p>
            <a:pPr indent="0" marL="0">
              <a:buNone/>
            </a:pPr>
            <a:r>
              <a:rPr lang="en-US" sz="1150" b="1" dirty="0">
                <a:solidFill>
                  <a:srgbClr val="0057C2"/>
                </a:solidFill>
                <a:latin typeface="Courier New" pitchFamily="34" charset="0"/>
                <a:ea typeface="Courier New" pitchFamily="34" charset="-122"/>
                <a:cs typeface="Courier New" pitchFamily="34" charset="-120"/>
              </a:rPr>
              <a:t>-GC</a:t>
            </a:r>
            <a:pPr indent="0" marL="0">
              <a:buNone/>
            </a:pPr>
            <a:r>
              <a:rPr lang="en-US" sz="1150" dirty="0">
                <a:solidFill>
                  <a:srgbClr val="00357A"/>
                </a:solidFill>
                <a:latin typeface="Poppins" pitchFamily="34" charset="0"/>
                <a:ea typeface="Poppins" pitchFamily="34" charset="-122"/>
                <a:cs typeface="Poppins" pitchFamily="34" charset="-120"/>
              </a:rPr>
              <a:t> lists the check records,  </a:t>
            </a:r>
            <a:pPr indent="0" marL="0">
              <a:buNone/>
            </a:pPr>
            <a:r>
              <a:rPr lang="en-US" sz="1150" b="1" dirty="0">
                <a:solidFill>
                  <a:srgbClr val="0057C2"/>
                </a:solidFill>
                <a:latin typeface="Courier New" pitchFamily="34" charset="0"/>
                <a:ea typeface="Courier New" pitchFamily="34" charset="-122"/>
                <a:cs typeface="Courier New" pitchFamily="34" charset="-120"/>
              </a:rPr>
              <a:t>-CS</a:t>
            </a:r>
            <a:pPr indent="0" marL="0">
              <a:buNone/>
            </a:pPr>
            <a:r>
              <a:rPr lang="en-US" sz="1150" dirty="0">
                <a:solidFill>
                  <a:srgbClr val="00357A"/>
                </a:solidFill>
                <a:latin typeface="Poppins" pitchFamily="34" charset="0"/>
                <a:ea typeface="Poppins" pitchFamily="34" charset="-122"/>
                <a:cs typeface="Poppins" pitchFamily="34" charset="-120"/>
              </a:rPr>
              <a:t> adds the live status line,  </a:t>
            </a:r>
            <a:pPr indent="0" marL="0">
              <a:buNone/>
            </a:pPr>
            <a:r>
              <a:rPr lang="en-US" sz="1150" b="1" dirty="0">
                <a:solidFill>
                  <a:srgbClr val="0057C2"/>
                </a:solidFill>
                <a:latin typeface="Courier New" pitchFamily="34" charset="0"/>
                <a:ea typeface="Courier New" pitchFamily="34" charset="-122"/>
                <a:cs typeface="Courier New" pitchFamily="34" charset="-120"/>
              </a:rPr>
              <a:t>-CM</a:t>
            </a:r>
            <a:pPr indent="0" marL="0">
              <a:buNone/>
            </a:pPr>
            <a:r>
              <a:rPr lang="en-US" sz="1150" dirty="0">
                <a:solidFill>
                  <a:srgbClr val="00357A"/>
                </a:solidFill>
                <a:latin typeface="Poppins" pitchFamily="34" charset="0"/>
                <a:ea typeface="Poppins" pitchFamily="34" charset="-122"/>
                <a:cs typeface="Poppins" pitchFamily="34" charset="-120"/>
              </a:rPr>
              <a:t> narrows the list to one command, and  </a:t>
            </a:r>
            <a:pPr indent="0" marL="0">
              <a:buNone/>
            </a:pPr>
            <a:r>
              <a:rPr lang="en-US" sz="1150" b="1" dirty="0">
                <a:solidFill>
                  <a:srgbClr val="0057C2"/>
                </a:solidFill>
                <a:latin typeface="Courier New" pitchFamily="34" charset="0"/>
                <a:ea typeface="Courier New" pitchFamily="34" charset="-122"/>
                <a:cs typeface="Courier New" pitchFamily="34" charset="-120"/>
              </a:rPr>
              <a:t>-FN all</a:t>
            </a:r>
            <a:pPr indent="0" marL="0">
              <a:buNone/>
            </a:pPr>
            <a:r>
              <a:rPr lang="en-US" sz="1150" dirty="0">
                <a:solidFill>
                  <a:srgbClr val="00357A"/>
                </a:solidFill>
                <a:latin typeface="Poppins" pitchFamily="34" charset="0"/>
                <a:ea typeface="Poppins" pitchFamily="34" charset="-122"/>
                <a:cs typeface="Poppins" pitchFamily="34" charset="-120"/>
              </a:rPr>
              <a:t> returns every field instead of the short set.</a:t>
            </a:r>
            <a:endParaRPr lang="en-US" sz="1150" dirty="0"/>
          </a:p>
        </p:txBody>
      </p:sp>
      <p:sp>
        <p:nvSpPr>
          <p:cNvPr id="10" name="Shape 8"/>
          <p:cNvSpPr/>
          <p:nvPr/>
        </p:nvSpPr>
        <p:spPr>
          <a:xfrm>
            <a:off x="457200" y="3291840"/>
            <a:ext cx="11292840" cy="960120"/>
          </a:xfrm>
          <a:prstGeom prst="roundRect">
            <a:avLst>
              <a:gd name="adj" fmla="val 4762"/>
            </a:avLst>
          </a:prstGeom>
          <a:solidFill>
            <a:srgbClr val="011837"/>
          </a:solidFill>
          <a:ln/>
        </p:spPr>
      </p:sp>
      <p:sp>
        <p:nvSpPr>
          <p:cNvPr id="11" name="Text 9"/>
          <p:cNvSpPr/>
          <p:nvPr/>
        </p:nvSpPr>
        <p:spPr>
          <a:xfrm>
            <a:off x="585216" y="3291840"/>
            <a:ext cx="11036808" cy="960120"/>
          </a:xfrm>
          <a:prstGeom prst="rect">
            <a:avLst/>
          </a:prstGeom>
          <a:noFill/>
          <a:ln/>
        </p:spPr>
        <p:txBody>
          <a:bodyPr wrap="square" lIns="0" tIns="0" rIns="0" bIns="0" rtlCol="0" anchor="ctr"/>
          <a:lstStyle/>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CheckIndex&lt;:&gt;ArgumentVector&lt;:&gt;Status&lt;:&gt;FileCount&lt;:&gt;DoneCount&lt;:&gt;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4105237&lt;:&gt;-a -A 3 -e -b -d PBS&lt;:&gt;Run 2H4M5S, 6% done PBS&lt;5948540&gt;/casper62&lt;:&gt;19195&lt;:&gt;1214&lt;:&gt;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4102650&lt;:&gt;-a -A 3 -e -b -d PBS -w 2&lt;:&gt;Run 23H37M58S, 2% done PBS&lt;5928624&gt;/casper64&lt;:&gt;54290&lt;:&gt;1193&lt;:&gt;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2 check records retrieved                                        # columns trimmed to fit</a:t>
            </a:r>
            <a:endParaRPr lang="en-US" sz="950" dirty="0"/>
          </a:p>
        </p:txBody>
      </p:sp>
      <p:sp>
        <p:nvSpPr>
          <p:cNvPr id="12" name="Shape 10"/>
          <p:cNvSpPr/>
          <p:nvPr/>
        </p:nvSpPr>
        <p:spPr>
          <a:xfrm>
            <a:off x="457200" y="4370832"/>
            <a:ext cx="3611880" cy="1298448"/>
          </a:xfrm>
          <a:prstGeom prst="roundRect">
            <a:avLst>
              <a:gd name="adj" fmla="val 6338"/>
            </a:avLst>
          </a:prstGeom>
          <a:solidFill>
            <a:srgbClr val="DCEBF7"/>
          </a:solidFill>
          <a:ln w="19050">
            <a:solidFill>
              <a:srgbClr val="0057C2"/>
            </a:solidFill>
            <a:prstDash val="solid"/>
          </a:ln>
        </p:spPr>
      </p:sp>
      <p:sp>
        <p:nvSpPr>
          <p:cNvPr id="13" name="Text 11"/>
          <p:cNvSpPr/>
          <p:nvPr/>
        </p:nvSpPr>
        <p:spPr>
          <a:xfrm>
            <a:off x="658368" y="4462272"/>
            <a:ext cx="3246120" cy="292608"/>
          </a:xfrm>
          <a:prstGeom prst="rect">
            <a:avLst/>
          </a:prstGeom>
          <a:noFill/>
          <a:ln/>
        </p:spPr>
        <p:txBody>
          <a:bodyPr wrap="square" lIns="0" tIns="0" rIns="0" bIns="0" rtlCol="0" anchor="ctr"/>
          <a:lstStyle/>
          <a:p>
            <a:pPr indent="0" marL="0">
              <a:buNone/>
            </a:pPr>
            <a:r>
              <a:rPr lang="en-US" sz="1150" b="1" dirty="0">
                <a:solidFill>
                  <a:srgbClr val="0057C2"/>
                </a:solidFill>
                <a:latin typeface="Courier New" pitchFamily="34" charset="0"/>
                <a:ea typeface="Courier New" pitchFamily="34" charset="-122"/>
                <a:cs typeface="Courier New" pitchFamily="34" charset="-120"/>
              </a:rPr>
              <a:t>Status</a:t>
            </a:r>
            <a:endParaRPr lang="en-US" sz="1150" dirty="0"/>
          </a:p>
        </p:txBody>
      </p:sp>
      <p:sp>
        <p:nvSpPr>
          <p:cNvPr id="14" name="Text 12"/>
          <p:cNvSpPr/>
          <p:nvPr/>
        </p:nvSpPr>
        <p:spPr>
          <a:xfrm>
            <a:off x="65836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How long the job has been running, how far along it is, and the PBS job id with the node it landed on. A failed check carries the error message here instead.</a:t>
            </a:r>
            <a:endParaRPr lang="en-US" sz="1000" dirty="0"/>
          </a:p>
        </p:txBody>
      </p:sp>
      <p:sp>
        <p:nvSpPr>
          <p:cNvPr id="15" name="Shape 13"/>
          <p:cNvSpPr/>
          <p:nvPr/>
        </p:nvSpPr>
        <p:spPr>
          <a:xfrm>
            <a:off x="4297680" y="4370832"/>
            <a:ext cx="3611880" cy="1298448"/>
          </a:xfrm>
          <a:prstGeom prst="roundRect">
            <a:avLst>
              <a:gd name="adj" fmla="val 6338"/>
            </a:avLst>
          </a:prstGeom>
          <a:solidFill>
            <a:srgbClr val="DCEBF7"/>
          </a:solidFill>
          <a:ln w="19050">
            <a:solidFill>
              <a:srgbClr val="0097A7"/>
            </a:solidFill>
            <a:prstDash val="solid"/>
          </a:ln>
        </p:spPr>
      </p:sp>
      <p:sp>
        <p:nvSpPr>
          <p:cNvPr id="16" name="Text 14"/>
          <p:cNvSpPr/>
          <p:nvPr/>
        </p:nvSpPr>
        <p:spPr>
          <a:xfrm>
            <a:off x="4498848" y="4462272"/>
            <a:ext cx="3246120" cy="292608"/>
          </a:xfrm>
          <a:prstGeom prst="rect">
            <a:avLst/>
          </a:prstGeom>
          <a:noFill/>
          <a:ln/>
        </p:spPr>
        <p:txBody>
          <a:bodyPr wrap="square" lIns="0" tIns="0" rIns="0" bIns="0" rtlCol="0" anchor="ctr"/>
          <a:lstStyle/>
          <a:p>
            <a:pPr indent="0" marL="0">
              <a:buNone/>
            </a:pPr>
            <a:r>
              <a:rPr lang="en-US" sz="1150" b="1" dirty="0">
                <a:solidFill>
                  <a:srgbClr val="0097A7"/>
                </a:solidFill>
                <a:latin typeface="Courier New" pitchFamily="34" charset="0"/>
                <a:ea typeface="Courier New" pitchFamily="34" charset="-122"/>
                <a:cs typeface="Courier New" pitchFamily="34" charset="-120"/>
              </a:rPr>
              <a:t>FileCount / DoneCount</a:t>
            </a:r>
            <a:endParaRPr lang="en-US" sz="1150" dirty="0"/>
          </a:p>
        </p:txBody>
      </p:sp>
      <p:sp>
        <p:nvSpPr>
          <p:cNvPr id="17" name="Text 15"/>
          <p:cNvSpPr/>
          <p:nvPr/>
        </p:nvSpPr>
        <p:spPr>
          <a:xfrm>
            <a:off x="449884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The work in the record and the part of it finished, which is where the percentage comes from. Unchanged between two checks means the job is alive but not progressing.</a:t>
            </a:r>
            <a:endParaRPr lang="en-US" sz="1000" dirty="0"/>
          </a:p>
        </p:txBody>
      </p:sp>
      <p:sp>
        <p:nvSpPr>
          <p:cNvPr id="18" name="Shape 16"/>
          <p:cNvSpPr/>
          <p:nvPr/>
        </p:nvSpPr>
        <p:spPr>
          <a:xfrm>
            <a:off x="8138160" y="4370832"/>
            <a:ext cx="3611880" cy="1298448"/>
          </a:xfrm>
          <a:prstGeom prst="roundRect">
            <a:avLst>
              <a:gd name="adj" fmla="val 6338"/>
            </a:avLst>
          </a:prstGeom>
          <a:solidFill>
            <a:srgbClr val="DCEBF7"/>
          </a:solidFill>
          <a:ln w="19050">
            <a:solidFill>
              <a:srgbClr val="C25E00"/>
            </a:solidFill>
            <a:prstDash val="solid"/>
          </a:ln>
        </p:spPr>
      </p:sp>
      <p:sp>
        <p:nvSpPr>
          <p:cNvPr id="19" name="Text 17"/>
          <p:cNvSpPr/>
          <p:nvPr/>
        </p:nvSpPr>
        <p:spPr>
          <a:xfrm>
            <a:off x="8339328" y="4462272"/>
            <a:ext cx="3246120" cy="292608"/>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ArgumentVector</a:t>
            </a:r>
            <a:endParaRPr lang="en-US" sz="1150" dirty="0"/>
          </a:p>
        </p:txBody>
      </p:sp>
      <p:sp>
        <p:nvSpPr>
          <p:cNvPr id="20" name="Text 18"/>
          <p:cNvSpPr/>
          <p:nvPr/>
        </p:nvSpPr>
        <p:spPr>
          <a:xfrm>
            <a:off x="833932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The duplicate key. The second record differs only by -w 2, the extra worker slot, which is exactly why it gets a record of its own.</a:t>
            </a:r>
            <a:endParaRPr lang="en-US" sz="1000" dirty="0"/>
          </a:p>
        </p:txBody>
      </p:sp>
      <p:sp>
        <p:nvSpPr>
          <p:cNvPr id="21" name="Shape 19"/>
          <p:cNvSpPr/>
          <p:nvPr/>
        </p:nvSpPr>
        <p:spPr>
          <a:xfrm>
            <a:off x="457200" y="5760720"/>
            <a:ext cx="11292840" cy="502920"/>
          </a:xfrm>
          <a:prstGeom prst="roundRect">
            <a:avLst>
              <a:gd name="adj" fmla="val 14545"/>
            </a:avLst>
          </a:prstGeom>
          <a:solidFill>
            <a:srgbClr val="011837"/>
          </a:solidFill>
          <a:ln/>
        </p:spPr>
      </p:sp>
      <p:sp>
        <p:nvSpPr>
          <p:cNvPr id="22" name="Text 20"/>
          <p:cNvSpPr/>
          <p:nvPr/>
        </p:nvSpPr>
        <p:spPr>
          <a:xfrm>
            <a:off x="658368" y="5760720"/>
            <a:ext cx="10881360" cy="502920"/>
          </a:xfrm>
          <a:prstGeom prst="rect">
            <a:avLst/>
          </a:prstGeom>
          <a:noFill/>
          <a:ln/>
        </p:spPr>
        <p:txBody>
          <a:bodyPr wrap="square" lIns="0" tIns="0" rIns="0" bIns="0" rtlCol="0" anchor="ctr"/>
          <a:lstStyle/>
          <a:p>
            <a:pPr indent="0" marL="0">
              <a:buNone/>
            </a:pPr>
            <a:r>
              <a:rPr lang="en-US" sz="1100" b="1" dirty="0">
                <a:solidFill>
                  <a:srgbClr val="42C0FF"/>
                </a:solidFill>
                <a:latin typeface="Poppins" pitchFamily="34" charset="0"/>
                <a:ea typeface="Poppins" pitchFamily="34" charset="-122"/>
                <a:cs typeface="Poppins" pitchFamily="34" charset="-120"/>
              </a:rPr>
              <a:t>A long-running record is not by itself a problem.  </a:t>
            </a:r>
            <a:pPr indent="0" marL="0">
              <a:buNone/>
            </a:pPr>
            <a:r>
              <a:rPr lang="en-US" sz="1100" dirty="0">
                <a:solidFill>
                  <a:srgbClr val="C3D7EE"/>
                </a:solidFill>
                <a:latin typeface="Poppins" pitchFamily="34" charset="0"/>
                <a:ea typeface="Poppins" pitchFamily="34" charset="-122"/>
                <a:cs typeface="Poppins" pitchFamily="34" charset="-120"/>
              </a:rPr>
              <a:t>A first pass over a big archive legitimately runs for hours. The one to look at is the record whose DoneCount stops moving — it holds the duplicate key, so every later cron line blocks behind it.</a:t>
            </a:r>
            <a:endParaRPr lang="en-US" sz="110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17</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-fn all  —  The Whole Check Record</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The long form prints every column of the record. A few of them say more than the status line does.</a:t>
            </a:r>
            <a:endParaRPr lang="en-US" sz="1450" dirty="0"/>
          </a:p>
        </p:txBody>
      </p:sp>
      <p:sp>
        <p:nvSpPr>
          <p:cNvPr id="5" name="Shape 3"/>
          <p:cNvSpPr/>
          <p:nvPr/>
        </p:nvSpPr>
        <p:spPr>
          <a:xfrm>
            <a:off x="457200" y="1874520"/>
            <a:ext cx="11292840" cy="914400"/>
          </a:xfrm>
          <a:prstGeom prst="roundRect">
            <a:avLst>
              <a:gd name="adj" fmla="val 5000"/>
            </a:avLst>
          </a:prstGeom>
          <a:solidFill>
            <a:srgbClr val="011837"/>
          </a:solidFill>
          <a:ln/>
        </p:spPr>
      </p:sp>
      <p:sp>
        <p:nvSpPr>
          <p:cNvPr id="6" name="Text 4"/>
          <p:cNvSpPr/>
          <p:nvPr/>
        </p:nvSpPr>
        <p:spPr>
          <a:xfrm>
            <a:off x="585216" y="1874520"/>
            <a:ext cx="11036808" cy="914400"/>
          </a:xfrm>
          <a:prstGeom prst="rect">
            <a:avLst/>
          </a:prstGeom>
          <a:noFill/>
          <a:ln/>
        </p:spPr>
        <p:txBody>
          <a:bodyPr wrap="square" lIns="0" tIns="0" rIns="0" bIns="0" rtlCol="0" anchor="ctr"/>
          <a:lstStyle/>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CheckIndex&lt;:&gt;Command&lt;:&gt;ArgumentVector&lt;:&gt;Dataset&lt;:&gt;ActionName&lt;:&gt;Status&lt;:&gt;PBSQueue&lt;:&gt;ParentIndex&lt;:&gt;DownFlags&lt;:&gt;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FileCount&lt;:&gt;DoneCount&lt;:&gt;TryCount&lt;:&gt;MaxCount&lt;:&gt;DataSize&lt;:&gt;CheckDate&lt;:&gt;CheckTime&lt;:&gt;HostName&lt;:&gt;Specialist&lt;:&gt;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WorkDir&lt;:&gt;Modules&lt;:&gt;Environments&lt;:&gt;QSubOptions&lt;:&gt;ArgumenteXtra&lt;:&gt;ERrormessage&lt;:&gt;</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2926080"/>
          <a:ext cx="11292840" cy="914400"/>
        </p:xfrm>
        <a:graphic>
          <a:graphicData uri="http://schemas.openxmlformats.org/drawingml/2006/table">
            <a:tbl>
              <a:tblPr/>
              <a:tblGrid>
                <a:gridCol w="2286000"/>
                <a:gridCol w="3931920"/>
                <a:gridCol w="507492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Field</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Value in the sample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What it tells you</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ActionName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A3</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Which -A action this record is running</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TryCount / MaxCount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1  /  3</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Submissions so far; a failed run is retried twice more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DataSize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227727328477</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The bytes the run has to move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QSubOptions</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-l walltime=24:00:00,select=1:ncpus=12:mem=12gb</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What -d reserved: the walltime and the cpu count</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ERrormessage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(empty)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Carries the failure text once a run gives up</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8" name="Shape 5"/>
          <p:cNvSpPr/>
          <p:nvPr/>
        </p:nvSpPr>
        <p:spPr>
          <a:xfrm>
            <a:off x="457200" y="5486400"/>
            <a:ext cx="11292840" cy="731520"/>
          </a:xfrm>
          <a:prstGeom prst="roundRect">
            <a:avLst>
              <a:gd name="adj" fmla="val 10000"/>
            </a:avLst>
          </a:prstGeom>
          <a:solidFill>
            <a:srgbClr val="011837"/>
          </a:solidFill>
          <a:ln/>
        </p:spPr>
      </p:sp>
      <p:sp>
        <p:nvSpPr>
          <p:cNvPr id="9" name="Text 6"/>
          <p:cNvSpPr/>
          <p:nvPr/>
        </p:nvSpPr>
        <p:spPr>
          <a:xfrm>
            <a:off x="658368" y="5486400"/>
            <a:ext cx="10881360" cy="731520"/>
          </a:xfrm>
          <a:prstGeom prst="rect">
            <a:avLst/>
          </a:prstGeom>
          <a:noFill/>
          <a:ln/>
        </p:spPr>
        <p:txBody>
          <a:bodyPr wrap="square" lIns="0" tIns="0" rIns="0" bIns="0" rtlCol="0" anchor="ctr"/>
          <a:lstStyle/>
          <a:p>
            <a:pPr indent="0" marL="0">
              <a:lnSpc>
                <a:spcPct val="105000"/>
              </a:lnSpc>
              <a:buNone/>
            </a:pPr>
            <a:r>
              <a:rPr lang="en-US" sz="1150" b="1" dirty="0">
                <a:solidFill>
                  <a:srgbClr val="42C0FF"/>
                </a:solidFill>
                <a:latin typeface="Poppins" pitchFamily="34" charset="0"/>
                <a:ea typeface="Poppins" pitchFamily="34" charset="-122"/>
                <a:cs typeface="Poppins" pitchFamily="34" charset="-120"/>
              </a:rPr>
              <a:t>ncpus is the auto-sizing, written down.  </a:t>
            </a:r>
            <a:pPr indent="0" marL="0">
              <a:lnSpc>
                <a:spcPct val="105000"/>
              </a:lnSpc>
              <a:buNone/>
            </a:pPr>
            <a:r>
              <a:rPr lang="en-US" sz="1150" dirty="0">
                <a:solidFill>
                  <a:srgbClr val="C3D7EE"/>
                </a:solidFill>
                <a:latin typeface="Poppins" pitchFamily="34" charset="0"/>
                <a:ea typeface="Poppins" pitchFamily="34" charset="-122"/>
                <a:cs typeface="Poppins" pitchFamily="34" charset="-120"/>
              </a:rPr>
              <a:t>ncpus=12 in QSubOptions is the process count dsquasar worked out from the pending tar count on the login host, stored in the record, and read back when the batch job starts. Reading it here is the simplest way to confirm what a run was actually given.</a:t>
            </a:r>
            <a:endParaRPr lang="en-US" sz="1150" dirty="0"/>
          </a:p>
        </p:txBody>
      </p:sp>
      <p:sp>
        <p:nvSpPr>
          <p:cNvPr id="10" name="Text 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18</a:t>
            </a:r>
            <a:endParaRPr lang="en-US" sz="950" dirty="0"/>
          </a:p>
        </p:txBody>
      </p:sp>
      <p:sp>
        <p:nvSpPr>
          <p:cNvPr id="11" name="Text 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PARALLELISM</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Many CPUs Does the Job Ask For?</a:t>
            </a:r>
            <a:endParaRPr lang="en-US" sz="3200" dirty="0"/>
          </a:p>
        </p:txBody>
      </p:sp>
      <p:sp>
        <p:nvSpPr>
          <p:cNvPr id="4" name="Text 2"/>
          <p:cNvSpPr/>
          <p:nvPr/>
        </p:nvSpPr>
        <p:spPr>
          <a:xfrm>
            <a:off x="457200" y="1463040"/>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Tarring and uploading have very different shapes, so they are sized independently and the larger request wins — the phases run one after the other inside a single PBS allocation, sharing one ncpus.</a:t>
            </a:r>
            <a:endParaRPr lang="en-US" sz="1450" dirty="0"/>
          </a:p>
        </p:txBody>
      </p:sp>
      <p:sp>
        <p:nvSpPr>
          <p:cNvPr id="5" name="Shape 3"/>
          <p:cNvSpPr/>
          <p:nvPr/>
        </p:nvSpPr>
        <p:spPr>
          <a:xfrm>
            <a:off x="457200" y="2148840"/>
            <a:ext cx="5532120" cy="2286000"/>
          </a:xfrm>
          <a:prstGeom prst="roundRect">
            <a:avLst>
              <a:gd name="adj" fmla="val 4000"/>
            </a:avLst>
          </a:prstGeom>
          <a:solidFill>
            <a:srgbClr val="FFFFFF"/>
          </a:solidFill>
          <a:ln w="19050">
            <a:solidFill>
              <a:srgbClr val="0057C2"/>
            </a:solidFill>
            <a:prstDash val="solid"/>
          </a:ln>
        </p:spPr>
      </p:sp>
      <p:sp>
        <p:nvSpPr>
          <p:cNvPr id="6" name="Text 4"/>
          <p:cNvSpPr/>
          <p:nvPr/>
        </p:nvSpPr>
        <p:spPr>
          <a:xfrm>
            <a:off x="685800" y="2286000"/>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Tarring   (-A 2, -A 3)</a:t>
            </a:r>
            <a:endParaRPr lang="en-US" sz="1500" dirty="0"/>
          </a:p>
        </p:txBody>
      </p:sp>
      <p:sp>
        <p:nvSpPr>
          <p:cNvPr id="7" name="Text 5"/>
          <p:cNvSpPr/>
          <p:nvPr/>
        </p:nvSpPr>
        <p:spPr>
          <a:xfrm>
            <a:off x="685800" y="2606040"/>
            <a:ext cx="512064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tar file — many small, cheap units.</a:t>
            </a:r>
            <a:endParaRPr lang="en-US" sz="1150" dirty="0"/>
          </a:p>
        </p:txBody>
      </p:sp>
      <p:sp>
        <p:nvSpPr>
          <p:cNvPr id="8" name="Shape 6"/>
          <p:cNvSpPr/>
          <p:nvPr/>
        </p:nvSpPr>
        <p:spPr>
          <a:xfrm>
            <a:off x="685800" y="2926080"/>
            <a:ext cx="5120640" cy="685800"/>
          </a:xfrm>
          <a:prstGeom prst="roundRect">
            <a:avLst>
              <a:gd name="adj" fmla="val 6667"/>
            </a:avLst>
          </a:prstGeom>
          <a:solidFill>
            <a:srgbClr val="011837"/>
          </a:solidFill>
          <a:ln/>
        </p:spPr>
      </p:sp>
      <p:sp>
        <p:nvSpPr>
          <p:cNvPr id="9" name="Text 7"/>
          <p:cNvSpPr/>
          <p:nvPr/>
        </p:nvSpPr>
        <p:spPr>
          <a:xfrm>
            <a:off x="813816" y="2926080"/>
            <a:ext cx="486460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MPTLIMIT = 200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MPTMAX   =  12   process ceiling</a:t>
            </a:r>
            <a:endParaRPr lang="en-US" sz="1150" dirty="0"/>
          </a:p>
        </p:txBody>
      </p:sp>
      <p:sp>
        <p:nvSpPr>
          <p:cNvPr id="10" name="Text 8"/>
          <p:cNvSpPr/>
          <p:nvPr/>
        </p:nvSpPr>
        <p:spPr>
          <a:xfrm>
            <a:off x="685800" y="3703320"/>
            <a:ext cx="512064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small divisor with a high cap: lots of tar work should spread wide.</a:t>
            </a:r>
            <a:endParaRPr lang="en-US" sz="1100" dirty="0"/>
          </a:p>
        </p:txBody>
      </p:sp>
      <p:sp>
        <p:nvSpPr>
          <p:cNvPr id="11" name="Shape 9"/>
          <p:cNvSpPr/>
          <p:nvPr/>
        </p:nvSpPr>
        <p:spPr>
          <a:xfrm>
            <a:off x="6309360" y="2148840"/>
            <a:ext cx="5440680" cy="2286000"/>
          </a:xfrm>
          <a:prstGeom prst="roundRect">
            <a:avLst>
              <a:gd name="adj" fmla="val 4000"/>
            </a:avLst>
          </a:prstGeom>
          <a:solidFill>
            <a:srgbClr val="FFFFFF"/>
          </a:solidFill>
          <a:ln w="19050">
            <a:solidFill>
              <a:srgbClr val="0097A7"/>
            </a:solidFill>
            <a:prstDash val="solid"/>
          </a:ln>
        </p:spPr>
      </p:sp>
      <p:sp>
        <p:nvSpPr>
          <p:cNvPr id="12" name="Text 10"/>
          <p:cNvSpPr/>
          <p:nvPr/>
        </p:nvSpPr>
        <p:spPr>
          <a:xfrm>
            <a:off x="6537960" y="2286000"/>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Uploading   (-A 4)</a:t>
            </a:r>
            <a:endParaRPr lang="en-US" sz="1500" dirty="0"/>
          </a:p>
        </p:txBody>
      </p:sp>
      <p:sp>
        <p:nvSpPr>
          <p:cNvPr id="13" name="Text 11"/>
          <p:cNvSpPr/>
          <p:nvPr/>
        </p:nvSpPr>
        <p:spPr>
          <a:xfrm>
            <a:off x="6537960" y="2606040"/>
            <a:ext cx="502920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90 GB batch — few large, network-bound units.</a:t>
            </a:r>
            <a:endParaRPr lang="en-US" sz="1150" dirty="0"/>
          </a:p>
        </p:txBody>
      </p:sp>
      <p:sp>
        <p:nvSpPr>
          <p:cNvPr id="14" name="Shape 12"/>
          <p:cNvSpPr/>
          <p:nvPr/>
        </p:nvSpPr>
        <p:spPr>
          <a:xfrm>
            <a:off x="6537960" y="2926080"/>
            <a:ext cx="5029200" cy="685800"/>
          </a:xfrm>
          <a:prstGeom prst="roundRect">
            <a:avLst>
              <a:gd name="adj" fmla="val 6667"/>
            </a:avLst>
          </a:prstGeom>
          <a:solidFill>
            <a:srgbClr val="011837"/>
          </a:solidFill>
          <a:ln/>
        </p:spPr>
      </p:sp>
      <p:sp>
        <p:nvSpPr>
          <p:cNvPr id="15" name="Text 13"/>
          <p:cNvSpPr/>
          <p:nvPr/>
        </p:nvSpPr>
        <p:spPr>
          <a:xfrm>
            <a:off x="6665976" y="2926080"/>
            <a:ext cx="477316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MPBLIMIT = 5000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MPBMAX   =    4  process ceiling</a:t>
            </a:r>
            <a:endParaRPr lang="en-US" sz="1150" dirty="0"/>
          </a:p>
        </p:txBody>
      </p:sp>
      <p:sp>
        <p:nvSpPr>
          <p:cNvPr id="16" name="Text 14"/>
          <p:cNvSpPr/>
          <p:nvPr/>
        </p:nvSpPr>
        <p:spPr>
          <a:xfrm>
            <a:off x="6537960" y="3703320"/>
            <a:ext cx="502920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large divisor with a low cap: more Globus streams do not move more bytes.</a:t>
            </a:r>
            <a:endParaRPr lang="en-US" sz="1100" dirty="0"/>
          </a:p>
        </p:txBody>
      </p:sp>
      <p:sp>
        <p:nvSpPr>
          <p:cNvPr id="17" name="Text 15"/>
          <p:cNvSpPr/>
          <p:nvPr/>
        </p:nvSpPr>
        <p:spPr>
          <a:xfrm>
            <a:off x="457200" y="457200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Why the two sets of numbers</a:t>
            </a:r>
            <a:endParaRPr lang="en-US" sz="1500" dirty="0"/>
          </a:p>
        </p:txBody>
      </p:sp>
      <p:sp>
        <p:nvSpPr>
          <p:cNvPr id="18" name="Text 16"/>
          <p:cNvSpPr/>
          <p:nvPr/>
        </p:nvSpPr>
        <p:spPr>
          <a:xfrm>
            <a:off x="457200" y="4892040"/>
            <a:ext cx="11292840" cy="50292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Both phases once shared a single limit. Tarring came out under-provisioned while uploading reserved cpus it could never use — cpus that PBS charges for and that other jobs then cannot have. Splitting the constants fixed both ends.</a:t>
            </a:r>
            <a:endParaRPr lang="en-US" sz="1200" dirty="0"/>
          </a:p>
        </p:txBody>
      </p:sp>
      <p:sp>
        <p:nvSpPr>
          <p:cNvPr id="19" name="Shape 17"/>
          <p:cNvSpPr/>
          <p:nvPr/>
        </p:nvSpPr>
        <p:spPr>
          <a:xfrm>
            <a:off x="457200" y="5486400"/>
            <a:ext cx="11292840" cy="548640"/>
          </a:xfrm>
          <a:prstGeom prst="roundRect">
            <a:avLst>
              <a:gd name="adj" fmla="val 13333"/>
            </a:avLst>
          </a:prstGeom>
          <a:solidFill>
            <a:srgbClr val="C7E4F5"/>
          </a:solidFill>
          <a:ln w="12700">
            <a:solidFill>
              <a:srgbClr val="A9D6F2"/>
            </a:solidFill>
            <a:prstDash val="solid"/>
          </a:ln>
        </p:spPr>
      </p:sp>
      <p:sp>
        <p:nvSpPr>
          <p:cNvPr id="20" name="Text 18"/>
          <p:cNvSpPr/>
          <p:nvPr/>
        </p:nvSpPr>
        <p:spPr>
          <a:xfrm>
            <a:off x="658368" y="548640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-m sets the count by hand.  </a:t>
            </a:r>
            <a:pPr indent="0" marL="0">
              <a:buNone/>
            </a:pPr>
            <a:r>
              <a:rPr lang="en-US" sz="1150" dirty="0">
                <a:solidFill>
                  <a:srgbClr val="00357A"/>
                </a:solidFill>
                <a:latin typeface="Poppins" pitchFamily="34" charset="0"/>
                <a:ea typeface="Poppins" pitchFamily="34" charset="-122"/>
                <a:cs typeface="Poppins" pitchFamily="34" charset="-120"/>
              </a:rPr>
              <a:t>With no -m, a delayed run sizes itself and reads the count back from the reserved PBS ncpus. An explicit -m always wins — including -m 1 to force a single process.</a:t>
            </a:r>
            <a:endParaRPr lang="en-US" sz="1150" dirty="0"/>
          </a:p>
        </p:txBody>
      </p:sp>
      <p:sp>
        <p:nvSpPr>
          <p:cNvPr id="21" name="Text 19"/>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19</a:t>
            </a:r>
            <a:endParaRPr lang="en-US" sz="950" dirty="0"/>
          </a:p>
        </p:txBody>
      </p:sp>
      <p:sp>
        <p:nvSpPr>
          <p:cNvPr id="22" name="Text 20"/>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42C0FF"/>
                </a:solidFill>
                <a:latin typeface="Poppins" pitchFamily="34" charset="0"/>
                <a:ea typeface="Poppins" pitchFamily="34" charset="-122"/>
                <a:cs typeface="Poppins" pitchFamily="34" charset="-120"/>
              </a:rPr>
              <a:t>WALLTIME GUARD</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FFFFFF"/>
                </a:solidFill>
                <a:latin typeface="Poppins" pitchFamily="34" charset="0"/>
                <a:ea typeface="Poppins" pitchFamily="34" charset="-122"/>
                <a:cs typeface="Poppins" pitchFamily="34" charset="-120"/>
              </a:rPr>
              <a:t>Making Sure the Report Outlives the Job</a:t>
            </a:r>
            <a:endParaRPr lang="en-US" sz="3200" dirty="0"/>
          </a:p>
        </p:txBody>
      </p:sp>
      <p:sp>
        <p:nvSpPr>
          <p:cNvPr id="4" name="Text 2"/>
          <p:cNvSpPr/>
          <p:nvPr/>
        </p:nvSpPr>
        <p:spPr>
          <a:xfrm>
            <a:off x="457200" y="1481328"/>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C3D7EE"/>
                </a:solidFill>
                <a:latin typeface="Poppins" pitchFamily="34" charset="0"/>
                <a:ea typeface="Poppins" pitchFamily="34" charset="-122"/>
                <a:cs typeface="Poppins" pitchFamily="34" charset="-120"/>
              </a:rPr>
              <a:t>The queue gives the job 24 hours, and a full pass over the archive can want more. Cutting the work short to make time for the mail wastes a whole run, so instead dsquasar parks a progress report in its dscheck record an hour before the limit, and keeps working.</a:t>
            </a:r>
            <a:endParaRPr lang="en-US" sz="1450" dirty="0"/>
          </a:p>
        </p:txBody>
      </p:sp>
      <p:sp>
        <p:nvSpPr>
          <p:cNvPr id="5" name="Shape 3"/>
          <p:cNvSpPr/>
          <p:nvPr/>
        </p:nvSpPr>
        <p:spPr>
          <a:xfrm>
            <a:off x="822960" y="2514600"/>
            <a:ext cx="10515600" cy="384048"/>
          </a:xfrm>
          <a:prstGeom prst="roundRect">
            <a:avLst>
              <a:gd name="adj" fmla="val 19048"/>
            </a:avLst>
          </a:prstGeom>
          <a:solidFill>
            <a:srgbClr val="0B2A63"/>
          </a:solidFill>
          <a:ln w="12700">
            <a:solidFill>
              <a:srgbClr val="2C4E7D"/>
            </a:solidFill>
            <a:prstDash val="solid"/>
          </a:ln>
        </p:spPr>
      </p:sp>
      <p:sp>
        <p:nvSpPr>
          <p:cNvPr id="6" name="Text 4"/>
          <p:cNvSpPr/>
          <p:nvPr/>
        </p:nvSpPr>
        <p:spPr>
          <a:xfrm>
            <a:off x="822960" y="2514600"/>
            <a:ext cx="10515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work continues   —   0 h to the walltime</a:t>
            </a:r>
            <a:endParaRPr lang="en-US" sz="1200" dirty="0"/>
          </a:p>
        </p:txBody>
      </p:sp>
      <p:sp>
        <p:nvSpPr>
          <p:cNvPr id="7" name="Shape 5"/>
          <p:cNvSpPr/>
          <p:nvPr/>
        </p:nvSpPr>
        <p:spPr>
          <a:xfrm>
            <a:off x="10900410" y="2404872"/>
            <a:ext cx="0" cy="603504"/>
          </a:xfrm>
          <a:prstGeom prst="line">
            <a:avLst/>
          </a:prstGeom>
          <a:noFill/>
          <a:ln w="25400">
            <a:solidFill>
              <a:srgbClr val="42C0FF"/>
            </a:solidFill>
            <a:prstDash val="solid"/>
          </a:ln>
        </p:spPr>
      </p:sp>
      <p:sp>
        <p:nvSpPr>
          <p:cNvPr id="8" name="Text 6"/>
          <p:cNvSpPr/>
          <p:nvPr/>
        </p:nvSpPr>
        <p:spPr>
          <a:xfrm>
            <a:off x="7059930" y="2130552"/>
            <a:ext cx="3840480" cy="274320"/>
          </a:xfrm>
          <a:prstGeom prst="rect">
            <a:avLst/>
          </a:prstGeom>
          <a:noFill/>
          <a:ln/>
        </p:spPr>
        <p:txBody>
          <a:bodyPr wrap="square" lIns="0" tIns="0" rIns="0" bIns="0" rtlCol="0" anchor="ctr"/>
          <a:lstStyle/>
          <a:p>
            <a:pPr algn="r" indent="0" marL="0">
              <a:buNone/>
            </a:pPr>
            <a:r>
              <a:rPr lang="en-US" sz="1000" dirty="0">
                <a:solidFill>
                  <a:srgbClr val="42C0FF"/>
                </a:solidFill>
                <a:latin typeface="Courier New" pitchFamily="34" charset="0"/>
                <a:ea typeface="Courier New" pitchFamily="34" charset="-122"/>
                <a:cs typeface="Courier New" pitchFamily="34" charset="-120"/>
              </a:rPr>
              <a:t>MAXRUNTIME  23 h  —  cache the report</a:t>
            </a:r>
            <a:endParaRPr lang="en-US" sz="1000" dirty="0"/>
          </a:p>
        </p:txBody>
      </p:sp>
      <p:sp>
        <p:nvSpPr>
          <p:cNvPr id="9" name="Text 7"/>
          <p:cNvSpPr/>
          <p:nvPr/>
        </p:nvSpPr>
        <p:spPr>
          <a:xfrm>
            <a:off x="822960" y="2971800"/>
            <a:ext cx="1645920" cy="274320"/>
          </a:xfrm>
          <a:prstGeom prst="rect">
            <a:avLst/>
          </a:prstGeom>
          <a:noFill/>
          <a:ln/>
        </p:spPr>
        <p:txBody>
          <a:bodyPr wrap="square" lIns="0" tIns="0" rIns="0" bIns="0" rtlCol="0" anchor="ctr"/>
          <a:lstStyle/>
          <a:p>
            <a:pPr algn="l" indent="0" marL="0">
              <a:buNone/>
            </a:pPr>
            <a:r>
              <a:rPr lang="en-US" sz="1000" dirty="0">
                <a:solidFill>
                  <a:srgbClr val="97999B"/>
                </a:solidFill>
                <a:latin typeface="Courier New" pitchFamily="34" charset="0"/>
                <a:ea typeface="Courier New" pitchFamily="34" charset="-122"/>
                <a:cs typeface="Courier New" pitchFamily="34" charset="-120"/>
              </a:rPr>
              <a:t>0 h</a:t>
            </a:r>
            <a:endParaRPr lang="en-US" sz="1000" dirty="0"/>
          </a:p>
        </p:txBody>
      </p:sp>
      <p:sp>
        <p:nvSpPr>
          <p:cNvPr id="10" name="Text 8"/>
          <p:cNvSpPr/>
          <p:nvPr/>
        </p:nvSpPr>
        <p:spPr>
          <a:xfrm>
            <a:off x="9144000" y="2971800"/>
            <a:ext cx="2194560" cy="274320"/>
          </a:xfrm>
          <a:prstGeom prst="rect">
            <a:avLst/>
          </a:prstGeom>
          <a:noFill/>
          <a:ln/>
        </p:spPr>
        <p:txBody>
          <a:bodyPr wrap="square" lIns="0" tIns="0" rIns="0" bIns="0" rtlCol="0" anchor="ctr"/>
          <a:lstStyle/>
          <a:p>
            <a:pPr algn="r" indent="0" marL="0">
              <a:buNone/>
            </a:pPr>
            <a:r>
              <a:rPr lang="en-US" sz="1000" dirty="0">
                <a:solidFill>
                  <a:srgbClr val="97999B"/>
                </a:solidFill>
                <a:latin typeface="Courier New" pitchFamily="34" charset="0"/>
                <a:ea typeface="Courier New" pitchFamily="34" charset="-122"/>
                <a:cs typeface="Courier New" pitchFamily="34" charset="-120"/>
              </a:rPr>
              <a:t>24 h  PBS walltime</a:t>
            </a:r>
            <a:endParaRPr lang="en-US" sz="1000" dirty="0"/>
          </a:p>
        </p:txBody>
      </p:sp>
      <p:sp>
        <p:nvSpPr>
          <p:cNvPr id="11" name="Shape 9"/>
          <p:cNvSpPr/>
          <p:nvPr/>
        </p:nvSpPr>
        <p:spPr>
          <a:xfrm>
            <a:off x="822960" y="3246120"/>
            <a:ext cx="10515600" cy="621792"/>
          </a:xfrm>
          <a:prstGeom prst="roundRect">
            <a:avLst>
              <a:gd name="adj" fmla="val 10294"/>
            </a:avLst>
          </a:prstGeom>
          <a:solidFill>
            <a:srgbClr val="0B2A63"/>
          </a:solidFill>
          <a:ln w="12700">
            <a:solidFill>
              <a:srgbClr val="2C4E7D"/>
            </a:solidFill>
            <a:prstDash val="solid"/>
          </a:ln>
        </p:spPr>
      </p:sp>
      <p:sp>
        <p:nvSpPr>
          <p:cNvPr id="12" name="Text 10"/>
          <p:cNvSpPr/>
          <p:nvPr/>
        </p:nvSpPr>
        <p:spPr>
          <a:xfrm>
            <a:off x="1005840" y="32461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Ask PBS, not the clock</a:t>
            </a:r>
            <a:endParaRPr lang="en-US" sz="1250" dirty="0"/>
          </a:p>
        </p:txBody>
      </p:sp>
      <p:sp>
        <p:nvSpPr>
          <p:cNvPr id="13" name="Text 11"/>
          <p:cNvSpPr/>
          <p:nvPr/>
        </p:nvSpPr>
        <p:spPr>
          <a:xfrm>
            <a:off x="3337560" y="32461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qstat gives back the walltime actually granted — the daemon can cap the 24 hours asked for to the queue maximum. The cutoff is always one hour short of it.</a:t>
            </a:r>
            <a:endParaRPr lang="en-US" sz="1100" dirty="0"/>
          </a:p>
        </p:txBody>
      </p:sp>
      <p:sp>
        <p:nvSpPr>
          <p:cNvPr id="14" name="Shape 12"/>
          <p:cNvSpPr/>
          <p:nvPr/>
        </p:nvSpPr>
        <p:spPr>
          <a:xfrm>
            <a:off x="822960" y="3931920"/>
            <a:ext cx="10515600" cy="621792"/>
          </a:xfrm>
          <a:prstGeom prst="roundRect">
            <a:avLst>
              <a:gd name="adj" fmla="val 10294"/>
            </a:avLst>
          </a:prstGeom>
          <a:solidFill>
            <a:srgbClr val="0B2A63"/>
          </a:solidFill>
          <a:ln w="12700">
            <a:solidFill>
              <a:srgbClr val="2C4E7D"/>
            </a:solidFill>
            <a:prstDash val="solid"/>
          </a:ln>
        </p:spPr>
      </p:sp>
      <p:sp>
        <p:nvSpPr>
          <p:cNvPr id="15" name="Text 13"/>
          <p:cNvSpPr/>
          <p:nvPr/>
        </p:nvSpPr>
        <p:spPr>
          <a:xfrm>
            <a:off x="1005840" y="39319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At the cutoff</a:t>
            </a:r>
            <a:endParaRPr lang="en-US" sz="1250" dirty="0"/>
          </a:p>
        </p:txBody>
      </p:sp>
      <p:sp>
        <p:nvSpPr>
          <p:cNvPr id="16" name="Text 14"/>
          <p:cNvSpPr/>
          <p:nvPr/>
        </p:nvSpPr>
        <p:spPr>
          <a:xfrm>
            <a:off x="3337560" y="39319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A progress report is written straight into dscheck.einfo, naming the elapsed time and the tar files left to build and to transfer. The run does not stop.</a:t>
            </a:r>
            <a:endParaRPr lang="en-US" sz="1100" dirty="0"/>
          </a:p>
        </p:txBody>
      </p:sp>
      <p:sp>
        <p:nvSpPr>
          <p:cNvPr id="17" name="Shape 15"/>
          <p:cNvSpPr/>
          <p:nvPr/>
        </p:nvSpPr>
        <p:spPr>
          <a:xfrm>
            <a:off x="822960" y="4617720"/>
            <a:ext cx="10515600" cy="621792"/>
          </a:xfrm>
          <a:prstGeom prst="roundRect">
            <a:avLst>
              <a:gd name="adj" fmla="val 10294"/>
            </a:avLst>
          </a:prstGeom>
          <a:solidFill>
            <a:srgbClr val="0B2A63"/>
          </a:solidFill>
          <a:ln w="12700">
            <a:solidFill>
              <a:srgbClr val="2C4E7D"/>
            </a:solidFill>
            <a:prstDash val="solid"/>
          </a:ln>
        </p:spPr>
      </p:sp>
      <p:sp>
        <p:nvSpPr>
          <p:cNvPr id="18" name="Text 16"/>
          <p:cNvSpPr/>
          <p:nvPr/>
        </p:nvSpPr>
        <p:spPr>
          <a:xfrm>
            <a:off x="1005840" y="46177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If PBS kills the job</a:t>
            </a:r>
            <a:endParaRPr lang="en-US" sz="1250" dirty="0"/>
          </a:p>
        </p:txBody>
      </p:sp>
      <p:sp>
        <p:nvSpPr>
          <p:cNvPr id="19" name="Text 17"/>
          <p:cNvSpPr/>
          <p:nvPr/>
        </p:nvSpPr>
        <p:spPr>
          <a:xfrm>
            <a:off x="3337560" y="46177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daemon unlocks the dead record, finds einfo filled in, mails it and clears it. An overrun is reported instead of silent.</a:t>
            </a:r>
            <a:endParaRPr lang="en-US" sz="1100" dirty="0"/>
          </a:p>
        </p:txBody>
      </p:sp>
      <p:sp>
        <p:nvSpPr>
          <p:cNvPr id="20" name="Shape 18"/>
          <p:cNvSpPr/>
          <p:nvPr/>
        </p:nvSpPr>
        <p:spPr>
          <a:xfrm>
            <a:off x="822960" y="5303520"/>
            <a:ext cx="10515600" cy="621792"/>
          </a:xfrm>
          <a:prstGeom prst="roundRect">
            <a:avLst>
              <a:gd name="adj" fmla="val 10294"/>
            </a:avLst>
          </a:prstGeom>
          <a:solidFill>
            <a:srgbClr val="0B2A63"/>
          </a:solidFill>
          <a:ln w="12700">
            <a:solidFill>
              <a:srgbClr val="2C4E7D"/>
            </a:solidFill>
            <a:prstDash val="solid"/>
          </a:ln>
        </p:spPr>
      </p:sp>
      <p:sp>
        <p:nvSpPr>
          <p:cNvPr id="21" name="Text 19"/>
          <p:cNvSpPr/>
          <p:nvPr/>
        </p:nvSpPr>
        <p:spPr>
          <a:xfrm>
            <a:off x="1005840" y="53035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If the run finishes</a:t>
            </a:r>
            <a:endParaRPr lang="en-US" sz="1250" dirty="0"/>
          </a:p>
        </p:txBody>
      </p:sp>
      <p:sp>
        <p:nvSpPr>
          <p:cNvPr id="22" name="Text 20"/>
          <p:cNvSpPr/>
          <p:nvPr/>
        </p:nvSpPr>
        <p:spPr>
          <a:xfrm>
            <a:off x="3337560" y="53035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full report overwrites the cached one in einfo, so exactly one mail goes out — the complete one.</a:t>
            </a:r>
            <a:endParaRPr lang="en-US" sz="1100" dirty="0"/>
          </a:p>
        </p:txBody>
      </p:sp>
      <p:sp>
        <p:nvSpPr>
          <p:cNvPr id="23" name="Text 21"/>
          <p:cNvSpPr/>
          <p:nvPr/>
        </p:nvSpPr>
        <p:spPr>
          <a:xfrm>
            <a:off x="822960" y="6007608"/>
            <a:ext cx="10515600" cy="320040"/>
          </a:xfrm>
          <a:prstGeom prst="rect">
            <a:avLst/>
          </a:prstGeom>
          <a:noFill/>
          <a:ln/>
        </p:spPr>
        <p:txBody>
          <a:bodyPr wrap="square" lIns="0" tIns="0" rIns="0" bIns="0" rtlCol="0" anchor="ctr"/>
          <a:lstStyle/>
          <a:p>
            <a:pPr indent="0" marL="0">
              <a:buNone/>
            </a:pPr>
            <a:r>
              <a:rPr lang="en-US" sz="1100" i="1" dirty="0">
                <a:solidFill>
                  <a:srgbClr val="97999B"/>
                </a:solidFill>
                <a:latin typeface="Poppins" pitchFamily="34" charset="0"/>
                <a:ea typeface="Poppins" pitchFamily="34" charset="-122"/>
                <a:cs typeface="Poppins" pitchFamily="34" charset="-120"/>
              </a:rPr>
              <a:t>The guard only runs inside a real batch job under dscheck with -e; a foreground run mails its report directly.</a:t>
            </a:r>
            <a:endParaRPr lang="en-US" sz="1100" dirty="0"/>
          </a:p>
        </p:txBody>
      </p:sp>
      <p:sp>
        <p:nvSpPr>
          <p:cNvPr id="24" name="Text 2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20</a:t>
            </a:r>
            <a:endParaRPr lang="en-US" sz="950" dirty="0"/>
          </a:p>
        </p:txBody>
      </p:sp>
      <p:sp>
        <p:nvSpPr>
          <p:cNvPr id="25" name="Text 2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WORKER SLOTS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 / -w  —  When One Batch Job Hangs</a:t>
            </a:r>
            <a:endParaRPr lang="en-US" sz="3200" dirty="0"/>
          </a:p>
        </p:txBody>
      </p:sp>
      <p:sp>
        <p:nvSpPr>
          <p:cNvPr id="4" name="Text 2"/>
          <p:cNvSpPr/>
          <p:nvPr/>
        </p:nvSpPr>
        <p:spPr>
          <a:xfrm>
            <a:off x="457200" y="1444752"/>
            <a:ext cx="11292840" cy="566928"/>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The -A 3 gather runs from cron several times a day, so a crashed job restarts quickly — dead locks are taken over and dscheck retries. The gap was a job that is alive but too slow to finish: it holds the duplicate key and every later cron line simply blocks.</a:t>
            </a:r>
            <a:endParaRPr lang="en-US" sz="1400" dirty="0"/>
          </a:p>
        </p:txBody>
      </p:sp>
      <p:sp>
        <p:nvSpPr>
          <p:cNvPr id="5" name="Text 3"/>
          <p:cNvSpPr/>
          <p:nvPr/>
        </p:nvSpPr>
        <p:spPr>
          <a:xfrm>
            <a:off x="457200" y="214884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Stall test</a:t>
            </a:r>
            <a:endParaRPr lang="en-US" sz="1500" dirty="0"/>
          </a:p>
        </p:txBody>
      </p:sp>
      <p:sp>
        <p:nvSpPr>
          <p:cNvPr id="6" name="Text 4"/>
          <p:cNvSpPr/>
          <p:nvPr/>
        </p:nvSpPr>
        <p:spPr>
          <a:xfrm>
            <a:off x="457200" y="2468880"/>
            <a:ext cx="5532120" cy="292608"/>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A repeat submit inspects the running job. All three must hold:</a:t>
            </a:r>
            <a:endParaRPr lang="en-US" sz="1150" dirty="0"/>
          </a:p>
        </p:txBody>
      </p:sp>
      <p:sp>
        <p:nvSpPr>
          <p:cNvPr id="7" name="Shape 5"/>
          <p:cNvSpPr/>
          <p:nvPr/>
        </p:nvSpPr>
        <p:spPr>
          <a:xfrm>
            <a:off x="457200" y="2788920"/>
            <a:ext cx="5532120" cy="960120"/>
          </a:xfrm>
          <a:prstGeom prst="roundRect">
            <a:avLst>
              <a:gd name="adj" fmla="val 4762"/>
            </a:avLst>
          </a:prstGeom>
          <a:solidFill>
            <a:srgbClr val="011837"/>
          </a:solidFill>
          <a:ln/>
        </p:spPr>
      </p:sp>
      <p:sp>
        <p:nvSpPr>
          <p:cNvPr id="8" name="Text 6"/>
          <p:cNvSpPr/>
          <p:nvPr/>
        </p:nvSpPr>
        <p:spPr>
          <a:xfrm>
            <a:off x="585216" y="2788920"/>
            <a:ext cx="5276088" cy="96012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runtime  &gt;  WORKGRACE  (2 hours)</a:t>
            </a:r>
            <a:endParaRPr lang="en-US" sz="1200" dirty="0"/>
          </a:p>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dcount   &gt;  0  (gather finished)</a:t>
            </a:r>
            <a:endParaRPr lang="en-US" sz="1200" dirty="0"/>
          </a:p>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done rate x walltime  &lt;  MINWPROJ  (90 %)</a:t>
            </a:r>
            <a:endParaRPr lang="en-US" sz="1200" dirty="0"/>
          </a:p>
        </p:txBody>
      </p:sp>
      <p:sp>
        <p:nvSpPr>
          <p:cNvPr id="9" name="Text 7"/>
          <p:cNvSpPr/>
          <p:nvPr/>
        </p:nvSpPr>
        <p:spPr>
          <a:xfrm>
            <a:off x="457200" y="3840480"/>
            <a:ext cx="5532120" cy="566928"/>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A job that cannot finish its recorded work this attempt is treated as stalled, and the next cron submit adds an extra worker alongside it — up to -W MaxWorkers, default 2.</a:t>
            </a:r>
            <a:endParaRPr lang="en-US" sz="1150" dirty="0"/>
          </a:p>
        </p:txBody>
      </p:sp>
      <p:sp>
        <p:nvSpPr>
          <p:cNvPr id="10" name="Shape 8"/>
          <p:cNvSpPr/>
          <p:nvPr/>
        </p:nvSpPr>
        <p:spPr>
          <a:xfrm>
            <a:off x="457200" y="4480560"/>
            <a:ext cx="5532120" cy="411480"/>
          </a:xfrm>
          <a:prstGeom prst="roundRect">
            <a:avLst>
              <a:gd name="adj" fmla="val 11111"/>
            </a:avLst>
          </a:prstGeom>
          <a:solidFill>
            <a:srgbClr val="011837"/>
          </a:solidFill>
          <a:ln/>
        </p:spPr>
      </p:sp>
      <p:sp>
        <p:nvSpPr>
          <p:cNvPr id="11" name="Text 9"/>
          <p:cNvSpPr/>
          <p:nvPr/>
        </p:nvSpPr>
        <p:spPr>
          <a:xfrm>
            <a:off x="585216" y="4480560"/>
            <a:ext cx="5276088" cy="411480"/>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dsquasar -a -A 3 -b -d PBS -W 2</a:t>
            </a:r>
            <a:endParaRPr lang="en-US" sz="1250" dirty="0"/>
          </a:p>
        </p:txBody>
      </p:sp>
      <p:sp>
        <p:nvSpPr>
          <p:cNvPr id="12" name="Shape 10"/>
          <p:cNvSpPr/>
          <p:nvPr/>
        </p:nvSpPr>
        <p:spPr>
          <a:xfrm>
            <a:off x="457200" y="5029200"/>
            <a:ext cx="5532120" cy="978408"/>
          </a:xfrm>
          <a:prstGeom prst="roundRect">
            <a:avLst>
              <a:gd name="adj" fmla="val 7477"/>
            </a:avLst>
          </a:prstGeom>
          <a:solidFill>
            <a:srgbClr val="C7E4F5"/>
          </a:solidFill>
          <a:ln w="12700">
            <a:solidFill>
              <a:srgbClr val="A9D6F2"/>
            </a:solidFill>
            <a:prstDash val="solid"/>
          </a:ln>
        </p:spPr>
      </p:sp>
      <p:sp>
        <p:nvSpPr>
          <p:cNvPr id="13" name="Text 11"/>
          <p:cNvSpPr/>
          <p:nvPr/>
        </p:nvSpPr>
        <p:spPr>
          <a:xfrm>
            <a:off x="640080" y="5029200"/>
            <a:ext cx="5166360" cy="978408"/>
          </a:xfrm>
          <a:prstGeom prst="rect">
            <a:avLst/>
          </a:prstGeom>
          <a:noFill/>
          <a:ln/>
        </p:spPr>
        <p:txBody>
          <a:bodyPr wrap="square" lIns="0" tIns="0" rIns="0" bIns="0" rtlCol="0" anchor="ctr"/>
          <a:lstStyle/>
          <a:p>
            <a:pPr indent="0" marL="0">
              <a:lnSpc>
                <a:spcPct val="105000"/>
              </a:lnSpc>
              <a:buNone/>
            </a:pPr>
            <a:r>
              <a:rPr lang="en-US" sz="1100" b="1" dirty="0">
                <a:solidFill>
                  <a:srgbClr val="0057C2"/>
                </a:solidFill>
                <a:latin typeface="Poppins" pitchFamily="34" charset="0"/>
                <a:ea typeface="Poppins" pitchFamily="34" charset="-122"/>
                <a:cs typeface="Poppins" pitchFamily="34" charset="-120"/>
              </a:rPr>
              <a:t>Pinned to a single worker when locking is off.  </a:t>
            </a:r>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Extra workers rely on dataset locks to stay off each other's files, so -l N and the transfer actions (-A 4, 6, 7) always run one worker.</a:t>
            </a:r>
            <a:endParaRPr lang="en-US" sz="1100" dirty="0"/>
          </a:p>
        </p:txBody>
      </p:sp>
      <p:sp>
        <p:nvSpPr>
          <p:cNvPr id="14" name="Text 12"/>
          <p:cNvSpPr/>
          <p:nvPr/>
        </p:nvSpPr>
        <p:spPr>
          <a:xfrm>
            <a:off x="6309360" y="21488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Slot numbering and direction</a:t>
            </a:r>
            <a:endParaRPr lang="en-US" sz="1500" dirty="0"/>
          </a:p>
        </p:txBody>
      </p:sp>
      <p:sp>
        <p:nvSpPr>
          <p:cNvPr id="15" name="Text 13"/>
          <p:cNvSpPr/>
          <p:nvPr/>
        </p:nvSpPr>
        <p:spPr>
          <a:xfrm>
            <a:off x="6309360" y="2468880"/>
            <a:ext cx="5440680" cy="566928"/>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-w N is appended to the extra worker's own command line. Since argv is the only differing key field, that gives it a dscheck record of its own instead of colliding with slot 1.</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0" y="3127248"/>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Slot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Behaviour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slot 1</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plain argv — repeat cron still blocks as a duplicate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odd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in ascending dsid order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even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descending, from d999999</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17" name="Text 14"/>
          <p:cNvSpPr/>
          <p:nvPr/>
        </p:nvSpPr>
        <p:spPr>
          <a:xfrm>
            <a:off x="6309360" y="4709160"/>
            <a:ext cx="5440680" cy="457200"/>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A pair of workers therefore meets in the middle rather than fighting over the same dataset lock from the same end of the list.</a:t>
            </a:r>
            <a:endParaRPr lang="en-US" sz="1150" dirty="0"/>
          </a:p>
        </p:txBody>
      </p:sp>
      <p:sp>
        <p:nvSpPr>
          <p:cNvPr id="18" name="Shape 15"/>
          <p:cNvSpPr/>
          <p:nvPr/>
        </p:nvSpPr>
        <p:spPr>
          <a:xfrm>
            <a:off x="6309360" y="5230368"/>
            <a:ext cx="5440680" cy="777240"/>
          </a:xfrm>
          <a:prstGeom prst="roundRect">
            <a:avLst>
              <a:gd name="adj" fmla="val 9412"/>
            </a:avLst>
          </a:prstGeom>
          <a:solidFill>
            <a:srgbClr val="011837"/>
          </a:solidFill>
          <a:ln/>
        </p:spPr>
      </p:sp>
      <p:sp>
        <p:nvSpPr>
          <p:cNvPr id="19" name="Text 16"/>
          <p:cNvSpPr/>
          <p:nvPr/>
        </p:nvSpPr>
        <p:spPr>
          <a:xfrm>
            <a:off x="6492240" y="5230368"/>
            <a:ext cx="5074920" cy="777240"/>
          </a:xfrm>
          <a:prstGeom prst="rect">
            <a:avLst/>
          </a:prstGeom>
          <a:noFill/>
          <a:ln/>
        </p:spPr>
        <p:txBody>
          <a:bodyPr wrap="square" lIns="0" tIns="0" rIns="0" bIns="0" rtlCol="0" anchor="ctr"/>
          <a:lstStyle/>
          <a:p>
            <a:pPr indent="0" marL="0">
              <a:lnSpc>
                <a:spcPct val="105000"/>
              </a:lnSpc>
              <a:buNone/>
            </a:pPr>
            <a:r>
              <a:rPr lang="en-US" sz="1100" b="1" dirty="0">
                <a:solidFill>
                  <a:srgbClr val="42C0FF"/>
                </a:solidFill>
                <a:latin typeface="Poppins" pitchFamily="34" charset="0"/>
                <a:ea typeface="Poppins" pitchFamily="34" charset="-122"/>
                <a:cs typeface="Poppins" pitchFamily="34" charset="-120"/>
              </a:rPr>
              <a:t>Not a fix for one huge dataset.  </a:t>
            </a:r>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Locks are per dataset, so a second worker cannot help inside the dataset that is actually stuck.</a:t>
            </a:r>
            <a:endParaRPr lang="en-US" sz="1100" dirty="0"/>
          </a:p>
        </p:txBody>
      </p:sp>
      <p:sp>
        <p:nvSpPr>
          <p:cNvPr id="20" name="Text 1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21</a:t>
            </a:r>
            <a:endParaRPr lang="en-US" sz="950" dirty="0"/>
          </a:p>
        </p:txBody>
      </p:sp>
      <p:sp>
        <p:nvSpPr>
          <p:cNvPr id="21" name="Text 1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LOCKING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Keeping Two Runs Off the Same Files</a:t>
            </a:r>
            <a:endParaRPr lang="en-US" sz="3200" dirty="0"/>
          </a:p>
        </p:txBody>
      </p:sp>
      <p:sp>
        <p:nvSpPr>
          <p:cNvPr id="4" name="Text 2"/>
          <p:cNvSpPr/>
          <p:nvPr/>
        </p:nvSpPr>
        <p:spPr>
          <a:xfrm>
            <a:off x="457200" y="1444752"/>
            <a:ext cx="11292840" cy="548640"/>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Every mutual exclusion in dsquasar is a dataset lock — a pid and host stamped on the dataset record, claimed atomically and taken over automatically when the owning process is dead. There is no lock at the tar-file level.</a:t>
            </a:r>
            <a:endParaRPr lang="en-US" sz="1400" dirty="0"/>
          </a:p>
        </p:txBody>
      </p:sp>
      <p:sp>
        <p:nvSpPr>
          <p:cNvPr id="5" name="Shape 3"/>
          <p:cNvSpPr/>
          <p:nvPr/>
        </p:nvSpPr>
        <p:spPr>
          <a:xfrm>
            <a:off x="457200" y="2103120"/>
            <a:ext cx="2734056" cy="2331720"/>
          </a:xfrm>
          <a:prstGeom prst="roundRect">
            <a:avLst>
              <a:gd name="adj" fmla="val 3922"/>
            </a:avLst>
          </a:prstGeom>
          <a:solidFill>
            <a:srgbClr val="FFFFFF"/>
          </a:solidFill>
          <a:ln w="19050">
            <a:solidFill>
              <a:srgbClr val="0057C2"/>
            </a:solidFill>
            <a:prstDash val="solid"/>
          </a:ln>
        </p:spPr>
      </p:sp>
      <p:sp>
        <p:nvSpPr>
          <p:cNvPr id="6" name="Shape 4"/>
          <p:cNvSpPr/>
          <p:nvPr/>
        </p:nvSpPr>
        <p:spPr>
          <a:xfrm>
            <a:off x="457200" y="2103120"/>
            <a:ext cx="2734056" cy="91440"/>
          </a:xfrm>
          <a:prstGeom prst="roundRect">
            <a:avLst>
              <a:gd name="adj" fmla="val 30000"/>
            </a:avLst>
          </a:prstGeom>
          <a:solidFill>
            <a:srgbClr val="0057C2"/>
          </a:solidFill>
          <a:ln/>
        </p:spPr>
      </p:sp>
      <p:sp>
        <p:nvSpPr>
          <p:cNvPr id="7" name="Text 5"/>
          <p:cNvSpPr/>
          <p:nvPr/>
        </p:nvSpPr>
        <p:spPr>
          <a:xfrm>
            <a:off x="640080" y="2331720"/>
            <a:ext cx="2377440" cy="548640"/>
          </a:xfrm>
          <a:prstGeom prst="rect">
            <a:avLst/>
          </a:prstGeom>
          <a:noFill/>
          <a:ln/>
        </p:spPr>
        <p:txBody>
          <a:bodyPr wrap="square" lIns="0" tIns="0" rIns="0" bIns="0" rtlCol="0" anchor="t"/>
          <a:lstStyle/>
          <a:p>
            <a:pPr indent="0" marL="0">
              <a:buNone/>
            </a:pPr>
            <a:r>
              <a:rPr lang="en-US" sz="1350" b="1" dirty="0">
                <a:solidFill>
                  <a:srgbClr val="0057C2"/>
                </a:solidFill>
                <a:latin typeface="Poppins" pitchFamily="34" charset="0"/>
                <a:ea typeface="Poppins" pitchFamily="34" charset="-122"/>
                <a:cs typeface="Poppins" pitchFamily="34" charset="-120"/>
              </a:rPr>
              <a:t>Lock, then work</a:t>
            </a:r>
            <a:endParaRPr lang="en-US" sz="1350" dirty="0"/>
          </a:p>
        </p:txBody>
      </p:sp>
      <p:sp>
        <p:nvSpPr>
          <p:cNvPr id="8" name="Text 6"/>
          <p:cNvSpPr/>
          <p:nvPr/>
        </p:nvSpPr>
        <p:spPr>
          <a:xfrm>
            <a:off x="640080"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dataset is locked before its files are gathered or its tars are built, and unlocked as soon as that dataset is finished.</a:t>
            </a:r>
            <a:endParaRPr lang="en-US" sz="1050" dirty="0"/>
          </a:p>
        </p:txBody>
      </p:sp>
      <p:sp>
        <p:nvSpPr>
          <p:cNvPr id="9" name="Shape 7"/>
          <p:cNvSpPr/>
          <p:nvPr/>
        </p:nvSpPr>
        <p:spPr>
          <a:xfrm>
            <a:off x="3300984" y="2103120"/>
            <a:ext cx="2734056" cy="2331720"/>
          </a:xfrm>
          <a:prstGeom prst="roundRect">
            <a:avLst>
              <a:gd name="adj" fmla="val 3922"/>
            </a:avLst>
          </a:prstGeom>
          <a:solidFill>
            <a:srgbClr val="FFFFFF"/>
          </a:solidFill>
          <a:ln w="19050">
            <a:solidFill>
              <a:srgbClr val="0092DB"/>
            </a:solidFill>
            <a:prstDash val="solid"/>
          </a:ln>
        </p:spPr>
      </p:sp>
      <p:sp>
        <p:nvSpPr>
          <p:cNvPr id="10" name="Shape 8"/>
          <p:cNvSpPr/>
          <p:nvPr/>
        </p:nvSpPr>
        <p:spPr>
          <a:xfrm>
            <a:off x="3300984" y="2103120"/>
            <a:ext cx="2734056" cy="91440"/>
          </a:xfrm>
          <a:prstGeom prst="roundRect">
            <a:avLst>
              <a:gd name="adj" fmla="val 30000"/>
            </a:avLst>
          </a:prstGeom>
          <a:solidFill>
            <a:srgbClr val="0092DB"/>
          </a:solidFill>
          <a:ln/>
        </p:spPr>
      </p:sp>
      <p:sp>
        <p:nvSpPr>
          <p:cNvPr id="11" name="Text 9"/>
          <p:cNvSpPr/>
          <p:nvPr/>
        </p:nvSpPr>
        <p:spPr>
          <a:xfrm>
            <a:off x="3483864" y="2331720"/>
            <a:ext cx="2377440" cy="548640"/>
          </a:xfrm>
          <a:prstGeom prst="rect">
            <a:avLst/>
          </a:prstGeom>
          <a:noFill/>
          <a:ln/>
        </p:spPr>
        <p:txBody>
          <a:bodyPr wrap="square" lIns="0" tIns="0" rIns="0" bIns="0" rtlCol="0" anchor="t"/>
          <a:lstStyle/>
          <a:p>
            <a:pPr indent="0" marL="0">
              <a:buNone/>
            </a:pPr>
            <a:r>
              <a:rPr lang="en-US" sz="1350" b="1" dirty="0">
                <a:solidFill>
                  <a:srgbClr val="0092DB"/>
                </a:solidFill>
                <a:latin typeface="Poppins" pitchFamily="34" charset="0"/>
                <a:ea typeface="Poppins" pitchFamily="34" charset="-122"/>
                <a:cs typeface="Poppins" pitchFamily="34" charset="-120"/>
              </a:rPr>
              <a:t>Re-check under the lock</a:t>
            </a:r>
            <a:endParaRPr lang="en-US" sz="1350" dirty="0"/>
          </a:p>
        </p:txBody>
      </p:sp>
      <p:sp>
        <p:nvSpPr>
          <p:cNvPr id="12" name="Text 10"/>
          <p:cNvSpPr/>
          <p:nvPr/>
        </p:nvSpPr>
        <p:spPr>
          <a:xfrm>
            <a:off x="3483864"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Work is listed before the lock is held, so the list can be hours old. Each candidate is re-read under the lock — still status 'N'? — before a tar is spent on it.</a:t>
            </a:r>
            <a:endParaRPr lang="en-US" sz="1050" dirty="0"/>
          </a:p>
        </p:txBody>
      </p:sp>
      <p:sp>
        <p:nvSpPr>
          <p:cNvPr id="13" name="Shape 11"/>
          <p:cNvSpPr/>
          <p:nvPr/>
        </p:nvSpPr>
        <p:spPr>
          <a:xfrm>
            <a:off x="6144768" y="2103120"/>
            <a:ext cx="2734056" cy="2331720"/>
          </a:xfrm>
          <a:prstGeom prst="roundRect">
            <a:avLst>
              <a:gd name="adj" fmla="val 3922"/>
            </a:avLst>
          </a:prstGeom>
          <a:solidFill>
            <a:srgbClr val="FFFFFF"/>
          </a:solidFill>
          <a:ln w="19050">
            <a:solidFill>
              <a:srgbClr val="0097A7"/>
            </a:solidFill>
            <a:prstDash val="solid"/>
          </a:ln>
        </p:spPr>
      </p:sp>
      <p:sp>
        <p:nvSpPr>
          <p:cNvPr id="14" name="Shape 12"/>
          <p:cNvSpPr/>
          <p:nvPr/>
        </p:nvSpPr>
        <p:spPr>
          <a:xfrm>
            <a:off x="6144768" y="2103120"/>
            <a:ext cx="2734056" cy="91440"/>
          </a:xfrm>
          <a:prstGeom prst="roundRect">
            <a:avLst>
              <a:gd name="adj" fmla="val 30000"/>
            </a:avLst>
          </a:prstGeom>
          <a:solidFill>
            <a:srgbClr val="0097A7"/>
          </a:solidFill>
          <a:ln/>
        </p:spPr>
      </p:sp>
      <p:sp>
        <p:nvSpPr>
          <p:cNvPr id="15" name="Text 13"/>
          <p:cNvSpPr/>
          <p:nvPr/>
        </p:nvSpPr>
        <p:spPr>
          <a:xfrm>
            <a:off x="6327648" y="2331720"/>
            <a:ext cx="2377440" cy="548640"/>
          </a:xfrm>
          <a:prstGeom prst="rect">
            <a:avLst/>
          </a:prstGeom>
          <a:noFill/>
          <a:ln/>
        </p:spPr>
        <p:txBody>
          <a:bodyPr wrap="square" lIns="0" tIns="0" rIns="0" bIns="0" rtlCol="0" anchor="t"/>
          <a:lstStyle/>
          <a:p>
            <a:pPr indent="0" marL="0">
              <a:buNone/>
            </a:pPr>
            <a:r>
              <a:rPr lang="en-US" sz="1350" b="1" dirty="0">
                <a:solidFill>
                  <a:srgbClr val="0097A7"/>
                </a:solidFill>
                <a:latin typeface="Poppins" pitchFamily="34" charset="0"/>
                <a:ea typeface="Poppins" pitchFamily="34" charset="-122"/>
                <a:cs typeface="Poppins" pitchFamily="34" charset="-120"/>
              </a:rPr>
              <a:t>Multi-dataset tars</a:t>
            </a:r>
            <a:endParaRPr lang="en-US" sz="1350" dirty="0"/>
          </a:p>
        </p:txBody>
      </p:sp>
      <p:sp>
        <p:nvSpPr>
          <p:cNvPr id="16" name="Text 14"/>
          <p:cNvSpPr/>
          <p:nvPr/>
        </p:nvSpPr>
        <p:spPr>
          <a:xfrm>
            <a:off x="6327648"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One tar may hold files from many datasets. All are locked before tarring and released once it is dispatched; if any is held elsewhere, the tar waits.</a:t>
            </a:r>
            <a:endParaRPr lang="en-US" sz="1050" dirty="0"/>
          </a:p>
        </p:txBody>
      </p:sp>
      <p:sp>
        <p:nvSpPr>
          <p:cNvPr id="17" name="Shape 15"/>
          <p:cNvSpPr/>
          <p:nvPr/>
        </p:nvSpPr>
        <p:spPr>
          <a:xfrm>
            <a:off x="8988552" y="2103120"/>
            <a:ext cx="2734056" cy="2331720"/>
          </a:xfrm>
          <a:prstGeom prst="roundRect">
            <a:avLst>
              <a:gd name="adj" fmla="val 3922"/>
            </a:avLst>
          </a:prstGeom>
          <a:solidFill>
            <a:srgbClr val="FFFFFF"/>
          </a:solidFill>
          <a:ln w="19050">
            <a:solidFill>
              <a:srgbClr val="C25E00"/>
            </a:solidFill>
            <a:prstDash val="solid"/>
          </a:ln>
        </p:spPr>
      </p:sp>
      <p:sp>
        <p:nvSpPr>
          <p:cNvPr id="18" name="Shape 16"/>
          <p:cNvSpPr/>
          <p:nvPr/>
        </p:nvSpPr>
        <p:spPr>
          <a:xfrm>
            <a:off x="8988552" y="2103120"/>
            <a:ext cx="2734056" cy="91440"/>
          </a:xfrm>
          <a:prstGeom prst="roundRect">
            <a:avLst>
              <a:gd name="adj" fmla="val 30000"/>
            </a:avLst>
          </a:prstGeom>
          <a:solidFill>
            <a:srgbClr val="C25E00"/>
          </a:solidFill>
          <a:ln/>
        </p:spPr>
      </p:sp>
      <p:sp>
        <p:nvSpPr>
          <p:cNvPr id="19" name="Text 17"/>
          <p:cNvSpPr/>
          <p:nvPr/>
        </p:nvSpPr>
        <p:spPr>
          <a:xfrm>
            <a:off x="9171432" y="2331720"/>
            <a:ext cx="2377440" cy="548640"/>
          </a:xfrm>
          <a:prstGeom prst="rect">
            <a:avLst/>
          </a:prstGeom>
          <a:noFill/>
          <a:ln/>
        </p:spPr>
        <p:txBody>
          <a:bodyPr wrap="square" lIns="0" tIns="0" rIns="0" bIns="0" rtlCol="0" anchor="t"/>
          <a:lstStyle/>
          <a:p>
            <a:pPr indent="0" marL="0">
              <a:buNone/>
            </a:pPr>
            <a:r>
              <a:rPr lang="en-US" sz="1350" b="1" dirty="0">
                <a:solidFill>
                  <a:srgbClr val="C25E00"/>
                </a:solidFill>
                <a:latin typeface="Poppins" pitchFamily="34" charset="0"/>
                <a:ea typeface="Poppins" pitchFamily="34" charset="-122"/>
                <a:cs typeface="Poppins" pitchFamily="34" charset="-120"/>
              </a:rPr>
              <a:t>Tar names are safe</a:t>
            </a:r>
            <a:endParaRPr lang="en-US" sz="1350" dirty="0"/>
          </a:p>
        </p:txBody>
      </p:sp>
      <p:sp>
        <p:nvSpPr>
          <p:cNvPr id="20" name="Text 18"/>
          <p:cNvSpPr/>
          <p:nvPr/>
        </p:nvSpPr>
        <p:spPr>
          <a:xfrm>
            <a:off x="9171432"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predicted bid is only a guess. The insert uses AUTOID and the tar is renamed if the database returns a different id.</a:t>
            </a:r>
            <a:endParaRPr lang="en-US" sz="1050" dirty="0"/>
          </a:p>
        </p:txBody>
      </p:sp>
      <p:sp>
        <p:nvSpPr>
          <p:cNvPr id="21" name="Text 19"/>
          <p:cNvSpPr/>
          <p:nvPr/>
        </p:nvSpPr>
        <p:spPr>
          <a:xfrm>
            <a:off x="457200" y="46177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Operator controls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4956048"/>
          <a:ext cx="11292840" cy="914400"/>
        </p:xfrm>
        <a:graphic>
          <a:graphicData uri="http://schemas.openxmlformats.org/drawingml/2006/table">
            <a:tbl>
              <a:tblPr/>
              <a:tblGrid>
                <a:gridCol w="1371600"/>
                <a:gridCol w="9921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Option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Effect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-l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them up. Y is the default; N skips locking entirely and forces a single worker.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left behind on the named datasets. Dataset IDs are required — not valid with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3" name="Text 20"/>
          <p:cNvSpPr/>
          <p:nvPr/>
        </p:nvSpPr>
        <p:spPr>
          <a:xfrm>
            <a:off x="457200" y="6126480"/>
            <a:ext cx="11292840" cy="274320"/>
          </a:xfrm>
          <a:prstGeom prst="rect">
            <a:avLst/>
          </a:prstGeom>
          <a:noFill/>
          <a:ln/>
        </p:spPr>
        <p:txBody>
          <a:bodyPr wrap="square" lIns="0" tIns="0" rIns="0" bIns="0" rtlCol="0" anchor="ctr"/>
          <a:lstStyle/>
          <a:p>
            <a:pPr indent="0" marL="0">
              <a:buNone/>
            </a:pPr>
            <a:r>
              <a:rPr lang="en-US" sz="1100" i="1" dirty="0">
                <a:solidFill>
                  <a:srgbClr val="53565A"/>
                </a:solidFill>
                <a:latin typeface="Poppins" pitchFamily="34" charset="0"/>
                <a:ea typeface="Poppins" pitchFamily="34" charset="-122"/>
                <a:cs typeface="Poppins" pitchFamily="34" charset="-120"/>
              </a:rPr>
              <a:t>Locks left by a killed process are reclaimed automatically; -u is for the cases where you want them gone now.</a:t>
            </a:r>
            <a:endParaRPr lang="en-US" sz="1100" dirty="0"/>
          </a:p>
        </p:txBody>
      </p:sp>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22</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REPORTING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-e / -E  —  Mail to the Specialist</a:t>
            </a:r>
            <a:endParaRPr lang="en-US" sz="3200" dirty="0"/>
          </a:p>
        </p:txBody>
      </p:sp>
      <p:sp>
        <p:nvSpPr>
          <p:cNvPr id="4" name="Text 2"/>
          <p:cNvSpPr/>
          <p:nvPr/>
        </p:nvSpPr>
        <p:spPr>
          <a:xfrm>
            <a:off x="457200" y="1463040"/>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A batch run leaves no one watching the screen, so dsquasar mails the outcome to the dataset specialist. Two levels of detail.</a:t>
            </a:r>
            <a:endParaRPr lang="en-US" sz="1450" dirty="0"/>
          </a:p>
        </p:txBody>
      </p:sp>
      <p:sp>
        <p:nvSpPr>
          <p:cNvPr id="5" name="Shape 3"/>
          <p:cNvSpPr/>
          <p:nvPr/>
        </p:nvSpPr>
        <p:spPr>
          <a:xfrm>
            <a:off x="457200" y="1965960"/>
            <a:ext cx="5532120" cy="1371600"/>
          </a:xfrm>
          <a:prstGeom prst="roundRect">
            <a:avLst>
              <a:gd name="adj" fmla="val 6667"/>
            </a:avLst>
          </a:prstGeom>
          <a:solidFill>
            <a:srgbClr val="DCEBF7"/>
          </a:solidFill>
          <a:ln w="19050">
            <a:solidFill>
              <a:srgbClr val="0057C2"/>
            </a:solidFill>
            <a:prstDash val="solid"/>
          </a:ln>
        </p:spPr>
      </p:sp>
      <p:sp>
        <p:nvSpPr>
          <p:cNvPr id="6" name="Text 4"/>
          <p:cNvSpPr/>
          <p:nvPr/>
        </p:nvSpPr>
        <p:spPr>
          <a:xfrm>
            <a:off x="658368" y="2121408"/>
            <a:ext cx="822960" cy="457200"/>
          </a:xfrm>
          <a:prstGeom prst="rect">
            <a:avLst/>
          </a:prstGeom>
          <a:noFill/>
          <a:ln/>
        </p:spPr>
        <p:txBody>
          <a:bodyPr wrap="square" lIns="0" tIns="0" rIns="0" bIns="0" rtlCol="0" anchor="ctr"/>
          <a:lstStyle/>
          <a:p>
            <a:pPr indent="0" marL="0">
              <a:buNone/>
            </a:pPr>
            <a:r>
              <a:rPr lang="en-US" sz="2200" b="1" dirty="0">
                <a:solidFill>
                  <a:srgbClr val="0057C2"/>
                </a:solidFill>
                <a:latin typeface="Courier New" pitchFamily="34" charset="0"/>
                <a:ea typeface="Courier New" pitchFamily="34" charset="-122"/>
                <a:cs typeface="Courier New" pitchFamily="34" charset="-120"/>
              </a:rPr>
              <a:t>-e</a:t>
            </a:r>
            <a:endParaRPr lang="en-US" sz="2200" dirty="0"/>
          </a:p>
        </p:txBody>
      </p:sp>
      <p:sp>
        <p:nvSpPr>
          <p:cNvPr id="7" name="Text 5"/>
          <p:cNvSpPr/>
          <p:nvPr/>
        </p:nvSpPr>
        <p:spPr>
          <a:xfrm>
            <a:off x="155448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Summary</a:t>
            </a:r>
            <a:endParaRPr lang="en-US" sz="1600" dirty="0"/>
          </a:p>
        </p:txBody>
      </p:sp>
      <p:sp>
        <p:nvSpPr>
          <p:cNvPr id="8" name="Text 6"/>
          <p:cNvSpPr/>
          <p:nvPr/>
        </p:nvSpPr>
        <p:spPr>
          <a:xfrm>
            <a:off x="65836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Totals only: how many files and bytes were backed up, and how much is still waiting.</a:t>
            </a:r>
            <a:endParaRPr lang="en-US" sz="1150" dirty="0"/>
          </a:p>
        </p:txBody>
      </p:sp>
      <p:sp>
        <p:nvSpPr>
          <p:cNvPr id="9" name="Shape 7"/>
          <p:cNvSpPr/>
          <p:nvPr/>
        </p:nvSpPr>
        <p:spPr>
          <a:xfrm>
            <a:off x="6263640" y="1965960"/>
            <a:ext cx="5532120" cy="1371600"/>
          </a:xfrm>
          <a:prstGeom prst="roundRect">
            <a:avLst>
              <a:gd name="adj" fmla="val 6667"/>
            </a:avLst>
          </a:prstGeom>
          <a:solidFill>
            <a:srgbClr val="DCEBF7"/>
          </a:solidFill>
          <a:ln w="19050">
            <a:solidFill>
              <a:srgbClr val="0097A7"/>
            </a:solidFill>
            <a:prstDash val="solid"/>
          </a:ln>
        </p:spPr>
      </p:sp>
      <p:sp>
        <p:nvSpPr>
          <p:cNvPr id="10" name="Text 8"/>
          <p:cNvSpPr/>
          <p:nvPr/>
        </p:nvSpPr>
        <p:spPr>
          <a:xfrm>
            <a:off x="6464808" y="2121408"/>
            <a:ext cx="822960" cy="457200"/>
          </a:xfrm>
          <a:prstGeom prst="rect">
            <a:avLst/>
          </a:prstGeom>
          <a:noFill/>
          <a:ln/>
        </p:spPr>
        <p:txBody>
          <a:bodyPr wrap="square" lIns="0" tIns="0" rIns="0" bIns="0" rtlCol="0" anchor="ctr"/>
          <a:lstStyle/>
          <a:p>
            <a:pPr indent="0" marL="0">
              <a:buNone/>
            </a:pPr>
            <a:r>
              <a:rPr lang="en-US" sz="2200" b="1" dirty="0">
                <a:solidFill>
                  <a:srgbClr val="0097A7"/>
                </a:solidFill>
                <a:latin typeface="Courier New" pitchFamily="34" charset="0"/>
                <a:ea typeface="Courier New" pitchFamily="34" charset="-122"/>
                <a:cs typeface="Courier New" pitchFamily="34" charset="-120"/>
              </a:rPr>
              <a:t>-E</a:t>
            </a:r>
            <a:endParaRPr lang="en-US" sz="2200" dirty="0"/>
          </a:p>
        </p:txBody>
      </p:sp>
      <p:sp>
        <p:nvSpPr>
          <p:cNvPr id="11" name="Text 9"/>
          <p:cNvSpPr/>
          <p:nvPr/>
        </p:nvSpPr>
        <p:spPr>
          <a:xfrm>
            <a:off x="736092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Detailed</a:t>
            </a:r>
            <a:endParaRPr lang="en-US" sz="1600" dirty="0"/>
          </a:p>
        </p:txBody>
      </p:sp>
      <p:sp>
        <p:nvSpPr>
          <p:cNvPr id="12" name="Text 10"/>
          <p:cNvSpPr/>
          <p:nvPr/>
        </p:nvSpPr>
        <p:spPr>
          <a:xfrm>
            <a:off x="646480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same totals plus a per-dataset breakdown — which datasets moved, which are still behind.</a:t>
            </a:r>
            <a:endParaRPr lang="en-US" sz="1150" dirty="0"/>
          </a:p>
        </p:txBody>
      </p:sp>
      <p:sp>
        <p:nvSpPr>
          <p:cNvPr id="13" name="Text 11"/>
          <p:cNvSpPr/>
          <p:nvPr/>
        </p:nvSpPr>
        <p:spPr>
          <a:xfrm>
            <a:off x="457200" y="3566160"/>
            <a:ext cx="112928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Typical summary mail</a:t>
            </a:r>
            <a:endParaRPr lang="en-US" sz="1500" dirty="0"/>
          </a:p>
        </p:txBody>
      </p:sp>
      <p:sp>
        <p:nvSpPr>
          <p:cNvPr id="14" name="Shape 12"/>
          <p:cNvSpPr/>
          <p:nvPr/>
        </p:nvSpPr>
        <p:spPr>
          <a:xfrm>
            <a:off x="457200" y="3913632"/>
            <a:ext cx="11292840" cy="1691640"/>
          </a:xfrm>
          <a:prstGeom prst="roundRect">
            <a:avLst>
              <a:gd name="adj" fmla="val 2703"/>
            </a:avLst>
          </a:prstGeom>
          <a:solidFill>
            <a:srgbClr val="011837"/>
          </a:solidFill>
          <a:ln/>
        </p:spPr>
      </p:sp>
      <p:sp>
        <p:nvSpPr>
          <p:cNvPr id="15" name="Text 13"/>
          <p:cNvSpPr/>
          <p:nvPr/>
        </p:nvSpPr>
        <p:spPr>
          <a:xfrm>
            <a:off x="585216" y="3913632"/>
            <a:ext cx="11036808" cy="16916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Subject: dsquasar backup statistics</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Backed up : 148,392 files   612.4 GB   in 128 tar files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Ready     :  22,105 files    91.7 GB</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Tar files : N = 18   T = 6   A = 128</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d123456   12,004 files   58.2 GB  backed up      2,110 files ready</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d999001    1,338 files    9.9 GB  backed up          0 files ready</a:t>
            </a:r>
            <a:endParaRPr lang="en-US" sz="1150" dirty="0"/>
          </a:p>
        </p:txBody>
      </p:sp>
      <p:sp>
        <p:nvSpPr>
          <p:cNvPr id="16" name="Shape 14"/>
          <p:cNvSpPr/>
          <p:nvPr/>
        </p:nvSpPr>
        <p:spPr>
          <a:xfrm>
            <a:off x="457200" y="5742432"/>
            <a:ext cx="11292840" cy="548640"/>
          </a:xfrm>
          <a:prstGeom prst="roundRect">
            <a:avLst>
              <a:gd name="adj" fmla="val 13333"/>
            </a:avLst>
          </a:prstGeom>
          <a:solidFill>
            <a:srgbClr val="C7E4F5"/>
          </a:solidFill>
          <a:ln w="12700">
            <a:solidFill>
              <a:srgbClr val="A9D6F2"/>
            </a:solidFill>
            <a:prstDash val="solid"/>
          </a:ln>
        </p:spPr>
      </p:sp>
      <p:sp>
        <p:nvSpPr>
          <p:cNvPr id="17" name="Text 15"/>
          <p:cNvSpPr/>
          <p:nvPr/>
        </p:nvSpPr>
        <p:spPr>
          <a:xfrm>
            <a:off x="658368" y="5742432"/>
            <a:ext cx="978408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A run that overruns still mails.  </a:t>
            </a:r>
            <a:pPr indent="0" marL="0">
              <a:buNone/>
            </a:pPr>
            <a:r>
              <a:rPr lang="en-US" sz="1150" dirty="0">
                <a:solidFill>
                  <a:srgbClr val="00357A"/>
                </a:solidFill>
                <a:latin typeface="Poppins" pitchFamily="34" charset="0"/>
                <a:ea typeface="Poppins" pitchFamily="34" charset="-122"/>
                <a:cs typeface="Poppins" pitchFamily="34" charset="-120"/>
              </a:rPr>
              <a:t>An hour before the PBS walltime the report so far is cached in dscheck.einfo, so even a job killed by the queue is reported rather than silent.</a:t>
            </a:r>
            <a:endParaRPr lang="en-US" sz="1150" dirty="0"/>
          </a:p>
        </p:txBody>
      </p:sp>
      <p:sp>
        <p:nvSpPr>
          <p:cNvPr id="18"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23</a:t>
            </a:r>
            <a:endParaRPr lang="en-US" sz="950" dirty="0"/>
          </a:p>
        </p:txBody>
      </p:sp>
      <p:sp>
        <p:nvSpPr>
          <p:cNvPr id="19"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REFERENCE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Option Reference</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532120" cy="914400"/>
        </p:xfrm>
        <a:graphic>
          <a:graphicData uri="http://schemas.openxmlformats.org/drawingml/2006/table">
            <a:tbl>
              <a:tblPr/>
              <a:tblGrid>
                <a:gridCol w="1234440"/>
                <a:gridCol w="42976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Selection &amp; scope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all datasets with a backup flag set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-t ids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named datasets; SQL % wildcard allowed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'B' (Backup only)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'D' (Backup + 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 bits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actions: 1 2 3 4 6 7 8 16 (default 3)</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-c days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with -A 1, re-back up recently changed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 / -E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mail summary / detailed statistics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309360" y="1417320"/>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Run control</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background mode, no screen output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 [h]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delay mode: submit as a PBS batch job</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-m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concurrent child processes (default 1)</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up (default 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show available file counts only, do nothing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max concurrent batch workers (default 2)</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worker slot; set automatically, not by hand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on the named datasets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-h</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display the help document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6" name="Text 2"/>
          <p:cNvSpPr/>
          <p:nvPr/>
        </p:nvSpPr>
        <p:spPr>
          <a:xfrm>
            <a:off x="457200" y="4617720"/>
            <a:ext cx="5532120" cy="64008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Either -a or -t is required — without one, dsquasar prints its usage and exits. -B and -D only narrow what a run processes; with neither, each dataset is backed up per its own backflag.</a:t>
            </a:r>
            <a:endParaRPr lang="en-US" sz="1150" dirty="0"/>
          </a:p>
        </p:txBody>
      </p:sp>
      <p:sp>
        <p:nvSpPr>
          <p:cNvPr id="7" name="Text 3"/>
          <p:cNvSpPr/>
          <p:nvPr/>
        </p:nvSpPr>
        <p:spPr>
          <a:xfrm>
            <a:off x="457200" y="53035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Six lines that cover most days</a:t>
            </a:r>
            <a:endParaRPr lang="en-US" sz="1500" dirty="0"/>
          </a:p>
        </p:txBody>
      </p:sp>
      <p:sp>
        <p:nvSpPr>
          <p:cNvPr id="8" name="Shape 4"/>
          <p:cNvSpPr/>
          <p:nvPr/>
        </p:nvSpPr>
        <p:spPr>
          <a:xfrm>
            <a:off x="457200" y="5623560"/>
            <a:ext cx="11292840" cy="777240"/>
          </a:xfrm>
          <a:prstGeom prst="roundRect">
            <a:avLst>
              <a:gd name="adj" fmla="val 5882"/>
            </a:avLst>
          </a:prstGeom>
          <a:solidFill>
            <a:srgbClr val="011837"/>
          </a:solidFill>
          <a:ln/>
        </p:spPr>
      </p:sp>
      <p:sp>
        <p:nvSpPr>
          <p:cNvPr id="9" name="Text 5"/>
          <p:cNvSpPr/>
          <p:nvPr/>
        </p:nvSpPr>
        <p:spPr>
          <a:xfrm>
            <a:off x="585216" y="562356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-a -A 3 -e -b -d PBS     dsquasar -t d123456 -A 4</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d123456 -n            dsquasar -a -A 16 -e</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d123456 -A 1 -c 30    dsquasar -t d123456 -u</a:t>
            </a:r>
            <a:endParaRPr lang="en-US" sz="1150" dirty="0"/>
          </a:p>
        </p:txBody>
      </p:sp>
      <p:sp>
        <p:nvSpPr>
          <p:cNvPr id="10" name="Text 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24</a:t>
            </a:r>
            <a:endParaRPr lang="en-US" sz="950" dirty="0"/>
          </a:p>
        </p:txBody>
      </p:sp>
      <p:sp>
        <p:nvSpPr>
          <p:cNvPr id="11" name="Text 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ENVIRONMENT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Where Things Live</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dsquasar always runs from the Quasar backup work directory — it changes there itself, so it can be launched from anywhere.</a:t>
            </a:r>
            <a:endParaRPr lang="en-US" sz="1450" dirty="0"/>
          </a:p>
        </p:txBody>
      </p:sp>
      <p:sp>
        <p:nvSpPr>
          <p:cNvPr id="5" name="Shape 3"/>
          <p:cNvSpPr/>
          <p:nvPr/>
        </p:nvSpPr>
        <p:spPr>
          <a:xfrm>
            <a:off x="457200" y="1874520"/>
            <a:ext cx="11292840" cy="457200"/>
          </a:xfrm>
          <a:prstGeom prst="roundRect">
            <a:avLst>
              <a:gd name="adj" fmla="val 10000"/>
            </a:avLst>
          </a:prstGeom>
          <a:solidFill>
            <a:srgbClr val="011837"/>
          </a:solidFill>
          <a:ln/>
        </p:spPr>
      </p:sp>
      <p:sp>
        <p:nvSpPr>
          <p:cNvPr id="6" name="Text 4"/>
          <p:cNvSpPr/>
          <p:nvPr/>
        </p:nvSpPr>
        <p:spPr>
          <a:xfrm>
            <a:off x="585216" y="1874520"/>
            <a:ext cx="11036808" cy="45720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$GDEXWORK/$COMMONUSER/quasar_backup</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2514600"/>
          <a:ext cx="5532120" cy="914400"/>
        </p:xfrm>
        <a:graphic>
          <a:graphicData uri="http://schemas.openxmlformats.org/drawingml/2006/table">
            <a:tbl>
              <a:tblPr/>
              <a:tblGrid>
                <a:gridCol w="210312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Work directory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&lt;dsid&gt;_&lt;t&gt;_&lt;bid&gt;.txt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dsarch input list, one per type per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&lt;dsid&gt;_sn..._fn....tar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the built tar, deleted after transfer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dsquasar.log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run log — first place to look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dscheck record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batch state, retries and progress counts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309360" y="2514600"/>
          <a:ext cx="5440680" cy="914400"/>
        </p:xfrm>
        <a:graphic>
          <a:graphicData uri="http://schemas.openxmlformats.org/drawingml/2006/table">
            <a:tbl>
              <a:tblPr/>
              <a:tblGrid>
                <a:gridCol w="2148840"/>
                <a:gridCol w="32918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Globus &amp; paths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Role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gdex-glade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source end point (archive on disk)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copy on tape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/decsdata/...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9" name="Text 5"/>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Where the backup flags are set</a:t>
            </a:r>
            <a:endParaRPr lang="en-US" sz="1500" dirty="0"/>
          </a:p>
        </p:txBody>
      </p:sp>
      <p:sp>
        <p:nvSpPr>
          <p:cNvPr id="10" name="Shape 6"/>
          <p:cNvSpPr/>
          <p:nvPr/>
        </p:nvSpPr>
        <p:spPr>
          <a:xfrm>
            <a:off x="457200" y="5074920"/>
            <a:ext cx="11292840" cy="1051560"/>
          </a:xfrm>
          <a:prstGeom prst="roundRect">
            <a:avLst>
              <a:gd name="adj" fmla="val 6957"/>
            </a:avLst>
          </a:prstGeom>
          <a:solidFill>
            <a:srgbClr val="DCEBF7"/>
          </a:solidFill>
          <a:ln w="15240">
            <a:solidFill>
              <a:srgbClr val="0057C2"/>
            </a:solidFill>
            <a:prstDash val="solid"/>
          </a:ln>
        </p:spPr>
      </p:sp>
      <p:sp>
        <p:nvSpPr>
          <p:cNvPr id="11" name="Text 7"/>
          <p:cNvSpPr/>
          <p:nvPr/>
        </p:nvSpPr>
        <p:spPr>
          <a:xfrm>
            <a:off x="685800" y="5074920"/>
            <a:ext cx="10835640" cy="105156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Courier New" pitchFamily="34" charset="0"/>
                <a:ea typeface="Courier New" pitchFamily="34" charset="-122"/>
                <a:cs typeface="Courier New" pitchFamily="34" charset="-120"/>
              </a:rPr>
              <a:t>dsquasar</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ships with rda_python_dsquasar.   Backup flags are edited at </a:t>
            </a:r>
            <a:pPr indent="0" marL="0">
              <a:lnSpc>
                <a:spcPct val="110000"/>
              </a:lnSpc>
              <a:buNone/>
            </a:pPr>
            <a:r>
              <a:rPr lang="en-US" sz="130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(DSARCH → Dataset Information).</a:t>
            </a:r>
            <a:endParaRPr lang="en-US" sz="1300" dirty="0"/>
          </a:p>
        </p:txBody>
      </p:sp>
      <p:sp>
        <p:nvSpPr>
          <p:cNvPr id="12" name="Text 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25</a:t>
            </a:r>
            <a:endParaRPr lang="en-US" sz="950" dirty="0"/>
          </a:p>
        </p:txBody>
      </p:sp>
      <p:sp>
        <p:nvSpPr>
          <p:cNvPr id="13" name="Text 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TROUBLESHOOTING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When Something Looks Wrong</a:t>
            </a:r>
            <a:endParaRPr lang="en-US" sz="3200" dirty="0"/>
          </a:p>
        </p:txBody>
      </p:sp>
      <p:sp>
        <p:nvSpPr>
          <p:cNvPr id="4" name="Shape 2"/>
          <p:cNvSpPr/>
          <p:nvPr/>
        </p:nvSpPr>
        <p:spPr>
          <a:xfrm>
            <a:off x="457200" y="1444752"/>
            <a:ext cx="11292840" cy="658368"/>
          </a:xfrm>
          <a:prstGeom prst="roundRect">
            <a:avLst>
              <a:gd name="adj" fmla="val 9722"/>
            </a:avLst>
          </a:prstGeom>
          <a:solidFill>
            <a:srgbClr val="DCEBF7"/>
          </a:solidFill>
          <a:ln/>
        </p:spPr>
      </p:sp>
      <p:sp>
        <p:nvSpPr>
          <p:cNvPr id="5" name="Shape 3"/>
          <p:cNvSpPr/>
          <p:nvPr/>
        </p:nvSpPr>
        <p:spPr>
          <a:xfrm>
            <a:off x="457200" y="1444752"/>
            <a:ext cx="82296" cy="658368"/>
          </a:xfrm>
          <a:prstGeom prst="roundRect">
            <a:avLst>
              <a:gd name="adj" fmla="val 22222"/>
            </a:avLst>
          </a:prstGeom>
          <a:solidFill>
            <a:srgbClr val="0057C2"/>
          </a:solidFill>
          <a:ln/>
        </p:spPr>
      </p:sp>
      <p:sp>
        <p:nvSpPr>
          <p:cNvPr id="6" name="Text 4"/>
          <p:cNvSpPr/>
          <p:nvPr/>
        </p:nvSpPr>
        <p:spPr>
          <a:xfrm>
            <a:off x="713232" y="144475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Nothing is gathered</a:t>
            </a:r>
            <a:endParaRPr lang="en-US" sz="1250" dirty="0"/>
          </a:p>
        </p:txBody>
      </p:sp>
      <p:sp>
        <p:nvSpPr>
          <p:cNvPr id="7" name="Text 5"/>
          <p:cNvSpPr/>
          <p:nvPr/>
        </p:nvSpPr>
        <p:spPr>
          <a:xfrm>
            <a:off x="3794760" y="14447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dataset or group backflag is not set. Check with  dsquasar -t &lt;dsid&gt; -n  first.</a:t>
            </a:r>
            <a:endParaRPr lang="en-US" sz="1100" dirty="0"/>
          </a:p>
        </p:txBody>
      </p:sp>
      <p:sp>
        <p:nvSpPr>
          <p:cNvPr id="8" name="Shape 6"/>
          <p:cNvSpPr/>
          <p:nvPr/>
        </p:nvSpPr>
        <p:spPr>
          <a:xfrm>
            <a:off x="457200" y="2176272"/>
            <a:ext cx="11292840" cy="658368"/>
          </a:xfrm>
          <a:prstGeom prst="roundRect">
            <a:avLst>
              <a:gd name="adj" fmla="val 9722"/>
            </a:avLst>
          </a:prstGeom>
          <a:solidFill>
            <a:srgbClr val="DCEBF7"/>
          </a:solidFill>
          <a:ln/>
        </p:spPr>
      </p:sp>
      <p:sp>
        <p:nvSpPr>
          <p:cNvPr id="9" name="Shape 7"/>
          <p:cNvSpPr/>
          <p:nvPr/>
        </p:nvSpPr>
        <p:spPr>
          <a:xfrm>
            <a:off x="457200" y="2176272"/>
            <a:ext cx="82296" cy="658368"/>
          </a:xfrm>
          <a:prstGeom prst="roundRect">
            <a:avLst>
              <a:gd name="adj" fmla="val 22222"/>
            </a:avLst>
          </a:prstGeom>
          <a:solidFill>
            <a:srgbClr val="0092DB"/>
          </a:solidFill>
          <a:ln/>
        </p:spPr>
      </p:sp>
      <p:sp>
        <p:nvSpPr>
          <p:cNvPr id="10" name="Text 8"/>
          <p:cNvSpPr/>
          <p:nvPr/>
        </p:nvSpPr>
        <p:spPr>
          <a:xfrm>
            <a:off x="713232" y="217627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A repeat submit does nothing</a:t>
            </a:r>
            <a:endParaRPr lang="en-US" sz="1250" dirty="0"/>
          </a:p>
        </p:txBody>
      </p:sp>
      <p:sp>
        <p:nvSpPr>
          <p:cNvPr id="11" name="Text 9"/>
          <p:cNvSpPr/>
          <p:nvPr/>
        </p:nvSpPr>
        <p:spPr>
          <a:xfrm>
            <a:off x="3794760" y="217627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duplicate check working: an identical command is already queued or running.</a:t>
            </a:r>
            <a:endParaRPr lang="en-US" sz="1100" dirty="0"/>
          </a:p>
        </p:txBody>
      </p:sp>
      <p:sp>
        <p:nvSpPr>
          <p:cNvPr id="12" name="Shape 10"/>
          <p:cNvSpPr/>
          <p:nvPr/>
        </p:nvSpPr>
        <p:spPr>
          <a:xfrm>
            <a:off x="457200" y="2907792"/>
            <a:ext cx="11292840" cy="658368"/>
          </a:xfrm>
          <a:prstGeom prst="roundRect">
            <a:avLst>
              <a:gd name="adj" fmla="val 9722"/>
            </a:avLst>
          </a:prstGeom>
          <a:solidFill>
            <a:srgbClr val="DCEBF7"/>
          </a:solidFill>
          <a:ln/>
        </p:spPr>
      </p:sp>
      <p:sp>
        <p:nvSpPr>
          <p:cNvPr id="13" name="Shape 11"/>
          <p:cNvSpPr/>
          <p:nvPr/>
        </p:nvSpPr>
        <p:spPr>
          <a:xfrm>
            <a:off x="457200" y="2907792"/>
            <a:ext cx="82296" cy="658368"/>
          </a:xfrm>
          <a:prstGeom prst="roundRect">
            <a:avLst>
              <a:gd name="adj" fmla="val 22222"/>
            </a:avLst>
          </a:prstGeom>
          <a:solidFill>
            <a:srgbClr val="0097A7"/>
          </a:solidFill>
          <a:ln/>
        </p:spPr>
      </p:sp>
      <p:sp>
        <p:nvSpPr>
          <p:cNvPr id="14" name="Text 12"/>
          <p:cNvSpPr/>
          <p:nvPr/>
        </p:nvSpPr>
        <p:spPr>
          <a:xfrm>
            <a:off x="713232" y="2907792"/>
            <a:ext cx="3017520" cy="658368"/>
          </a:xfrm>
          <a:prstGeom prst="rect">
            <a:avLst/>
          </a:prstGeom>
          <a:noFill/>
          <a:ln/>
        </p:spPr>
        <p:txBody>
          <a:bodyPr wrap="square" lIns="0" tIns="0" rIns="0" bIns="0" rtlCol="0" anchor="ctr"/>
          <a:lstStyle/>
          <a:p>
            <a:pPr indent="0" marL="0">
              <a:buNone/>
            </a:pPr>
            <a:r>
              <a:rPr lang="en-US" sz="1250" b="1" dirty="0">
                <a:solidFill>
                  <a:srgbClr val="0097A7"/>
                </a:solidFill>
                <a:latin typeface="Poppins" pitchFamily="34" charset="0"/>
                <a:ea typeface="Poppins" pitchFamily="34" charset="-122"/>
                <a:cs typeface="Poppins" pitchFamily="34" charset="-120"/>
              </a:rPr>
              <a:t>Records stuck at 'N'</a:t>
            </a:r>
            <a:endParaRPr lang="en-US" sz="1250" dirty="0"/>
          </a:p>
        </p:txBody>
      </p:sp>
      <p:sp>
        <p:nvSpPr>
          <p:cNvPr id="15" name="Text 13"/>
          <p:cNvSpPr/>
          <p:nvPr/>
        </p:nvSpPr>
        <p:spPr>
          <a:xfrm>
            <a:off x="3794760" y="290779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Tarring never reached them — the 23-hour guard, or the dataset was locked. Resolves next run.</a:t>
            </a:r>
            <a:endParaRPr lang="en-US" sz="1100" dirty="0"/>
          </a:p>
        </p:txBody>
      </p:sp>
      <p:sp>
        <p:nvSpPr>
          <p:cNvPr id="16" name="Shape 14"/>
          <p:cNvSpPr/>
          <p:nvPr/>
        </p:nvSpPr>
        <p:spPr>
          <a:xfrm>
            <a:off x="457200" y="3639312"/>
            <a:ext cx="11292840" cy="658368"/>
          </a:xfrm>
          <a:prstGeom prst="roundRect">
            <a:avLst>
              <a:gd name="adj" fmla="val 9722"/>
            </a:avLst>
          </a:prstGeom>
          <a:solidFill>
            <a:srgbClr val="DCEBF7"/>
          </a:solidFill>
          <a:ln/>
        </p:spPr>
      </p:sp>
      <p:sp>
        <p:nvSpPr>
          <p:cNvPr id="17" name="Shape 15"/>
          <p:cNvSpPr/>
          <p:nvPr/>
        </p:nvSpPr>
        <p:spPr>
          <a:xfrm>
            <a:off x="457200" y="3639312"/>
            <a:ext cx="82296" cy="658368"/>
          </a:xfrm>
          <a:prstGeom prst="roundRect">
            <a:avLst>
              <a:gd name="adj" fmla="val 22222"/>
            </a:avLst>
          </a:prstGeom>
          <a:solidFill>
            <a:srgbClr val="C25E00"/>
          </a:solidFill>
          <a:ln/>
        </p:spPr>
      </p:sp>
      <p:sp>
        <p:nvSpPr>
          <p:cNvPr id="18" name="Text 16"/>
          <p:cNvSpPr/>
          <p:nvPr/>
        </p:nvSpPr>
        <p:spPr>
          <a:xfrm>
            <a:off x="713232" y="3639312"/>
            <a:ext cx="3017520" cy="658368"/>
          </a:xfrm>
          <a:prstGeom prst="rect">
            <a:avLst/>
          </a:prstGeom>
          <a:noFill/>
          <a:ln/>
        </p:spPr>
        <p:txBody>
          <a:bodyPr wrap="square" lIns="0" tIns="0" rIns="0" bIns="0" rtlCol="0" anchor="ctr"/>
          <a:lstStyle/>
          <a:p>
            <a:pPr indent="0" marL="0">
              <a:buNone/>
            </a:pPr>
            <a:r>
              <a:rPr lang="en-US" sz="1250" b="1" dirty="0">
                <a:solidFill>
                  <a:srgbClr val="C25E00"/>
                </a:solidFill>
                <a:latin typeface="Poppins" pitchFamily="34" charset="0"/>
                <a:ea typeface="Poppins" pitchFamily="34" charset="-122"/>
                <a:cs typeface="Poppins" pitchFamily="34" charset="-120"/>
              </a:rPr>
              <a:t>Records stuck at 'T'</a:t>
            </a:r>
            <a:endParaRPr lang="en-US" sz="1250" dirty="0"/>
          </a:p>
        </p:txBody>
      </p:sp>
      <p:sp>
        <p:nvSpPr>
          <p:cNvPr id="19" name="Text 17"/>
          <p:cNvSpPr/>
          <p:nvPr/>
        </p:nvSpPr>
        <p:spPr>
          <a:xfrm>
            <a:off x="3794760" y="363931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Built but not transferred. Run  -A 4 . If the local tar is gone the record resets to 'N'.</a:t>
            </a:r>
            <a:endParaRPr lang="en-US" sz="1100" dirty="0"/>
          </a:p>
        </p:txBody>
      </p:sp>
      <p:sp>
        <p:nvSpPr>
          <p:cNvPr id="20" name="Shape 18"/>
          <p:cNvSpPr/>
          <p:nvPr/>
        </p:nvSpPr>
        <p:spPr>
          <a:xfrm>
            <a:off x="457200" y="4370832"/>
            <a:ext cx="11292840" cy="658368"/>
          </a:xfrm>
          <a:prstGeom prst="roundRect">
            <a:avLst>
              <a:gd name="adj" fmla="val 9722"/>
            </a:avLst>
          </a:prstGeom>
          <a:solidFill>
            <a:srgbClr val="DCEBF7"/>
          </a:solidFill>
          <a:ln/>
        </p:spPr>
      </p:sp>
      <p:sp>
        <p:nvSpPr>
          <p:cNvPr id="21" name="Shape 19"/>
          <p:cNvSpPr/>
          <p:nvPr/>
        </p:nvSpPr>
        <p:spPr>
          <a:xfrm>
            <a:off x="457200" y="4370832"/>
            <a:ext cx="82296" cy="658368"/>
          </a:xfrm>
          <a:prstGeom prst="roundRect">
            <a:avLst>
              <a:gd name="adj" fmla="val 22222"/>
            </a:avLst>
          </a:prstGeom>
          <a:solidFill>
            <a:srgbClr val="0057C2"/>
          </a:solidFill>
          <a:ln/>
        </p:spPr>
      </p:sp>
      <p:sp>
        <p:nvSpPr>
          <p:cNvPr id="22" name="Text 20"/>
          <p:cNvSpPr/>
          <p:nvPr/>
        </p:nvSpPr>
        <p:spPr>
          <a:xfrm>
            <a:off x="713232" y="437083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Sizes disagree with tape</a:t>
            </a:r>
            <a:endParaRPr lang="en-US" sz="1250" dirty="0"/>
          </a:p>
        </p:txBody>
      </p:sp>
      <p:sp>
        <p:nvSpPr>
          <p:cNvPr id="23" name="Text 21"/>
          <p:cNvSpPr/>
          <p:nvPr/>
        </p:nvSpPr>
        <p:spPr>
          <a:xfrm>
            <a:off x="3794760" y="437083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Run  -A 8  — mismatched records reset to 'N' and are redone from the archive.</a:t>
            </a:r>
            <a:endParaRPr lang="en-US" sz="1100" dirty="0"/>
          </a:p>
        </p:txBody>
      </p:sp>
      <p:sp>
        <p:nvSpPr>
          <p:cNvPr id="24" name="Shape 22"/>
          <p:cNvSpPr/>
          <p:nvPr/>
        </p:nvSpPr>
        <p:spPr>
          <a:xfrm>
            <a:off x="457200" y="5102352"/>
            <a:ext cx="11292840" cy="658368"/>
          </a:xfrm>
          <a:prstGeom prst="roundRect">
            <a:avLst>
              <a:gd name="adj" fmla="val 9722"/>
            </a:avLst>
          </a:prstGeom>
          <a:solidFill>
            <a:srgbClr val="DCEBF7"/>
          </a:solidFill>
          <a:ln/>
        </p:spPr>
      </p:sp>
      <p:sp>
        <p:nvSpPr>
          <p:cNvPr id="25" name="Shape 23"/>
          <p:cNvSpPr/>
          <p:nvPr/>
        </p:nvSpPr>
        <p:spPr>
          <a:xfrm>
            <a:off x="457200" y="5102352"/>
            <a:ext cx="82296" cy="658368"/>
          </a:xfrm>
          <a:prstGeom prst="roundRect">
            <a:avLst>
              <a:gd name="adj" fmla="val 22222"/>
            </a:avLst>
          </a:prstGeom>
          <a:solidFill>
            <a:srgbClr val="0092DB"/>
          </a:solidFill>
          <a:ln/>
        </p:spPr>
      </p:sp>
      <p:sp>
        <p:nvSpPr>
          <p:cNvPr id="26" name="Text 24"/>
          <p:cNvSpPr/>
          <p:nvPr/>
        </p:nvSpPr>
        <p:spPr>
          <a:xfrm>
            <a:off x="713232" y="510235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Locks left on a dataset</a:t>
            </a:r>
            <a:endParaRPr lang="en-US" sz="1250" dirty="0"/>
          </a:p>
        </p:txBody>
      </p:sp>
      <p:sp>
        <p:nvSpPr>
          <p:cNvPr id="27" name="Text 25"/>
          <p:cNvSpPr/>
          <p:nvPr/>
        </p:nvSpPr>
        <p:spPr>
          <a:xfrm>
            <a:off x="3794760" y="51023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Dead-process locks are taken over automatically. To clear now:  dsquasar -t &lt;dsid&gt; -u</a:t>
            </a:r>
            <a:endParaRPr lang="en-US" sz="1100" dirty="0"/>
          </a:p>
        </p:txBody>
      </p:sp>
      <p:sp>
        <p:nvSpPr>
          <p:cNvPr id="28" name="Shape 26"/>
          <p:cNvSpPr/>
          <p:nvPr/>
        </p:nvSpPr>
        <p:spPr>
          <a:xfrm>
            <a:off x="457200" y="5852160"/>
            <a:ext cx="9966960" cy="502920"/>
          </a:xfrm>
          <a:prstGeom prst="roundRect">
            <a:avLst>
              <a:gd name="adj" fmla="val 14545"/>
            </a:avLst>
          </a:prstGeom>
          <a:solidFill>
            <a:srgbClr val="011837"/>
          </a:solidFill>
          <a:ln/>
        </p:spPr>
      </p:sp>
      <p:sp>
        <p:nvSpPr>
          <p:cNvPr id="29" name="Text 27"/>
          <p:cNvSpPr/>
          <p:nvPr/>
        </p:nvSpPr>
        <p:spPr>
          <a:xfrm>
            <a:off x="658368" y="5852160"/>
            <a:ext cx="9564624" cy="502920"/>
          </a:xfrm>
          <a:prstGeom prst="rect">
            <a:avLst/>
          </a:prstGeom>
          <a:noFill/>
          <a:ln/>
        </p:spPr>
        <p:txBody>
          <a:bodyPr wrap="square" lIns="0" tIns="0" rIns="0" bIns="0" rtlCol="0" anchor="ctr"/>
          <a:lstStyle/>
          <a:p>
            <a:pPr indent="0" marL="0">
              <a:buNone/>
            </a:pPr>
            <a:r>
              <a:rPr lang="en-US" sz="1100" b="1" dirty="0">
                <a:solidFill>
                  <a:srgbClr val="42C0FF"/>
                </a:solidFill>
                <a:latin typeface="Poppins" pitchFamily="34" charset="0"/>
                <a:ea typeface="Poppins" pitchFamily="34" charset="-122"/>
                <a:cs typeface="Poppins" pitchFamily="34" charset="-120"/>
              </a:rPr>
              <a:t>Statuses only ever move forward on success.  </a:t>
            </a:r>
            <a:pPr indent="0" marL="0">
              <a:buNone/>
            </a:pPr>
            <a:r>
              <a:rPr lang="en-US" sz="1100" dirty="0">
                <a:solidFill>
                  <a:srgbClr val="C3D7EE"/>
                </a:solidFill>
                <a:latin typeface="Poppins" pitchFamily="34" charset="0"/>
                <a:ea typeface="Poppins" pitchFamily="34" charset="-122"/>
                <a:cs typeface="Poppins" pitchFamily="34" charset="-120"/>
              </a:rPr>
              <a:t>Every backwards step — T→N, A→N — is deliberate, and just means the work is queued to be done again.</a:t>
            </a:r>
            <a:endParaRPr lang="en-US" sz="1100" dirty="0"/>
          </a:p>
        </p:txBody>
      </p:sp>
      <p:sp>
        <p:nvSpPr>
          <p:cNvPr id="30" name="Text 2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26</a:t>
            </a:r>
            <a:endParaRPr lang="en-US" sz="950" dirty="0"/>
          </a:p>
        </p:txBody>
      </p:sp>
      <p:sp>
        <p:nvSpPr>
          <p:cNvPr id="31" name="Text 2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Getting Data Back Off Tape</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is only half the point. Because every tar is recorded in GDEXDB with the datasets and files it contains, recovery is a lookup rather than a search of the tape.</a:t>
            </a:r>
            <a:endParaRPr lang="en-US" sz="1450" dirty="0"/>
          </a:p>
        </p:txBody>
      </p:sp>
      <p:sp>
        <p:nvSpPr>
          <p:cNvPr id="5" name="Shape 3"/>
          <p:cNvSpPr/>
          <p:nvPr/>
        </p:nvSpPr>
        <p:spPr>
          <a:xfrm>
            <a:off x="457200" y="2057400"/>
            <a:ext cx="5532120" cy="2377440"/>
          </a:xfrm>
          <a:prstGeom prst="roundRect">
            <a:avLst>
              <a:gd name="adj" fmla="val 3846"/>
            </a:avLst>
          </a:prstGeom>
          <a:solidFill>
            <a:srgbClr val="FFFFFF"/>
          </a:solidFill>
          <a:ln w="19050">
            <a:solidFill>
              <a:srgbClr val="0057C2"/>
            </a:solidFill>
            <a:prstDash val="solid"/>
          </a:ln>
        </p:spPr>
      </p:sp>
      <p:sp>
        <p:nvSpPr>
          <p:cNvPr id="6" name="Text 4"/>
          <p:cNvSpPr/>
          <p:nvPr/>
        </p:nvSpPr>
        <p:spPr>
          <a:xfrm>
            <a:off x="685800" y="2212848"/>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Restore through dsarch</a:t>
            </a:r>
            <a:endParaRPr lang="en-US" sz="1500" dirty="0"/>
          </a:p>
        </p:txBody>
      </p:sp>
      <p:sp>
        <p:nvSpPr>
          <p:cNvPr id="7" name="Text 5"/>
          <p:cNvSpPr/>
          <p:nvPr/>
        </p:nvSpPr>
        <p:spPr>
          <a:xfrm>
            <a:off x="685800" y="2542032"/>
            <a:ext cx="5120640" cy="54864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dsquasar writes the backup; dsarch reads it back. The -RQ action pulls a tar from Quasar and unpacks the requested files.</a:t>
            </a:r>
            <a:endParaRPr lang="en-US" sz="1150" dirty="0"/>
          </a:p>
        </p:txBody>
      </p:sp>
      <p:sp>
        <p:nvSpPr>
          <p:cNvPr id="8" name="Shape 6"/>
          <p:cNvSpPr/>
          <p:nvPr/>
        </p:nvSpPr>
        <p:spPr>
          <a:xfrm>
            <a:off x="685800" y="3154680"/>
            <a:ext cx="5120640" cy="502920"/>
          </a:xfrm>
          <a:prstGeom prst="roundRect">
            <a:avLst>
              <a:gd name="adj" fmla="val 9091"/>
            </a:avLst>
          </a:prstGeom>
          <a:solidFill>
            <a:srgbClr val="011837"/>
          </a:solidFill>
          <a:ln/>
        </p:spPr>
      </p:sp>
      <p:sp>
        <p:nvSpPr>
          <p:cNvPr id="9" name="Text 7"/>
          <p:cNvSpPr/>
          <p:nvPr/>
        </p:nvSpPr>
        <p:spPr>
          <a:xfrm>
            <a:off x="813816" y="3154680"/>
            <a:ext cx="4864608" cy="50292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dsarch &lt;dsid&gt; -RQ ...</a:t>
            </a:r>
            <a:endParaRPr lang="en-US" sz="1300" dirty="0"/>
          </a:p>
        </p:txBody>
      </p:sp>
      <p:sp>
        <p:nvSpPr>
          <p:cNvPr id="10" name="Text 8"/>
          <p:cNvSpPr/>
          <p:nvPr/>
        </p:nvSpPr>
        <p:spPr>
          <a:xfrm>
            <a:off x="685800" y="3749040"/>
            <a:ext cx="5120640" cy="548640"/>
          </a:xfrm>
          <a:prstGeom prst="rect">
            <a:avLst/>
          </a:prstGeom>
          <a:noFill/>
          <a:ln/>
        </p:spPr>
        <p:txBody>
          <a:bodyPr wrap="square" lIns="0" tIns="0" rIns="0" bIns="0" rtlCol="0" anchor="t"/>
          <a:lstStyle/>
          <a:p>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The bfile record supplies the tar name, the end point and the path, so the operator does not have to know where on tape the file sits.</a:t>
            </a:r>
            <a:endParaRPr lang="en-US" sz="1100" dirty="0"/>
          </a:p>
        </p:txBody>
      </p:sp>
      <p:sp>
        <p:nvSpPr>
          <p:cNvPr id="11" name="Shape 9"/>
          <p:cNvSpPr/>
          <p:nvPr/>
        </p:nvSpPr>
        <p:spPr>
          <a:xfrm>
            <a:off x="6309360" y="2057400"/>
            <a:ext cx="5440680" cy="2377440"/>
          </a:xfrm>
          <a:prstGeom prst="roundRect">
            <a:avLst>
              <a:gd name="adj" fmla="val 3846"/>
            </a:avLst>
          </a:prstGeom>
          <a:solidFill>
            <a:srgbClr val="FFFFFF"/>
          </a:solidFill>
          <a:ln w="19050">
            <a:solidFill>
              <a:srgbClr val="0097A7"/>
            </a:solidFill>
            <a:prstDash val="solid"/>
          </a:ln>
        </p:spPr>
      </p:sp>
      <p:sp>
        <p:nvSpPr>
          <p:cNvPr id="12" name="Text 10"/>
          <p:cNvSpPr/>
          <p:nvPr/>
        </p:nvSpPr>
        <p:spPr>
          <a:xfrm>
            <a:off x="6537960" y="2212848"/>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Two independent copies</a:t>
            </a:r>
            <a:endParaRPr lang="en-US" sz="1500" dirty="0"/>
          </a:p>
        </p:txBody>
      </p:sp>
      <p:sp>
        <p:nvSpPr>
          <p:cNvPr id="13" name="Text 11"/>
          <p:cNvSpPr/>
          <p:nvPr/>
        </p:nvSpPr>
        <p:spPr>
          <a:xfrm>
            <a:off x="6537960" y="2542032"/>
            <a:ext cx="5029200" cy="50292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dataset flagged D is written to both end points, Drdata first, so an interrupted run still leaves the DR copy complete.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537960" y="3127248"/>
          <a:ext cx="5029200" cy="914400"/>
        </p:xfrm>
        <a:graphic>
          <a:graphicData uri="http://schemas.openxmlformats.org/drawingml/2006/table">
            <a:tbl>
              <a:tblPr/>
              <a:tblGrid>
                <a:gridCol w="1828800"/>
                <a:gridCol w="32004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End point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primary Backup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5" name="Text 12"/>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No separate recovery tool</a:t>
            </a:r>
            <a:endParaRPr lang="en-US" sz="1500" dirty="0"/>
          </a:p>
        </p:txBody>
      </p:sp>
      <p:sp>
        <p:nvSpPr>
          <p:cNvPr id="16" name="Text 13"/>
          <p:cNvSpPr/>
          <p:nvPr/>
        </p:nvSpPr>
        <p:spPr>
          <a:xfrm>
            <a:off x="457200" y="5047488"/>
            <a:ext cx="11292840" cy="54864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Nothing extra to install: the same dsarch that stages files for the backup also reads them back. Point -RQ at a dataset and file, and it fetches the right tar from the right end point and unpacks only what you asked for.</a:t>
            </a:r>
            <a:endParaRPr lang="en-US" sz="1200" dirty="0"/>
          </a:p>
        </p:txBody>
      </p:sp>
      <p:sp>
        <p:nvSpPr>
          <p:cNvPr id="17" name="Shape 14"/>
          <p:cNvSpPr/>
          <p:nvPr/>
        </p:nvSpPr>
        <p:spPr>
          <a:xfrm>
            <a:off x="457200" y="5669280"/>
            <a:ext cx="11292840" cy="548640"/>
          </a:xfrm>
          <a:prstGeom prst="roundRect">
            <a:avLst>
              <a:gd name="adj" fmla="val 13333"/>
            </a:avLst>
          </a:prstGeom>
          <a:solidFill>
            <a:srgbClr val="C7E4F5"/>
          </a:solidFill>
          <a:ln w="12700">
            <a:solidFill>
              <a:srgbClr val="A9D6F2"/>
            </a:solidFill>
            <a:prstDash val="solid"/>
          </a:ln>
        </p:spPr>
      </p:sp>
      <p:sp>
        <p:nvSpPr>
          <p:cNvPr id="18" name="Text 15"/>
          <p:cNvSpPr/>
          <p:nvPr/>
        </p:nvSpPr>
        <p:spPr>
          <a:xfrm>
            <a:off x="658368" y="566928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Verify before you need it.  </a:t>
            </a:r>
            <a:pPr indent="0" marL="0">
              <a:buNone/>
            </a:pPr>
            <a:r>
              <a:rPr lang="en-US" sz="1150" dirty="0">
                <a:solidFill>
                  <a:srgbClr val="00357A"/>
                </a:solidFill>
                <a:latin typeface="Poppins" pitchFamily="34" charset="0"/>
                <a:ea typeface="Poppins" pitchFamily="34" charset="-122"/>
                <a:cs typeface="Poppins" pitchFamily="34" charset="-120"/>
              </a:rPr>
              <a:t>A scheduled  -A 8  run is what turns “we have backups” into “we have backups that match the archive”.</a:t>
            </a:r>
            <a:endParaRPr lang="en-US" sz="1150" dirty="0"/>
          </a:p>
        </p:txBody>
      </p:sp>
      <p:sp>
        <p:nvSpPr>
          <p:cNvPr id="19"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27</a:t>
            </a:r>
            <a:endParaRPr lang="en-US" sz="950" dirty="0"/>
          </a:p>
        </p:txBody>
      </p:sp>
      <p:sp>
        <p:nvSpPr>
          <p:cNvPr id="20"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dsarch -RQ  —  How a File Comes Back</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Name the files you want back and dsarch does the rest. The outline below is enough to run a restore; the dsarch guide covers the options in full.</a:t>
            </a:r>
            <a:endParaRPr lang="en-US" sz="1450" dirty="0"/>
          </a:p>
        </p:txBody>
      </p:sp>
      <p:sp>
        <p:nvSpPr>
          <p:cNvPr id="5" name="Shape 3"/>
          <p:cNvSpPr/>
          <p:nvPr/>
        </p:nvSpPr>
        <p:spPr>
          <a:xfrm>
            <a:off x="457200" y="2029968"/>
            <a:ext cx="11292840" cy="566928"/>
          </a:xfrm>
          <a:prstGeom prst="roundRect">
            <a:avLst>
              <a:gd name="adj" fmla="val 8065"/>
            </a:avLst>
          </a:prstGeom>
          <a:solidFill>
            <a:srgbClr val="011837"/>
          </a:solidFill>
          <a:ln/>
        </p:spPr>
      </p:sp>
      <p:sp>
        <p:nvSpPr>
          <p:cNvPr id="6" name="Text 4"/>
          <p:cNvSpPr/>
          <p:nvPr/>
        </p:nvSpPr>
        <p:spPr>
          <a:xfrm>
            <a:off x="585216" y="2029968"/>
            <a:ext cx="11036808" cy="566928"/>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-WF &lt;web files&gt;   [-WT &lt;types&gt;]</a:t>
            </a:r>
            <a:endParaRPr lang="en-US" sz="1250" dirty="0"/>
          </a:p>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-SF &lt;saved files&gt;  -ST &lt;types&gt;     # or -QF &lt;tar&gt; for a whole tar</a:t>
            </a:r>
            <a:endParaRPr lang="en-US" sz="1250" dirty="0"/>
          </a:p>
        </p:txBody>
      </p:sp>
      <p:sp>
        <p:nvSpPr>
          <p:cNvPr id="7" name="Shape 5"/>
          <p:cNvSpPr/>
          <p:nvPr/>
        </p:nvSpPr>
        <p:spPr>
          <a:xfrm>
            <a:off x="457200" y="2761488"/>
            <a:ext cx="11292840" cy="548640"/>
          </a:xfrm>
          <a:prstGeom prst="roundRect">
            <a:avLst>
              <a:gd name="adj" fmla="val 11667"/>
            </a:avLst>
          </a:prstGeom>
          <a:solidFill>
            <a:srgbClr val="DCEBF7"/>
          </a:solidFill>
          <a:ln/>
        </p:spPr>
      </p:sp>
      <p:sp>
        <p:nvSpPr>
          <p:cNvPr id="8" name="Shape 6"/>
          <p:cNvSpPr/>
          <p:nvPr/>
        </p:nvSpPr>
        <p:spPr>
          <a:xfrm>
            <a:off x="621792" y="2834640"/>
            <a:ext cx="402336" cy="402336"/>
          </a:xfrm>
          <a:prstGeom prst="ellipse">
            <a:avLst/>
          </a:prstGeom>
          <a:solidFill>
            <a:srgbClr val="0057C2"/>
          </a:solidFill>
          <a:ln/>
        </p:spPr>
      </p:sp>
      <p:sp>
        <p:nvSpPr>
          <p:cNvPr id="9" name="Text 7"/>
          <p:cNvSpPr/>
          <p:nvPr/>
        </p:nvSpPr>
        <p:spPr>
          <a:xfrm>
            <a:off x="621792" y="28346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61488"/>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Name the files</a:t>
            </a:r>
            <a:endParaRPr lang="en-US" sz="1250" dirty="0"/>
          </a:p>
        </p:txBody>
      </p:sp>
      <p:sp>
        <p:nvSpPr>
          <p:cNvPr id="11" name="Text 9"/>
          <p:cNvSpPr/>
          <p:nvPr/>
        </p:nvSpPr>
        <p:spPr>
          <a:xfrm>
            <a:off x="3063240" y="2761488"/>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-WF for web files, -SF plus -ST for saved files. -QF names a Quasar tar directly, and pulls it down without restoring anything.</a:t>
            </a:r>
            <a:endParaRPr lang="en-US" sz="1050" dirty="0"/>
          </a:p>
        </p:txBody>
      </p:sp>
      <p:sp>
        <p:nvSpPr>
          <p:cNvPr id="12" name="Shape 10"/>
          <p:cNvSpPr/>
          <p:nvPr/>
        </p:nvSpPr>
        <p:spPr>
          <a:xfrm>
            <a:off x="457200" y="3383280"/>
            <a:ext cx="11292840" cy="548640"/>
          </a:xfrm>
          <a:prstGeom prst="roundRect">
            <a:avLst>
              <a:gd name="adj" fmla="val 11667"/>
            </a:avLst>
          </a:prstGeom>
          <a:solidFill>
            <a:srgbClr val="DCEBF7"/>
          </a:solidFill>
          <a:ln/>
        </p:spPr>
      </p:sp>
      <p:sp>
        <p:nvSpPr>
          <p:cNvPr id="13" name="Shape 11"/>
          <p:cNvSpPr/>
          <p:nvPr/>
        </p:nvSpPr>
        <p:spPr>
          <a:xfrm>
            <a:off x="621792" y="3456432"/>
            <a:ext cx="402336" cy="402336"/>
          </a:xfrm>
          <a:prstGeom prst="ellipse">
            <a:avLst/>
          </a:prstGeom>
          <a:solidFill>
            <a:srgbClr val="0092DB"/>
          </a:solidFill>
          <a:ln/>
        </p:spPr>
      </p:sp>
      <p:sp>
        <p:nvSpPr>
          <p:cNvPr id="14" name="Text 12"/>
          <p:cNvSpPr/>
          <p:nvPr/>
        </p:nvSpPr>
        <p:spPr>
          <a:xfrm>
            <a:off x="621792" y="34564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83280"/>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Find the tar</a:t>
            </a:r>
            <a:endParaRPr lang="en-US" sz="1250" dirty="0"/>
          </a:p>
        </p:txBody>
      </p:sp>
      <p:sp>
        <p:nvSpPr>
          <p:cNvPr id="16" name="Text 14"/>
          <p:cNvSpPr/>
          <p:nvPr/>
        </p:nvSpPr>
        <p:spPr>
          <a:xfrm>
            <a:off x="3063240" y="3383280"/>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Each wfile and sfile record carries the bid of the backup it went into, so one lookup gives the tar name, its end point and its path.</a:t>
            </a:r>
            <a:endParaRPr lang="en-US" sz="1050" dirty="0"/>
          </a:p>
        </p:txBody>
      </p:sp>
      <p:sp>
        <p:nvSpPr>
          <p:cNvPr id="17" name="Shape 15"/>
          <p:cNvSpPr/>
          <p:nvPr/>
        </p:nvSpPr>
        <p:spPr>
          <a:xfrm>
            <a:off x="457200" y="4005072"/>
            <a:ext cx="11292840" cy="548640"/>
          </a:xfrm>
          <a:prstGeom prst="roundRect">
            <a:avLst>
              <a:gd name="adj" fmla="val 11667"/>
            </a:avLst>
          </a:prstGeom>
          <a:solidFill>
            <a:srgbClr val="DCEBF7"/>
          </a:solidFill>
          <a:ln/>
        </p:spPr>
      </p:sp>
      <p:sp>
        <p:nvSpPr>
          <p:cNvPr id="18" name="Shape 16"/>
          <p:cNvSpPr/>
          <p:nvPr/>
        </p:nvSpPr>
        <p:spPr>
          <a:xfrm>
            <a:off x="621792" y="4078224"/>
            <a:ext cx="402336" cy="402336"/>
          </a:xfrm>
          <a:prstGeom prst="ellipse">
            <a:avLst/>
          </a:prstGeom>
          <a:solidFill>
            <a:srgbClr val="0097A7"/>
          </a:solidFill>
          <a:ln/>
        </p:spPr>
      </p:sp>
      <p:sp>
        <p:nvSpPr>
          <p:cNvPr id="19" name="Text 17"/>
          <p:cNvSpPr/>
          <p:nvPr/>
        </p:nvSpPr>
        <p:spPr>
          <a:xfrm>
            <a:off x="621792" y="40782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4005072"/>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Fetch it once</a:t>
            </a:r>
            <a:endParaRPr lang="en-US" sz="1250" dirty="0"/>
          </a:p>
        </p:txBody>
      </p:sp>
      <p:sp>
        <p:nvSpPr>
          <p:cNvPr id="21" name="Text 19"/>
          <p:cNvSpPr/>
          <p:nvPr/>
        </p:nvSpPr>
        <p:spPr>
          <a:xfrm>
            <a:off x="3063240" y="4005072"/>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tar is transferred from gdex-quasar into the dataset work area. A tar already sitting there is reused, so several files out of one tar cost one transfer.</a:t>
            </a:r>
            <a:endParaRPr lang="en-US" sz="1050" dirty="0"/>
          </a:p>
        </p:txBody>
      </p:sp>
      <p:sp>
        <p:nvSpPr>
          <p:cNvPr id="22" name="Shape 20"/>
          <p:cNvSpPr/>
          <p:nvPr/>
        </p:nvSpPr>
        <p:spPr>
          <a:xfrm>
            <a:off x="457200" y="4626864"/>
            <a:ext cx="11292840" cy="548640"/>
          </a:xfrm>
          <a:prstGeom prst="roundRect">
            <a:avLst>
              <a:gd name="adj" fmla="val 11667"/>
            </a:avLst>
          </a:prstGeom>
          <a:solidFill>
            <a:srgbClr val="DCEBF7"/>
          </a:solidFill>
          <a:ln/>
        </p:spPr>
      </p:sp>
      <p:sp>
        <p:nvSpPr>
          <p:cNvPr id="23" name="Shape 21"/>
          <p:cNvSpPr/>
          <p:nvPr/>
        </p:nvSpPr>
        <p:spPr>
          <a:xfrm>
            <a:off x="621792" y="4700016"/>
            <a:ext cx="402336" cy="402336"/>
          </a:xfrm>
          <a:prstGeom prst="ellipse">
            <a:avLst/>
          </a:prstGeom>
          <a:solidFill>
            <a:srgbClr val="C25E00"/>
          </a:solidFill>
          <a:ln/>
        </p:spPr>
      </p:sp>
      <p:sp>
        <p:nvSpPr>
          <p:cNvPr id="24" name="Text 22"/>
          <p:cNvSpPr/>
          <p:nvPr/>
        </p:nvSpPr>
        <p:spPr>
          <a:xfrm>
            <a:off x="621792" y="47000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26864"/>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Unpack what was asked</a:t>
            </a:r>
            <a:endParaRPr lang="en-US" sz="1250" dirty="0"/>
          </a:p>
        </p:txBody>
      </p:sp>
      <p:sp>
        <p:nvSpPr>
          <p:cNvPr id="26" name="Text 24"/>
          <p:cNvSpPr/>
          <p:nvPr/>
        </p:nvSpPr>
        <p:spPr>
          <a:xfrm>
            <a:off x="3063240" y="4626864"/>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member list in the bfile note locates each file inside the tar — including any later rename — and only those members are extracted.</a:t>
            </a:r>
            <a:endParaRPr lang="en-US" sz="1050" dirty="0"/>
          </a:p>
        </p:txBody>
      </p:sp>
      <p:sp>
        <p:nvSpPr>
          <p:cNvPr id="27" name="Shape 25"/>
          <p:cNvSpPr/>
          <p:nvPr/>
        </p:nvSpPr>
        <p:spPr>
          <a:xfrm>
            <a:off x="457200" y="5248656"/>
            <a:ext cx="11292840" cy="548640"/>
          </a:xfrm>
          <a:prstGeom prst="roundRect">
            <a:avLst>
              <a:gd name="adj" fmla="val 11667"/>
            </a:avLst>
          </a:prstGeom>
          <a:solidFill>
            <a:srgbClr val="DCEBF7"/>
          </a:solidFill>
          <a:ln/>
        </p:spPr>
      </p:sp>
      <p:sp>
        <p:nvSpPr>
          <p:cNvPr id="28" name="Shape 26"/>
          <p:cNvSpPr/>
          <p:nvPr/>
        </p:nvSpPr>
        <p:spPr>
          <a:xfrm>
            <a:off x="621792" y="5321808"/>
            <a:ext cx="402336" cy="402336"/>
          </a:xfrm>
          <a:prstGeom prst="ellipse">
            <a:avLst/>
          </a:prstGeom>
          <a:solidFill>
            <a:srgbClr val="0057C2"/>
          </a:solidFill>
          <a:ln/>
        </p:spPr>
      </p:sp>
      <p:sp>
        <p:nvSpPr>
          <p:cNvPr id="29" name="Text 27"/>
          <p:cNvSpPr/>
          <p:nvPr/>
        </p:nvSpPr>
        <p:spPr>
          <a:xfrm>
            <a:off x="621792" y="53218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48656"/>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Put it back</a:t>
            </a:r>
            <a:endParaRPr lang="en-US" sz="1250" dirty="0"/>
          </a:p>
        </p:txBody>
      </p:sp>
      <p:sp>
        <p:nvSpPr>
          <p:cNvPr id="31" name="Text 29"/>
          <p:cNvSpPr/>
          <p:nvPr/>
        </p:nvSpPr>
        <p:spPr>
          <a:xfrm>
            <a:off x="3063240" y="5248656"/>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Web files return to the dataset data tree or the object store, saved files to decsdata. Files still present on GDEX are left untouched.</a:t>
            </a:r>
            <a:endParaRPr lang="en-US" sz="1050" dirty="0"/>
          </a:p>
        </p:txBody>
      </p:sp>
      <p:sp>
        <p:nvSpPr>
          <p:cNvPr id="32" name="Shape 30"/>
          <p:cNvSpPr/>
          <p:nvPr/>
        </p:nvSpPr>
        <p:spPr>
          <a:xfrm>
            <a:off x="457200" y="5907024"/>
            <a:ext cx="11292840" cy="502920"/>
          </a:xfrm>
          <a:prstGeom prst="roundRect">
            <a:avLst>
              <a:gd name="adj" fmla="val 14545"/>
            </a:avLst>
          </a:prstGeom>
          <a:solidFill>
            <a:srgbClr val="011837"/>
          </a:solidFill>
          <a:ln/>
        </p:spPr>
      </p:sp>
      <p:sp>
        <p:nvSpPr>
          <p:cNvPr id="33" name="Text 31"/>
          <p:cNvSpPr/>
          <p:nvPr/>
        </p:nvSpPr>
        <p:spPr>
          <a:xfrm>
            <a:off x="658368" y="590702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Restores are safe to repeat.  </a:t>
            </a:r>
            <a:pPr indent="0" marL="0">
              <a:buNone/>
            </a:pPr>
            <a:r>
              <a:rPr lang="en-US" sz="1150" dirty="0">
                <a:solidFill>
                  <a:srgbClr val="C3D7EE"/>
                </a:solidFill>
                <a:latin typeface="Poppins" pitchFamily="34" charset="0"/>
                <a:ea typeface="Poppins" pitchFamily="34" charset="-122"/>
                <a:cs typeface="Poppins" pitchFamily="34" charset="-120"/>
              </a:rPr>
              <a:t>Anything already on GDEX is skipped, and each restored file is size checked against its GDEXDB record.</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28</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Saved Files Now Go to GLADE Tape</a:t>
            </a:r>
            <a:endParaRPr lang="en-US" sz="32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Saved files under the decsdata area are no longer shipped to Quasar. They are handed to the GLADE HSM instead, which keeps them on the campaign file system until the batch processes migrate them onto tape.</a:t>
            </a:r>
            <a:endParaRPr lang="en-US" sz="1450" dirty="0"/>
          </a:p>
        </p:txBody>
      </p:sp>
      <p:sp>
        <p:nvSpPr>
          <p:cNvPr id="5" name="Shape 3"/>
          <p:cNvSpPr/>
          <p:nvPr/>
        </p:nvSpPr>
        <p:spPr>
          <a:xfrm>
            <a:off x="457200" y="1993392"/>
            <a:ext cx="11292840" cy="566928"/>
          </a:xfrm>
          <a:prstGeom prst="roundRect">
            <a:avLst>
              <a:gd name="adj" fmla="val 12903"/>
            </a:avLst>
          </a:prstGeom>
          <a:solidFill>
            <a:srgbClr val="C7E4F5"/>
          </a:solidFill>
          <a:ln w="12700">
            <a:solidFill>
              <a:srgbClr val="A9D6F2"/>
            </a:solidFill>
            <a:prstDash val="solid"/>
          </a:ln>
        </p:spPr>
      </p:sp>
      <p:sp>
        <p:nvSpPr>
          <p:cNvPr id="6" name="Text 4"/>
          <p:cNvSpPr/>
          <p:nvPr/>
        </p:nvSpPr>
        <p:spPr>
          <a:xfrm>
            <a:off x="658368" y="1993392"/>
            <a:ext cx="10881360" cy="566928"/>
          </a:xfrm>
          <a:prstGeom prst="rect">
            <a:avLst/>
          </a:prstGeom>
          <a:noFill/>
          <a:ln/>
        </p:spPr>
        <p:txBody>
          <a:bodyPr wrap="square" lIns="0" tIns="0" rIns="0" bIns="0" rtlCol="0" anchor="ctr"/>
          <a:lstStyle/>
          <a:p>
            <a:pPr indent="0" marL="0">
              <a:buNone/>
            </a:pPr>
            <a:r>
              <a:rPr lang="en-US" sz="1150" b="1" dirty="0">
                <a:solidFill>
                  <a:srgbClr val="C25E00"/>
                </a:solidFill>
                <a:latin typeface="Poppins" pitchFamily="34" charset="0"/>
                <a:ea typeface="Poppins" pitchFamily="34" charset="-122"/>
                <a:cs typeface="Poppins" pitchFamily="34" charset="-120"/>
              </a:rPr>
              <a:t>Paused, not removed.  </a:t>
            </a:r>
            <a:pPr indent="0" marL="0">
              <a:buNone/>
            </a:pPr>
            <a:r>
              <a:rPr lang="en-US" sz="1150" dirty="0">
                <a:solidFill>
                  <a:srgbClr val="00357A"/>
                </a:solidFill>
                <a:latin typeface="Poppins" pitchFamily="34" charset="0"/>
                <a:ea typeface="Poppins" pitchFamily="34" charset="-122"/>
                <a:cs typeface="Poppins" pitchFamily="34" charset="-120"/>
              </a:rPr>
              <a:t>Everything dsquasar does with Saved files still works — the </a:t>
            </a:r>
            <a:pPr indent="0" marL="0">
              <a:buNone/>
            </a:pPr>
            <a:r>
              <a:rPr lang="en-US" sz="1150" b="1" dirty="0">
                <a:solidFill>
                  <a:srgbClr val="00357A"/>
                </a:solidFill>
                <a:latin typeface="Courier New" pitchFamily="34" charset="0"/>
                <a:ea typeface="Courier New" pitchFamily="34" charset="-122"/>
                <a:cs typeface="Courier New" pitchFamily="34" charset="-120"/>
              </a:rPr>
              <a:t>sfile</a:t>
            </a:r>
            <a:pPr indent="0" marL="0">
              <a:buNone/>
            </a:pPr>
            <a:r>
              <a:rPr lang="en-US" sz="1150" dirty="0">
                <a:solidFill>
                  <a:srgbClr val="00357A"/>
                </a:solidFill>
                <a:latin typeface="Poppins" pitchFamily="34" charset="0"/>
                <a:ea typeface="Poppins" pitchFamily="34" charset="-122"/>
                <a:cs typeface="Poppins" pitchFamily="34" charset="-120"/>
              </a:rPr>
              <a:t> gathering, tarring and </a:t>
            </a:r>
            <a:pPr indent="0" marL="0">
              <a:buNone/>
            </a:pPr>
            <a:r>
              <a:rPr lang="en-US" sz="1150" b="1" dirty="0">
                <a:solidFill>
                  <a:srgbClr val="00357A"/>
                </a:solidFill>
                <a:latin typeface="Courier New" pitchFamily="34" charset="0"/>
                <a:ea typeface="Courier New" pitchFamily="34" charset="-122"/>
                <a:cs typeface="Courier New" pitchFamily="34" charset="-120"/>
              </a:rPr>
              <a:t>-RQ</a:t>
            </a:r>
            <a:pPr indent="0" marL="0">
              <a:buNone/>
            </a:pPr>
            <a:r>
              <a:rPr lang="en-US" sz="1150" dirty="0">
                <a:solidFill>
                  <a:srgbClr val="00357A"/>
                </a:solidFill>
                <a:latin typeface="Poppins" pitchFamily="34" charset="0"/>
                <a:ea typeface="Poppins" pitchFamily="34" charset="-122"/>
                <a:cs typeface="Poppins" pitchFamily="34" charset="-120"/>
              </a:rPr>
              <a:t> restore paths are untouched. Set the backup flags again and Saved files go back onto Quasar.</a:t>
            </a:r>
            <a:endParaRPr lang="en-US" sz="1150" dirty="0"/>
          </a:p>
        </p:txBody>
      </p:sp>
      <p:sp>
        <p:nvSpPr>
          <p:cNvPr id="7" name="Shape 5"/>
          <p:cNvSpPr/>
          <p:nvPr/>
        </p:nvSpPr>
        <p:spPr>
          <a:xfrm>
            <a:off x="457200" y="2761488"/>
            <a:ext cx="3474720" cy="1371600"/>
          </a:xfrm>
          <a:prstGeom prst="roundRect">
            <a:avLst>
              <a:gd name="adj" fmla="val 6667"/>
            </a:avLst>
          </a:prstGeom>
          <a:solidFill>
            <a:srgbClr val="DCEBF7"/>
          </a:solidFill>
          <a:ln w="25400">
            <a:solidFill>
              <a:srgbClr val="0057C2"/>
            </a:solidFill>
            <a:prstDash val="solid"/>
          </a:ln>
        </p:spPr>
      </p:sp>
      <p:sp>
        <p:nvSpPr>
          <p:cNvPr id="8" name="Text 6"/>
          <p:cNvSpPr/>
          <p:nvPr/>
        </p:nvSpPr>
        <p:spPr>
          <a:xfrm>
            <a:off x="566928" y="2926080"/>
            <a:ext cx="3255264" cy="548640"/>
          </a:xfrm>
          <a:prstGeom prst="rect">
            <a:avLst/>
          </a:prstGeom>
          <a:noFill/>
          <a:ln/>
        </p:spPr>
        <p:txBody>
          <a:bodyPr wrap="square" lIns="0" tIns="0" rIns="0" bIns="0" rtlCol="0" anchor="ctr"/>
          <a:lstStyle/>
          <a:p>
            <a:pPr algn="ctr" indent="0" marL="0">
              <a:buNone/>
            </a:pPr>
            <a:r>
              <a:rPr lang="en-US" sz="1250" b="1" dirty="0">
                <a:solidFill>
                  <a:srgbClr val="0057C2"/>
                </a:solidFill>
                <a:latin typeface="Courier New" pitchFamily="34" charset="0"/>
                <a:ea typeface="Courier New" pitchFamily="34" charset="-122"/>
                <a:cs typeface="Courier New" pitchFamily="34" charset="-120"/>
              </a:rPr>
              <a:t>&lt;decsdata&gt;/&lt;dsid&gt;</a:t>
            </a:r>
            <a:endParaRPr lang="en-US" sz="1250" dirty="0"/>
          </a:p>
        </p:txBody>
      </p:sp>
      <p:sp>
        <p:nvSpPr>
          <p:cNvPr id="9" name="Text 7"/>
          <p:cNvSpPr/>
          <p:nvPr/>
        </p:nvSpPr>
        <p:spPr>
          <a:xfrm>
            <a:off x="594360"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The Saved files as dsarch stores them</a:t>
            </a:r>
            <a:endParaRPr lang="en-US" sz="1100" dirty="0"/>
          </a:p>
        </p:txBody>
      </p:sp>
      <p:sp>
        <p:nvSpPr>
          <p:cNvPr id="10" name="Text 8"/>
          <p:cNvSpPr/>
          <p:nvPr/>
        </p:nvSpPr>
        <p:spPr>
          <a:xfrm>
            <a:off x="3950208" y="2761488"/>
            <a:ext cx="356616" cy="1371600"/>
          </a:xfrm>
          <a:prstGeom prst="rect">
            <a:avLst/>
          </a:prstGeom>
          <a:noFill/>
          <a:ln/>
        </p:spPr>
        <p:txBody>
          <a:bodyPr wrap="square" lIns="0" tIns="0" rIns="0" bIns="0" rtlCol="0" anchor="ctr"/>
          <a:lstStyle/>
          <a:p>
            <a:pPr algn="ctr" indent="0" marL="0">
              <a:buNone/>
            </a:pPr>
            <a:r>
              <a:rPr lang="en-US" sz="2400" b="1" dirty="0">
                <a:solidFill>
                  <a:srgbClr val="0057C2"/>
                </a:solidFill>
                <a:latin typeface="Poppins" pitchFamily="34" charset="0"/>
                <a:ea typeface="Poppins" pitchFamily="34" charset="-122"/>
                <a:cs typeface="Poppins" pitchFamily="34" charset="-120"/>
              </a:rPr>
              <a:t>→</a:t>
            </a:r>
            <a:endParaRPr lang="en-US" sz="2400" dirty="0"/>
          </a:p>
        </p:txBody>
      </p:sp>
      <p:sp>
        <p:nvSpPr>
          <p:cNvPr id="11" name="Shape 9"/>
          <p:cNvSpPr/>
          <p:nvPr/>
        </p:nvSpPr>
        <p:spPr>
          <a:xfrm>
            <a:off x="4325112" y="2761488"/>
            <a:ext cx="3474720" cy="1371600"/>
          </a:xfrm>
          <a:prstGeom prst="roundRect">
            <a:avLst>
              <a:gd name="adj" fmla="val 6667"/>
            </a:avLst>
          </a:prstGeom>
          <a:solidFill>
            <a:srgbClr val="DCEBF7"/>
          </a:solidFill>
          <a:ln w="25400">
            <a:solidFill>
              <a:srgbClr val="0092DB"/>
            </a:solidFill>
            <a:prstDash val="solid"/>
          </a:ln>
        </p:spPr>
      </p:sp>
      <p:sp>
        <p:nvSpPr>
          <p:cNvPr id="12" name="Text 10"/>
          <p:cNvSpPr/>
          <p:nvPr/>
        </p:nvSpPr>
        <p:spPr>
          <a:xfrm>
            <a:off x="4434840" y="2926080"/>
            <a:ext cx="3255264" cy="548640"/>
          </a:xfrm>
          <a:prstGeom prst="rect">
            <a:avLst/>
          </a:prstGeom>
          <a:noFill/>
          <a:ln/>
        </p:spPr>
        <p:txBody>
          <a:bodyPr wrap="square" lIns="0" tIns="0" rIns="0" bIns="0" rtlCol="0" anchor="ctr"/>
          <a:lstStyle/>
          <a:p>
            <a:pPr algn="ctr" indent="0" marL="0">
              <a:buNone/>
            </a:pPr>
            <a:r>
              <a:rPr lang="en-US" sz="1250" b="1" dirty="0">
                <a:solidFill>
                  <a:srgbClr val="0092DB"/>
                </a:solidFill>
                <a:latin typeface="Courier New" pitchFamily="34" charset="0"/>
                <a:ea typeface="Courier New" pitchFamily="34" charset="-122"/>
                <a:cs typeface="Courier New" pitchFamily="34" charset="-120"/>
              </a:rPr>
              <a:t>cold_storage_&lt;date&gt;/&lt;dsid&gt;</a:t>
            </a:r>
            <a:endParaRPr lang="en-US" sz="1250" dirty="0"/>
          </a:p>
        </p:txBody>
      </p:sp>
      <p:sp>
        <p:nvSpPr>
          <p:cNvPr id="13" name="Text 11"/>
          <p:cNvSpPr/>
          <p:nvPr/>
        </p:nvSpPr>
        <p:spPr>
          <a:xfrm>
            <a:off x="4462272"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decsdata_storage moves the dataset here</a:t>
            </a:r>
            <a:endParaRPr lang="en-US" sz="1100" dirty="0"/>
          </a:p>
        </p:txBody>
      </p:sp>
      <p:sp>
        <p:nvSpPr>
          <p:cNvPr id="14" name="Text 12"/>
          <p:cNvSpPr/>
          <p:nvPr/>
        </p:nvSpPr>
        <p:spPr>
          <a:xfrm>
            <a:off x="7818120" y="2761488"/>
            <a:ext cx="356616" cy="1371600"/>
          </a:xfrm>
          <a:prstGeom prst="rect">
            <a:avLst/>
          </a:prstGeom>
          <a:noFill/>
          <a:ln/>
        </p:spPr>
        <p:txBody>
          <a:bodyPr wrap="square" lIns="0" tIns="0" rIns="0" bIns="0" rtlCol="0" anchor="ctr"/>
          <a:lstStyle/>
          <a:p>
            <a:pPr algn="ctr" indent="0" marL="0">
              <a:buNone/>
            </a:pPr>
            <a:r>
              <a:rPr lang="en-US" sz="2400" b="1" dirty="0">
                <a:solidFill>
                  <a:srgbClr val="0092DB"/>
                </a:solidFill>
                <a:latin typeface="Poppins" pitchFamily="34" charset="0"/>
                <a:ea typeface="Poppins" pitchFamily="34" charset="-122"/>
                <a:cs typeface="Poppins" pitchFamily="34" charset="-120"/>
              </a:rPr>
              <a:t>→</a:t>
            </a:r>
            <a:endParaRPr lang="en-US" sz="2400" dirty="0"/>
          </a:p>
        </p:txBody>
      </p:sp>
      <p:sp>
        <p:nvSpPr>
          <p:cNvPr id="15" name="Shape 13"/>
          <p:cNvSpPr/>
          <p:nvPr/>
        </p:nvSpPr>
        <p:spPr>
          <a:xfrm>
            <a:off x="8193024" y="2761488"/>
            <a:ext cx="3474720" cy="1371600"/>
          </a:xfrm>
          <a:prstGeom prst="roundRect">
            <a:avLst>
              <a:gd name="adj" fmla="val 6667"/>
            </a:avLst>
          </a:prstGeom>
          <a:solidFill>
            <a:srgbClr val="DCEBF7"/>
          </a:solidFill>
          <a:ln w="25400">
            <a:solidFill>
              <a:srgbClr val="C25E00"/>
            </a:solidFill>
            <a:prstDash val="solid"/>
          </a:ln>
        </p:spPr>
      </p:sp>
      <p:sp>
        <p:nvSpPr>
          <p:cNvPr id="16" name="Text 14"/>
          <p:cNvSpPr/>
          <p:nvPr/>
        </p:nvSpPr>
        <p:spPr>
          <a:xfrm>
            <a:off x="8302752" y="2926080"/>
            <a:ext cx="3255264" cy="548640"/>
          </a:xfrm>
          <a:prstGeom prst="rect">
            <a:avLst/>
          </a:prstGeom>
          <a:noFill/>
          <a:ln/>
        </p:spPr>
        <p:txBody>
          <a:bodyPr wrap="square" lIns="0" tIns="0" rIns="0" bIns="0" rtlCol="0" anchor="ctr"/>
          <a:lstStyle/>
          <a:p>
            <a:pPr algn="ctr" indent="0" marL="0">
              <a:buNone/>
            </a:pPr>
            <a:r>
              <a:rPr lang="en-US" sz="1250" b="1" dirty="0">
                <a:solidFill>
                  <a:srgbClr val="C25E00"/>
                </a:solidFill>
                <a:latin typeface="Courier New" pitchFamily="34" charset="0"/>
                <a:ea typeface="Courier New" pitchFamily="34" charset="-122"/>
                <a:cs typeface="Courier New" pitchFamily="34" charset="-120"/>
              </a:rPr>
              <a:t>COLD_STORAGE/&lt;dsid&gt;</a:t>
            </a:r>
            <a:endParaRPr lang="en-US" sz="1250" dirty="0"/>
          </a:p>
        </p:txBody>
      </p:sp>
      <p:sp>
        <p:nvSpPr>
          <p:cNvPr id="17" name="Text 15"/>
          <p:cNvSpPr/>
          <p:nvPr/>
        </p:nvSpPr>
        <p:spPr>
          <a:xfrm>
            <a:off x="8330184"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glade_hsm migrate -f relocates it once more</a:t>
            </a:r>
            <a:endParaRPr lang="en-US" sz="1100" dirty="0"/>
          </a:p>
        </p:txBody>
      </p:sp>
      <p:sp>
        <p:nvSpPr>
          <p:cNvPr id="18" name="Text 16"/>
          <p:cNvSpPr/>
          <p:nvPr/>
        </p:nvSpPr>
        <p:spPr>
          <a:xfrm>
            <a:off x="457200" y="4206240"/>
            <a:ext cx="553212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Run it</a:t>
            </a:r>
            <a:endParaRPr lang="en-US" sz="1300" dirty="0"/>
          </a:p>
        </p:txBody>
      </p:sp>
      <p:sp>
        <p:nvSpPr>
          <p:cNvPr id="19" name="Shape 17"/>
          <p:cNvSpPr/>
          <p:nvPr/>
        </p:nvSpPr>
        <p:spPr>
          <a:xfrm>
            <a:off x="457200" y="4480560"/>
            <a:ext cx="5532120" cy="713232"/>
          </a:xfrm>
          <a:prstGeom prst="roundRect">
            <a:avLst>
              <a:gd name="adj" fmla="val 6410"/>
            </a:avLst>
          </a:prstGeom>
          <a:solidFill>
            <a:srgbClr val="011837"/>
          </a:solidFill>
          <a:ln/>
        </p:spPr>
      </p:sp>
      <p:sp>
        <p:nvSpPr>
          <p:cNvPr id="20" name="Text 18"/>
          <p:cNvSpPr/>
          <p:nvPr/>
        </p:nvSpPr>
        <p:spPr>
          <a:xfrm>
            <a:off x="585216" y="4480560"/>
            <a:ext cx="5276088" cy="713232"/>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d612000 d627000 -x</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20250529 -w /gdex/decsdata -x</a:t>
            </a:r>
            <a:endParaRPr lang="en-US" sz="1050" dirty="0"/>
          </a:p>
        </p:txBody>
      </p:sp>
      <p:sp>
        <p:nvSpPr>
          <p:cNvPr id="21" name="Text 19"/>
          <p:cNvSpPr/>
          <p:nvPr/>
        </p:nvSpPr>
        <p:spPr>
          <a:xfrm>
            <a:off x="457200" y="5285232"/>
            <a:ext cx="5532120" cy="1005840"/>
          </a:xfrm>
          <a:prstGeom prst="rect">
            <a:avLst/>
          </a:prstGeom>
          <a:noFill/>
          <a:ln/>
        </p:spPr>
        <p:txBody>
          <a:bodyPr wrap="square" lIns="0" tIns="0" rIns="0" bIns="0" rtlCol="0" anchor="t"/>
          <a:lstStyle/>
          <a:p>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The HSM migrates every file of 100 MB or more onto tape, and everything under a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COLD_STORAGE/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path is marked immutable. No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bfile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records are written — cold storage is outside the dsquasar bookkeeping.</a:t>
            </a:r>
            <a:endParaRPr lang="en-US" sz="1100" dirty="0"/>
          </a:p>
        </p:txBody>
      </p:sp>
      <p:sp>
        <p:nvSpPr>
          <p:cNvPr id="22" name="Text 20"/>
          <p:cNvSpPr/>
          <p:nvPr/>
        </p:nvSpPr>
        <p:spPr>
          <a:xfrm>
            <a:off x="6309360" y="4206240"/>
            <a:ext cx="544068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Options</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309360" y="4480560"/>
          <a:ext cx="5440680" cy="914400"/>
        </p:xfrm>
        <a:graphic>
          <a:graphicData uri="http://schemas.openxmlformats.org/drawingml/2006/table">
            <a:tbl>
              <a:tblPr/>
              <a:tblGrid>
                <a:gridCol w="1234440"/>
                <a:gridCol w="42062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Option</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decsdata_storage — part of rda-python-miscs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&lt;date&gt;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Names cold_storage_&lt;date&gt;; defaults to today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-w &lt;dir&gt;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The decsdata directory; defaults to /gdex/decsdata</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 -l</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Dataset IDs on the command line, or a list file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-x</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Mandatory — without it the help is shown</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29</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decsdata_restore  —  Three Steps Off Tape</a:t>
            </a:r>
            <a:endParaRPr lang="en-US" sz="29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A recall is only a request: the HSM reads the tape later, on its own schedule. Restoring is therefore always three commands. Name a dataset, or a sub-path of one, and without -D every cold storage directory is searched, the newest first.</a:t>
            </a:r>
            <a:endParaRPr lang="en-US" sz="1450" dirty="0"/>
          </a:p>
        </p:txBody>
      </p:sp>
      <p:sp>
        <p:nvSpPr>
          <p:cNvPr id="5" name="Shape 3"/>
          <p:cNvSpPr/>
          <p:nvPr/>
        </p:nvSpPr>
        <p:spPr>
          <a:xfrm>
            <a:off x="457200" y="2011680"/>
            <a:ext cx="11292840" cy="777240"/>
          </a:xfrm>
          <a:prstGeom prst="roundRect">
            <a:avLst>
              <a:gd name="adj" fmla="val 5882"/>
            </a:avLst>
          </a:prstGeom>
          <a:solidFill>
            <a:srgbClr val="011837"/>
          </a:solidFill>
          <a:ln/>
        </p:spPr>
      </p:sp>
      <p:sp>
        <p:nvSpPr>
          <p:cNvPr id="6" name="Text 4"/>
          <p:cNvSpPr/>
          <p:nvPr/>
        </p:nvSpPr>
        <p:spPr>
          <a:xfrm>
            <a:off x="585216" y="201168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d612000/2020 -x      # 1. ask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d612000/2020 -s      # 2. wait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d612000/2020 -r      # 3. copy it back</a:t>
            </a:r>
            <a:endParaRPr lang="en-US" sz="1150" dirty="0"/>
          </a:p>
        </p:txBody>
      </p:sp>
      <p:sp>
        <p:nvSpPr>
          <p:cNvPr id="7" name="Shape 5"/>
          <p:cNvSpPr/>
          <p:nvPr/>
        </p:nvSpPr>
        <p:spPr>
          <a:xfrm>
            <a:off x="457200" y="2944368"/>
            <a:ext cx="11292840" cy="868680"/>
          </a:xfrm>
          <a:prstGeom prst="roundRect">
            <a:avLst>
              <a:gd name="adj" fmla="val 8421"/>
            </a:avLst>
          </a:prstGeom>
          <a:solidFill>
            <a:srgbClr val="DCEBF7"/>
          </a:solidFill>
          <a:ln/>
        </p:spPr>
      </p:sp>
      <p:sp>
        <p:nvSpPr>
          <p:cNvPr id="8" name="Shape 6"/>
          <p:cNvSpPr/>
          <p:nvPr/>
        </p:nvSpPr>
        <p:spPr>
          <a:xfrm>
            <a:off x="621792" y="3163824"/>
            <a:ext cx="685800" cy="420624"/>
          </a:xfrm>
          <a:prstGeom prst="roundRect">
            <a:avLst>
              <a:gd name="adj" fmla="val 13043"/>
            </a:avLst>
          </a:prstGeom>
          <a:solidFill>
            <a:srgbClr val="0057C2"/>
          </a:solidFill>
          <a:ln/>
        </p:spPr>
      </p:sp>
      <p:sp>
        <p:nvSpPr>
          <p:cNvPr id="9" name="Text 7"/>
          <p:cNvSpPr/>
          <p:nvPr/>
        </p:nvSpPr>
        <p:spPr>
          <a:xfrm>
            <a:off x="621792" y="3163824"/>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-x</a:t>
            </a:r>
            <a:endParaRPr lang="en-US" sz="1300" dirty="0"/>
          </a:p>
        </p:txBody>
      </p:sp>
      <p:sp>
        <p:nvSpPr>
          <p:cNvPr id="10" name="Text 8"/>
          <p:cNvSpPr/>
          <p:nvPr/>
        </p:nvSpPr>
        <p:spPr>
          <a:xfrm>
            <a:off x="1463040" y="2944368"/>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Request the recall</a:t>
            </a:r>
            <a:endParaRPr lang="en-US" sz="1250" dirty="0"/>
          </a:p>
        </p:txBody>
      </p:sp>
      <p:sp>
        <p:nvSpPr>
          <p:cNvPr id="11" name="Text 9"/>
          <p:cNvSpPr/>
          <p:nvPr/>
        </p:nvSpPr>
        <p:spPr>
          <a:xfrm>
            <a:off x="3429000" y="2944368"/>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Submits the glade_hsm recall request. First the restore size is added up from Table sfile in RDADB and compared with the free space gladequota reports — twice the size is required, since the recalled copy and the copy made by -r both live under the decsdata quota.</a:t>
            </a:r>
            <a:endParaRPr lang="en-US" sz="1050" dirty="0"/>
          </a:p>
        </p:txBody>
      </p:sp>
      <p:sp>
        <p:nvSpPr>
          <p:cNvPr id="12" name="Shape 10"/>
          <p:cNvSpPr/>
          <p:nvPr/>
        </p:nvSpPr>
        <p:spPr>
          <a:xfrm>
            <a:off x="457200" y="3886200"/>
            <a:ext cx="11292840" cy="868680"/>
          </a:xfrm>
          <a:prstGeom prst="roundRect">
            <a:avLst>
              <a:gd name="adj" fmla="val 8421"/>
            </a:avLst>
          </a:prstGeom>
          <a:solidFill>
            <a:srgbClr val="DCEBF7"/>
          </a:solidFill>
          <a:ln/>
        </p:spPr>
      </p:sp>
      <p:sp>
        <p:nvSpPr>
          <p:cNvPr id="13" name="Shape 11"/>
          <p:cNvSpPr/>
          <p:nvPr/>
        </p:nvSpPr>
        <p:spPr>
          <a:xfrm>
            <a:off x="621792" y="4105656"/>
            <a:ext cx="685800" cy="420624"/>
          </a:xfrm>
          <a:prstGeom prst="roundRect">
            <a:avLst>
              <a:gd name="adj" fmla="val 13043"/>
            </a:avLst>
          </a:prstGeom>
          <a:solidFill>
            <a:srgbClr val="0092DB"/>
          </a:solidFill>
          <a:ln/>
        </p:spPr>
      </p:sp>
      <p:sp>
        <p:nvSpPr>
          <p:cNvPr id="14" name="Text 12"/>
          <p:cNvSpPr/>
          <p:nvPr/>
        </p:nvSpPr>
        <p:spPr>
          <a:xfrm>
            <a:off x="621792" y="4105656"/>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-s</a:t>
            </a:r>
            <a:endParaRPr lang="en-US" sz="1300" dirty="0"/>
          </a:p>
        </p:txBody>
      </p:sp>
      <p:sp>
        <p:nvSpPr>
          <p:cNvPr id="15" name="Text 13"/>
          <p:cNvSpPr/>
          <p:nvPr/>
        </p:nvSpPr>
        <p:spPr>
          <a:xfrm>
            <a:off x="1463040" y="3886200"/>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Watch the status</a:t>
            </a:r>
            <a:endParaRPr lang="en-US" sz="1250" dirty="0"/>
          </a:p>
        </p:txBody>
      </p:sp>
      <p:sp>
        <p:nvSpPr>
          <p:cNvPr id="16" name="Text 14"/>
          <p:cNvSpPr/>
          <p:nvPr/>
        </p:nvSpPr>
        <p:spPr>
          <a:xfrm>
            <a:off x="3429000" y="3886200"/>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Reports how many files are still on tape, plus the log of any outstanding request. Repeat it until nothing is left offline.</a:t>
            </a:r>
            <a:endParaRPr lang="en-US" sz="1050" dirty="0"/>
          </a:p>
        </p:txBody>
      </p:sp>
      <p:sp>
        <p:nvSpPr>
          <p:cNvPr id="17" name="Shape 15"/>
          <p:cNvSpPr/>
          <p:nvPr/>
        </p:nvSpPr>
        <p:spPr>
          <a:xfrm>
            <a:off x="457200" y="4828032"/>
            <a:ext cx="11292840" cy="868680"/>
          </a:xfrm>
          <a:prstGeom prst="roundRect">
            <a:avLst>
              <a:gd name="adj" fmla="val 8421"/>
            </a:avLst>
          </a:prstGeom>
          <a:solidFill>
            <a:srgbClr val="DCEBF7"/>
          </a:solidFill>
          <a:ln/>
        </p:spPr>
      </p:sp>
      <p:sp>
        <p:nvSpPr>
          <p:cNvPr id="18" name="Shape 16"/>
          <p:cNvSpPr/>
          <p:nvPr/>
        </p:nvSpPr>
        <p:spPr>
          <a:xfrm>
            <a:off x="621792" y="5047488"/>
            <a:ext cx="685800" cy="420624"/>
          </a:xfrm>
          <a:prstGeom prst="roundRect">
            <a:avLst>
              <a:gd name="adj" fmla="val 13043"/>
            </a:avLst>
          </a:prstGeom>
          <a:solidFill>
            <a:srgbClr val="C25E00"/>
          </a:solidFill>
          <a:ln/>
        </p:spPr>
      </p:sp>
      <p:sp>
        <p:nvSpPr>
          <p:cNvPr id="19" name="Text 17"/>
          <p:cNvSpPr/>
          <p:nvPr/>
        </p:nvSpPr>
        <p:spPr>
          <a:xfrm>
            <a:off x="621792" y="5047488"/>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-r</a:t>
            </a:r>
            <a:endParaRPr lang="en-US" sz="1300" dirty="0"/>
          </a:p>
        </p:txBody>
      </p:sp>
      <p:sp>
        <p:nvSpPr>
          <p:cNvPr id="20" name="Text 18"/>
          <p:cNvSpPr/>
          <p:nvPr/>
        </p:nvSpPr>
        <p:spPr>
          <a:xfrm>
            <a:off x="1463040" y="4828032"/>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Copy it back</a:t>
            </a:r>
            <a:endParaRPr lang="en-US" sz="1250" dirty="0"/>
          </a:p>
        </p:txBody>
      </p:sp>
      <p:sp>
        <p:nvSpPr>
          <p:cNvPr id="21" name="Text 19"/>
          <p:cNvSpPr/>
          <p:nvPr/>
        </p:nvSpPr>
        <p:spPr>
          <a:xfrm>
            <a:off x="3429000" y="4828032"/>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Copies the recalled data back under &lt;decsdata&gt;/&lt;dsid&gt;, or under a target directory given after -r; a restored sub-path keeps its relative position. -f copies even while files are still on tape.</a:t>
            </a:r>
            <a:endParaRPr lang="en-US" sz="1050" dirty="0"/>
          </a:p>
        </p:txBody>
      </p:sp>
      <p:sp>
        <p:nvSpPr>
          <p:cNvPr id="22" name="Shape 20"/>
          <p:cNvSpPr/>
          <p:nvPr/>
        </p:nvSpPr>
        <p:spPr>
          <a:xfrm>
            <a:off x="457200" y="5815584"/>
            <a:ext cx="11292840" cy="502920"/>
          </a:xfrm>
          <a:prstGeom prst="roundRect">
            <a:avLst>
              <a:gd name="adj" fmla="val 14545"/>
            </a:avLst>
          </a:prstGeom>
          <a:solidFill>
            <a:srgbClr val="011837"/>
          </a:solidFill>
          <a:ln/>
        </p:spPr>
      </p:sp>
      <p:sp>
        <p:nvSpPr>
          <p:cNvPr id="23" name="Text 21"/>
          <p:cNvSpPr/>
          <p:nvPr/>
        </p:nvSpPr>
        <p:spPr>
          <a:xfrm>
            <a:off x="658368" y="581558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Seven-day window.  </a:t>
            </a:r>
            <a:pPr indent="0" marL="0">
              <a:buNone/>
            </a:pPr>
            <a:r>
              <a:rPr lang="en-US" sz="1150" dirty="0">
                <a:solidFill>
                  <a:srgbClr val="C3D7EE"/>
                </a:solidFill>
                <a:latin typeface="Poppins" pitchFamily="34" charset="0"/>
                <a:ea typeface="Poppins" pitchFamily="34" charset="-122"/>
                <a:cs typeface="Poppins" pitchFamily="34" charset="-120"/>
              </a:rPr>
              <a:t>Recalled files stay readable for 7 days and are then migrated back onto tape. -r leaves the cold copy in place, so taking a dataset out of the HSM for good means moving it out of the COLD_STORAGE path.</a:t>
            </a:r>
            <a:endParaRPr lang="en-US" sz="1150" dirty="0"/>
          </a:p>
        </p:txBody>
      </p:sp>
      <p:sp>
        <p:nvSpPr>
          <p:cNvPr id="24" name="Text 2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30</a:t>
            </a:r>
            <a:endParaRPr lang="en-US" sz="950" dirty="0"/>
          </a:p>
        </p:txBody>
      </p:sp>
      <p:sp>
        <p:nvSpPr>
          <p:cNvPr id="25" name="Text 2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31</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60704"/>
            <a:ext cx="7315200" cy="320040"/>
          </a:xfrm>
          <a:prstGeom prst="rect">
            <a:avLst/>
          </a:prstGeom>
          <a:noFill/>
          <a:ln/>
        </p:spPr>
        <p:txBody>
          <a:bodyPr wrap="square" lIns="0" tIns="0" rIns="0" bIns="0" rtlCol="0" anchor="ctr"/>
          <a:lstStyle/>
          <a:p>
            <a:pPr indent="0" marL="0">
              <a:buNone/>
            </a:pPr>
            <a:r>
              <a:rPr lang="en-US" sz="1300" b="1" spc="200" kern="0" dirty="0">
                <a:solidFill>
                  <a:srgbClr val="42C0FF"/>
                </a:solidFill>
                <a:latin typeface="Poppins" pitchFamily="34" charset="0"/>
                <a:ea typeface="Poppins" pitchFamily="34" charset="-122"/>
                <a:cs typeface="Poppins" pitchFamily="34" charset="-120"/>
              </a:rPr>
              <a:t>RECAP</a:t>
            </a:r>
            <a:endParaRPr lang="en-US" sz="1300" dirty="0"/>
          </a:p>
        </p:txBody>
      </p:sp>
      <p:sp>
        <p:nvSpPr>
          <p:cNvPr id="9" name="Text 4"/>
          <p:cNvSpPr/>
          <p:nvPr/>
        </p:nvSpPr>
        <p:spPr>
          <a:xfrm>
            <a:off x="1527048" y="1408176"/>
            <a:ext cx="9144000" cy="731520"/>
          </a:xfrm>
          <a:prstGeom prst="rect">
            <a:avLst/>
          </a:prstGeom>
          <a:noFill/>
          <a:ln/>
        </p:spPr>
        <p:txBody>
          <a:bodyPr wrap="square" lIns="0" tIns="0" rIns="0" bIns="0" rtlCol="0" anchor="ctr"/>
          <a:lstStyle/>
          <a:p>
            <a:pPr indent="0" marL="0">
              <a:buNone/>
            </a:pPr>
            <a:r>
              <a:rPr lang="en-US" sz="4000" b="1" dirty="0">
                <a:solidFill>
                  <a:srgbClr val="FFFFFF"/>
                </a:solidFill>
                <a:latin typeface="Poppins" pitchFamily="34" charset="0"/>
                <a:ea typeface="Poppins" pitchFamily="34" charset="-122"/>
                <a:cs typeface="Poppins" pitchFamily="34" charset="-120"/>
              </a:rPr>
              <a:t>Six Things Worth Remembering</a:t>
            </a:r>
            <a:endParaRPr lang="en-US" sz="4000" dirty="0"/>
          </a:p>
        </p:txBody>
      </p:sp>
      <p:sp>
        <p:nvSpPr>
          <p:cNvPr id="10" name="Shape 5"/>
          <p:cNvSpPr/>
          <p:nvPr/>
        </p:nvSpPr>
        <p:spPr>
          <a:xfrm>
            <a:off x="822960" y="2450592"/>
            <a:ext cx="5120640" cy="1170432"/>
          </a:xfrm>
          <a:prstGeom prst="roundRect">
            <a:avLst>
              <a:gd name="adj" fmla="val 7813"/>
            </a:avLst>
          </a:prstGeom>
          <a:solidFill>
            <a:srgbClr val="00357A"/>
          </a:solidFill>
          <a:ln w="12700">
            <a:solidFill>
              <a:srgbClr val="2C6FB8"/>
            </a:solidFill>
            <a:prstDash val="solid"/>
          </a:ln>
        </p:spPr>
      </p:sp>
      <p:sp>
        <p:nvSpPr>
          <p:cNvPr id="11" name="Shape 6"/>
          <p:cNvSpPr/>
          <p:nvPr/>
        </p:nvSpPr>
        <p:spPr>
          <a:xfrm>
            <a:off x="1024128" y="2633472"/>
            <a:ext cx="402336" cy="402336"/>
          </a:xfrm>
          <a:prstGeom prst="ellipse">
            <a:avLst/>
          </a:prstGeom>
          <a:solidFill>
            <a:srgbClr val="42C0FF"/>
          </a:solidFill>
          <a:ln/>
        </p:spPr>
      </p:sp>
      <p:sp>
        <p:nvSpPr>
          <p:cNvPr id="12" name="Text 7"/>
          <p:cNvSpPr/>
          <p:nvPr/>
        </p:nvSpPr>
        <p:spPr>
          <a:xfrm>
            <a:off x="102412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1</a:t>
            </a:r>
            <a:endParaRPr lang="en-US" sz="1400" dirty="0"/>
          </a:p>
        </p:txBody>
      </p:sp>
      <p:sp>
        <p:nvSpPr>
          <p:cNvPr id="13" name="Text 8"/>
          <p:cNvSpPr/>
          <p:nvPr/>
        </p:nvSpPr>
        <p:spPr>
          <a:xfrm>
            <a:off x="153619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dataset.backflag enrolls</a:t>
            </a:r>
            <a:endParaRPr lang="en-US" sz="1300" dirty="0"/>
          </a:p>
        </p:txBody>
      </p:sp>
      <p:sp>
        <p:nvSpPr>
          <p:cNvPr id="14" name="Text 9"/>
          <p:cNvSpPr/>
          <p:nvPr/>
        </p:nvSpPr>
        <p:spPr>
          <a:xfrm>
            <a:off x="153619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Setting that one field puts a dataset under backup; dsgroup.backflag refines it. -t narrows a run, it does not override a flag.</a:t>
            </a:r>
            <a:endParaRPr lang="en-US" sz="1050" dirty="0"/>
          </a:p>
        </p:txBody>
      </p:sp>
      <p:sp>
        <p:nvSpPr>
          <p:cNvPr id="15" name="Shape 10"/>
          <p:cNvSpPr/>
          <p:nvPr/>
        </p:nvSpPr>
        <p:spPr>
          <a:xfrm>
            <a:off x="6263640" y="2450592"/>
            <a:ext cx="5120640" cy="1170432"/>
          </a:xfrm>
          <a:prstGeom prst="roundRect">
            <a:avLst>
              <a:gd name="adj" fmla="val 7813"/>
            </a:avLst>
          </a:prstGeom>
          <a:solidFill>
            <a:srgbClr val="00357A"/>
          </a:solidFill>
          <a:ln w="12700">
            <a:solidFill>
              <a:srgbClr val="2C6FB8"/>
            </a:solidFill>
            <a:prstDash val="solid"/>
          </a:ln>
        </p:spPr>
      </p:sp>
      <p:sp>
        <p:nvSpPr>
          <p:cNvPr id="16" name="Shape 11"/>
          <p:cNvSpPr/>
          <p:nvPr/>
        </p:nvSpPr>
        <p:spPr>
          <a:xfrm>
            <a:off x="6464808" y="2633472"/>
            <a:ext cx="402336" cy="402336"/>
          </a:xfrm>
          <a:prstGeom prst="ellipse">
            <a:avLst/>
          </a:prstGeom>
          <a:solidFill>
            <a:srgbClr val="42C0FF"/>
          </a:solidFill>
          <a:ln/>
        </p:spPr>
      </p:sp>
      <p:sp>
        <p:nvSpPr>
          <p:cNvPr id="17" name="Text 12"/>
          <p:cNvSpPr/>
          <p:nvPr/>
        </p:nvSpPr>
        <p:spPr>
          <a:xfrm>
            <a:off x="646480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2</a:t>
            </a:r>
            <a:endParaRPr lang="en-US" sz="1400" dirty="0"/>
          </a:p>
        </p:txBody>
      </p:sp>
      <p:sp>
        <p:nvSpPr>
          <p:cNvPr id="18" name="Text 13"/>
          <p:cNvSpPr/>
          <p:nvPr/>
        </p:nvSpPr>
        <p:spPr>
          <a:xfrm>
            <a:off x="697687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-A 3 is the working default</a:t>
            </a:r>
            <a:endParaRPr lang="en-US" sz="1300" dirty="0"/>
          </a:p>
        </p:txBody>
      </p:sp>
      <p:sp>
        <p:nvSpPr>
          <p:cNvPr id="19" name="Text 14"/>
          <p:cNvSpPr/>
          <p:nvPr/>
        </p:nvSpPr>
        <p:spPr>
          <a:xfrm>
            <a:off x="697687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Create the input lists and build the tars in one pass. -A 4 ships them. -A 7 does both.</a:t>
            </a:r>
            <a:endParaRPr lang="en-US" sz="1050" dirty="0"/>
          </a:p>
        </p:txBody>
      </p:sp>
      <p:sp>
        <p:nvSpPr>
          <p:cNvPr id="20" name="Shape 15"/>
          <p:cNvSpPr/>
          <p:nvPr/>
        </p:nvSpPr>
        <p:spPr>
          <a:xfrm>
            <a:off x="822960" y="3694176"/>
            <a:ext cx="5120640" cy="1170432"/>
          </a:xfrm>
          <a:prstGeom prst="roundRect">
            <a:avLst>
              <a:gd name="adj" fmla="val 7813"/>
            </a:avLst>
          </a:prstGeom>
          <a:solidFill>
            <a:srgbClr val="00357A"/>
          </a:solidFill>
          <a:ln w="12700">
            <a:solidFill>
              <a:srgbClr val="2C6FB8"/>
            </a:solidFill>
            <a:prstDash val="solid"/>
          </a:ln>
        </p:spPr>
      </p:sp>
      <p:sp>
        <p:nvSpPr>
          <p:cNvPr id="21" name="Shape 16"/>
          <p:cNvSpPr/>
          <p:nvPr/>
        </p:nvSpPr>
        <p:spPr>
          <a:xfrm>
            <a:off x="1024128" y="3877056"/>
            <a:ext cx="402336" cy="402336"/>
          </a:xfrm>
          <a:prstGeom prst="ellipse">
            <a:avLst/>
          </a:prstGeom>
          <a:solidFill>
            <a:srgbClr val="42C0FF"/>
          </a:solidFill>
          <a:ln/>
        </p:spPr>
      </p:sp>
      <p:sp>
        <p:nvSpPr>
          <p:cNvPr id="22" name="Text 17"/>
          <p:cNvSpPr/>
          <p:nvPr/>
        </p:nvSpPr>
        <p:spPr>
          <a:xfrm>
            <a:off x="102412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3</a:t>
            </a:r>
            <a:endParaRPr lang="en-US" sz="1400" dirty="0"/>
          </a:p>
        </p:txBody>
      </p:sp>
      <p:sp>
        <p:nvSpPr>
          <p:cNvPr id="23" name="Text 18"/>
          <p:cNvSpPr/>
          <p:nvPr/>
        </p:nvSpPr>
        <p:spPr>
          <a:xfrm>
            <a:off x="153619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Status is the whole story</a:t>
            </a:r>
            <a:endParaRPr lang="en-US" sz="1300" dirty="0"/>
          </a:p>
        </p:txBody>
      </p:sp>
      <p:sp>
        <p:nvSpPr>
          <p:cNvPr id="24" name="Text 19"/>
          <p:cNvSpPr/>
          <p:nvPr/>
        </p:nvSpPr>
        <p:spPr>
          <a:xfrm>
            <a:off x="153619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N listed, T tarred, A archived. Backwards moves are deliberate and simply requeue the work.</a:t>
            </a:r>
            <a:endParaRPr lang="en-US" sz="1050" dirty="0"/>
          </a:p>
        </p:txBody>
      </p:sp>
      <p:sp>
        <p:nvSpPr>
          <p:cNvPr id="25" name="Shape 20"/>
          <p:cNvSpPr/>
          <p:nvPr/>
        </p:nvSpPr>
        <p:spPr>
          <a:xfrm>
            <a:off x="6263640" y="3694176"/>
            <a:ext cx="5120640" cy="1170432"/>
          </a:xfrm>
          <a:prstGeom prst="roundRect">
            <a:avLst>
              <a:gd name="adj" fmla="val 7813"/>
            </a:avLst>
          </a:prstGeom>
          <a:solidFill>
            <a:srgbClr val="00357A"/>
          </a:solidFill>
          <a:ln w="12700">
            <a:solidFill>
              <a:srgbClr val="2C6FB8"/>
            </a:solidFill>
            <a:prstDash val="solid"/>
          </a:ln>
        </p:spPr>
      </p:sp>
      <p:sp>
        <p:nvSpPr>
          <p:cNvPr id="26" name="Shape 21"/>
          <p:cNvSpPr/>
          <p:nvPr/>
        </p:nvSpPr>
        <p:spPr>
          <a:xfrm>
            <a:off x="6464808" y="3877056"/>
            <a:ext cx="402336" cy="402336"/>
          </a:xfrm>
          <a:prstGeom prst="ellipse">
            <a:avLst/>
          </a:prstGeom>
          <a:solidFill>
            <a:srgbClr val="42C0FF"/>
          </a:solidFill>
          <a:ln/>
        </p:spPr>
      </p:sp>
      <p:sp>
        <p:nvSpPr>
          <p:cNvPr id="27" name="Text 22"/>
          <p:cNvSpPr/>
          <p:nvPr/>
        </p:nvSpPr>
        <p:spPr>
          <a:xfrm>
            <a:off x="646480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4</a:t>
            </a:r>
            <a:endParaRPr lang="en-US" sz="1400" dirty="0"/>
          </a:p>
        </p:txBody>
      </p:sp>
      <p:sp>
        <p:nvSpPr>
          <p:cNvPr id="28" name="Text 23"/>
          <p:cNvSpPr/>
          <p:nvPr/>
        </p:nvSpPr>
        <p:spPr>
          <a:xfrm>
            <a:off x="697687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Tar size is the economics</a:t>
            </a:r>
            <a:endParaRPr lang="en-US" sz="1300" dirty="0"/>
          </a:p>
        </p:txBody>
      </p:sp>
      <p:sp>
        <p:nvSpPr>
          <p:cNvPr id="29" name="Text 24"/>
          <p:cNvSpPr/>
          <p:nvPr/>
        </p:nvSpPr>
        <p:spPr>
          <a:xfrm>
            <a:off x="697687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5 GB target tars batched into 90 GB transfers is what makes tape and Globus efficient.</a:t>
            </a:r>
            <a:endParaRPr lang="en-US" sz="1050" dirty="0"/>
          </a:p>
        </p:txBody>
      </p:sp>
      <p:sp>
        <p:nvSpPr>
          <p:cNvPr id="30" name="Shape 25"/>
          <p:cNvSpPr/>
          <p:nvPr/>
        </p:nvSpPr>
        <p:spPr>
          <a:xfrm>
            <a:off x="822960" y="4937760"/>
            <a:ext cx="5120640" cy="1170432"/>
          </a:xfrm>
          <a:prstGeom prst="roundRect">
            <a:avLst>
              <a:gd name="adj" fmla="val 7813"/>
            </a:avLst>
          </a:prstGeom>
          <a:solidFill>
            <a:srgbClr val="00357A"/>
          </a:solidFill>
          <a:ln w="12700">
            <a:solidFill>
              <a:srgbClr val="2C6FB8"/>
            </a:solidFill>
            <a:prstDash val="solid"/>
          </a:ln>
        </p:spPr>
      </p:sp>
      <p:sp>
        <p:nvSpPr>
          <p:cNvPr id="31" name="Shape 26"/>
          <p:cNvSpPr/>
          <p:nvPr/>
        </p:nvSpPr>
        <p:spPr>
          <a:xfrm>
            <a:off x="1024128" y="5120640"/>
            <a:ext cx="402336" cy="402336"/>
          </a:xfrm>
          <a:prstGeom prst="ellipse">
            <a:avLst/>
          </a:prstGeom>
          <a:solidFill>
            <a:srgbClr val="42C0FF"/>
          </a:solidFill>
          <a:ln/>
        </p:spPr>
      </p:sp>
      <p:sp>
        <p:nvSpPr>
          <p:cNvPr id="32" name="Text 27"/>
          <p:cNvSpPr/>
          <p:nvPr/>
        </p:nvSpPr>
        <p:spPr>
          <a:xfrm>
            <a:off x="102412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5</a:t>
            </a:r>
            <a:endParaRPr lang="en-US" sz="1400" dirty="0"/>
          </a:p>
        </p:txBody>
      </p:sp>
      <p:sp>
        <p:nvSpPr>
          <p:cNvPr id="33" name="Text 28"/>
          <p:cNvSpPr/>
          <p:nvPr/>
        </p:nvSpPr>
        <p:spPr>
          <a:xfrm>
            <a:off x="153619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The dataset lock is the only lock</a:t>
            </a:r>
            <a:endParaRPr lang="en-US" sz="1300" dirty="0"/>
          </a:p>
        </p:txBody>
      </p:sp>
      <p:sp>
        <p:nvSpPr>
          <p:cNvPr id="34" name="Text 29"/>
          <p:cNvSpPr/>
          <p:nvPr/>
        </p:nvSpPr>
        <p:spPr>
          <a:xfrm>
            <a:off x="153619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Everything about concurrency — workers, re-checks, multi-dataset tars — is built on it.</a:t>
            </a:r>
            <a:endParaRPr lang="en-US" sz="1050" dirty="0"/>
          </a:p>
        </p:txBody>
      </p:sp>
      <p:sp>
        <p:nvSpPr>
          <p:cNvPr id="35" name="Shape 30"/>
          <p:cNvSpPr/>
          <p:nvPr/>
        </p:nvSpPr>
        <p:spPr>
          <a:xfrm>
            <a:off x="6263640" y="4937760"/>
            <a:ext cx="5120640" cy="1170432"/>
          </a:xfrm>
          <a:prstGeom prst="roundRect">
            <a:avLst>
              <a:gd name="adj" fmla="val 7813"/>
            </a:avLst>
          </a:prstGeom>
          <a:solidFill>
            <a:srgbClr val="00357A"/>
          </a:solidFill>
          <a:ln w="12700">
            <a:solidFill>
              <a:srgbClr val="2C6FB8"/>
            </a:solidFill>
            <a:prstDash val="solid"/>
          </a:ln>
        </p:spPr>
      </p:sp>
      <p:sp>
        <p:nvSpPr>
          <p:cNvPr id="36" name="Shape 31"/>
          <p:cNvSpPr/>
          <p:nvPr/>
        </p:nvSpPr>
        <p:spPr>
          <a:xfrm>
            <a:off x="6464808" y="5120640"/>
            <a:ext cx="402336" cy="402336"/>
          </a:xfrm>
          <a:prstGeom prst="ellipse">
            <a:avLst/>
          </a:prstGeom>
          <a:solidFill>
            <a:srgbClr val="42C0FF"/>
          </a:solidFill>
          <a:ln/>
        </p:spPr>
      </p:sp>
      <p:sp>
        <p:nvSpPr>
          <p:cNvPr id="37" name="Text 32"/>
          <p:cNvSpPr/>
          <p:nvPr/>
        </p:nvSpPr>
        <p:spPr>
          <a:xfrm>
            <a:off x="646480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6</a:t>
            </a:r>
            <a:endParaRPr lang="en-US" sz="1400" dirty="0"/>
          </a:p>
        </p:txBody>
      </p:sp>
      <p:sp>
        <p:nvSpPr>
          <p:cNvPr id="38" name="Text 33"/>
          <p:cNvSpPr/>
          <p:nvPr/>
        </p:nvSpPr>
        <p:spPr>
          <a:xfrm>
            <a:off x="697687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Nothing is lost by stopping</a:t>
            </a:r>
            <a:endParaRPr lang="en-US" sz="1300" dirty="0"/>
          </a:p>
        </p:txBody>
      </p:sp>
      <p:sp>
        <p:nvSpPr>
          <p:cNvPr id="39" name="Text 34"/>
          <p:cNvSpPr/>
          <p:nvPr/>
        </p:nvSpPr>
        <p:spPr>
          <a:xfrm>
            <a:off x="697687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The 23-hour guard, the retry limit and the resumable statuses mean an interrupted run just continues later.</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32</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78992"/>
            <a:ext cx="9144000" cy="2743200"/>
          </a:xfrm>
          <a:prstGeom prst="rect">
            <a:avLst/>
          </a:prstGeom>
          <a:noFill/>
          <a:ln/>
        </p:spPr>
        <p:txBody>
          <a:bodyPr wrap="square" lIns="0" tIns="0" rIns="0" bIns="0" rtlCol="0" anchor="b"/>
          <a:lstStyle/>
          <a:p>
            <a:pPr indent="0" marL="0">
              <a:buNone/>
            </a:pPr>
            <a:r>
              <a:rPr lang="en-US" sz="5400" b="1" dirty="0">
                <a:solidFill>
                  <a:srgbClr val="FFFFFF"/>
                </a:solidFill>
                <a:latin typeface="Poppins" pitchFamily="34" charset="0"/>
                <a:ea typeface="Poppins" pitchFamily="34" charset="-122"/>
                <a:cs typeface="Poppins" pitchFamily="34" charset="-120"/>
              </a:rPr>
              <a:t>Any Questions?</a:t>
            </a:r>
            <a:endParaRPr lang="en-US" sz="5400" dirty="0"/>
          </a:p>
        </p:txBody>
      </p:sp>
      <p:sp>
        <p:nvSpPr>
          <p:cNvPr id="9" name="Shape 4"/>
          <p:cNvSpPr/>
          <p:nvPr/>
        </p:nvSpPr>
        <p:spPr>
          <a:xfrm>
            <a:off x="1527048" y="4160520"/>
            <a:ext cx="804672" cy="0"/>
          </a:xfrm>
          <a:prstGeom prst="line">
            <a:avLst/>
          </a:prstGeom>
          <a:noFill/>
          <a:ln w="38100">
            <a:solidFill>
              <a:srgbClr val="42C0FF"/>
            </a:solidFill>
            <a:prstDash val="solid"/>
          </a:ln>
        </p:spPr>
      </p:sp>
      <p:sp>
        <p:nvSpPr>
          <p:cNvPr id="10" name="Text 5"/>
          <p:cNvSpPr/>
          <p:nvPr/>
        </p:nvSpPr>
        <p:spPr>
          <a:xfrm>
            <a:off x="1527048" y="4434840"/>
            <a:ext cx="9144000" cy="457200"/>
          </a:xfrm>
          <a:prstGeom prst="rect">
            <a:avLst/>
          </a:prstGeom>
          <a:noFill/>
          <a:ln/>
        </p:spPr>
        <p:txBody>
          <a:bodyPr wrap="square" lIns="0" tIns="0" rIns="0" bIns="0" rtlCol="0" anchor="ctr"/>
          <a:lstStyle/>
          <a:p>
            <a:pPr indent="0" marL="0">
              <a:buNone/>
            </a:pPr>
            <a:r>
              <a:rPr lang="en-US" sz="1600" dirty="0">
                <a:solidFill>
                  <a:srgbClr val="D5E8FA"/>
                </a:solidFill>
                <a:latin typeface="Poppins" pitchFamily="34" charset="0"/>
                <a:ea typeface="Poppins" pitchFamily="34" charset="-122"/>
                <a:cs typeface="Poppins" pitchFamily="34" charset="-120"/>
              </a:rPr>
              <a:t>Thank you — dsquasar keeps a tape copy of the whole GDEX archive, run after run.</a:t>
            </a:r>
            <a:endParaRPr lang="en-US" sz="1600" dirty="0"/>
          </a:p>
        </p:txBody>
      </p:sp>
      <p:sp>
        <p:nvSpPr>
          <p:cNvPr id="11" name="Shape 6"/>
          <p:cNvSpPr/>
          <p:nvPr/>
        </p:nvSpPr>
        <p:spPr>
          <a:xfrm>
            <a:off x="1527048" y="5166360"/>
            <a:ext cx="9144000" cy="685800"/>
          </a:xfrm>
          <a:prstGeom prst="roundRect">
            <a:avLst>
              <a:gd name="adj" fmla="val 13333"/>
            </a:avLst>
          </a:prstGeom>
          <a:solidFill>
            <a:srgbClr val="00357A"/>
          </a:solidFill>
          <a:ln w="12700">
            <a:solidFill>
              <a:srgbClr val="42C0FF"/>
            </a:solidFill>
            <a:prstDash val="solid"/>
          </a:ln>
        </p:spPr>
      </p:sp>
      <p:sp>
        <p:nvSpPr>
          <p:cNvPr id="12" name="Text 7"/>
          <p:cNvSpPr/>
          <p:nvPr/>
        </p:nvSpPr>
        <p:spPr>
          <a:xfrm>
            <a:off x="1755648" y="5166360"/>
            <a:ext cx="8686800" cy="685800"/>
          </a:xfrm>
          <a:prstGeom prst="rect">
            <a:avLst/>
          </a:prstGeom>
          <a:noFill/>
          <a:ln/>
        </p:spPr>
        <p:txBody>
          <a:bodyPr wrap="square" lIns="0" tIns="0" rIns="0" bIns="0" rtlCol="0" anchor="ctr"/>
          <a:lstStyle/>
          <a:p>
            <a:pPr indent="0" marL="0">
              <a:buNone/>
            </a:pPr>
            <a:r>
              <a:rPr lang="en-US" sz="1250" dirty="0">
                <a:solidFill>
                  <a:srgbClr val="D5E8FA"/>
                </a:solidFill>
                <a:latin typeface="Poppins" pitchFamily="34" charset="0"/>
                <a:ea typeface="Poppins" pitchFamily="34" charset="-122"/>
                <a:cs typeface="Poppins" pitchFamily="34" charset="-120"/>
              </a:rPr>
              <a:t>Zaihua Ji   •   zji@ucar.edu   •   </a:t>
            </a:r>
            <a:pPr indent="0" marL="0">
              <a:buNone/>
            </a:pPr>
            <a:r>
              <a:rPr lang="en-US" sz="1250" dirty="0">
                <a:solidFill>
                  <a:srgbClr val="FFFFFF"/>
                </a:solidFill>
                <a:latin typeface="Courier New" pitchFamily="34" charset="0"/>
                <a:ea typeface="Courier New" pitchFamily="34" charset="-122"/>
                <a:cs typeface="Courier New" pitchFamily="34" charset="-120"/>
              </a:rPr>
              <a:t>dsquasar -h</a:t>
            </a:r>
            <a:pPr indent="0" marL="0">
              <a:buNone/>
            </a:pPr>
            <a:r>
              <a:rPr lang="en-US" sz="1250" dirty="0">
                <a:solidFill>
                  <a:srgbClr val="D5E8FA"/>
                </a:solidFill>
                <a:latin typeface="Poppins" pitchFamily="34" charset="0"/>
                <a:ea typeface="Poppins" pitchFamily="34" charset="-122"/>
                <a:cs typeface="Poppins" pitchFamily="34" charset="-120"/>
              </a:rPr>
              <a:t>   •   dsquasar.usg   •   </a:t>
            </a:r>
            <a:pPr indent="0" marL="0">
              <a:buNone/>
            </a:pPr>
            <a:r>
              <a:rPr lang="en-US" sz="1250" u="sng" dirty="0">
                <a:solidFill>
                  <a:srgbClr val="D5E8FA"/>
                </a:solidFill>
                <a:latin typeface="Poppins" pitchFamily="34" charset="0"/>
                <a:ea typeface="Poppins" pitchFamily="34" charset="-122"/>
                <a:cs typeface="Poppi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2026-10-12T17:00:49Z</dcterms:created>
  <dcterms:modified xsi:type="dcterms:W3CDTF">2026-10-12T17:00:49Z</dcterms:modified>
</cp:coreProperties>
</file>