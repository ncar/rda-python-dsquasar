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NTERIOR-image-3.jpe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NTERIOR_NG-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image" Target="../media/image-1004-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IO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nsf_ncar_logo_color.png">    </p:cNvPr>
          <p:cNvPicPr>
            <a:picLocks noChangeAspect="1"/>
          </p:cNvPicPr>
          <p:nvPr/>
        </p:nvPicPr>
        <p:blipFill>
          <a:blip r:embed="rId1"/>
          <a:stretch>
            <a:fillRect/>
          </a:stretch>
        </p:blipFill>
        <p:spPr>
          <a:xfrm>
            <a:off x="9683496" y="402336"/>
            <a:ext cx="1892808" cy="521208"/>
          </a:xfrm>
          <a:prstGeom prst="rect">
            <a:avLst/>
          </a:prstGeom>
        </p:spPr>
      </p:pic>
      <p:pic>
        <p:nvPicPr>
          <p:cNvPr id="3" name="Image 1" descr="gdex_lockup_color.png">    </p:cNvPr>
          <p:cNvPicPr>
            <a:picLocks noChangeAspect="1"/>
          </p:cNvPicPr>
          <p:nvPr/>
        </p:nvPicPr>
        <p:blipFill>
          <a:blip r:embed="rId2"/>
          <a:stretch>
            <a:fillRect/>
          </a:stretch>
        </p:blipFill>
        <p:spPr>
          <a:xfrm>
            <a:off x="10616184" y="6126480"/>
            <a:ext cx="960120" cy="484632"/>
          </a:xfrm>
          <a:prstGeom prst="rect">
            <a:avLst/>
          </a:prstGeom>
        </p:spPr>
      </p:pic>
      <p:sp>
        <p:nvSpPr>
          <p:cNvPr id="4" name="Shape 0"/>
          <p:cNvSpPr/>
          <p:nvPr/>
        </p:nvSpPr>
        <p:spPr>
          <a:xfrm>
            <a:off x="612648" y="6437376"/>
            <a:ext cx="0" cy="201168"/>
          </a:xfrm>
          <a:prstGeom prst="line">
            <a:avLst/>
          </a:prstGeom>
          <a:noFill/>
          <a:ln w="9525">
            <a:solidFill>
              <a:srgbClr val="00357A"/>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ERIOR_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nsf_ncar_logo_color.png">    </p:cNvPr>
          <p:cNvPicPr>
            <a:picLocks noChangeAspect="1"/>
          </p:cNvPicPr>
          <p:nvPr/>
        </p:nvPicPr>
        <p:blipFill>
          <a:blip r:embed="rId1"/>
          <a:stretch>
            <a:fillRect/>
          </a:stretch>
        </p:blipFill>
        <p:spPr>
          <a:xfrm>
            <a:off x="9683496" y="402336"/>
            <a:ext cx="1892808" cy="521208"/>
          </a:xfrm>
          <a:prstGeom prst="rect">
            <a:avLst/>
          </a:prstGeom>
        </p:spPr>
      </p:pic>
      <p:sp>
        <p:nvSpPr>
          <p:cNvPr id="3" name="Shape 0"/>
          <p:cNvSpPr/>
          <p:nvPr/>
        </p:nvSpPr>
        <p:spPr>
          <a:xfrm>
            <a:off x="612648" y="6437376"/>
            <a:ext cx="0" cy="201168"/>
          </a:xfrm>
          <a:prstGeom prst="line">
            <a:avLst/>
          </a:prstGeom>
          <a:noFill/>
          <a:ln w="9525">
            <a:solidFill>
              <a:srgbClr val="00357A"/>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TERIOR_DARK">
    <p:bg>
      <p:bgPr>
        <a:solidFill>
          <a:srgbClr val="0057C2"/>
        </a:solidFill>
      </p:bgPr>
    </p:bg>
    <p:spTree>
      <p:nvGrpSpPr>
        <p:cNvPr id="1" name=""/>
        <p:cNvGrpSpPr/>
        <p:nvPr/>
      </p:nvGrpSpPr>
      <p:grpSpPr>
        <a:xfrm>
          <a:off x="0" y="0"/>
          <a:ext cx="0" cy="0"/>
          <a:chOff x="0" y="0"/>
          <a:chExt cx="0" cy="0"/>
        </a:xfrm>
      </p:grpSpPr>
      <p:pic>
        <p:nvPicPr>
          <p:cNvPr id="2" name="Image 0" descr="interior_bg.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nsf_ncar_logo_white.png">    </p:cNvPr>
          <p:cNvPicPr>
            <a:picLocks noChangeAspect="1"/>
          </p:cNvPicPr>
          <p:nvPr/>
        </p:nvPicPr>
        <p:blipFill>
          <a:blip r:embed="rId2"/>
          <a:stretch>
            <a:fillRect/>
          </a:stretch>
        </p:blipFill>
        <p:spPr>
          <a:xfrm>
            <a:off x="9683496" y="402336"/>
            <a:ext cx="1892808" cy="521208"/>
          </a:xfrm>
          <a:prstGeom prst="rect">
            <a:avLst/>
          </a:prstGeom>
        </p:spPr>
      </p:pic>
      <p:pic>
        <p:nvPicPr>
          <p:cNvPr id="4" name="Image 2" descr="gdex_lockup_white.png">    </p:cNvPr>
          <p:cNvPicPr>
            <a:picLocks noChangeAspect="1"/>
          </p:cNvPicPr>
          <p:nvPr/>
        </p:nvPicPr>
        <p:blipFill>
          <a:blip r:embed="rId3"/>
          <a:stretch>
            <a:fillRect/>
          </a:stretch>
        </p:blipFill>
        <p:spPr>
          <a:xfrm>
            <a:off x="10616184" y="6126480"/>
            <a:ext cx="960120" cy="484632"/>
          </a:xfrm>
          <a:prstGeom prst="rect">
            <a:avLst/>
          </a:prstGeom>
        </p:spPr>
      </p:pic>
      <p:sp>
        <p:nvSpPr>
          <p:cNvPr id="5" name="Shape 0"/>
          <p:cNvSpPr/>
          <p:nvPr/>
        </p:nvSpPr>
        <p:spPr>
          <a:xfrm>
            <a:off x="612648" y="6437376"/>
            <a:ext cx="0" cy="201168"/>
          </a:xfrm>
          <a:prstGeom prst="line">
            <a:avLst/>
          </a:prstGeom>
          <a:noFill/>
          <a:ln w="9525">
            <a:solidFill>
              <a:srgbClr val="FFFFFF"/>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NCAR/rda-python-dsquasar" TargetMode="External"/><Relationship Id="rId2" Type="http://schemas.openxmlformats.org/officeDocument/2006/relationships/hyperlink" Target="https://pypi.org/project/rda-python-dsquasar" TargetMode="External"/><Relationship Id="rId3" Type="http://schemas.openxmlformats.org/officeDocument/2006/relationships/hyperlink" Target="https://github.com/NCAR/rda-python-dsquasar" TargetMode="External"/><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dex.ucar.edu/rda_pg_config/"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gdex.ucar.edu/rda_pg_config/" TargetMode="Externa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gdex.ucar.edu/rda_pg_config/" TargetMode="Externa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4" Type="http://schemas.openxmlformats.org/officeDocument/2006/relationships/hyperlink" Target="https://github.com/NCAR/rda-python-dsquasar" TargetMode="External"/><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1837"/>
        </a:solidFill>
      </p:bgPr>
    </p:bg>
    <p:spTree>
      <p:nvGrpSpPr>
        <p:cNvPr id="1" name=""/>
        <p:cNvGrpSpPr/>
        <p:nvPr/>
      </p:nvGrpSpPr>
      <p:grpSpPr>
        <a:xfrm>
          <a:off x="0" y="0"/>
          <a:ext cx="0" cy="0"/>
          <a:chOff x="0" y="0"/>
          <a:chExt cx="0" cy="0"/>
        </a:xfrm>
      </p:grpSpPr>
      <p:pic>
        <p:nvPicPr>
          <p:cNvPr id="2" name="Image 0" descr="cover_earth.jpg">    </p:cNvPr>
          <p:cNvPicPr>
            <a:picLocks noChangeAspect="1"/>
          </p:cNvPicPr>
          <p:nvPr/>
        </p:nvPicPr>
        <p:blipFill>
          <a:blip r:embed="rId1"/>
          <a:stretch>
            <a:fillRect/>
          </a:stretch>
        </p:blipFill>
        <p:spPr>
          <a:xfrm>
            <a:off x="3081528" y="0"/>
            <a:ext cx="9107424" cy="6858000"/>
          </a:xfrm>
          <a:prstGeom prst="rect">
            <a:avLst/>
          </a:prstGeom>
        </p:spPr>
      </p:pic>
      <p:pic>
        <p:nvPicPr>
          <p:cNvPr id="3" name="Image 1" descr="cover_blue.png">    </p:cNvPr>
          <p:cNvPicPr>
            <a:picLocks noChangeAspect="1"/>
          </p:cNvPicPr>
          <p:nvPr/>
        </p:nvPicPr>
        <p:blipFill>
          <a:blip r:embed="rId2"/>
          <a:stretch>
            <a:fillRect/>
          </a:stretch>
        </p:blipFill>
        <p:spPr>
          <a:xfrm>
            <a:off x="0" y="0"/>
            <a:ext cx="8686800" cy="6858000"/>
          </a:xfrm>
          <a:prstGeom prst="rect">
            <a:avLst/>
          </a:prstGeom>
        </p:spPr>
      </p:pic>
      <p:pic>
        <p:nvPicPr>
          <p:cNvPr id="4" name="Image 2" descr="nsf_ncar_logo_white.png">    </p:cNvPr>
          <p:cNvPicPr>
            <a:picLocks noChangeAspect="1"/>
          </p:cNvPicPr>
          <p:nvPr/>
        </p:nvPicPr>
        <p:blipFill>
          <a:blip r:embed="rId3"/>
          <a:stretch>
            <a:fillRect/>
          </a:stretch>
        </p:blipFill>
        <p:spPr>
          <a:xfrm>
            <a:off x="841248" y="758952"/>
            <a:ext cx="3794760" cy="1042416"/>
          </a:xfrm>
          <a:prstGeom prst="rect">
            <a:avLst/>
          </a:prstGeom>
        </p:spPr>
      </p:pic>
      <p:pic>
        <p:nvPicPr>
          <p:cNvPr id="5" name="Image 3" descr="gdex_lockup_white.png">    </p:cNvPr>
          <p:cNvPicPr>
            <a:picLocks noChangeAspect="1"/>
          </p:cNvPicPr>
          <p:nvPr/>
        </p:nvPicPr>
        <p:blipFill>
          <a:blip r:embed="rId4"/>
          <a:stretch>
            <a:fillRect/>
          </a:stretch>
        </p:blipFill>
        <p:spPr>
          <a:xfrm>
            <a:off x="8247888" y="722376"/>
            <a:ext cx="2212848" cy="1115568"/>
          </a:xfrm>
          <a:prstGeom prst="rect">
            <a:avLst/>
          </a:prstGeom>
        </p:spPr>
      </p:pic>
      <p:sp>
        <p:nvSpPr>
          <p:cNvPr id="6" name="Shape 0"/>
          <p:cNvSpPr/>
          <p:nvPr/>
        </p:nvSpPr>
        <p:spPr>
          <a:xfrm>
            <a:off x="0" y="2258568"/>
            <a:ext cx="210312" cy="3429000"/>
          </a:xfrm>
          <a:prstGeom prst="rect">
            <a:avLst/>
          </a:prstGeom>
          <a:solidFill>
            <a:srgbClr val="FAA119"/>
          </a:solidFill>
          <a:ln/>
        </p:spPr>
      </p:sp>
      <p:sp>
        <p:nvSpPr>
          <p:cNvPr id="7" name="Text 1"/>
          <p:cNvSpPr/>
          <p:nvPr/>
        </p:nvSpPr>
        <p:spPr>
          <a:xfrm>
            <a:off x="923544" y="2002536"/>
            <a:ext cx="5029200" cy="274320"/>
          </a:xfrm>
          <a:prstGeom prst="rect">
            <a:avLst/>
          </a:prstGeom>
          <a:noFill/>
          <a:ln/>
        </p:spPr>
        <p:txBody>
          <a:bodyPr wrap="square" lIns="0" tIns="0" rIns="0" bIns="0" rtlCol="0" anchor="ctr"/>
          <a:lstStyle/>
          <a:p>
            <a:pPr indent="0" marL="0">
              <a:buNone/>
            </a:pPr>
            <a:r>
              <a:rPr lang="en-US" sz="1100" b="1" spc="100" kern="0" dirty="0">
                <a:solidFill>
                  <a:srgbClr val="FFFFFF"/>
                </a:solidFill>
                <a:latin typeface="Poppins" pitchFamily="34" charset="0"/>
                <a:ea typeface="Poppins" pitchFamily="34" charset="-122"/>
                <a:cs typeface="Poppins" pitchFamily="34" charset="-120"/>
              </a:rPr>
              <a:t>UPDATED AUGUST 2026</a:t>
            </a:r>
            <a:endParaRPr lang="en-US" sz="1100" dirty="0"/>
          </a:p>
        </p:txBody>
      </p:sp>
      <p:sp>
        <p:nvSpPr>
          <p:cNvPr id="8" name="Text 2"/>
          <p:cNvSpPr/>
          <p:nvPr/>
        </p:nvSpPr>
        <p:spPr>
          <a:xfrm>
            <a:off x="923544" y="2331720"/>
            <a:ext cx="5029200" cy="1691640"/>
          </a:xfrm>
          <a:prstGeom prst="rect">
            <a:avLst/>
          </a:prstGeom>
          <a:noFill/>
          <a:ln/>
        </p:spPr>
        <p:txBody>
          <a:bodyPr wrap="square" lIns="0" tIns="0" rIns="0" bIns="0" rtlCol="0" anchor="t"/>
          <a:lstStyle/>
          <a:p>
            <a:pPr indent="0" marL="0">
              <a:lnSpc>
                <a:spcPct val="95000"/>
              </a:lnSpc>
              <a:buNone/>
            </a:pPr>
            <a:r>
              <a:rPr lang="en-US" sz="2900" b="1" dirty="0">
                <a:solidFill>
                  <a:srgbClr val="FFFFFF"/>
                </a:solidFill>
                <a:latin typeface="Poppins" pitchFamily="34" charset="0"/>
                <a:ea typeface="Poppins" pitchFamily="34" charset="-122"/>
                <a:cs typeface="Poppins" pitchFamily="34" charset="-120"/>
              </a:rPr>
              <a:t>dsquasar: Backing Up the GDEX Archive onto Quasar</a:t>
            </a:r>
            <a:endParaRPr lang="en-US" sz="2900" dirty="0"/>
          </a:p>
        </p:txBody>
      </p:sp>
      <p:sp>
        <p:nvSpPr>
          <p:cNvPr id="9" name="Text 3"/>
          <p:cNvSpPr/>
          <p:nvPr/>
        </p:nvSpPr>
        <p:spPr>
          <a:xfrm>
            <a:off x="923544" y="4069080"/>
            <a:ext cx="5029200" cy="365760"/>
          </a:xfrm>
          <a:prstGeom prst="rect">
            <a:avLst/>
          </a:prstGeom>
          <a:noFill/>
          <a:ln/>
        </p:spPr>
        <p:txBody>
          <a:bodyPr wrap="square" lIns="0" tIns="0" rIns="0" bIns="0" rtlCol="0" anchor="ctr"/>
          <a:lstStyle/>
          <a:p>
            <a:pPr indent="0" marL="0">
              <a:buNone/>
            </a:pPr>
            <a:r>
              <a:rPr lang="en-US" sz="1300" b="1" dirty="0">
                <a:solidFill>
                  <a:srgbClr val="FFFFFF"/>
                </a:solidFill>
                <a:latin typeface="Poppins" pitchFamily="34" charset="0"/>
                <a:ea typeface="Poppins" pitchFamily="34" charset="-122"/>
                <a:cs typeface="Poppins" pitchFamily="34" charset="-120"/>
              </a:rPr>
              <a:t>Gather → List → Tar → Transfer, tracked end-to-end in GDEXDB</a:t>
            </a:r>
            <a:endParaRPr lang="en-US" sz="1300" dirty="0"/>
          </a:p>
        </p:txBody>
      </p:sp>
      <p:sp>
        <p:nvSpPr>
          <p:cNvPr id="10" name="Shape 4"/>
          <p:cNvSpPr/>
          <p:nvPr/>
        </p:nvSpPr>
        <p:spPr>
          <a:xfrm>
            <a:off x="923544" y="4581144"/>
            <a:ext cx="804672" cy="0"/>
          </a:xfrm>
          <a:prstGeom prst="line">
            <a:avLst/>
          </a:prstGeom>
          <a:noFill/>
          <a:ln w="38100">
            <a:solidFill>
              <a:srgbClr val="42C0FF"/>
            </a:solidFill>
            <a:prstDash val="solid"/>
          </a:ln>
        </p:spPr>
      </p:sp>
      <p:sp>
        <p:nvSpPr>
          <p:cNvPr id="11" name="Text 5"/>
          <p:cNvSpPr/>
          <p:nvPr/>
        </p:nvSpPr>
        <p:spPr>
          <a:xfrm>
            <a:off x="923544" y="4828032"/>
            <a:ext cx="5029200" cy="320040"/>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Zaihua Ji</a:t>
            </a:r>
            <a:endParaRPr lang="en-US" sz="1600" dirty="0"/>
          </a:p>
        </p:txBody>
      </p:sp>
      <p:sp>
        <p:nvSpPr>
          <p:cNvPr id="12" name="Text 6"/>
          <p:cNvSpPr/>
          <p:nvPr/>
        </p:nvSpPr>
        <p:spPr>
          <a:xfrm>
            <a:off x="923544" y="5148072"/>
            <a:ext cx="5029200" cy="320040"/>
          </a:xfrm>
          <a:prstGeom prst="rect">
            <a:avLst/>
          </a:prstGeom>
          <a:noFill/>
          <a:ln/>
        </p:spPr>
        <p:txBody>
          <a:bodyPr wrap="square" lIns="0" tIns="0" rIns="0" bIns="0" rtlCol="0" anchor="ctr"/>
          <a:lstStyle/>
          <a:p>
            <a:pPr indent="0" marL="0">
              <a:buNone/>
            </a:pPr>
            <a:r>
              <a:rPr lang="en-US" sz="1600" dirty="0">
                <a:solidFill>
                  <a:srgbClr val="FFFFFF"/>
                </a:solidFill>
                <a:latin typeface="Poppins" pitchFamily="34" charset="0"/>
                <a:ea typeface="Poppins" pitchFamily="34" charset="-122"/>
                <a:cs typeface="Poppins" pitchFamily="34" charset="-120"/>
              </a:rPr>
              <a:t>Software Engineer  •  zji@ucar.edu</a:t>
            </a:r>
            <a:endParaRPr lang="en-US" sz="1600" dirty="0"/>
          </a:p>
        </p:txBody>
      </p:sp>
      <p:sp>
        <p:nvSpPr>
          <p:cNvPr id="13" name="Text 7"/>
          <p:cNvSpPr/>
          <p:nvPr/>
        </p:nvSpPr>
        <p:spPr>
          <a:xfrm>
            <a:off x="923544" y="5559552"/>
            <a:ext cx="5029200" cy="457200"/>
          </a:xfrm>
          <a:prstGeom prst="rect">
            <a:avLst/>
          </a:prstGeom>
          <a:noFill/>
          <a:ln/>
        </p:spPr>
        <p:txBody>
          <a:bodyPr wrap="square" lIns="0" tIns="0" rIns="0" bIns="0" rtlCol="0" anchor="ctr"/>
          <a:lstStyle/>
          <a:p>
            <a:pPr indent="0" marL="0">
              <a:lnSpc>
                <a:spcPct val="110000"/>
              </a:lnSpc>
              <a:buNone/>
            </a:pPr>
            <a:r>
              <a:rPr lang="en-US" sz="950" dirty="0">
                <a:solidFill>
                  <a:srgbClr val="FFFFFF"/>
                </a:solidFill>
                <a:latin typeface="Poppins" pitchFamily="34" charset="0"/>
                <a:ea typeface="Poppins" pitchFamily="34" charset="-122"/>
                <a:cs typeface="Poppins" pitchFamily="34" charset="-120"/>
              </a:rPr>
              <a:t>BACKUP &amp; DISASTER RECOVERY • BATCH OPERATIONS • COMPANION UTILITY TO DSARCH</a:t>
            </a:r>
            <a:endParaRPr lang="en-US" sz="950" dirty="0"/>
          </a:p>
        </p:txBody>
      </p:sp>
      <p:sp>
        <p:nvSpPr>
          <p:cNvPr id="14" name="Text 8"/>
          <p:cNvSpPr/>
          <p:nvPr/>
        </p:nvSpPr>
        <p:spPr>
          <a:xfrm>
            <a:off x="923544" y="6217920"/>
            <a:ext cx="5029200" cy="411480"/>
          </a:xfrm>
          <a:prstGeom prst="rect">
            <a:avLst/>
          </a:prstGeom>
          <a:noFill/>
          <a:ln/>
        </p:spPr>
        <p:txBody>
          <a:bodyPr wrap="square" lIns="0" tIns="0" rIns="0" bIns="0" rtlCol="0" anchor="ctr"/>
          <a:lstStyle/>
          <a:p>
            <a:pPr indent="0" marL="0">
              <a:lnSpc>
                <a:spcPct val="110000"/>
              </a:lnSpc>
              <a:buNone/>
            </a:pPr>
            <a:r>
              <a:rPr lang="en-US" sz="700" i="1" dirty="0">
                <a:solidFill>
                  <a:srgbClr val="FFFFFF"/>
                </a:solidFill>
                <a:latin typeface="Poppins" pitchFamily="34" charset="0"/>
                <a:ea typeface="Poppins" pitchFamily="34" charset="-122"/>
                <a:cs typeface="Poppins" pitchFamily="34" charset="-120"/>
              </a:rPr>
              <a:t>Tars are built through dsarch AQ, uploaded through dsglobus, and scheduled by dscheck — every step tracked in GDEXDB.</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2DB"/>
                </a:solidFill>
                <a:latin typeface="Poppins" pitchFamily="34" charset="0"/>
                <a:ea typeface="Poppins" pitchFamily="34" charset="-122"/>
                <a:cs typeface="Poppins" pitchFamily="34" charset="-120"/>
              </a:rPr>
              <a:t>OVERVIEW</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What is dsquasar?</a:t>
            </a:r>
            <a:endParaRPr lang="en-US" sz="3200" dirty="0"/>
          </a:p>
        </p:txBody>
      </p:sp>
      <p:sp>
        <p:nvSpPr>
          <p:cNvPr id="4" name="Text 2"/>
          <p:cNvSpPr/>
          <p:nvPr/>
        </p:nvSpPr>
        <p:spPr>
          <a:xfrm>
            <a:off x="457200" y="1481328"/>
            <a:ext cx="4846320" cy="1737360"/>
          </a:xfrm>
          <a:prstGeom prst="rect">
            <a:avLst/>
          </a:prstGeom>
          <a:noFill/>
          <a:ln/>
        </p:spPr>
        <p:txBody>
          <a:bodyPr wrap="square" lIns="0" tIns="0" rIns="0" bIns="0" rtlCol="0" anchor="t"/>
          <a:lstStyle/>
          <a:p>
            <a:pPr indent="0" marL="0">
              <a:lnSpc>
                <a:spcPct val="112000"/>
              </a:lnSpc>
              <a:buNone/>
            </a:pPr>
            <a:r>
              <a:rPr lang="en-US" sz="1500" b="1" dirty="0">
                <a:solidFill>
                  <a:srgbClr val="0057C2"/>
                </a:solidFill>
                <a:latin typeface="Poppins" pitchFamily="34" charset="0"/>
                <a:ea typeface="Poppins" pitchFamily="34" charset="-122"/>
                <a:cs typeface="Poppins" pitchFamily="34" charset="-120"/>
              </a:rPr>
              <a:t>dsquasar</a:t>
            </a:r>
            <a:pPr indent="0" marL="0">
              <a:lnSpc>
                <a:spcPct val="112000"/>
              </a:lnSpc>
              <a:buNone/>
            </a:pPr>
            <a:r>
              <a:rPr lang="en-US" sz="1500" dirty="0">
                <a:solidFill>
                  <a:srgbClr val="00357A"/>
                </a:solidFill>
                <a:latin typeface="Poppins" pitchFamily="34" charset="0"/>
                <a:ea typeface="Poppins" pitchFamily="34" charset="-122"/>
                <a:cs typeface="Poppins" pitchFamily="34" charset="-120"/>
              </a:rPr>
              <a:t> keeps a </a:t>
            </a:r>
            <a:pPr indent="0" marL="0">
              <a:lnSpc>
                <a:spcPct val="112000"/>
              </a:lnSpc>
              <a:buNone/>
            </a:pPr>
            <a:r>
              <a:rPr lang="en-US" sz="1500" b="1" dirty="0">
                <a:solidFill>
                  <a:srgbClr val="00357A"/>
                </a:solidFill>
                <a:latin typeface="Poppins" pitchFamily="34" charset="0"/>
                <a:ea typeface="Poppins" pitchFamily="34" charset="-122"/>
                <a:cs typeface="Poppins" pitchFamily="34" charset="-120"/>
              </a:rPr>
              <a:t>tape copy of the whole GDEX archive</a:t>
            </a:r>
            <a:pPr indent="0" marL="0">
              <a:lnSpc>
                <a:spcPct val="112000"/>
              </a:lnSpc>
              <a:buNone/>
            </a:pPr>
            <a:r>
              <a:rPr lang="en-US" sz="1500" dirty="0">
                <a:solidFill>
                  <a:srgbClr val="00357A"/>
                </a:solidFill>
                <a:latin typeface="Poppins" pitchFamily="34" charset="0"/>
                <a:ea typeface="Poppins" pitchFamily="34" charset="-122"/>
                <a:cs typeface="Poppins" pitchFamily="34" charset="-120"/>
              </a:rPr>
              <a:t>. It finds files never backed up, bundles them into large tar files with </a:t>
            </a:r>
            <a:pPr indent="0" marL="0">
              <a:lnSpc>
                <a:spcPct val="112000"/>
              </a:lnSpc>
              <a:buNone/>
            </a:pPr>
            <a:r>
              <a:rPr lang="en-US" sz="1500" b="1" dirty="0">
                <a:solidFill>
                  <a:srgbClr val="0057C2"/>
                </a:solidFill>
                <a:latin typeface="Courier New" pitchFamily="34" charset="0"/>
                <a:ea typeface="Courier New" pitchFamily="34" charset="-122"/>
                <a:cs typeface="Courier New" pitchFamily="34" charset="-120"/>
              </a:rPr>
              <a:t>dsarch AQ</a:t>
            </a:r>
            <a:pPr indent="0" marL="0">
              <a:lnSpc>
                <a:spcPct val="112000"/>
              </a:lnSpc>
              <a:buNone/>
            </a:pPr>
            <a:r>
              <a:rPr lang="en-US" sz="1500" dirty="0">
                <a:solidFill>
                  <a:srgbClr val="00357A"/>
                </a:solidFill>
                <a:latin typeface="Poppins" pitchFamily="34" charset="0"/>
                <a:ea typeface="Poppins" pitchFamily="34" charset="-122"/>
                <a:cs typeface="Poppins" pitchFamily="34" charset="-120"/>
              </a:rPr>
              <a:t>, then uploads many tars at once to the Quasar end points with </a:t>
            </a:r>
            <a:pPr indent="0" marL="0">
              <a:lnSpc>
                <a:spcPct val="112000"/>
              </a:lnSpc>
              <a:buNone/>
            </a:pPr>
            <a:r>
              <a:rPr lang="en-US" sz="1500" b="1" dirty="0">
                <a:solidFill>
                  <a:srgbClr val="0057C2"/>
                </a:solidFill>
                <a:latin typeface="Courier New" pitchFamily="34" charset="0"/>
                <a:ea typeface="Courier New" pitchFamily="34" charset="-122"/>
                <a:cs typeface="Courier New" pitchFamily="34" charset="-120"/>
              </a:rPr>
              <a:t>dsglobus</a:t>
            </a:r>
            <a:pPr indent="0" marL="0">
              <a:lnSpc>
                <a:spcPct val="112000"/>
              </a:lnSpc>
              <a:buNone/>
            </a:pPr>
            <a:r>
              <a:rPr lang="en-US" sz="1500" dirty="0">
                <a:solidFill>
                  <a:srgbClr val="00357A"/>
                </a:solidFill>
                <a:latin typeface="Poppins" pitchFamily="34" charset="0"/>
                <a:ea typeface="Poppins" pitchFamily="34" charset="-122"/>
                <a:cs typeface="Poppins" pitchFamily="34" charset="-120"/>
              </a:rPr>
              <a:t>.</a:t>
            </a:r>
            <a:endParaRPr lang="en-US" sz="1500" dirty="0"/>
          </a:p>
        </p:txBody>
      </p:sp>
      <p:sp>
        <p:nvSpPr>
          <p:cNvPr id="5" name="Shape 3"/>
          <p:cNvSpPr/>
          <p:nvPr/>
        </p:nvSpPr>
        <p:spPr>
          <a:xfrm>
            <a:off x="457200" y="3337560"/>
            <a:ext cx="4846320" cy="2697480"/>
          </a:xfrm>
          <a:prstGeom prst="roundRect">
            <a:avLst>
              <a:gd name="adj" fmla="val 3390"/>
            </a:avLst>
          </a:prstGeom>
          <a:solidFill>
            <a:srgbClr val="DCEBF7"/>
          </a:solidFill>
          <a:ln w="12700">
            <a:solidFill>
              <a:srgbClr val="A9D6F2"/>
            </a:solidFill>
            <a:prstDash val="solid"/>
          </a:ln>
        </p:spPr>
      </p:sp>
      <p:sp>
        <p:nvSpPr>
          <p:cNvPr id="6" name="Shape 4"/>
          <p:cNvSpPr/>
          <p:nvPr/>
        </p:nvSpPr>
        <p:spPr>
          <a:xfrm>
            <a:off x="457200" y="3337560"/>
            <a:ext cx="109728" cy="2697480"/>
          </a:xfrm>
          <a:prstGeom prst="rect">
            <a:avLst/>
          </a:prstGeom>
          <a:solidFill>
            <a:srgbClr val="0057C2"/>
          </a:solidFill>
          <a:ln/>
        </p:spPr>
      </p:sp>
      <p:sp>
        <p:nvSpPr>
          <p:cNvPr id="7" name="Text 5"/>
          <p:cNvSpPr/>
          <p:nvPr/>
        </p:nvSpPr>
        <p:spPr>
          <a:xfrm>
            <a:off x="731520" y="3493008"/>
            <a:ext cx="4434840" cy="365760"/>
          </a:xfrm>
          <a:prstGeom prst="rect">
            <a:avLst/>
          </a:prstGeom>
          <a:noFill/>
          <a:ln/>
        </p:spPr>
        <p:txBody>
          <a:bodyPr wrap="square" lIns="0" tIns="0" rIns="0" bIns="0" rtlCol="0" anchor="ctr"/>
          <a:lstStyle/>
          <a:p>
            <a:pPr indent="0" marL="0">
              <a:buNone/>
            </a:pPr>
            <a:r>
              <a:rPr lang="en-US" sz="1450" b="1" dirty="0">
                <a:solidFill>
                  <a:srgbClr val="0057C2"/>
                </a:solidFill>
                <a:latin typeface="Poppins" pitchFamily="34" charset="0"/>
                <a:ea typeface="Poppins" pitchFamily="34" charset="-122"/>
                <a:cs typeface="Poppins" pitchFamily="34" charset="-120"/>
              </a:rPr>
              <a:t>Driven entirely by GDEXDB flags</a:t>
            </a:r>
            <a:endParaRPr lang="en-US" sz="1450" dirty="0"/>
          </a:p>
        </p:txBody>
      </p:sp>
      <p:sp>
        <p:nvSpPr>
          <p:cNvPr id="8" name="Shape 6"/>
          <p:cNvSpPr/>
          <p:nvPr/>
        </p:nvSpPr>
        <p:spPr>
          <a:xfrm>
            <a:off x="731520" y="3877056"/>
            <a:ext cx="4279392" cy="0"/>
          </a:xfrm>
          <a:prstGeom prst="line">
            <a:avLst/>
          </a:prstGeom>
          <a:noFill/>
          <a:ln w="12700">
            <a:solidFill>
              <a:srgbClr val="A9D6F2"/>
            </a:solidFill>
            <a:prstDash val="solid"/>
          </a:ln>
        </p:spPr>
      </p:sp>
      <p:sp>
        <p:nvSpPr>
          <p:cNvPr id="9" name="Text 7"/>
          <p:cNvSpPr/>
          <p:nvPr/>
        </p:nvSpPr>
        <p:spPr>
          <a:xfrm>
            <a:off x="731520" y="3986784"/>
            <a:ext cx="4389120" cy="1920240"/>
          </a:xfrm>
          <a:prstGeom prst="rect">
            <a:avLst/>
          </a:prstGeom>
          <a:noFill/>
          <a:ln/>
        </p:spPr>
        <p:txBody>
          <a:bodyPr wrap="square" lIns="0" tIns="0" rIns="0" bIns="0" rtlCol="0" anchor="t"/>
          <a:lstStyle/>
          <a:p>
            <a:pPr marL="190500" indent="-190500">
              <a:lnSpc>
                <a:spcPct val="106000"/>
              </a:lnSpc>
              <a:spcAft>
                <a:spcPts val="700"/>
              </a:spcAft>
              <a:buSzPct val="100000"/>
              <a:buChar char="•"/>
            </a:pPr>
            <a:r>
              <a:rPr lang="en-US" sz="1200" dirty="0">
                <a:solidFill>
                  <a:srgbClr val="00357A"/>
                </a:solidFill>
                <a:latin typeface="Poppins" pitchFamily="34" charset="0"/>
                <a:ea typeface="Poppins" pitchFamily="34" charset="-122"/>
                <a:cs typeface="Poppins" pitchFamily="34" charset="-120"/>
              </a:rPr>
              <a:t>Nothing is configured per run: a dataset joins the backup when </a:t>
            </a:r>
            <a:pPr indent="0" marL="0">
              <a:lnSpc>
                <a:spcPct val="106000"/>
              </a:lnSpc>
              <a:spcAft>
                <a:spcPts val="700"/>
              </a:spcAft>
              <a:buNone/>
            </a:pPr>
            <a:r>
              <a:rPr lang="en-US" sz="1200" b="1" dirty="0">
                <a:solidFill>
                  <a:srgbClr val="0057C2"/>
                </a:solidFill>
                <a:latin typeface="Courier New" pitchFamily="34" charset="0"/>
                <a:ea typeface="Courier New" pitchFamily="34" charset="-122"/>
                <a:cs typeface="Courier New" pitchFamily="34" charset="-120"/>
              </a:rPr>
              <a:t>dataset.backflag</a:t>
            </a:r>
            <a:pPr indent="0" marL="0">
              <a:lnSpc>
                <a:spcPct val="106000"/>
              </a:lnSpc>
              <a:spcAft>
                <a:spcPts val="700"/>
              </a:spcAft>
              <a:buNone/>
            </a:pPr>
            <a:r>
              <a:rPr lang="en-US" sz="1200" dirty="0">
                <a:solidFill>
                  <a:srgbClr val="00357A"/>
                </a:solidFill>
                <a:latin typeface="Poppins" pitchFamily="34" charset="0"/>
                <a:ea typeface="Poppins" pitchFamily="34" charset="-122"/>
                <a:cs typeface="Poppins" pitchFamily="34" charset="-120"/>
              </a:rPr>
              <a:t> is set; </a:t>
            </a:r>
            <a:pPr indent="0" marL="0">
              <a:lnSpc>
                <a:spcPct val="106000"/>
              </a:lnSpc>
              <a:spcAft>
                <a:spcPts val="700"/>
              </a:spcAft>
              <a:buNone/>
            </a:pPr>
            <a:r>
              <a:rPr lang="en-US" sz="1200" b="1" dirty="0">
                <a:solidFill>
                  <a:srgbClr val="0057C2"/>
                </a:solidFill>
                <a:latin typeface="Courier New" pitchFamily="34" charset="0"/>
                <a:ea typeface="Courier New" pitchFamily="34" charset="-122"/>
                <a:cs typeface="Courier New" pitchFamily="34" charset="-120"/>
              </a:rPr>
              <a:t>dsgroup.backflag</a:t>
            </a:r>
            <a:pPr indent="0" marL="0">
              <a:lnSpc>
                <a:spcPct val="106000"/>
              </a:lnSpc>
              <a:spcAft>
                <a:spcPts val="700"/>
              </a:spcAft>
              <a:buNone/>
            </a:pPr>
            <a:r>
              <a:rPr lang="en-US" sz="1200" dirty="0">
                <a:solidFill>
                  <a:srgbClr val="00357A"/>
                </a:solidFill>
                <a:latin typeface="Poppins" pitchFamily="34" charset="0"/>
                <a:ea typeface="Poppins" pitchFamily="34" charset="-122"/>
                <a:cs typeface="Poppins" pitchFamily="34" charset="-120"/>
              </a:rPr>
              <a:t> refines it per group.</a:t>
            </a:r>
            <a:endParaRPr lang="en-US" sz="1200" dirty="0"/>
          </a:p>
          <a:p>
            <a:pPr marL="190500" indent="-190500">
              <a:lnSpc>
                <a:spcPct val="106000"/>
              </a:lnSpc>
              <a:spcAft>
                <a:spcPts val="700"/>
              </a:spcAft>
              <a:buSzPct val="100000"/>
              <a:buChar char="•"/>
            </a:pPr>
            <a:r>
              <a:rPr lang="en-US" sz="1200" dirty="0">
                <a:solidFill>
                  <a:srgbClr val="00357A"/>
                </a:solidFill>
                <a:latin typeface="Poppins" pitchFamily="34" charset="0"/>
                <a:ea typeface="Poppins" pitchFamily="34" charset="-122"/>
                <a:cs typeface="Poppins" pitchFamily="34" charset="-120"/>
              </a:rPr>
              <a:t>Any file with </a:t>
            </a:r>
            <a:pPr indent="0" marL="0">
              <a:lnSpc>
                <a:spcPct val="106000"/>
              </a:lnSpc>
              <a:spcAft>
                <a:spcPts val="700"/>
              </a:spcAft>
              <a:buNone/>
            </a:pPr>
            <a:r>
              <a:rPr lang="en-US" sz="1200" b="1" dirty="0">
                <a:solidFill>
                  <a:srgbClr val="0057C2"/>
                </a:solidFill>
                <a:latin typeface="Courier New" pitchFamily="34" charset="0"/>
                <a:ea typeface="Courier New" pitchFamily="34" charset="-122"/>
                <a:cs typeface="Courier New" pitchFamily="34" charset="-120"/>
              </a:rPr>
              <a:t>bid = 0</a:t>
            </a:r>
            <a:pPr indent="0" marL="0">
              <a:lnSpc>
                <a:spcPct val="106000"/>
              </a:lnSpc>
              <a:spcAft>
                <a:spcPts val="700"/>
              </a:spcAft>
              <a:buNone/>
            </a:pPr>
            <a:r>
              <a:rPr lang="en-US" sz="1200" dirty="0">
                <a:solidFill>
                  <a:srgbClr val="00357A"/>
                </a:solidFill>
                <a:latin typeface="Poppins" pitchFamily="34" charset="0"/>
                <a:ea typeface="Poppins" pitchFamily="34" charset="-122"/>
                <a:cs typeface="Poppins" pitchFamily="34" charset="-120"/>
              </a:rPr>
              <a:t> is not backed up yet, and is picked up automatically.</a:t>
            </a:r>
            <a:endParaRPr lang="en-US" sz="1200" dirty="0"/>
          </a:p>
          <a:p>
            <a:pPr marL="190500" indent="-190500">
              <a:lnSpc>
                <a:spcPct val="106000"/>
              </a:lnSpc>
              <a:spcAft>
                <a:spcPts val="700"/>
              </a:spcAft>
              <a:buSzPct val="100000"/>
              <a:buChar char="•"/>
            </a:pPr>
            <a:r>
              <a:rPr lang="en-US" sz="1200" dirty="0">
                <a:solidFill>
                  <a:srgbClr val="00357A"/>
                </a:solidFill>
                <a:latin typeface="Poppins" pitchFamily="34" charset="0"/>
                <a:ea typeface="Poppins" pitchFamily="34" charset="-122"/>
                <a:cs typeface="Poppins" pitchFamily="34" charset="-120"/>
              </a:rPr>
              <a:t>Every tar gets a </a:t>
            </a:r>
            <a:pPr indent="0" marL="0">
              <a:lnSpc>
                <a:spcPct val="106000"/>
              </a:lnSpc>
              <a:spcAft>
                <a:spcPts val="700"/>
              </a:spcAft>
              <a:buNone/>
            </a:pPr>
            <a:r>
              <a:rPr lang="en-US" sz="1200" b="1" dirty="0">
                <a:solidFill>
                  <a:srgbClr val="0057C2"/>
                </a:solidFill>
                <a:latin typeface="Courier New" pitchFamily="34" charset="0"/>
                <a:ea typeface="Courier New" pitchFamily="34" charset="-122"/>
                <a:cs typeface="Courier New" pitchFamily="34" charset="-120"/>
              </a:rPr>
              <a:t>bfile</a:t>
            </a:r>
            <a:pPr indent="0" marL="0">
              <a:lnSpc>
                <a:spcPct val="106000"/>
              </a:lnSpc>
              <a:spcAft>
                <a:spcPts val="700"/>
              </a:spcAft>
              <a:buNone/>
            </a:pPr>
            <a:r>
              <a:rPr lang="en-US" sz="1200" dirty="0">
                <a:solidFill>
                  <a:srgbClr val="00357A"/>
                </a:solidFill>
                <a:latin typeface="Poppins" pitchFamily="34" charset="0"/>
                <a:ea typeface="Poppins" pitchFamily="34" charset="-122"/>
                <a:cs typeface="Poppins" pitchFamily="34" charset="-120"/>
              </a:rPr>
              <a:t> record whose status tracks it from list to tape.</a:t>
            </a:r>
            <a:endParaRPr lang="en-US" sz="1200" dirty="0"/>
          </a:p>
          <a:p>
            <a:pPr marL="190500" indent="-190500">
              <a:lnSpc>
                <a:spcPct val="106000"/>
              </a:lnSpc>
              <a:spcAft>
                <a:spcPts val="700"/>
              </a:spcAft>
              <a:buSzPct val="100000"/>
              <a:buChar char="•"/>
            </a:pPr>
            <a:r>
              <a:rPr lang="en-US" sz="1200" dirty="0">
                <a:solidFill>
                  <a:srgbClr val="00357A"/>
                </a:solidFill>
                <a:latin typeface="Poppins" pitchFamily="34" charset="0"/>
                <a:ea typeface="Poppins" pitchFamily="34" charset="-122"/>
                <a:cs typeface="Poppins" pitchFamily="34" charset="-120"/>
              </a:rPr>
              <a:t>Work is resumable: a run that stops leaves its pending records behind.</a:t>
            </a:r>
            <a:endParaRPr lang="en-US" sz="1200" dirty="0"/>
          </a:p>
        </p:txBody>
      </p:sp>
      <p:sp>
        <p:nvSpPr>
          <p:cNvPr id="10" name="Shape 8"/>
          <p:cNvSpPr/>
          <p:nvPr/>
        </p:nvSpPr>
        <p:spPr>
          <a:xfrm>
            <a:off x="5715000" y="1508760"/>
            <a:ext cx="3063240" cy="1417320"/>
          </a:xfrm>
          <a:prstGeom prst="roundRect">
            <a:avLst>
              <a:gd name="adj" fmla="val 5161"/>
            </a:avLst>
          </a:prstGeom>
          <a:solidFill>
            <a:srgbClr val="FFFFFF"/>
          </a:solidFill>
          <a:ln w="12700">
            <a:solidFill>
              <a:srgbClr val="A9D6F2"/>
            </a:solidFill>
            <a:prstDash val="solid"/>
          </a:ln>
          <a:effectLst>
            <a:outerShdw sx="100000" sy="100000" kx="0" ky="0" algn="bl" rotWithShape="0" blurRad="63500" dist="25400" dir="5400000">
              <a:srgbClr val="C3D7EE">
                <a:alpha val="35000"/>
              </a:srgbClr>
            </a:outerShdw>
          </a:effectLst>
        </p:spPr>
      </p:sp>
      <p:sp>
        <p:nvSpPr>
          <p:cNvPr id="11" name="Shape 9"/>
          <p:cNvSpPr/>
          <p:nvPr/>
        </p:nvSpPr>
        <p:spPr>
          <a:xfrm>
            <a:off x="5916168" y="1728216"/>
            <a:ext cx="566928" cy="566928"/>
          </a:xfrm>
          <a:prstGeom prst="ellipse">
            <a:avLst/>
          </a:prstGeom>
          <a:solidFill>
            <a:srgbClr val="0057C2"/>
          </a:solidFill>
          <a:ln/>
        </p:spPr>
      </p:sp>
      <p:sp>
        <p:nvSpPr>
          <p:cNvPr id="12" name="Text 10"/>
          <p:cNvSpPr/>
          <p:nvPr/>
        </p:nvSpPr>
        <p:spPr>
          <a:xfrm>
            <a:off x="5916168" y="172821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Poppins" pitchFamily="34" charset="0"/>
                <a:ea typeface="Poppins" pitchFamily="34" charset="-122"/>
                <a:cs typeface="Poppins" pitchFamily="34" charset="-120"/>
              </a:rPr>
              <a:t>⌕</a:t>
            </a:r>
            <a:endParaRPr lang="en-US" sz="2000" dirty="0"/>
          </a:p>
        </p:txBody>
      </p:sp>
      <p:sp>
        <p:nvSpPr>
          <p:cNvPr id="13" name="Text 11"/>
          <p:cNvSpPr/>
          <p:nvPr/>
        </p:nvSpPr>
        <p:spPr>
          <a:xfrm>
            <a:off x="6629400" y="1709928"/>
            <a:ext cx="2011680" cy="36576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Gather</a:t>
            </a:r>
            <a:endParaRPr lang="en-US" sz="1500" dirty="0"/>
          </a:p>
        </p:txBody>
      </p:sp>
      <p:sp>
        <p:nvSpPr>
          <p:cNvPr id="14" name="Text 12"/>
          <p:cNvSpPr/>
          <p:nvPr/>
        </p:nvSpPr>
        <p:spPr>
          <a:xfrm>
            <a:off x="6629400" y="2112264"/>
            <a:ext cx="2011680" cy="713232"/>
          </a:xfrm>
          <a:prstGeom prst="rect">
            <a:avLst/>
          </a:prstGeom>
          <a:noFill/>
          <a:ln/>
        </p:spPr>
        <p:txBody>
          <a:bodyPr wrap="square" lIns="0" tIns="0" rIns="0" bIns="0" rtlCol="0" anchor="t"/>
          <a:lstStyle/>
          <a:p>
            <a:pPr indent="0" marL="0">
              <a:lnSpc>
                <a:spcPct val="105000"/>
              </a:lnSpc>
              <a:buNone/>
            </a:pPr>
            <a:r>
              <a:rPr lang="en-US" sz="1200" dirty="0">
                <a:solidFill>
                  <a:srgbClr val="53565A"/>
                </a:solidFill>
                <a:latin typeface="Poppins" pitchFamily="34" charset="0"/>
                <a:ea typeface="Poppins" pitchFamily="34" charset="-122"/>
                <a:cs typeface="Poppins" pitchFamily="34" charset="-120"/>
              </a:rPr>
              <a:t>find Web/Saved files still to back up</a:t>
            </a:r>
            <a:endParaRPr lang="en-US" sz="1200" dirty="0"/>
          </a:p>
        </p:txBody>
      </p:sp>
      <p:sp>
        <p:nvSpPr>
          <p:cNvPr id="15" name="Shape 13"/>
          <p:cNvSpPr/>
          <p:nvPr/>
        </p:nvSpPr>
        <p:spPr>
          <a:xfrm>
            <a:off x="9006840" y="1508760"/>
            <a:ext cx="3063240" cy="1417320"/>
          </a:xfrm>
          <a:prstGeom prst="roundRect">
            <a:avLst>
              <a:gd name="adj" fmla="val 5161"/>
            </a:avLst>
          </a:prstGeom>
          <a:solidFill>
            <a:srgbClr val="FFFFFF"/>
          </a:solidFill>
          <a:ln w="12700">
            <a:solidFill>
              <a:srgbClr val="A9D6F2"/>
            </a:solidFill>
            <a:prstDash val="solid"/>
          </a:ln>
          <a:effectLst>
            <a:outerShdw sx="100000" sy="100000" kx="0" ky="0" algn="bl" rotWithShape="0" blurRad="63500" dist="25400" dir="5400000">
              <a:srgbClr val="C3D7EE">
                <a:alpha val="35000"/>
              </a:srgbClr>
            </a:outerShdw>
          </a:effectLst>
        </p:spPr>
      </p:sp>
      <p:sp>
        <p:nvSpPr>
          <p:cNvPr id="16" name="Shape 14"/>
          <p:cNvSpPr/>
          <p:nvPr/>
        </p:nvSpPr>
        <p:spPr>
          <a:xfrm>
            <a:off x="9208008" y="1728216"/>
            <a:ext cx="566928" cy="566928"/>
          </a:xfrm>
          <a:prstGeom prst="ellipse">
            <a:avLst/>
          </a:prstGeom>
          <a:solidFill>
            <a:srgbClr val="0092DB"/>
          </a:solidFill>
          <a:ln/>
        </p:spPr>
      </p:sp>
      <p:sp>
        <p:nvSpPr>
          <p:cNvPr id="17" name="Text 15"/>
          <p:cNvSpPr/>
          <p:nvPr/>
        </p:nvSpPr>
        <p:spPr>
          <a:xfrm>
            <a:off x="9208008" y="172821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Poppins" pitchFamily="34" charset="0"/>
                <a:ea typeface="Poppins" pitchFamily="34" charset="-122"/>
                <a:cs typeface="Poppins" pitchFamily="34" charset="-120"/>
              </a:rPr>
              <a:t>≡</a:t>
            </a:r>
            <a:endParaRPr lang="en-US" sz="2000" dirty="0"/>
          </a:p>
        </p:txBody>
      </p:sp>
      <p:sp>
        <p:nvSpPr>
          <p:cNvPr id="18" name="Text 16"/>
          <p:cNvSpPr/>
          <p:nvPr/>
        </p:nvSpPr>
        <p:spPr>
          <a:xfrm>
            <a:off x="9921240" y="1709928"/>
            <a:ext cx="2011680" cy="36576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List</a:t>
            </a:r>
            <a:endParaRPr lang="en-US" sz="1500" dirty="0"/>
          </a:p>
        </p:txBody>
      </p:sp>
      <p:sp>
        <p:nvSpPr>
          <p:cNvPr id="19" name="Text 17"/>
          <p:cNvSpPr/>
          <p:nvPr/>
        </p:nvSpPr>
        <p:spPr>
          <a:xfrm>
            <a:off x="9921240" y="2112264"/>
            <a:ext cx="2011680" cy="713232"/>
          </a:xfrm>
          <a:prstGeom prst="rect">
            <a:avLst/>
          </a:prstGeom>
          <a:noFill/>
          <a:ln/>
        </p:spPr>
        <p:txBody>
          <a:bodyPr wrap="square" lIns="0" tIns="0" rIns="0" bIns="0" rtlCol="0" anchor="t"/>
          <a:lstStyle/>
          <a:p>
            <a:pPr indent="0" marL="0">
              <a:lnSpc>
                <a:spcPct val="105000"/>
              </a:lnSpc>
              <a:buNone/>
            </a:pPr>
            <a:r>
              <a:rPr lang="en-US" sz="1200" dirty="0">
                <a:solidFill>
                  <a:srgbClr val="53565A"/>
                </a:solidFill>
                <a:latin typeface="Poppins" pitchFamily="34" charset="0"/>
                <a:ea typeface="Poppins" pitchFamily="34" charset="-122"/>
                <a:cs typeface="Poppins" pitchFamily="34" charset="-120"/>
              </a:rPr>
              <a:t>write dsarch input files, add bfile records</a:t>
            </a:r>
            <a:endParaRPr lang="en-US" sz="1200" dirty="0"/>
          </a:p>
        </p:txBody>
      </p:sp>
      <p:sp>
        <p:nvSpPr>
          <p:cNvPr id="20" name="Shape 18"/>
          <p:cNvSpPr/>
          <p:nvPr/>
        </p:nvSpPr>
        <p:spPr>
          <a:xfrm>
            <a:off x="5715000" y="3108960"/>
            <a:ext cx="3063240" cy="1417320"/>
          </a:xfrm>
          <a:prstGeom prst="roundRect">
            <a:avLst>
              <a:gd name="adj" fmla="val 5161"/>
            </a:avLst>
          </a:prstGeom>
          <a:solidFill>
            <a:srgbClr val="FFFFFF"/>
          </a:solidFill>
          <a:ln w="12700">
            <a:solidFill>
              <a:srgbClr val="A9D6F2"/>
            </a:solidFill>
            <a:prstDash val="solid"/>
          </a:ln>
          <a:effectLst>
            <a:outerShdw sx="100000" sy="100000" kx="0" ky="0" algn="bl" rotWithShape="0" blurRad="63500" dist="25400" dir="5400000">
              <a:srgbClr val="C3D7EE">
                <a:alpha val="35000"/>
              </a:srgbClr>
            </a:outerShdw>
          </a:effectLst>
        </p:spPr>
      </p:sp>
      <p:sp>
        <p:nvSpPr>
          <p:cNvPr id="21" name="Shape 19"/>
          <p:cNvSpPr/>
          <p:nvPr/>
        </p:nvSpPr>
        <p:spPr>
          <a:xfrm>
            <a:off x="5916168" y="3328416"/>
            <a:ext cx="566928" cy="566928"/>
          </a:xfrm>
          <a:prstGeom prst="ellipse">
            <a:avLst/>
          </a:prstGeom>
          <a:solidFill>
            <a:srgbClr val="0057C2"/>
          </a:solidFill>
          <a:ln/>
        </p:spPr>
      </p:sp>
      <p:sp>
        <p:nvSpPr>
          <p:cNvPr id="22" name="Text 20"/>
          <p:cNvSpPr/>
          <p:nvPr/>
        </p:nvSpPr>
        <p:spPr>
          <a:xfrm>
            <a:off x="5916168" y="332841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Poppins" pitchFamily="34" charset="0"/>
                <a:ea typeface="Poppins" pitchFamily="34" charset="-122"/>
                <a:cs typeface="Poppins" pitchFamily="34" charset="-120"/>
              </a:rPr>
              <a:t>▣</a:t>
            </a:r>
            <a:endParaRPr lang="en-US" sz="2000" dirty="0"/>
          </a:p>
        </p:txBody>
      </p:sp>
      <p:sp>
        <p:nvSpPr>
          <p:cNvPr id="23" name="Text 21"/>
          <p:cNvSpPr/>
          <p:nvPr/>
        </p:nvSpPr>
        <p:spPr>
          <a:xfrm>
            <a:off x="6629400" y="3310128"/>
            <a:ext cx="2011680" cy="36576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Tar</a:t>
            </a:r>
            <a:endParaRPr lang="en-US" sz="1500" dirty="0"/>
          </a:p>
        </p:txBody>
      </p:sp>
      <p:sp>
        <p:nvSpPr>
          <p:cNvPr id="24" name="Text 22"/>
          <p:cNvSpPr/>
          <p:nvPr/>
        </p:nvSpPr>
        <p:spPr>
          <a:xfrm>
            <a:off x="6629400" y="3712464"/>
            <a:ext cx="2011680" cy="713232"/>
          </a:xfrm>
          <a:prstGeom prst="rect">
            <a:avLst/>
          </a:prstGeom>
          <a:noFill/>
          <a:ln/>
        </p:spPr>
        <p:txBody>
          <a:bodyPr wrap="square" lIns="0" tIns="0" rIns="0" bIns="0" rtlCol="0" anchor="t"/>
          <a:lstStyle/>
          <a:p>
            <a:pPr indent="0" marL="0">
              <a:lnSpc>
                <a:spcPct val="105000"/>
              </a:lnSpc>
              <a:buNone/>
            </a:pPr>
            <a:r>
              <a:rPr lang="en-US" sz="1200" dirty="0">
                <a:solidFill>
                  <a:srgbClr val="53565A"/>
                </a:solidFill>
                <a:latin typeface="Poppins" pitchFamily="34" charset="0"/>
                <a:ea typeface="Poppins" pitchFamily="34" charset="-122"/>
                <a:cs typeface="Poppins" pitchFamily="34" charset="-120"/>
              </a:rPr>
              <a:t>bundle into &gt;=5 GB tar files via dsarch</a:t>
            </a:r>
            <a:endParaRPr lang="en-US" sz="1200" dirty="0"/>
          </a:p>
        </p:txBody>
      </p:sp>
      <p:sp>
        <p:nvSpPr>
          <p:cNvPr id="25" name="Shape 23"/>
          <p:cNvSpPr/>
          <p:nvPr/>
        </p:nvSpPr>
        <p:spPr>
          <a:xfrm>
            <a:off x="9006840" y="3108960"/>
            <a:ext cx="3063240" cy="1417320"/>
          </a:xfrm>
          <a:prstGeom prst="roundRect">
            <a:avLst>
              <a:gd name="adj" fmla="val 5161"/>
            </a:avLst>
          </a:prstGeom>
          <a:solidFill>
            <a:srgbClr val="FFFFFF"/>
          </a:solidFill>
          <a:ln w="12700">
            <a:solidFill>
              <a:srgbClr val="A9D6F2"/>
            </a:solidFill>
            <a:prstDash val="solid"/>
          </a:ln>
          <a:effectLst>
            <a:outerShdw sx="100000" sy="100000" kx="0" ky="0" algn="bl" rotWithShape="0" blurRad="63500" dist="25400" dir="5400000">
              <a:srgbClr val="C3D7EE">
                <a:alpha val="35000"/>
              </a:srgbClr>
            </a:outerShdw>
          </a:effectLst>
        </p:spPr>
      </p:sp>
      <p:sp>
        <p:nvSpPr>
          <p:cNvPr id="26" name="Shape 24"/>
          <p:cNvSpPr/>
          <p:nvPr/>
        </p:nvSpPr>
        <p:spPr>
          <a:xfrm>
            <a:off x="9208008" y="3328416"/>
            <a:ext cx="566928" cy="566928"/>
          </a:xfrm>
          <a:prstGeom prst="ellipse">
            <a:avLst/>
          </a:prstGeom>
          <a:solidFill>
            <a:srgbClr val="0092DB"/>
          </a:solidFill>
          <a:ln/>
        </p:spPr>
      </p:sp>
      <p:sp>
        <p:nvSpPr>
          <p:cNvPr id="27" name="Text 25"/>
          <p:cNvSpPr/>
          <p:nvPr/>
        </p:nvSpPr>
        <p:spPr>
          <a:xfrm>
            <a:off x="9208008" y="332841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Poppins" pitchFamily="34" charset="0"/>
                <a:ea typeface="Poppins" pitchFamily="34" charset="-122"/>
                <a:cs typeface="Poppins" pitchFamily="34" charset="-120"/>
              </a:rPr>
              <a:t>☁</a:t>
            </a:r>
            <a:endParaRPr lang="en-US" sz="2000" dirty="0"/>
          </a:p>
        </p:txBody>
      </p:sp>
      <p:sp>
        <p:nvSpPr>
          <p:cNvPr id="28" name="Text 26"/>
          <p:cNvSpPr/>
          <p:nvPr/>
        </p:nvSpPr>
        <p:spPr>
          <a:xfrm>
            <a:off x="9921240" y="3310128"/>
            <a:ext cx="2011680" cy="36576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Transfer</a:t>
            </a:r>
            <a:endParaRPr lang="en-US" sz="1500" dirty="0"/>
          </a:p>
        </p:txBody>
      </p:sp>
      <p:sp>
        <p:nvSpPr>
          <p:cNvPr id="29" name="Text 27"/>
          <p:cNvSpPr/>
          <p:nvPr/>
        </p:nvSpPr>
        <p:spPr>
          <a:xfrm>
            <a:off x="9921240" y="3712464"/>
            <a:ext cx="2011680" cy="713232"/>
          </a:xfrm>
          <a:prstGeom prst="rect">
            <a:avLst/>
          </a:prstGeom>
          <a:noFill/>
          <a:ln/>
        </p:spPr>
        <p:txBody>
          <a:bodyPr wrap="square" lIns="0" tIns="0" rIns="0" bIns="0" rtlCol="0" anchor="t"/>
          <a:lstStyle/>
          <a:p>
            <a:pPr indent="0" marL="0">
              <a:lnSpc>
                <a:spcPct val="105000"/>
              </a:lnSpc>
              <a:buNone/>
            </a:pPr>
            <a:r>
              <a:rPr lang="en-US" sz="1200" dirty="0">
                <a:solidFill>
                  <a:srgbClr val="53565A"/>
                </a:solidFill>
                <a:latin typeface="Poppins" pitchFamily="34" charset="0"/>
                <a:ea typeface="Poppins" pitchFamily="34" charset="-122"/>
                <a:cs typeface="Poppins" pitchFamily="34" charset="-120"/>
              </a:rPr>
              <a:t>dsglobus batches to gdex-quasar (+drdata)</a:t>
            </a:r>
            <a:endParaRPr lang="en-US" sz="1200" dirty="0"/>
          </a:p>
        </p:txBody>
      </p:sp>
      <p:sp>
        <p:nvSpPr>
          <p:cNvPr id="30" name="Shape 28"/>
          <p:cNvSpPr/>
          <p:nvPr/>
        </p:nvSpPr>
        <p:spPr>
          <a:xfrm>
            <a:off x="5715000" y="4709160"/>
            <a:ext cx="3063240" cy="1417320"/>
          </a:xfrm>
          <a:prstGeom prst="roundRect">
            <a:avLst>
              <a:gd name="adj" fmla="val 5161"/>
            </a:avLst>
          </a:prstGeom>
          <a:solidFill>
            <a:srgbClr val="FFFFFF"/>
          </a:solidFill>
          <a:ln w="12700">
            <a:solidFill>
              <a:srgbClr val="A9D6F2"/>
            </a:solidFill>
            <a:prstDash val="solid"/>
          </a:ln>
          <a:effectLst>
            <a:outerShdw sx="100000" sy="100000" kx="0" ky="0" algn="bl" rotWithShape="0" blurRad="63500" dist="25400" dir="5400000">
              <a:srgbClr val="C3D7EE">
                <a:alpha val="35000"/>
              </a:srgbClr>
            </a:outerShdw>
          </a:effectLst>
        </p:spPr>
      </p:sp>
      <p:sp>
        <p:nvSpPr>
          <p:cNvPr id="31" name="Shape 29"/>
          <p:cNvSpPr/>
          <p:nvPr/>
        </p:nvSpPr>
        <p:spPr>
          <a:xfrm>
            <a:off x="5916168" y="4928616"/>
            <a:ext cx="566928" cy="566928"/>
          </a:xfrm>
          <a:prstGeom prst="ellipse">
            <a:avLst/>
          </a:prstGeom>
          <a:solidFill>
            <a:srgbClr val="0057C2"/>
          </a:solidFill>
          <a:ln/>
        </p:spPr>
      </p:sp>
      <p:sp>
        <p:nvSpPr>
          <p:cNvPr id="32" name="Text 30"/>
          <p:cNvSpPr/>
          <p:nvPr/>
        </p:nvSpPr>
        <p:spPr>
          <a:xfrm>
            <a:off x="5916168" y="492861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Poppins" pitchFamily="34" charset="0"/>
                <a:ea typeface="Poppins" pitchFamily="34" charset="-122"/>
                <a:cs typeface="Poppins" pitchFamily="34" charset="-120"/>
              </a:rPr>
              <a:t>✓</a:t>
            </a:r>
            <a:endParaRPr lang="en-US" sz="2000" dirty="0"/>
          </a:p>
        </p:txBody>
      </p:sp>
      <p:sp>
        <p:nvSpPr>
          <p:cNvPr id="33" name="Text 31"/>
          <p:cNvSpPr/>
          <p:nvPr/>
        </p:nvSpPr>
        <p:spPr>
          <a:xfrm>
            <a:off x="6629400" y="4910328"/>
            <a:ext cx="2011680" cy="36576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Verify</a:t>
            </a:r>
            <a:endParaRPr lang="en-US" sz="1500" dirty="0"/>
          </a:p>
        </p:txBody>
      </p:sp>
      <p:sp>
        <p:nvSpPr>
          <p:cNvPr id="34" name="Text 32"/>
          <p:cNvSpPr/>
          <p:nvPr/>
        </p:nvSpPr>
        <p:spPr>
          <a:xfrm>
            <a:off x="6629400" y="5312664"/>
            <a:ext cx="2011680" cy="713232"/>
          </a:xfrm>
          <a:prstGeom prst="rect">
            <a:avLst/>
          </a:prstGeom>
          <a:noFill/>
          <a:ln/>
        </p:spPr>
        <p:txBody>
          <a:bodyPr wrap="square" lIns="0" tIns="0" rIns="0" bIns="0" rtlCol="0" anchor="t"/>
          <a:lstStyle/>
          <a:p>
            <a:pPr indent="0" marL="0">
              <a:lnSpc>
                <a:spcPct val="105000"/>
              </a:lnSpc>
              <a:buNone/>
            </a:pPr>
            <a:r>
              <a:rPr lang="en-US" sz="1200" dirty="0">
                <a:solidFill>
                  <a:srgbClr val="53565A"/>
                </a:solidFill>
                <a:latin typeface="Poppins" pitchFamily="34" charset="0"/>
                <a:ea typeface="Poppins" pitchFamily="34" charset="-122"/>
                <a:cs typeface="Poppins" pitchFamily="34" charset="-120"/>
              </a:rPr>
              <a:t>compare sizes on tape, reset if wrong</a:t>
            </a:r>
            <a:endParaRPr lang="en-US" sz="1200" dirty="0"/>
          </a:p>
        </p:txBody>
      </p:sp>
      <p:sp>
        <p:nvSpPr>
          <p:cNvPr id="35" name="Shape 33"/>
          <p:cNvSpPr/>
          <p:nvPr/>
        </p:nvSpPr>
        <p:spPr>
          <a:xfrm>
            <a:off x="9006840" y="4709160"/>
            <a:ext cx="3063240" cy="1417320"/>
          </a:xfrm>
          <a:prstGeom prst="roundRect">
            <a:avLst>
              <a:gd name="adj" fmla="val 5161"/>
            </a:avLst>
          </a:prstGeom>
          <a:solidFill>
            <a:srgbClr val="FFFFFF"/>
          </a:solidFill>
          <a:ln w="12700">
            <a:solidFill>
              <a:srgbClr val="A9D6F2"/>
            </a:solidFill>
            <a:prstDash val="solid"/>
          </a:ln>
          <a:effectLst>
            <a:outerShdw sx="100000" sy="100000" kx="0" ky="0" algn="bl" rotWithShape="0" blurRad="63500" dist="25400" dir="5400000">
              <a:srgbClr val="C3D7EE">
                <a:alpha val="35000"/>
              </a:srgbClr>
            </a:outerShdw>
          </a:effectLst>
        </p:spPr>
      </p:sp>
      <p:sp>
        <p:nvSpPr>
          <p:cNvPr id="36" name="Shape 34"/>
          <p:cNvSpPr/>
          <p:nvPr/>
        </p:nvSpPr>
        <p:spPr>
          <a:xfrm>
            <a:off x="9208008" y="4928616"/>
            <a:ext cx="566928" cy="566928"/>
          </a:xfrm>
          <a:prstGeom prst="ellipse">
            <a:avLst/>
          </a:prstGeom>
          <a:solidFill>
            <a:srgbClr val="0092DB"/>
          </a:solidFill>
          <a:ln/>
        </p:spPr>
      </p:sp>
      <p:sp>
        <p:nvSpPr>
          <p:cNvPr id="37" name="Text 35"/>
          <p:cNvSpPr/>
          <p:nvPr/>
        </p:nvSpPr>
        <p:spPr>
          <a:xfrm>
            <a:off x="9208008" y="492861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Poppins" pitchFamily="34" charset="0"/>
                <a:ea typeface="Poppins" pitchFamily="34" charset="-122"/>
                <a:cs typeface="Poppins" pitchFamily="34" charset="-120"/>
              </a:rPr>
              <a:t>▤</a:t>
            </a:r>
            <a:endParaRPr lang="en-US" sz="2000" dirty="0"/>
          </a:p>
        </p:txBody>
      </p:sp>
      <p:sp>
        <p:nvSpPr>
          <p:cNvPr id="38" name="Text 36"/>
          <p:cNvSpPr/>
          <p:nvPr/>
        </p:nvSpPr>
        <p:spPr>
          <a:xfrm>
            <a:off x="9921240" y="4910328"/>
            <a:ext cx="2011680" cy="36576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Report</a:t>
            </a:r>
            <a:endParaRPr lang="en-US" sz="1500" dirty="0"/>
          </a:p>
        </p:txBody>
      </p:sp>
      <p:sp>
        <p:nvSpPr>
          <p:cNvPr id="39" name="Text 37"/>
          <p:cNvSpPr/>
          <p:nvPr/>
        </p:nvSpPr>
        <p:spPr>
          <a:xfrm>
            <a:off x="9921240" y="5312664"/>
            <a:ext cx="2011680" cy="713232"/>
          </a:xfrm>
          <a:prstGeom prst="rect">
            <a:avLst/>
          </a:prstGeom>
          <a:noFill/>
          <a:ln/>
        </p:spPr>
        <p:txBody>
          <a:bodyPr wrap="square" lIns="0" tIns="0" rIns="0" bIns="0" rtlCol="0" anchor="t"/>
          <a:lstStyle/>
          <a:p>
            <a:pPr indent="0" marL="0">
              <a:lnSpc>
                <a:spcPct val="105000"/>
              </a:lnSpc>
              <a:buNone/>
            </a:pPr>
            <a:r>
              <a:rPr lang="en-US" sz="1200" dirty="0">
                <a:solidFill>
                  <a:srgbClr val="53565A"/>
                </a:solidFill>
                <a:latin typeface="Poppins" pitchFamily="34" charset="0"/>
                <a:ea typeface="Poppins" pitchFamily="34" charset="-122"/>
                <a:cs typeface="Poppins" pitchFamily="34" charset="-120"/>
              </a:rPr>
              <a:t>statistics &amp; email for specialists</a:t>
            </a:r>
            <a:endParaRPr lang="en-US" sz="1200" dirty="0"/>
          </a:p>
        </p:txBody>
      </p:sp>
      <p:sp>
        <p:nvSpPr>
          <p:cNvPr id="40" name="Text 38"/>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1</a:t>
            </a:r>
            <a:endParaRPr lang="en-US" sz="950" dirty="0"/>
          </a:p>
        </p:txBody>
      </p:sp>
      <p:sp>
        <p:nvSpPr>
          <p:cNvPr id="41" name="Text 39"/>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2DB"/>
                </a:solidFill>
                <a:latin typeface="Poppins" pitchFamily="34" charset="0"/>
                <a:ea typeface="Poppins" pitchFamily="34" charset="-122"/>
                <a:cs typeface="Poppins" pitchFamily="34" charset="-120"/>
              </a:rPr>
              <a:t>GET IT &amp; LEARN IT</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Install &amp; Resources</a:t>
            </a:r>
            <a:endParaRPr lang="en-US" sz="3200" dirty="0"/>
          </a:p>
        </p:txBody>
      </p:sp>
      <p:sp>
        <p:nvSpPr>
          <p:cNvPr id="4" name="Shape 2"/>
          <p:cNvSpPr/>
          <p:nvPr/>
        </p:nvSpPr>
        <p:spPr>
          <a:xfrm>
            <a:off x="457200" y="1691640"/>
            <a:ext cx="3602736" cy="3566160"/>
          </a:xfrm>
          <a:prstGeom prst="roundRect">
            <a:avLst>
              <a:gd name="adj" fmla="val 2051"/>
            </a:avLst>
          </a:prstGeom>
          <a:solidFill>
            <a:srgbClr val="FFFFFF"/>
          </a:solidFill>
          <a:ln w="12700">
            <a:solidFill>
              <a:srgbClr val="A9D6F2"/>
            </a:solidFill>
            <a:prstDash val="solid"/>
          </a:ln>
          <a:effectLst>
            <a:outerShdw sx="100000" sy="100000" kx="0" ky="0" algn="bl" rotWithShape="0" blurRad="63500" dist="25400" dir="5400000">
              <a:srgbClr val="C3D7EE">
                <a:alpha val="30000"/>
              </a:srgbClr>
            </a:outerShdw>
          </a:effectLst>
        </p:spPr>
      </p:sp>
      <p:sp>
        <p:nvSpPr>
          <p:cNvPr id="5" name="Shape 3"/>
          <p:cNvSpPr/>
          <p:nvPr/>
        </p:nvSpPr>
        <p:spPr>
          <a:xfrm>
            <a:off x="457200" y="1691640"/>
            <a:ext cx="3602736" cy="128016"/>
          </a:xfrm>
          <a:prstGeom prst="rect">
            <a:avLst/>
          </a:prstGeom>
          <a:solidFill>
            <a:srgbClr val="0057C2"/>
          </a:solidFill>
          <a:ln/>
        </p:spPr>
      </p:sp>
      <p:sp>
        <p:nvSpPr>
          <p:cNvPr id="6" name="Shape 4"/>
          <p:cNvSpPr/>
          <p:nvPr/>
        </p:nvSpPr>
        <p:spPr>
          <a:xfrm>
            <a:off x="731520" y="2075688"/>
            <a:ext cx="566928" cy="566928"/>
          </a:xfrm>
          <a:prstGeom prst="ellipse">
            <a:avLst/>
          </a:prstGeom>
          <a:solidFill>
            <a:srgbClr val="0057C2"/>
          </a:solidFill>
          <a:ln/>
        </p:spPr>
      </p:sp>
      <p:sp>
        <p:nvSpPr>
          <p:cNvPr id="7" name="Text 5"/>
          <p:cNvSpPr/>
          <p:nvPr/>
        </p:nvSpPr>
        <p:spPr>
          <a:xfrm>
            <a:off x="731520" y="207568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Poppins" pitchFamily="34" charset="0"/>
                <a:ea typeface="Poppins" pitchFamily="34" charset="-122"/>
                <a:cs typeface="Poppins" pitchFamily="34" charset="-120"/>
              </a:rPr>
              <a:t>⌥</a:t>
            </a:r>
            <a:endParaRPr lang="en-US" sz="2000" dirty="0"/>
          </a:p>
        </p:txBody>
      </p:sp>
      <p:sp>
        <p:nvSpPr>
          <p:cNvPr id="8" name="Text 6"/>
          <p:cNvSpPr/>
          <p:nvPr/>
        </p:nvSpPr>
        <p:spPr>
          <a:xfrm>
            <a:off x="1417320" y="2075688"/>
            <a:ext cx="2459736" cy="566928"/>
          </a:xfrm>
          <a:prstGeom prst="rect">
            <a:avLst/>
          </a:prstGeom>
          <a:noFill/>
          <a:ln/>
        </p:spPr>
        <p:txBody>
          <a:bodyPr wrap="square" lIns="0" tIns="0" rIns="0" bIns="0" rtlCol="0" anchor="ctr"/>
          <a:lstStyle/>
          <a:p>
            <a:pPr indent="0" marL="0">
              <a:buNone/>
            </a:pPr>
            <a:r>
              <a:rPr lang="en-US" sz="1600" b="1" dirty="0">
                <a:solidFill>
                  <a:srgbClr val="00357A"/>
                </a:solidFill>
                <a:latin typeface="Poppins" pitchFamily="34" charset="0"/>
                <a:ea typeface="Poppins" pitchFamily="34" charset="-122"/>
                <a:cs typeface="Poppins" pitchFamily="34" charset="-120"/>
              </a:rPr>
              <a:t>GitHub Repository</a:t>
            </a:r>
            <a:endParaRPr lang="en-US" sz="1600" dirty="0"/>
          </a:p>
        </p:txBody>
      </p:sp>
      <p:sp>
        <p:nvSpPr>
          <p:cNvPr id="9" name="Text 7"/>
          <p:cNvSpPr/>
          <p:nvPr/>
        </p:nvSpPr>
        <p:spPr>
          <a:xfrm>
            <a:off x="731520" y="2825496"/>
            <a:ext cx="3054096" cy="822960"/>
          </a:xfrm>
          <a:prstGeom prst="rect">
            <a:avLst/>
          </a:prstGeom>
          <a:noFill/>
          <a:ln/>
        </p:spPr>
        <p:txBody>
          <a:bodyPr wrap="square" lIns="0" tIns="0" rIns="0" bIns="0" rtlCol="0" anchor="t"/>
          <a:lstStyle/>
          <a:p>
            <a:pPr indent="0" marL="0">
              <a:lnSpc>
                <a:spcPct val="108000"/>
              </a:lnSpc>
              <a:buNone/>
            </a:pPr>
            <a:r>
              <a:rPr lang="en-US" sz="1250" dirty="0">
                <a:solidFill>
                  <a:srgbClr val="53565A"/>
                </a:solidFill>
                <a:latin typeface="Poppins" pitchFamily="34" charset="0"/>
                <a:ea typeface="Poppins" pitchFamily="34" charset="-122"/>
                <a:cs typeface="Poppins" pitchFamily="34" charset="-120"/>
              </a:rPr>
              <a:t>Source code, issues, and contributions.</a:t>
            </a:r>
            <a:endParaRPr lang="en-US" sz="1250" dirty="0"/>
          </a:p>
        </p:txBody>
      </p:sp>
      <p:sp>
        <p:nvSpPr>
          <p:cNvPr id="10" name="Shape 8"/>
          <p:cNvSpPr/>
          <p:nvPr/>
        </p:nvSpPr>
        <p:spPr>
          <a:xfrm>
            <a:off x="731520" y="3703320"/>
            <a:ext cx="3054096" cy="749808"/>
          </a:xfrm>
          <a:prstGeom prst="roundRect">
            <a:avLst>
              <a:gd name="adj" fmla="val 6098"/>
            </a:avLst>
          </a:prstGeom>
          <a:solidFill>
            <a:srgbClr val="011837"/>
          </a:solidFill>
          <a:ln/>
        </p:spPr>
      </p:sp>
      <p:sp>
        <p:nvSpPr>
          <p:cNvPr id="11" name="Text 9"/>
          <p:cNvSpPr/>
          <p:nvPr/>
        </p:nvSpPr>
        <p:spPr>
          <a:xfrm>
            <a:off x="859536" y="3703320"/>
            <a:ext cx="2798064" cy="749808"/>
          </a:xfrm>
          <a:prstGeom prst="rect">
            <a:avLst/>
          </a:prstGeom>
          <a:noFill/>
          <a:ln/>
        </p:spPr>
        <p:txBody>
          <a:bodyPr wrap="square" lIns="0" tIns="0" rIns="0" bIns="0" rtlCol="0" anchor="ctr"/>
          <a:lstStyle/>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git clone https://github.com/</a:t>
            </a:r>
            <a:endParaRPr lang="en-US" sz="1050" dirty="0"/>
          </a:p>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  NCAR/rda-python-dsquasar.git</a:t>
            </a:r>
            <a:endParaRPr lang="en-US" sz="1050" dirty="0"/>
          </a:p>
        </p:txBody>
      </p:sp>
      <p:sp>
        <p:nvSpPr>
          <p:cNvPr id="12" name="Shape 10"/>
          <p:cNvSpPr/>
          <p:nvPr/>
        </p:nvSpPr>
        <p:spPr>
          <a:xfrm>
            <a:off x="731520" y="4800600"/>
            <a:ext cx="3054096" cy="0"/>
          </a:xfrm>
          <a:prstGeom prst="line">
            <a:avLst/>
          </a:prstGeom>
          <a:noFill/>
          <a:ln w="12700">
            <a:solidFill>
              <a:srgbClr val="A9D6F2"/>
            </a:solidFill>
            <a:prstDash val="solid"/>
          </a:ln>
        </p:spPr>
      </p:sp>
      <p:sp>
        <p:nvSpPr>
          <p:cNvPr id="13" name="Text 11"/>
          <p:cNvSpPr/>
          <p:nvPr/>
        </p:nvSpPr>
        <p:spPr>
          <a:xfrm>
            <a:off x="731520" y="4855464"/>
            <a:ext cx="3218688" cy="310896"/>
          </a:xfrm>
          <a:prstGeom prst="rect">
            <a:avLst/>
          </a:prstGeom>
          <a:noFill/>
          <a:ln/>
        </p:spPr>
        <p:txBody>
          <a:bodyPr wrap="square" lIns="0" tIns="0" rIns="0" bIns="0" rtlCol="0" anchor="ctr"/>
          <a:lstStyle/>
          <a:p>
            <a:pPr indent="0" marL="0">
              <a:buNone/>
            </a:pPr>
            <a:r>
              <a:rPr lang="en-US" sz="950" b="1" dirty="0">
                <a:solidFill>
                  <a:srgbClr val="0057C2"/>
                </a:solidFill>
                <a:latin typeface="Courier New" pitchFamily="34" charset="0"/>
                <a:ea typeface="Courier New" pitchFamily="34" charset="-122"/>
                <a:cs typeface="Courier New" pitchFamily="34" charset="-120"/>
              </a:rPr>
              <a:t>→  </a:t>
            </a:r>
            <a:pPr indent="0" marL="0">
              <a:buNone/>
            </a:pPr>
            <a:r>
              <a:rPr lang="en-US" sz="950" b="1" u="sng" dirty="0">
                <a:solidFill>
                  <a:srgbClr val="0057C2"/>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github.com/NCAR/rda-python-dsquasar</a:t>
            </a:r>
            <a:endParaRPr lang="en-US" sz="950" dirty="0"/>
          </a:p>
        </p:txBody>
      </p:sp>
      <p:sp>
        <p:nvSpPr>
          <p:cNvPr id="14" name="Shape 12"/>
          <p:cNvSpPr/>
          <p:nvPr/>
        </p:nvSpPr>
        <p:spPr>
          <a:xfrm>
            <a:off x="4297680" y="1691640"/>
            <a:ext cx="3602736" cy="3566160"/>
          </a:xfrm>
          <a:prstGeom prst="roundRect">
            <a:avLst>
              <a:gd name="adj" fmla="val 2051"/>
            </a:avLst>
          </a:prstGeom>
          <a:solidFill>
            <a:srgbClr val="FFFFFF"/>
          </a:solidFill>
          <a:ln w="12700">
            <a:solidFill>
              <a:srgbClr val="A9D6F2"/>
            </a:solidFill>
            <a:prstDash val="solid"/>
          </a:ln>
          <a:effectLst>
            <a:outerShdw sx="100000" sy="100000" kx="0" ky="0" algn="bl" rotWithShape="0" blurRad="63500" dist="25400" dir="5400000">
              <a:srgbClr val="C3D7EE">
                <a:alpha val="30000"/>
              </a:srgbClr>
            </a:outerShdw>
          </a:effectLst>
        </p:spPr>
      </p:sp>
      <p:sp>
        <p:nvSpPr>
          <p:cNvPr id="15" name="Shape 13"/>
          <p:cNvSpPr/>
          <p:nvPr/>
        </p:nvSpPr>
        <p:spPr>
          <a:xfrm>
            <a:off x="4297680" y="1691640"/>
            <a:ext cx="3602736" cy="128016"/>
          </a:xfrm>
          <a:prstGeom prst="rect">
            <a:avLst/>
          </a:prstGeom>
          <a:solidFill>
            <a:srgbClr val="0097A7"/>
          </a:solidFill>
          <a:ln/>
        </p:spPr>
      </p:sp>
      <p:sp>
        <p:nvSpPr>
          <p:cNvPr id="16" name="Shape 14"/>
          <p:cNvSpPr/>
          <p:nvPr/>
        </p:nvSpPr>
        <p:spPr>
          <a:xfrm>
            <a:off x="4572000" y="2075688"/>
            <a:ext cx="566928" cy="566928"/>
          </a:xfrm>
          <a:prstGeom prst="ellipse">
            <a:avLst/>
          </a:prstGeom>
          <a:solidFill>
            <a:srgbClr val="0097A7"/>
          </a:solidFill>
          <a:ln/>
        </p:spPr>
      </p:sp>
      <p:sp>
        <p:nvSpPr>
          <p:cNvPr id="17" name="Text 15"/>
          <p:cNvSpPr/>
          <p:nvPr/>
        </p:nvSpPr>
        <p:spPr>
          <a:xfrm>
            <a:off x="4572000" y="207568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Poppins" pitchFamily="34" charset="0"/>
                <a:ea typeface="Poppins" pitchFamily="34" charset="-122"/>
                <a:cs typeface="Poppins" pitchFamily="34" charset="-120"/>
              </a:rPr>
              <a:t>▼</a:t>
            </a:r>
            <a:endParaRPr lang="en-US" sz="2000" dirty="0"/>
          </a:p>
        </p:txBody>
      </p:sp>
      <p:sp>
        <p:nvSpPr>
          <p:cNvPr id="18" name="Text 16"/>
          <p:cNvSpPr/>
          <p:nvPr/>
        </p:nvSpPr>
        <p:spPr>
          <a:xfrm>
            <a:off x="5257800" y="2075688"/>
            <a:ext cx="2459736" cy="566928"/>
          </a:xfrm>
          <a:prstGeom prst="rect">
            <a:avLst/>
          </a:prstGeom>
          <a:noFill/>
          <a:ln/>
        </p:spPr>
        <p:txBody>
          <a:bodyPr wrap="square" lIns="0" tIns="0" rIns="0" bIns="0" rtlCol="0" anchor="ctr"/>
          <a:lstStyle/>
          <a:p>
            <a:pPr indent="0" marL="0">
              <a:buNone/>
            </a:pPr>
            <a:r>
              <a:rPr lang="en-US" sz="1600" b="1" dirty="0">
                <a:solidFill>
                  <a:srgbClr val="00357A"/>
                </a:solidFill>
                <a:latin typeface="Poppins" pitchFamily="34" charset="0"/>
                <a:ea typeface="Poppins" pitchFamily="34" charset="-122"/>
                <a:cs typeface="Poppins" pitchFamily="34" charset="-120"/>
              </a:rPr>
              <a:t>PyPI Package</a:t>
            </a:r>
            <a:endParaRPr lang="en-US" sz="1600" dirty="0"/>
          </a:p>
        </p:txBody>
      </p:sp>
      <p:sp>
        <p:nvSpPr>
          <p:cNvPr id="19" name="Text 17"/>
          <p:cNvSpPr/>
          <p:nvPr/>
        </p:nvSpPr>
        <p:spPr>
          <a:xfrm>
            <a:off x="4572000" y="2825496"/>
            <a:ext cx="3054096" cy="822960"/>
          </a:xfrm>
          <a:prstGeom prst="rect">
            <a:avLst/>
          </a:prstGeom>
          <a:noFill/>
          <a:ln/>
        </p:spPr>
        <p:txBody>
          <a:bodyPr wrap="square" lIns="0" tIns="0" rIns="0" bIns="0" rtlCol="0" anchor="t"/>
          <a:lstStyle/>
          <a:p>
            <a:pPr indent="0" marL="0">
              <a:lnSpc>
                <a:spcPct val="108000"/>
              </a:lnSpc>
              <a:buNone/>
            </a:pPr>
            <a:r>
              <a:rPr lang="en-US" sz="1250" dirty="0">
                <a:solidFill>
                  <a:srgbClr val="53565A"/>
                </a:solidFill>
                <a:latin typeface="Poppins" pitchFamily="34" charset="0"/>
                <a:ea typeface="Poppins" pitchFamily="34" charset="-122"/>
                <a:cs typeface="Poppins" pitchFamily="34" charset="-120"/>
              </a:rPr>
              <a:t>Install the released package with pip; pulls in rda_python_common and rda_python_dsarch.</a:t>
            </a:r>
            <a:endParaRPr lang="en-US" sz="1250" dirty="0"/>
          </a:p>
        </p:txBody>
      </p:sp>
      <p:sp>
        <p:nvSpPr>
          <p:cNvPr id="20" name="Shape 18"/>
          <p:cNvSpPr/>
          <p:nvPr/>
        </p:nvSpPr>
        <p:spPr>
          <a:xfrm>
            <a:off x="4572000" y="3703320"/>
            <a:ext cx="3054096" cy="749808"/>
          </a:xfrm>
          <a:prstGeom prst="roundRect">
            <a:avLst>
              <a:gd name="adj" fmla="val 6098"/>
            </a:avLst>
          </a:prstGeom>
          <a:solidFill>
            <a:srgbClr val="011837"/>
          </a:solidFill>
          <a:ln/>
        </p:spPr>
      </p:sp>
      <p:sp>
        <p:nvSpPr>
          <p:cNvPr id="21" name="Text 19"/>
          <p:cNvSpPr/>
          <p:nvPr/>
        </p:nvSpPr>
        <p:spPr>
          <a:xfrm>
            <a:off x="4700016" y="3703320"/>
            <a:ext cx="2798064" cy="749808"/>
          </a:xfrm>
          <a:prstGeom prst="rect">
            <a:avLst/>
          </a:prstGeom>
          <a:noFill/>
          <a:ln/>
        </p:spPr>
        <p:txBody>
          <a:bodyPr wrap="square" lIns="0" tIns="0" rIns="0" bIns="0" rtlCol="0" anchor="ctr"/>
          <a:lstStyle/>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pip install rda_python_dsquasar</a:t>
            </a:r>
            <a:endParaRPr lang="en-US" sz="1050" dirty="0"/>
          </a:p>
        </p:txBody>
      </p:sp>
      <p:sp>
        <p:nvSpPr>
          <p:cNvPr id="22" name="Shape 20"/>
          <p:cNvSpPr/>
          <p:nvPr/>
        </p:nvSpPr>
        <p:spPr>
          <a:xfrm>
            <a:off x="4572000" y="4800600"/>
            <a:ext cx="3054096" cy="0"/>
          </a:xfrm>
          <a:prstGeom prst="line">
            <a:avLst/>
          </a:prstGeom>
          <a:noFill/>
          <a:ln w="12700">
            <a:solidFill>
              <a:srgbClr val="A9D6F2"/>
            </a:solidFill>
            <a:prstDash val="solid"/>
          </a:ln>
        </p:spPr>
      </p:sp>
      <p:sp>
        <p:nvSpPr>
          <p:cNvPr id="23" name="Text 21"/>
          <p:cNvSpPr/>
          <p:nvPr/>
        </p:nvSpPr>
        <p:spPr>
          <a:xfrm>
            <a:off x="4572000" y="4855464"/>
            <a:ext cx="3218688" cy="310896"/>
          </a:xfrm>
          <a:prstGeom prst="rect">
            <a:avLst/>
          </a:prstGeom>
          <a:noFill/>
          <a:ln/>
        </p:spPr>
        <p:txBody>
          <a:bodyPr wrap="square" lIns="0" tIns="0" rIns="0" bIns="0" rtlCol="0" anchor="ctr"/>
          <a:lstStyle/>
          <a:p>
            <a:pPr indent="0" marL="0">
              <a:buNone/>
            </a:pPr>
            <a:r>
              <a:rPr lang="en-US" sz="950" b="1" dirty="0">
                <a:solidFill>
                  <a:srgbClr val="0097A7"/>
                </a:solidFill>
                <a:latin typeface="Courier New" pitchFamily="34" charset="0"/>
                <a:ea typeface="Courier New" pitchFamily="34" charset="-122"/>
                <a:cs typeface="Courier New" pitchFamily="34" charset="-120"/>
              </a:rPr>
              <a:t>→  </a:t>
            </a:r>
            <a:pPr indent="0" marL="0">
              <a:buNone/>
            </a:pPr>
            <a:r>
              <a:rPr lang="en-US" sz="950" b="1" u="sng" dirty="0">
                <a:solidFill>
                  <a:srgbClr val="0057C2"/>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pypi.org/project/rda-python-dsquasar</a:t>
            </a:r>
            <a:endParaRPr lang="en-US" sz="950" dirty="0"/>
          </a:p>
        </p:txBody>
      </p:sp>
      <p:sp>
        <p:nvSpPr>
          <p:cNvPr id="24" name="Shape 22"/>
          <p:cNvSpPr/>
          <p:nvPr/>
        </p:nvSpPr>
        <p:spPr>
          <a:xfrm>
            <a:off x="8138160" y="1691640"/>
            <a:ext cx="3602736" cy="3566160"/>
          </a:xfrm>
          <a:prstGeom prst="roundRect">
            <a:avLst>
              <a:gd name="adj" fmla="val 2051"/>
            </a:avLst>
          </a:prstGeom>
          <a:solidFill>
            <a:srgbClr val="FFFFFF"/>
          </a:solidFill>
          <a:ln w="12700">
            <a:solidFill>
              <a:srgbClr val="A9D6F2"/>
            </a:solidFill>
            <a:prstDash val="solid"/>
          </a:ln>
          <a:effectLst>
            <a:outerShdw sx="100000" sy="100000" kx="0" ky="0" algn="bl" rotWithShape="0" blurRad="63500" dist="25400" dir="5400000">
              <a:srgbClr val="C3D7EE">
                <a:alpha val="30000"/>
              </a:srgbClr>
            </a:outerShdw>
          </a:effectLst>
        </p:spPr>
      </p:sp>
      <p:sp>
        <p:nvSpPr>
          <p:cNvPr id="25" name="Shape 23"/>
          <p:cNvSpPr/>
          <p:nvPr/>
        </p:nvSpPr>
        <p:spPr>
          <a:xfrm>
            <a:off x="8138160" y="1691640"/>
            <a:ext cx="3602736" cy="128016"/>
          </a:xfrm>
          <a:prstGeom prst="rect">
            <a:avLst/>
          </a:prstGeom>
          <a:solidFill>
            <a:srgbClr val="C25E00"/>
          </a:solidFill>
          <a:ln/>
        </p:spPr>
      </p:sp>
      <p:sp>
        <p:nvSpPr>
          <p:cNvPr id="26" name="Shape 24"/>
          <p:cNvSpPr/>
          <p:nvPr/>
        </p:nvSpPr>
        <p:spPr>
          <a:xfrm>
            <a:off x="8412480" y="2075688"/>
            <a:ext cx="566928" cy="566928"/>
          </a:xfrm>
          <a:prstGeom prst="ellipse">
            <a:avLst/>
          </a:prstGeom>
          <a:solidFill>
            <a:srgbClr val="C25E00"/>
          </a:solidFill>
          <a:ln/>
        </p:spPr>
      </p:sp>
      <p:sp>
        <p:nvSpPr>
          <p:cNvPr id="27" name="Text 25"/>
          <p:cNvSpPr/>
          <p:nvPr/>
        </p:nvSpPr>
        <p:spPr>
          <a:xfrm>
            <a:off x="8412480" y="207568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Poppins" pitchFamily="34" charset="0"/>
                <a:ea typeface="Poppins" pitchFamily="34" charset="-122"/>
                <a:cs typeface="Poppins" pitchFamily="34" charset="-120"/>
              </a:rPr>
              <a:t>▤</a:t>
            </a:r>
            <a:endParaRPr lang="en-US" sz="2000" dirty="0"/>
          </a:p>
        </p:txBody>
      </p:sp>
      <p:sp>
        <p:nvSpPr>
          <p:cNvPr id="28" name="Text 26"/>
          <p:cNvSpPr/>
          <p:nvPr/>
        </p:nvSpPr>
        <p:spPr>
          <a:xfrm>
            <a:off x="9098280" y="2075688"/>
            <a:ext cx="2459736" cy="566928"/>
          </a:xfrm>
          <a:prstGeom prst="rect">
            <a:avLst/>
          </a:prstGeom>
          <a:noFill/>
          <a:ln/>
        </p:spPr>
        <p:txBody>
          <a:bodyPr wrap="square" lIns="0" tIns="0" rIns="0" bIns="0" rtlCol="0" anchor="ctr"/>
          <a:lstStyle/>
          <a:p>
            <a:pPr indent="0" marL="0">
              <a:buNone/>
            </a:pPr>
            <a:r>
              <a:rPr lang="en-US" sz="1600" b="1" dirty="0">
                <a:solidFill>
                  <a:srgbClr val="00357A"/>
                </a:solidFill>
                <a:latin typeface="Poppins" pitchFamily="34" charset="0"/>
                <a:ea typeface="Poppins" pitchFamily="34" charset="-122"/>
                <a:cs typeface="Poppins" pitchFamily="34" charset="-120"/>
              </a:rPr>
              <a:t>Built-in Help</a:t>
            </a:r>
            <a:endParaRPr lang="en-US" sz="1600" dirty="0"/>
          </a:p>
        </p:txBody>
      </p:sp>
      <p:sp>
        <p:nvSpPr>
          <p:cNvPr id="29" name="Text 27"/>
          <p:cNvSpPr/>
          <p:nvPr/>
        </p:nvSpPr>
        <p:spPr>
          <a:xfrm>
            <a:off x="8412480" y="2825496"/>
            <a:ext cx="3054096" cy="822960"/>
          </a:xfrm>
          <a:prstGeom prst="rect">
            <a:avLst/>
          </a:prstGeom>
          <a:noFill/>
          <a:ln/>
        </p:spPr>
        <p:txBody>
          <a:bodyPr wrap="square" lIns="0" tIns="0" rIns="0" bIns="0" rtlCol="0" anchor="t"/>
          <a:lstStyle/>
          <a:p>
            <a:pPr indent="0" marL="0">
              <a:lnSpc>
                <a:spcPct val="108000"/>
              </a:lnSpc>
              <a:buNone/>
            </a:pPr>
            <a:r>
              <a:rPr lang="en-US" sz="1250" dirty="0">
                <a:solidFill>
                  <a:srgbClr val="53565A"/>
                </a:solidFill>
                <a:latin typeface="Poppins" pitchFamily="34" charset="0"/>
                <a:ea typeface="Poppins" pitchFamily="34" charset="-122"/>
                <a:cs typeface="Poppins" pitchFamily="34" charset="-120"/>
              </a:rPr>
              <a:t>The full usage document ships with the package and is shown by -h.</a:t>
            </a:r>
            <a:endParaRPr lang="en-US" sz="1250" dirty="0"/>
          </a:p>
        </p:txBody>
      </p:sp>
      <p:sp>
        <p:nvSpPr>
          <p:cNvPr id="30" name="Shape 28"/>
          <p:cNvSpPr/>
          <p:nvPr/>
        </p:nvSpPr>
        <p:spPr>
          <a:xfrm>
            <a:off x="8412480" y="3703320"/>
            <a:ext cx="3054096" cy="749808"/>
          </a:xfrm>
          <a:prstGeom prst="roundRect">
            <a:avLst>
              <a:gd name="adj" fmla="val 6098"/>
            </a:avLst>
          </a:prstGeom>
          <a:solidFill>
            <a:srgbClr val="011837"/>
          </a:solidFill>
          <a:ln/>
        </p:spPr>
      </p:sp>
      <p:sp>
        <p:nvSpPr>
          <p:cNvPr id="31" name="Text 29"/>
          <p:cNvSpPr/>
          <p:nvPr/>
        </p:nvSpPr>
        <p:spPr>
          <a:xfrm>
            <a:off x="8540496" y="3703320"/>
            <a:ext cx="2798064" cy="749808"/>
          </a:xfrm>
          <a:prstGeom prst="rect">
            <a:avLst/>
          </a:prstGeom>
          <a:noFill/>
          <a:ln/>
        </p:spPr>
        <p:txBody>
          <a:bodyPr wrap="square" lIns="0" tIns="0" rIns="0" bIns="0" rtlCol="0" anchor="ctr"/>
          <a:lstStyle/>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dsquasar -h</a:t>
            </a:r>
            <a:endParaRPr lang="en-US" sz="1050" dirty="0"/>
          </a:p>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 renders dsquasar.usg</a:t>
            </a:r>
            <a:endParaRPr lang="en-US" sz="1050" dirty="0"/>
          </a:p>
        </p:txBody>
      </p:sp>
      <p:sp>
        <p:nvSpPr>
          <p:cNvPr id="32" name="Shape 30"/>
          <p:cNvSpPr/>
          <p:nvPr/>
        </p:nvSpPr>
        <p:spPr>
          <a:xfrm>
            <a:off x="8412480" y="4800600"/>
            <a:ext cx="3054096" cy="0"/>
          </a:xfrm>
          <a:prstGeom prst="line">
            <a:avLst/>
          </a:prstGeom>
          <a:noFill/>
          <a:ln w="12700">
            <a:solidFill>
              <a:srgbClr val="A9D6F2"/>
            </a:solidFill>
            <a:prstDash val="solid"/>
          </a:ln>
        </p:spPr>
      </p:sp>
      <p:sp>
        <p:nvSpPr>
          <p:cNvPr id="33" name="Text 31"/>
          <p:cNvSpPr/>
          <p:nvPr/>
        </p:nvSpPr>
        <p:spPr>
          <a:xfrm>
            <a:off x="8412480" y="4855464"/>
            <a:ext cx="3218688" cy="310896"/>
          </a:xfrm>
          <a:prstGeom prst="rect">
            <a:avLst/>
          </a:prstGeom>
          <a:noFill/>
          <a:ln/>
        </p:spPr>
        <p:txBody>
          <a:bodyPr wrap="square" lIns="0" tIns="0" rIns="0" bIns="0" rtlCol="0" anchor="ctr"/>
          <a:lstStyle/>
          <a:p>
            <a:pPr indent="0" marL="0">
              <a:buNone/>
            </a:pPr>
            <a:r>
              <a:rPr lang="en-US" sz="950" b="1" dirty="0">
                <a:solidFill>
                  <a:srgbClr val="C25E00"/>
                </a:solidFill>
                <a:latin typeface="Courier New" pitchFamily="34" charset="0"/>
                <a:ea typeface="Courier New" pitchFamily="34" charset="-122"/>
                <a:cs typeface="Courier New" pitchFamily="34" charset="-120"/>
              </a:rPr>
              <a:t>→  </a:t>
            </a:r>
            <a:pPr indent="0" marL="0">
              <a:buNone/>
            </a:pPr>
            <a:r>
              <a:rPr lang="en-US" sz="950" b="1" u="sng" dirty="0">
                <a:solidFill>
                  <a:srgbClr val="0057C2"/>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src/rda_python_dsquasar/dsquasar.usg</a:t>
            </a:r>
            <a:endParaRPr lang="en-US" sz="950" dirty="0"/>
          </a:p>
        </p:txBody>
      </p:sp>
      <p:sp>
        <p:nvSpPr>
          <p:cNvPr id="34" name="Text 32"/>
          <p:cNvSpPr/>
          <p:nvPr/>
        </p:nvSpPr>
        <p:spPr>
          <a:xfrm>
            <a:off x="457200" y="5989320"/>
            <a:ext cx="11274552" cy="365760"/>
          </a:xfrm>
          <a:prstGeom prst="rect">
            <a:avLst/>
          </a:prstGeom>
          <a:noFill/>
          <a:ln/>
        </p:spPr>
        <p:txBody>
          <a:bodyPr wrap="square" lIns="0" tIns="0" rIns="0" bIns="0" rtlCol="0" anchor="ctr"/>
          <a:lstStyle/>
          <a:p>
            <a:pPr algn="ctr" indent="0" marL="0">
              <a:buNone/>
            </a:pPr>
            <a:r>
              <a:rPr lang="en-US" sz="1300" b="1" dirty="0">
                <a:solidFill>
                  <a:srgbClr val="C25E00"/>
                </a:solidFill>
                <a:latin typeface="Poppins" pitchFamily="34" charset="0"/>
                <a:ea typeface="Poppins" pitchFamily="34" charset="-122"/>
                <a:cs typeface="Poppins" pitchFamily="34" charset="-120"/>
              </a:rPr>
              <a:t>one console command:  </a:t>
            </a:r>
            <a:pPr algn="ctr" indent="0" marL="0">
              <a:buNone/>
            </a:pPr>
            <a:r>
              <a:rPr lang="en-US" sz="1300" b="1" dirty="0">
                <a:solidFill>
                  <a:srgbClr val="00357A"/>
                </a:solidFill>
                <a:latin typeface="Courier New" pitchFamily="34" charset="0"/>
                <a:ea typeface="Courier New" pitchFamily="34" charset="-122"/>
                <a:cs typeface="Courier New" pitchFamily="34" charset="-120"/>
              </a:rPr>
              <a:t>dsquasar</a:t>
            </a:r>
            <a:pPr algn="ctr" indent="0" marL="0">
              <a:buNone/>
            </a:pPr>
            <a:r>
              <a:rPr lang="en-US" sz="1300" dirty="0">
                <a:solidFill>
                  <a:srgbClr val="00357A"/>
                </a:solidFill>
                <a:latin typeface="Poppins" pitchFamily="34" charset="0"/>
                <a:ea typeface="Poppins" pitchFamily="34" charset="-122"/>
                <a:cs typeface="Poppins" pitchFamily="34" charset="-120"/>
              </a:rPr>
              <a:t>  backs up the whole GDEX archive onto the Quasar end points.</a:t>
            </a:r>
            <a:endParaRPr lang="en-US" sz="1300" dirty="0"/>
          </a:p>
        </p:txBody>
      </p:sp>
      <p:sp>
        <p:nvSpPr>
          <p:cNvPr id="35" name="Text 33"/>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2</a:t>
            </a:r>
            <a:endParaRPr lang="en-US" sz="950" dirty="0"/>
          </a:p>
        </p:txBody>
      </p:sp>
      <p:sp>
        <p:nvSpPr>
          <p:cNvPr id="36" name="Text 34"/>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2DB"/>
                </a:solidFill>
                <a:latin typeface="Poppins" pitchFamily="34" charset="0"/>
                <a:ea typeface="Poppins" pitchFamily="34" charset="-122"/>
                <a:cs typeface="Poppins" pitchFamily="34" charset="-120"/>
              </a:rPr>
              <a:t>HOW IT WORKS</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The Four-Stage Backup Pipeline</a:t>
            </a:r>
            <a:endParaRPr lang="en-US" sz="3200" dirty="0"/>
          </a:p>
        </p:txBody>
      </p:sp>
      <p:sp>
        <p:nvSpPr>
          <p:cNvPr id="4" name="Shape 2"/>
          <p:cNvSpPr/>
          <p:nvPr/>
        </p:nvSpPr>
        <p:spPr>
          <a:xfrm>
            <a:off x="566928" y="2011680"/>
            <a:ext cx="2514600" cy="2286000"/>
          </a:xfrm>
          <a:prstGeom prst="roundRect">
            <a:avLst>
              <a:gd name="adj" fmla="val 4000"/>
            </a:avLst>
          </a:prstGeom>
          <a:solidFill>
            <a:srgbClr val="DCEBF7"/>
          </a:solidFill>
          <a:ln w="25400">
            <a:solidFill>
              <a:srgbClr val="0057C2"/>
            </a:solidFill>
            <a:prstDash val="solid"/>
          </a:ln>
        </p:spPr>
      </p:sp>
      <p:sp>
        <p:nvSpPr>
          <p:cNvPr id="5" name="Shape 3"/>
          <p:cNvSpPr/>
          <p:nvPr/>
        </p:nvSpPr>
        <p:spPr>
          <a:xfrm>
            <a:off x="1504188" y="2267712"/>
            <a:ext cx="640080" cy="640080"/>
          </a:xfrm>
          <a:prstGeom prst="ellipse">
            <a:avLst/>
          </a:prstGeom>
          <a:solidFill>
            <a:srgbClr val="0057C2"/>
          </a:solidFill>
          <a:ln/>
        </p:spPr>
      </p:sp>
      <p:sp>
        <p:nvSpPr>
          <p:cNvPr id="6" name="Text 4"/>
          <p:cNvSpPr/>
          <p:nvPr/>
        </p:nvSpPr>
        <p:spPr>
          <a:xfrm>
            <a:off x="1504188" y="226771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Poppins" pitchFamily="34" charset="0"/>
                <a:ea typeface="Poppins" pitchFamily="34" charset="-122"/>
                <a:cs typeface="Poppins" pitchFamily="34" charset="-120"/>
              </a:rPr>
              <a:t>1</a:t>
            </a:r>
            <a:endParaRPr lang="en-US" sz="2400" dirty="0"/>
          </a:p>
        </p:txBody>
      </p:sp>
      <p:sp>
        <p:nvSpPr>
          <p:cNvPr id="7" name="Text 5"/>
          <p:cNvSpPr/>
          <p:nvPr/>
        </p:nvSpPr>
        <p:spPr>
          <a:xfrm>
            <a:off x="658368" y="2999232"/>
            <a:ext cx="2331720" cy="502920"/>
          </a:xfrm>
          <a:prstGeom prst="rect">
            <a:avLst/>
          </a:prstGeom>
          <a:noFill/>
          <a:ln/>
        </p:spPr>
        <p:txBody>
          <a:bodyPr wrap="square" lIns="0" tIns="0" rIns="0" bIns="0" rtlCol="0" anchor="ctr"/>
          <a:lstStyle/>
          <a:p>
            <a:pPr algn="ctr" indent="0" marL="0">
              <a:buNone/>
            </a:pPr>
            <a:r>
              <a:rPr lang="en-US" sz="1500" b="1" dirty="0">
                <a:solidFill>
                  <a:srgbClr val="00357A"/>
                </a:solidFill>
                <a:latin typeface="Poppins" pitchFamily="34" charset="0"/>
                <a:ea typeface="Poppins" pitchFamily="34" charset="-122"/>
                <a:cs typeface="Poppins" pitchFamily="34" charset="-120"/>
              </a:rPr>
              <a:t>GDEX Files</a:t>
            </a:r>
            <a:endParaRPr lang="en-US" sz="1500" dirty="0"/>
          </a:p>
        </p:txBody>
      </p:sp>
      <p:sp>
        <p:nvSpPr>
          <p:cNvPr id="8" name="Text 6"/>
          <p:cNvSpPr/>
          <p:nvPr/>
        </p:nvSpPr>
        <p:spPr>
          <a:xfrm>
            <a:off x="704088" y="3474720"/>
            <a:ext cx="2240280" cy="731520"/>
          </a:xfrm>
          <a:prstGeom prst="rect">
            <a:avLst/>
          </a:prstGeom>
          <a:noFill/>
          <a:ln/>
        </p:spPr>
        <p:txBody>
          <a:bodyPr wrap="square" lIns="0" tIns="0" rIns="0" bIns="0" rtlCol="0" anchor="t"/>
          <a:lstStyle/>
          <a:p>
            <a:pPr algn="ctr" indent="0" marL="0">
              <a:lnSpc>
                <a:spcPct val="105000"/>
              </a:lnSpc>
              <a:buNone/>
            </a:pPr>
            <a:r>
              <a:rPr lang="en-US" sz="1150" dirty="0">
                <a:solidFill>
                  <a:srgbClr val="53565A"/>
                </a:solidFill>
                <a:latin typeface="Poppins" pitchFamily="34" charset="0"/>
                <a:ea typeface="Poppins" pitchFamily="34" charset="-122"/>
                <a:cs typeface="Poppins" pitchFamily="34" charset="-120"/>
              </a:rPr>
              <a:t>Web &amp; Saved files with bid = 0 on disk or object store</a:t>
            </a:r>
            <a:endParaRPr lang="en-US" sz="1150" dirty="0"/>
          </a:p>
        </p:txBody>
      </p:sp>
      <p:sp>
        <p:nvSpPr>
          <p:cNvPr id="9" name="Text 7"/>
          <p:cNvSpPr/>
          <p:nvPr/>
        </p:nvSpPr>
        <p:spPr>
          <a:xfrm>
            <a:off x="3099816" y="2011680"/>
            <a:ext cx="347472" cy="2286000"/>
          </a:xfrm>
          <a:prstGeom prst="rect">
            <a:avLst/>
          </a:prstGeom>
          <a:noFill/>
          <a:ln/>
        </p:spPr>
        <p:txBody>
          <a:bodyPr wrap="square" lIns="0" tIns="0" rIns="0" bIns="0" rtlCol="0" anchor="ctr"/>
          <a:lstStyle/>
          <a:p>
            <a:pPr algn="ctr" indent="0" marL="0">
              <a:buNone/>
            </a:pPr>
            <a:r>
              <a:rPr lang="en-US" sz="2600" b="1" dirty="0">
                <a:solidFill>
                  <a:srgbClr val="0057C2"/>
                </a:solidFill>
                <a:latin typeface="Poppins" pitchFamily="34" charset="0"/>
                <a:ea typeface="Poppins" pitchFamily="34" charset="-122"/>
                <a:cs typeface="Poppins" pitchFamily="34" charset="-120"/>
              </a:rPr>
              <a:t>→</a:t>
            </a:r>
            <a:endParaRPr lang="en-US" sz="2600" dirty="0"/>
          </a:p>
        </p:txBody>
      </p:sp>
      <p:sp>
        <p:nvSpPr>
          <p:cNvPr id="10" name="Shape 8"/>
          <p:cNvSpPr/>
          <p:nvPr/>
        </p:nvSpPr>
        <p:spPr>
          <a:xfrm>
            <a:off x="3465576" y="2011680"/>
            <a:ext cx="2514600" cy="2286000"/>
          </a:xfrm>
          <a:prstGeom prst="roundRect">
            <a:avLst>
              <a:gd name="adj" fmla="val 4000"/>
            </a:avLst>
          </a:prstGeom>
          <a:solidFill>
            <a:srgbClr val="DCEBF7"/>
          </a:solidFill>
          <a:ln w="25400">
            <a:solidFill>
              <a:srgbClr val="0092DB"/>
            </a:solidFill>
            <a:prstDash val="solid"/>
          </a:ln>
        </p:spPr>
      </p:sp>
      <p:sp>
        <p:nvSpPr>
          <p:cNvPr id="11" name="Shape 9"/>
          <p:cNvSpPr/>
          <p:nvPr/>
        </p:nvSpPr>
        <p:spPr>
          <a:xfrm>
            <a:off x="4402836" y="2267712"/>
            <a:ext cx="640080" cy="640080"/>
          </a:xfrm>
          <a:prstGeom prst="ellipse">
            <a:avLst/>
          </a:prstGeom>
          <a:solidFill>
            <a:srgbClr val="0092DB"/>
          </a:solidFill>
          <a:ln/>
        </p:spPr>
      </p:sp>
      <p:sp>
        <p:nvSpPr>
          <p:cNvPr id="12" name="Text 10"/>
          <p:cNvSpPr/>
          <p:nvPr/>
        </p:nvSpPr>
        <p:spPr>
          <a:xfrm>
            <a:off x="4402836" y="226771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Poppins" pitchFamily="34" charset="0"/>
                <a:ea typeface="Poppins" pitchFamily="34" charset="-122"/>
                <a:cs typeface="Poppins" pitchFamily="34" charset="-120"/>
              </a:rPr>
              <a:t>2</a:t>
            </a:r>
            <a:endParaRPr lang="en-US" sz="2400" dirty="0"/>
          </a:p>
        </p:txBody>
      </p:sp>
      <p:sp>
        <p:nvSpPr>
          <p:cNvPr id="13" name="Text 11"/>
          <p:cNvSpPr/>
          <p:nvPr/>
        </p:nvSpPr>
        <p:spPr>
          <a:xfrm>
            <a:off x="3557016" y="2999232"/>
            <a:ext cx="2331720" cy="502920"/>
          </a:xfrm>
          <a:prstGeom prst="rect">
            <a:avLst/>
          </a:prstGeom>
          <a:noFill/>
          <a:ln/>
        </p:spPr>
        <p:txBody>
          <a:bodyPr wrap="square" lIns="0" tIns="0" rIns="0" bIns="0" rtlCol="0" anchor="ctr"/>
          <a:lstStyle/>
          <a:p>
            <a:pPr algn="ctr" indent="0" marL="0">
              <a:buNone/>
            </a:pPr>
            <a:r>
              <a:rPr lang="en-US" sz="1500" b="1" dirty="0">
                <a:solidFill>
                  <a:srgbClr val="00357A"/>
                </a:solidFill>
                <a:latin typeface="Poppins" pitchFamily="34" charset="0"/>
                <a:ea typeface="Poppins" pitchFamily="34" charset="-122"/>
                <a:cs typeface="Poppins" pitchFamily="34" charset="-120"/>
              </a:rPr>
              <a:t>Input Lists</a:t>
            </a:r>
            <a:endParaRPr lang="en-US" sz="1500" dirty="0"/>
          </a:p>
        </p:txBody>
      </p:sp>
      <p:sp>
        <p:nvSpPr>
          <p:cNvPr id="14" name="Text 12"/>
          <p:cNvSpPr/>
          <p:nvPr/>
        </p:nvSpPr>
        <p:spPr>
          <a:xfrm>
            <a:off x="3602736" y="3474720"/>
            <a:ext cx="2240280" cy="731520"/>
          </a:xfrm>
          <a:prstGeom prst="rect">
            <a:avLst/>
          </a:prstGeom>
          <a:noFill/>
          <a:ln/>
        </p:spPr>
        <p:txBody>
          <a:bodyPr wrap="square" lIns="0" tIns="0" rIns="0" bIns="0" rtlCol="0" anchor="t"/>
          <a:lstStyle/>
          <a:p>
            <a:pPr algn="ctr" indent="0" marL="0">
              <a:lnSpc>
                <a:spcPct val="105000"/>
              </a:lnSpc>
              <a:buNone/>
            </a:pPr>
            <a:r>
              <a:rPr lang="en-US" sz="1150" dirty="0">
                <a:solidFill>
                  <a:srgbClr val="53565A"/>
                </a:solidFill>
                <a:latin typeface="Poppins" pitchFamily="34" charset="0"/>
                <a:ea typeface="Poppins" pitchFamily="34" charset="-122"/>
                <a:cs typeface="Poppins" pitchFamily="34" charset="-120"/>
              </a:rPr>
              <a:t>dsarch input files + bfile record, status 'N'</a:t>
            </a:r>
            <a:endParaRPr lang="en-US" sz="1150" dirty="0"/>
          </a:p>
        </p:txBody>
      </p:sp>
      <p:sp>
        <p:nvSpPr>
          <p:cNvPr id="15" name="Text 13"/>
          <p:cNvSpPr/>
          <p:nvPr/>
        </p:nvSpPr>
        <p:spPr>
          <a:xfrm>
            <a:off x="5998464" y="2011680"/>
            <a:ext cx="347472" cy="2286000"/>
          </a:xfrm>
          <a:prstGeom prst="rect">
            <a:avLst/>
          </a:prstGeom>
          <a:noFill/>
          <a:ln/>
        </p:spPr>
        <p:txBody>
          <a:bodyPr wrap="square" lIns="0" tIns="0" rIns="0" bIns="0" rtlCol="0" anchor="ctr"/>
          <a:lstStyle/>
          <a:p>
            <a:pPr algn="ctr" indent="0" marL="0">
              <a:buNone/>
            </a:pPr>
            <a:r>
              <a:rPr lang="en-US" sz="2600" b="1" dirty="0">
                <a:solidFill>
                  <a:srgbClr val="0092DB"/>
                </a:solidFill>
                <a:latin typeface="Poppins" pitchFamily="34" charset="0"/>
                <a:ea typeface="Poppins" pitchFamily="34" charset="-122"/>
                <a:cs typeface="Poppins" pitchFamily="34" charset="-120"/>
              </a:rPr>
              <a:t>→</a:t>
            </a:r>
            <a:endParaRPr lang="en-US" sz="2600" dirty="0"/>
          </a:p>
        </p:txBody>
      </p:sp>
      <p:sp>
        <p:nvSpPr>
          <p:cNvPr id="16" name="Shape 14"/>
          <p:cNvSpPr/>
          <p:nvPr/>
        </p:nvSpPr>
        <p:spPr>
          <a:xfrm>
            <a:off x="6364224" y="2011680"/>
            <a:ext cx="2514600" cy="2286000"/>
          </a:xfrm>
          <a:prstGeom prst="roundRect">
            <a:avLst>
              <a:gd name="adj" fmla="val 4000"/>
            </a:avLst>
          </a:prstGeom>
          <a:solidFill>
            <a:srgbClr val="DCEBF7"/>
          </a:solidFill>
          <a:ln w="25400">
            <a:solidFill>
              <a:srgbClr val="0097A7"/>
            </a:solidFill>
            <a:prstDash val="solid"/>
          </a:ln>
        </p:spPr>
      </p:sp>
      <p:sp>
        <p:nvSpPr>
          <p:cNvPr id="17" name="Shape 15"/>
          <p:cNvSpPr/>
          <p:nvPr/>
        </p:nvSpPr>
        <p:spPr>
          <a:xfrm>
            <a:off x="7301484" y="2267712"/>
            <a:ext cx="640080" cy="640080"/>
          </a:xfrm>
          <a:prstGeom prst="ellipse">
            <a:avLst/>
          </a:prstGeom>
          <a:solidFill>
            <a:srgbClr val="0097A7"/>
          </a:solidFill>
          <a:ln/>
        </p:spPr>
      </p:sp>
      <p:sp>
        <p:nvSpPr>
          <p:cNvPr id="18" name="Text 16"/>
          <p:cNvSpPr/>
          <p:nvPr/>
        </p:nvSpPr>
        <p:spPr>
          <a:xfrm>
            <a:off x="7301484" y="226771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Poppins" pitchFamily="34" charset="0"/>
                <a:ea typeface="Poppins" pitchFamily="34" charset="-122"/>
                <a:cs typeface="Poppins" pitchFamily="34" charset="-120"/>
              </a:rPr>
              <a:t>3</a:t>
            </a:r>
            <a:endParaRPr lang="en-US" sz="2400" dirty="0"/>
          </a:p>
        </p:txBody>
      </p:sp>
      <p:sp>
        <p:nvSpPr>
          <p:cNvPr id="19" name="Text 17"/>
          <p:cNvSpPr/>
          <p:nvPr/>
        </p:nvSpPr>
        <p:spPr>
          <a:xfrm>
            <a:off x="6455664" y="2999232"/>
            <a:ext cx="2331720" cy="502920"/>
          </a:xfrm>
          <a:prstGeom prst="rect">
            <a:avLst/>
          </a:prstGeom>
          <a:noFill/>
          <a:ln/>
        </p:spPr>
        <p:txBody>
          <a:bodyPr wrap="square" lIns="0" tIns="0" rIns="0" bIns="0" rtlCol="0" anchor="ctr"/>
          <a:lstStyle/>
          <a:p>
            <a:pPr algn="ctr" indent="0" marL="0">
              <a:buNone/>
            </a:pPr>
            <a:r>
              <a:rPr lang="en-US" sz="1500" b="1" dirty="0">
                <a:solidFill>
                  <a:srgbClr val="00357A"/>
                </a:solidFill>
                <a:latin typeface="Poppins" pitchFamily="34" charset="0"/>
                <a:ea typeface="Poppins" pitchFamily="34" charset="-122"/>
                <a:cs typeface="Poppins" pitchFamily="34" charset="-120"/>
              </a:rPr>
              <a:t>Tar Files</a:t>
            </a:r>
            <a:endParaRPr lang="en-US" sz="1500" dirty="0"/>
          </a:p>
        </p:txBody>
      </p:sp>
      <p:sp>
        <p:nvSpPr>
          <p:cNvPr id="20" name="Text 18"/>
          <p:cNvSpPr/>
          <p:nvPr/>
        </p:nvSpPr>
        <p:spPr>
          <a:xfrm>
            <a:off x="6501384" y="3474720"/>
            <a:ext cx="2240280" cy="731520"/>
          </a:xfrm>
          <a:prstGeom prst="rect">
            <a:avLst/>
          </a:prstGeom>
          <a:noFill/>
          <a:ln/>
        </p:spPr>
        <p:txBody>
          <a:bodyPr wrap="square" lIns="0" tIns="0" rIns="0" bIns="0" rtlCol="0" anchor="t"/>
          <a:lstStyle/>
          <a:p>
            <a:pPr algn="ctr" indent="0" marL="0">
              <a:lnSpc>
                <a:spcPct val="105000"/>
              </a:lnSpc>
              <a:buNone/>
            </a:pPr>
            <a:r>
              <a:rPr lang="en-US" sz="1150" dirty="0">
                <a:solidFill>
                  <a:srgbClr val="53565A"/>
                </a:solidFill>
                <a:latin typeface="Poppins" pitchFamily="34" charset="0"/>
                <a:ea typeface="Poppins" pitchFamily="34" charset="-122"/>
                <a:cs typeface="Poppins" pitchFamily="34" charset="-120"/>
              </a:rPr>
              <a:t>built on gdex-glade by dsarch AQ -TO, status 'T'</a:t>
            </a:r>
            <a:endParaRPr lang="en-US" sz="1150" dirty="0"/>
          </a:p>
        </p:txBody>
      </p:sp>
      <p:sp>
        <p:nvSpPr>
          <p:cNvPr id="21" name="Text 19"/>
          <p:cNvSpPr/>
          <p:nvPr/>
        </p:nvSpPr>
        <p:spPr>
          <a:xfrm>
            <a:off x="8897112" y="2011680"/>
            <a:ext cx="347472" cy="2286000"/>
          </a:xfrm>
          <a:prstGeom prst="rect">
            <a:avLst/>
          </a:prstGeom>
          <a:noFill/>
          <a:ln/>
        </p:spPr>
        <p:txBody>
          <a:bodyPr wrap="square" lIns="0" tIns="0" rIns="0" bIns="0" rtlCol="0" anchor="ctr"/>
          <a:lstStyle/>
          <a:p>
            <a:pPr algn="ctr" indent="0" marL="0">
              <a:buNone/>
            </a:pPr>
            <a:r>
              <a:rPr lang="en-US" sz="2600" b="1" dirty="0">
                <a:solidFill>
                  <a:srgbClr val="0097A7"/>
                </a:solidFill>
                <a:latin typeface="Poppins" pitchFamily="34" charset="0"/>
                <a:ea typeface="Poppins" pitchFamily="34" charset="-122"/>
                <a:cs typeface="Poppins" pitchFamily="34" charset="-120"/>
              </a:rPr>
              <a:t>→</a:t>
            </a:r>
            <a:endParaRPr lang="en-US" sz="2600" dirty="0"/>
          </a:p>
        </p:txBody>
      </p:sp>
      <p:sp>
        <p:nvSpPr>
          <p:cNvPr id="22" name="Shape 20"/>
          <p:cNvSpPr/>
          <p:nvPr/>
        </p:nvSpPr>
        <p:spPr>
          <a:xfrm>
            <a:off x="9262872" y="2011680"/>
            <a:ext cx="2514600" cy="2286000"/>
          </a:xfrm>
          <a:prstGeom prst="roundRect">
            <a:avLst>
              <a:gd name="adj" fmla="val 4000"/>
            </a:avLst>
          </a:prstGeom>
          <a:solidFill>
            <a:srgbClr val="011837"/>
          </a:solidFill>
          <a:ln w="25400">
            <a:solidFill>
              <a:srgbClr val="011837"/>
            </a:solidFill>
            <a:prstDash val="solid"/>
          </a:ln>
        </p:spPr>
      </p:sp>
      <p:sp>
        <p:nvSpPr>
          <p:cNvPr id="23" name="Shape 21"/>
          <p:cNvSpPr/>
          <p:nvPr/>
        </p:nvSpPr>
        <p:spPr>
          <a:xfrm>
            <a:off x="10200132" y="2267712"/>
            <a:ext cx="640080" cy="640080"/>
          </a:xfrm>
          <a:prstGeom prst="ellipse">
            <a:avLst/>
          </a:prstGeom>
          <a:solidFill>
            <a:srgbClr val="011837"/>
          </a:solidFill>
          <a:ln/>
        </p:spPr>
      </p:sp>
      <p:sp>
        <p:nvSpPr>
          <p:cNvPr id="24" name="Text 22"/>
          <p:cNvSpPr/>
          <p:nvPr/>
        </p:nvSpPr>
        <p:spPr>
          <a:xfrm>
            <a:off x="10200132" y="226771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Poppins" pitchFamily="34" charset="0"/>
                <a:ea typeface="Poppins" pitchFamily="34" charset="-122"/>
                <a:cs typeface="Poppins" pitchFamily="34" charset="-120"/>
              </a:rPr>
              <a:t>4</a:t>
            </a:r>
            <a:endParaRPr lang="en-US" sz="2400" dirty="0"/>
          </a:p>
        </p:txBody>
      </p:sp>
      <p:sp>
        <p:nvSpPr>
          <p:cNvPr id="25" name="Text 23"/>
          <p:cNvSpPr/>
          <p:nvPr/>
        </p:nvSpPr>
        <p:spPr>
          <a:xfrm>
            <a:off x="9354312" y="2999232"/>
            <a:ext cx="23317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Quasar Tape</a:t>
            </a:r>
            <a:endParaRPr lang="en-US" sz="1500" dirty="0"/>
          </a:p>
        </p:txBody>
      </p:sp>
      <p:sp>
        <p:nvSpPr>
          <p:cNvPr id="26" name="Text 24"/>
          <p:cNvSpPr/>
          <p:nvPr/>
        </p:nvSpPr>
        <p:spPr>
          <a:xfrm>
            <a:off x="9400032" y="3474720"/>
            <a:ext cx="2240280" cy="731520"/>
          </a:xfrm>
          <a:prstGeom prst="rect">
            <a:avLst/>
          </a:prstGeom>
          <a:noFill/>
          <a:ln/>
        </p:spPr>
        <p:txBody>
          <a:bodyPr wrap="square" lIns="0" tIns="0" rIns="0" bIns="0" rtlCol="0" anchor="t"/>
          <a:lstStyle/>
          <a:p>
            <a:pPr algn="ctr" indent="0" marL="0">
              <a:lnSpc>
                <a:spcPct val="105000"/>
              </a:lnSpc>
              <a:buNone/>
            </a:pPr>
            <a:r>
              <a:rPr lang="en-US" sz="1150" dirty="0">
                <a:solidFill>
                  <a:srgbClr val="C3D7EE"/>
                </a:solidFill>
                <a:latin typeface="Poppins" pitchFamily="34" charset="0"/>
                <a:ea typeface="Poppins" pitchFamily="34" charset="-122"/>
                <a:cs typeface="Poppins" pitchFamily="34" charset="-120"/>
              </a:rPr>
              <a:t>dsglobus transfer to gdex-quasar (+drdata), status 'A'</a:t>
            </a:r>
            <a:endParaRPr lang="en-US" sz="1150" dirty="0"/>
          </a:p>
        </p:txBody>
      </p:sp>
      <p:sp>
        <p:nvSpPr>
          <p:cNvPr id="27" name="Text 25"/>
          <p:cNvSpPr/>
          <p:nvPr/>
        </p:nvSpPr>
        <p:spPr>
          <a:xfrm>
            <a:off x="2724912" y="4343400"/>
            <a:ext cx="1097280" cy="320040"/>
          </a:xfrm>
          <a:prstGeom prst="rect">
            <a:avLst/>
          </a:prstGeom>
          <a:noFill/>
          <a:ln/>
        </p:spPr>
        <p:txBody>
          <a:bodyPr wrap="square" lIns="0" tIns="0" rIns="0" bIns="0" rtlCol="0" anchor="ctr"/>
          <a:lstStyle/>
          <a:p>
            <a:pPr algn="ctr" indent="0" marL="0">
              <a:buNone/>
            </a:pPr>
            <a:r>
              <a:rPr lang="en-US" sz="1400" b="1" dirty="0">
                <a:solidFill>
                  <a:srgbClr val="0057C2"/>
                </a:solidFill>
                <a:latin typeface="Courier New" pitchFamily="34" charset="0"/>
                <a:ea typeface="Courier New" pitchFamily="34" charset="-122"/>
                <a:cs typeface="Courier New" pitchFamily="34" charset="-120"/>
              </a:rPr>
              <a:t>-A 1</a:t>
            </a:r>
            <a:endParaRPr lang="en-US" sz="1400" dirty="0"/>
          </a:p>
        </p:txBody>
      </p:sp>
      <p:sp>
        <p:nvSpPr>
          <p:cNvPr id="28" name="Text 26"/>
          <p:cNvSpPr/>
          <p:nvPr/>
        </p:nvSpPr>
        <p:spPr>
          <a:xfrm>
            <a:off x="5623560" y="4343400"/>
            <a:ext cx="1097280" cy="320040"/>
          </a:xfrm>
          <a:prstGeom prst="rect">
            <a:avLst/>
          </a:prstGeom>
          <a:noFill/>
          <a:ln/>
        </p:spPr>
        <p:txBody>
          <a:bodyPr wrap="square" lIns="0" tIns="0" rIns="0" bIns="0" rtlCol="0" anchor="ctr"/>
          <a:lstStyle/>
          <a:p>
            <a:pPr algn="ctr" indent="0" marL="0">
              <a:buNone/>
            </a:pPr>
            <a:r>
              <a:rPr lang="en-US" sz="1400" b="1" dirty="0">
                <a:solidFill>
                  <a:srgbClr val="0097A7"/>
                </a:solidFill>
                <a:latin typeface="Courier New" pitchFamily="34" charset="0"/>
                <a:ea typeface="Courier New" pitchFamily="34" charset="-122"/>
                <a:cs typeface="Courier New" pitchFamily="34" charset="-120"/>
              </a:rPr>
              <a:t>-A 2</a:t>
            </a:r>
            <a:endParaRPr lang="en-US" sz="1400" dirty="0"/>
          </a:p>
        </p:txBody>
      </p:sp>
      <p:sp>
        <p:nvSpPr>
          <p:cNvPr id="29" name="Text 27"/>
          <p:cNvSpPr/>
          <p:nvPr/>
        </p:nvSpPr>
        <p:spPr>
          <a:xfrm>
            <a:off x="8522208" y="4343400"/>
            <a:ext cx="1097280" cy="320040"/>
          </a:xfrm>
          <a:prstGeom prst="rect">
            <a:avLst/>
          </a:prstGeom>
          <a:noFill/>
          <a:ln/>
        </p:spPr>
        <p:txBody>
          <a:bodyPr wrap="square" lIns="0" tIns="0" rIns="0" bIns="0" rtlCol="0" anchor="ctr"/>
          <a:lstStyle/>
          <a:p>
            <a:pPr algn="ctr" indent="0" marL="0">
              <a:buNone/>
            </a:pPr>
            <a:r>
              <a:rPr lang="en-US" sz="1400" b="1" dirty="0">
                <a:solidFill>
                  <a:srgbClr val="C25E00"/>
                </a:solidFill>
                <a:latin typeface="Courier New" pitchFamily="34" charset="0"/>
                <a:ea typeface="Courier New" pitchFamily="34" charset="-122"/>
                <a:cs typeface="Courier New" pitchFamily="34" charset="-120"/>
              </a:rPr>
              <a:t>-A 4</a:t>
            </a:r>
            <a:endParaRPr lang="en-US" sz="1400" dirty="0"/>
          </a:p>
        </p:txBody>
      </p:sp>
      <p:sp>
        <p:nvSpPr>
          <p:cNvPr id="30" name="Shape 28"/>
          <p:cNvSpPr/>
          <p:nvPr/>
        </p:nvSpPr>
        <p:spPr>
          <a:xfrm>
            <a:off x="502920" y="4892040"/>
            <a:ext cx="11201400" cy="1234440"/>
          </a:xfrm>
          <a:prstGeom prst="roundRect">
            <a:avLst>
              <a:gd name="adj" fmla="val 7407"/>
            </a:avLst>
          </a:prstGeom>
          <a:solidFill>
            <a:srgbClr val="C7E4F5"/>
          </a:solidFill>
          <a:ln w="12700">
            <a:solidFill>
              <a:srgbClr val="A9D6F2"/>
            </a:solidFill>
            <a:prstDash val="solid"/>
          </a:ln>
        </p:spPr>
      </p:sp>
      <p:sp>
        <p:nvSpPr>
          <p:cNvPr id="31" name="Shape 29"/>
          <p:cNvSpPr/>
          <p:nvPr/>
        </p:nvSpPr>
        <p:spPr>
          <a:xfrm>
            <a:off x="731520" y="5138928"/>
            <a:ext cx="731520" cy="731520"/>
          </a:xfrm>
          <a:prstGeom prst="ellipse">
            <a:avLst/>
          </a:prstGeom>
          <a:solidFill>
            <a:srgbClr val="0057C2"/>
          </a:solidFill>
          <a:ln/>
        </p:spPr>
      </p:sp>
      <p:sp>
        <p:nvSpPr>
          <p:cNvPr id="32" name="Text 30"/>
          <p:cNvSpPr/>
          <p:nvPr/>
        </p:nvSpPr>
        <p:spPr>
          <a:xfrm>
            <a:off x="731520" y="5138928"/>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a:t>
            </a:r>
            <a:endParaRPr lang="en-US" sz="2200" dirty="0"/>
          </a:p>
        </p:txBody>
      </p:sp>
      <p:sp>
        <p:nvSpPr>
          <p:cNvPr id="33" name="Text 31"/>
          <p:cNvSpPr/>
          <p:nvPr/>
        </p:nvSpPr>
        <p:spPr>
          <a:xfrm>
            <a:off x="1645920" y="5074920"/>
            <a:ext cx="9875520" cy="868680"/>
          </a:xfrm>
          <a:prstGeom prst="rect">
            <a:avLst/>
          </a:prstGeom>
          <a:noFill/>
          <a:ln/>
        </p:spPr>
        <p:txBody>
          <a:bodyPr wrap="square" lIns="0" tIns="0" rIns="0" bIns="0" rtlCol="0" anchor="ctr"/>
          <a:lstStyle/>
          <a:p>
            <a:pPr indent="0" marL="0">
              <a:lnSpc>
                <a:spcPct val="110000"/>
              </a:lnSpc>
              <a:buNone/>
            </a:pPr>
            <a:r>
              <a:rPr lang="en-US" sz="1400" b="1" dirty="0">
                <a:solidFill>
                  <a:srgbClr val="0057C2"/>
                </a:solidFill>
                <a:latin typeface="Poppins" pitchFamily="34" charset="0"/>
                <a:ea typeface="Poppins" pitchFamily="34" charset="-122"/>
                <a:cs typeface="Poppins" pitchFamily="34" charset="-120"/>
              </a:rPr>
              <a:t>-A 3 is the workhorse.  </a:t>
            </a:r>
            <a:pPr indent="0" marL="0">
              <a:lnSpc>
                <a:spcPct val="110000"/>
              </a:lnSpc>
              <a:buNone/>
            </a:pPr>
            <a:r>
              <a:rPr lang="en-US" sz="1400" dirty="0">
                <a:solidFill>
                  <a:srgbClr val="00357A"/>
                </a:solidFill>
                <a:latin typeface="Poppins" pitchFamily="34" charset="0"/>
                <a:ea typeface="Poppins" pitchFamily="34" charset="-122"/>
                <a:cs typeface="Poppins" pitchFamily="34" charset="-120"/>
              </a:rPr>
              <a:t>It runs stages 1 and 2 together: files listed this run are tarred immediately, and existing </a:t>
            </a:r>
            <a:pPr indent="0" marL="0">
              <a:lnSpc>
                <a:spcPct val="110000"/>
              </a:lnSpc>
              <a:buNone/>
            </a:pPr>
            <a:r>
              <a:rPr lang="en-US" sz="1400" b="1" dirty="0">
                <a:solidFill>
                  <a:srgbClr val="00357A"/>
                </a:solidFill>
                <a:latin typeface="Courier New" pitchFamily="34" charset="0"/>
                <a:ea typeface="Courier New" pitchFamily="34" charset="-122"/>
                <a:cs typeface="Courier New" pitchFamily="34" charset="-120"/>
              </a:rPr>
              <a:t>'N'</a:t>
            </a:r>
            <a:pPr indent="0" marL="0">
              <a:lnSpc>
                <a:spcPct val="110000"/>
              </a:lnSpc>
              <a:buNone/>
            </a:pPr>
            <a:r>
              <a:rPr lang="en-US" sz="1400" dirty="0">
                <a:solidFill>
                  <a:srgbClr val="00357A"/>
                </a:solidFill>
                <a:latin typeface="Poppins" pitchFamily="34" charset="0"/>
                <a:ea typeface="Poppins" pitchFamily="34" charset="-122"/>
                <a:cs typeface="Poppins" pitchFamily="34" charset="-120"/>
              </a:rPr>
              <a:t> records left by an earlier run are picked up too. </a:t>
            </a:r>
            <a:pPr indent="0" marL="0">
              <a:lnSpc>
                <a:spcPct val="110000"/>
              </a:lnSpc>
              <a:buNone/>
            </a:pPr>
            <a:r>
              <a:rPr lang="en-US" sz="1400" b="1" dirty="0">
                <a:solidFill>
                  <a:srgbClr val="00357A"/>
                </a:solidFill>
                <a:latin typeface="Courier New" pitchFamily="34" charset="0"/>
                <a:ea typeface="Courier New" pitchFamily="34" charset="-122"/>
                <a:cs typeface="Courier New" pitchFamily="34" charset="-120"/>
              </a:rPr>
              <a:t>-A 4</a:t>
            </a:r>
            <a:pPr indent="0" marL="0">
              <a:lnSpc>
                <a:spcPct val="110000"/>
              </a:lnSpc>
              <a:buNone/>
            </a:pPr>
            <a:r>
              <a:rPr lang="en-US" sz="1400" dirty="0">
                <a:solidFill>
                  <a:srgbClr val="00357A"/>
                </a:solidFill>
                <a:latin typeface="Poppins" pitchFamily="34" charset="0"/>
                <a:ea typeface="Poppins" pitchFamily="34" charset="-122"/>
                <a:cs typeface="Poppins" pitchFamily="34" charset="-120"/>
              </a:rPr>
              <a:t> then moves the tars to tape. Use </a:t>
            </a:r>
            <a:pPr indent="0" marL="0">
              <a:lnSpc>
                <a:spcPct val="110000"/>
              </a:lnSpc>
              <a:buNone/>
            </a:pPr>
            <a:r>
              <a:rPr lang="en-US" sz="1400" b="1" dirty="0">
                <a:solidFill>
                  <a:srgbClr val="00357A"/>
                </a:solidFill>
                <a:latin typeface="Courier New" pitchFamily="34" charset="0"/>
                <a:ea typeface="Courier New" pitchFamily="34" charset="-122"/>
                <a:cs typeface="Courier New" pitchFamily="34" charset="-120"/>
              </a:rPr>
              <a:t>-A 7</a:t>
            </a:r>
            <a:pPr indent="0" marL="0">
              <a:lnSpc>
                <a:spcPct val="110000"/>
              </a:lnSpc>
              <a:buNone/>
            </a:pPr>
            <a:r>
              <a:rPr lang="en-US" sz="1400" dirty="0">
                <a:solidFill>
                  <a:srgbClr val="00357A"/>
                </a:solidFill>
                <a:latin typeface="Poppins" pitchFamily="34" charset="0"/>
                <a:ea typeface="Poppins" pitchFamily="34" charset="-122"/>
                <a:cs typeface="Poppins" pitchFamily="34" charset="-120"/>
              </a:rPr>
              <a:t> for the full chain in one run.</a:t>
            </a:r>
            <a:endParaRPr lang="en-US" sz="1400" dirty="0"/>
          </a:p>
        </p:txBody>
      </p:sp>
      <p:sp>
        <p:nvSpPr>
          <p:cNvPr id="34" name="Text 32"/>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3</a:t>
            </a:r>
            <a:endParaRPr lang="en-US" sz="950" dirty="0"/>
          </a:p>
        </p:txBody>
      </p:sp>
      <p:sp>
        <p:nvSpPr>
          <p:cNvPr id="35" name="Text 33"/>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2DB"/>
                </a:solidFill>
                <a:latin typeface="Poppins" pitchFamily="34" charset="0"/>
                <a:ea typeface="Poppins" pitchFamily="34" charset="-122"/>
                <a:cs typeface="Poppins" pitchFamily="34" charset="-120"/>
              </a:rPr>
              <a:t>DATA MODEL</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2900" b="1" dirty="0">
                <a:solidFill>
                  <a:srgbClr val="00357A"/>
                </a:solidFill>
                <a:latin typeface="Poppins" pitchFamily="34" charset="0"/>
                <a:ea typeface="Poppins" pitchFamily="34" charset="-122"/>
                <a:cs typeface="Poppins" pitchFamily="34" charset="-120"/>
              </a:rPr>
              <a:t>What dsquasar Reads and Writes in GDEXDB</a:t>
            </a:r>
            <a:endParaRPr lang="en-US" sz="2900" dirty="0"/>
          </a:p>
        </p:txBody>
      </p:sp>
      <p:sp>
        <p:nvSpPr>
          <p:cNvPr id="4" name="Shape 2"/>
          <p:cNvSpPr/>
          <p:nvPr/>
        </p:nvSpPr>
        <p:spPr>
          <a:xfrm>
            <a:off x="457200" y="1554480"/>
            <a:ext cx="3611880" cy="4114800"/>
          </a:xfrm>
          <a:prstGeom prst="roundRect">
            <a:avLst>
              <a:gd name="adj" fmla="val 2532"/>
            </a:avLst>
          </a:prstGeom>
          <a:solidFill>
            <a:srgbClr val="FFFFFF"/>
          </a:solidFill>
          <a:ln w="25400">
            <a:solidFill>
              <a:srgbClr val="0057C2"/>
            </a:solidFill>
            <a:prstDash val="solid"/>
          </a:ln>
          <a:effectLst>
            <a:outerShdw sx="100000" sy="100000" kx="0" ky="0" algn="bl" rotWithShape="0" blurRad="76200" dist="25400" dir="5400000">
              <a:srgbClr val="C3D7EE">
                <a:alpha val="30000"/>
              </a:srgbClr>
            </a:outerShdw>
          </a:effectLst>
        </p:spPr>
      </p:sp>
      <p:sp>
        <p:nvSpPr>
          <p:cNvPr id="5" name="Shape 3"/>
          <p:cNvSpPr/>
          <p:nvPr/>
        </p:nvSpPr>
        <p:spPr>
          <a:xfrm>
            <a:off x="457200" y="1554480"/>
            <a:ext cx="3611880" cy="1051560"/>
          </a:xfrm>
          <a:prstGeom prst="roundRect">
            <a:avLst>
              <a:gd name="adj" fmla="val 8696"/>
            </a:avLst>
          </a:prstGeom>
          <a:solidFill>
            <a:srgbClr val="0057C2"/>
          </a:solidFill>
          <a:ln/>
        </p:spPr>
      </p:sp>
      <p:sp>
        <p:nvSpPr>
          <p:cNvPr id="6" name="Shape 4"/>
          <p:cNvSpPr/>
          <p:nvPr/>
        </p:nvSpPr>
        <p:spPr>
          <a:xfrm>
            <a:off x="457200" y="2103120"/>
            <a:ext cx="3611880" cy="502920"/>
          </a:xfrm>
          <a:prstGeom prst="rect">
            <a:avLst/>
          </a:prstGeom>
          <a:solidFill>
            <a:srgbClr val="0057C2"/>
          </a:solidFill>
          <a:ln/>
        </p:spPr>
      </p:sp>
      <p:sp>
        <p:nvSpPr>
          <p:cNvPr id="7" name="Text 5"/>
          <p:cNvSpPr/>
          <p:nvPr/>
        </p:nvSpPr>
        <p:spPr>
          <a:xfrm>
            <a:off x="685800" y="1682496"/>
            <a:ext cx="3154680" cy="411480"/>
          </a:xfrm>
          <a:prstGeom prst="rect">
            <a:avLst/>
          </a:prstGeom>
          <a:noFill/>
          <a:ln/>
        </p:spPr>
        <p:txBody>
          <a:bodyPr wrap="square" lIns="0" tIns="0" rIns="0" bIns="0" rtlCol="0" anchor="ctr"/>
          <a:lstStyle/>
          <a:p>
            <a:pPr indent="0" marL="0">
              <a:buNone/>
            </a:pPr>
            <a:r>
              <a:rPr lang="en-US" sz="2000" b="1" dirty="0">
                <a:solidFill>
                  <a:srgbClr val="FFFFFF"/>
                </a:solidFill>
                <a:latin typeface="Poppins" pitchFamily="34" charset="0"/>
                <a:ea typeface="Poppins" pitchFamily="34" charset="-122"/>
                <a:cs typeface="Poppins" pitchFamily="34" charset="-120"/>
              </a:rPr>
              <a:t>Backup Flags</a:t>
            </a:r>
            <a:endParaRPr lang="en-US" sz="2000" dirty="0"/>
          </a:p>
        </p:txBody>
      </p:sp>
      <p:sp>
        <p:nvSpPr>
          <p:cNvPr id="8" name="Text 6"/>
          <p:cNvSpPr/>
          <p:nvPr/>
        </p:nvSpPr>
        <p:spPr>
          <a:xfrm>
            <a:off x="685800" y="2121408"/>
            <a:ext cx="3154680" cy="365760"/>
          </a:xfrm>
          <a:prstGeom prst="rect">
            <a:avLst/>
          </a:prstGeom>
          <a:noFill/>
          <a:ln/>
        </p:spPr>
        <p:txBody>
          <a:bodyPr wrap="square" lIns="0" tIns="0" rIns="0" bIns="0" rtlCol="0" anchor="ctr"/>
          <a:lstStyle/>
          <a:p>
            <a:pPr indent="0" marL="0">
              <a:buNone/>
            </a:pPr>
            <a:r>
              <a:rPr lang="en-US" sz="1200" dirty="0">
                <a:solidFill>
                  <a:srgbClr val="DBE2E9"/>
                </a:solidFill>
                <a:latin typeface="Courier New" pitchFamily="34" charset="0"/>
                <a:ea typeface="Courier New" pitchFamily="34" charset="-122"/>
                <a:cs typeface="Courier New" pitchFamily="34" charset="-120"/>
              </a:rPr>
              <a:t>dataset / dsgroup   </a:t>
            </a:r>
            <a:pPr indent="0" marL="0">
              <a:buNone/>
            </a:pPr>
            <a:r>
              <a:rPr lang="en-US" sz="1200" b="1" dirty="0">
                <a:solidFill>
                  <a:srgbClr val="FFFFFF"/>
                </a:solidFill>
                <a:latin typeface="Poppins" pitchFamily="34" charset="0"/>
                <a:ea typeface="Poppins" pitchFamily="34" charset="-122"/>
                <a:cs typeface="Poppins" pitchFamily="34" charset="-120"/>
              </a:rPr>
              <a:t>read</a:t>
            </a:r>
            <a:endParaRPr lang="en-US" sz="1200" dirty="0"/>
          </a:p>
        </p:txBody>
      </p:sp>
      <p:sp>
        <p:nvSpPr>
          <p:cNvPr id="9" name="Text 7"/>
          <p:cNvSpPr/>
          <p:nvPr/>
        </p:nvSpPr>
        <p:spPr>
          <a:xfrm>
            <a:off x="731520" y="2834640"/>
            <a:ext cx="3108960" cy="265176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300" dirty="0">
                <a:solidFill>
                  <a:srgbClr val="00357A"/>
                </a:solidFill>
                <a:latin typeface="Poppins" pitchFamily="34" charset="0"/>
                <a:ea typeface="Poppins" pitchFamily="34" charset="-122"/>
                <a:cs typeface="Poppins" pitchFamily="34" charset="-120"/>
              </a:rPr>
              <a:t>backflag 'B' — Backup copy only</a:t>
            </a:r>
            <a:endParaRPr lang="en-US" sz="1300" dirty="0"/>
          </a:p>
          <a:p>
            <a:pPr marL="177800" indent="-177800">
              <a:lnSpc>
                <a:spcPct val="105000"/>
              </a:lnSpc>
              <a:spcAft>
                <a:spcPts val="800"/>
              </a:spcAft>
              <a:buSzPct val="100000"/>
              <a:buChar char="•"/>
            </a:pPr>
            <a:r>
              <a:rPr lang="en-US" sz="1300" dirty="0">
                <a:solidFill>
                  <a:srgbClr val="00357A"/>
                </a:solidFill>
                <a:latin typeface="Poppins" pitchFamily="34" charset="0"/>
                <a:ea typeface="Poppins" pitchFamily="34" charset="-122"/>
                <a:cs typeface="Poppins" pitchFamily="34" charset="-120"/>
              </a:rPr>
              <a:t>backflag 'D' — Backup + Drdata copy</a:t>
            </a:r>
            <a:endParaRPr lang="en-US" sz="1300" dirty="0"/>
          </a:p>
          <a:p>
            <a:pPr marL="177800" indent="-177800">
              <a:lnSpc>
                <a:spcPct val="105000"/>
              </a:lnSpc>
              <a:spcAft>
                <a:spcPts val="800"/>
              </a:spcAft>
              <a:buSzPct val="100000"/>
              <a:buChar char="•"/>
            </a:pPr>
            <a:r>
              <a:rPr lang="en-US" sz="1300" dirty="0">
                <a:solidFill>
                  <a:srgbClr val="00357A"/>
                </a:solidFill>
                <a:latin typeface="Poppins" pitchFamily="34" charset="0"/>
                <a:ea typeface="Poppins" pitchFamily="34" charset="-122"/>
                <a:cs typeface="Poppins" pitchFamily="34" charset="-120"/>
              </a:rPr>
              <a:t>backflag 'N' — do not back up</a:t>
            </a:r>
            <a:endParaRPr lang="en-US" sz="1300" dirty="0"/>
          </a:p>
          <a:p>
            <a:pPr marL="177800" indent="-177800">
              <a:lnSpc>
                <a:spcPct val="105000"/>
              </a:lnSpc>
              <a:spcAft>
                <a:spcPts val="800"/>
              </a:spcAft>
              <a:buSzPct val="100000"/>
              <a:buChar char="•"/>
            </a:pPr>
            <a:r>
              <a:rPr lang="en-US" sz="1300" dirty="0">
                <a:solidFill>
                  <a:srgbClr val="00357A"/>
                </a:solidFill>
                <a:latin typeface="Poppins" pitchFamily="34" charset="0"/>
                <a:ea typeface="Poppins" pitchFamily="34" charset="-122"/>
                <a:cs typeface="Poppins" pitchFamily="34" charset="-120"/>
              </a:rPr>
              <a:t>group flag 'P' inherits the dataset flag</a:t>
            </a:r>
            <a:endParaRPr lang="en-US" sz="1300" dirty="0"/>
          </a:p>
          <a:p>
            <a:pPr marL="177800" indent="-177800">
              <a:lnSpc>
                <a:spcPct val="105000"/>
              </a:lnSpc>
              <a:buSzPct val="100000"/>
              <a:buChar char="•"/>
            </a:pPr>
            <a:r>
              <a:rPr lang="en-US" sz="1300" dirty="0">
                <a:solidFill>
                  <a:srgbClr val="00357A"/>
                </a:solidFill>
                <a:latin typeface="Poppins" pitchFamily="34" charset="0"/>
                <a:ea typeface="Poppins" pitchFamily="34" charset="-122"/>
                <a:cs typeface="Poppins" pitchFamily="34" charset="-120"/>
              </a:rPr>
              <a:t>dataset.pid / lockhost — the run lock</a:t>
            </a:r>
            <a:endParaRPr lang="en-US" sz="1300" dirty="0"/>
          </a:p>
        </p:txBody>
      </p:sp>
      <p:sp>
        <p:nvSpPr>
          <p:cNvPr id="10" name="Shape 8"/>
          <p:cNvSpPr/>
          <p:nvPr/>
        </p:nvSpPr>
        <p:spPr>
          <a:xfrm>
            <a:off x="4325112" y="1554480"/>
            <a:ext cx="3611880" cy="4114800"/>
          </a:xfrm>
          <a:prstGeom prst="roundRect">
            <a:avLst>
              <a:gd name="adj" fmla="val 2532"/>
            </a:avLst>
          </a:prstGeom>
          <a:solidFill>
            <a:srgbClr val="FFFFFF"/>
          </a:solidFill>
          <a:ln w="25400">
            <a:solidFill>
              <a:srgbClr val="0092DB"/>
            </a:solidFill>
            <a:prstDash val="solid"/>
          </a:ln>
          <a:effectLst>
            <a:outerShdw sx="100000" sy="100000" kx="0" ky="0" algn="bl" rotWithShape="0" blurRad="76200" dist="25400" dir="5400000">
              <a:srgbClr val="C3D7EE">
                <a:alpha val="30000"/>
              </a:srgbClr>
            </a:outerShdw>
          </a:effectLst>
        </p:spPr>
      </p:sp>
      <p:sp>
        <p:nvSpPr>
          <p:cNvPr id="11" name="Shape 9"/>
          <p:cNvSpPr/>
          <p:nvPr/>
        </p:nvSpPr>
        <p:spPr>
          <a:xfrm>
            <a:off x="4325112" y="1554480"/>
            <a:ext cx="3611880" cy="1051560"/>
          </a:xfrm>
          <a:prstGeom prst="roundRect">
            <a:avLst>
              <a:gd name="adj" fmla="val 8696"/>
            </a:avLst>
          </a:prstGeom>
          <a:solidFill>
            <a:srgbClr val="0092DB"/>
          </a:solidFill>
          <a:ln/>
        </p:spPr>
      </p:sp>
      <p:sp>
        <p:nvSpPr>
          <p:cNvPr id="12" name="Shape 10"/>
          <p:cNvSpPr/>
          <p:nvPr/>
        </p:nvSpPr>
        <p:spPr>
          <a:xfrm>
            <a:off x="4325112" y="2103120"/>
            <a:ext cx="3611880" cy="502920"/>
          </a:xfrm>
          <a:prstGeom prst="rect">
            <a:avLst/>
          </a:prstGeom>
          <a:solidFill>
            <a:srgbClr val="0092DB"/>
          </a:solidFill>
          <a:ln/>
        </p:spPr>
      </p:sp>
      <p:sp>
        <p:nvSpPr>
          <p:cNvPr id="13" name="Text 11"/>
          <p:cNvSpPr/>
          <p:nvPr/>
        </p:nvSpPr>
        <p:spPr>
          <a:xfrm>
            <a:off x="4553712" y="1682496"/>
            <a:ext cx="3154680" cy="411480"/>
          </a:xfrm>
          <a:prstGeom prst="rect">
            <a:avLst/>
          </a:prstGeom>
          <a:noFill/>
          <a:ln/>
        </p:spPr>
        <p:txBody>
          <a:bodyPr wrap="square" lIns="0" tIns="0" rIns="0" bIns="0" rtlCol="0" anchor="ctr"/>
          <a:lstStyle/>
          <a:p>
            <a:pPr indent="0" marL="0">
              <a:buNone/>
            </a:pPr>
            <a:r>
              <a:rPr lang="en-US" sz="2000" b="1" dirty="0">
                <a:solidFill>
                  <a:srgbClr val="FFFFFF"/>
                </a:solidFill>
                <a:latin typeface="Poppins" pitchFamily="34" charset="0"/>
                <a:ea typeface="Poppins" pitchFamily="34" charset="-122"/>
                <a:cs typeface="Poppins" pitchFamily="34" charset="-120"/>
              </a:rPr>
              <a:t>Data Files</a:t>
            </a:r>
            <a:endParaRPr lang="en-US" sz="2000" dirty="0"/>
          </a:p>
        </p:txBody>
      </p:sp>
      <p:sp>
        <p:nvSpPr>
          <p:cNvPr id="14" name="Text 12"/>
          <p:cNvSpPr/>
          <p:nvPr/>
        </p:nvSpPr>
        <p:spPr>
          <a:xfrm>
            <a:off x="4553712" y="2121408"/>
            <a:ext cx="3154680" cy="365760"/>
          </a:xfrm>
          <a:prstGeom prst="rect">
            <a:avLst/>
          </a:prstGeom>
          <a:noFill/>
          <a:ln/>
        </p:spPr>
        <p:txBody>
          <a:bodyPr wrap="square" lIns="0" tIns="0" rIns="0" bIns="0" rtlCol="0" anchor="ctr"/>
          <a:lstStyle/>
          <a:p>
            <a:pPr indent="0" marL="0">
              <a:buNone/>
            </a:pPr>
            <a:r>
              <a:rPr lang="en-US" sz="1200" dirty="0">
                <a:solidFill>
                  <a:srgbClr val="DBE2E9"/>
                </a:solidFill>
                <a:latin typeface="Courier New" pitchFamily="34" charset="0"/>
                <a:ea typeface="Courier New" pitchFamily="34" charset="-122"/>
                <a:cs typeface="Courier New" pitchFamily="34" charset="-120"/>
              </a:rPr>
              <a:t>wfile / sfile   </a:t>
            </a:r>
            <a:pPr indent="0" marL="0">
              <a:buNone/>
            </a:pPr>
            <a:r>
              <a:rPr lang="en-US" sz="1200" b="1" dirty="0">
                <a:solidFill>
                  <a:srgbClr val="FFFFFF"/>
                </a:solidFill>
                <a:latin typeface="Poppins" pitchFamily="34" charset="0"/>
                <a:ea typeface="Poppins" pitchFamily="34" charset="-122"/>
                <a:cs typeface="Poppins" pitchFamily="34" charset="-120"/>
              </a:rPr>
              <a:t>read + update</a:t>
            </a:r>
            <a:endParaRPr lang="en-US" sz="1200" dirty="0"/>
          </a:p>
        </p:txBody>
      </p:sp>
      <p:sp>
        <p:nvSpPr>
          <p:cNvPr id="15" name="Text 13"/>
          <p:cNvSpPr/>
          <p:nvPr/>
        </p:nvSpPr>
        <p:spPr>
          <a:xfrm>
            <a:off x="4599432" y="2834640"/>
            <a:ext cx="3108960" cy="265176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300" dirty="0">
                <a:solidFill>
                  <a:srgbClr val="00357A"/>
                </a:solidFill>
                <a:latin typeface="Poppins" pitchFamily="34" charset="0"/>
                <a:ea typeface="Poppins" pitchFamily="34" charset="-122"/>
                <a:cs typeface="Poppins" pitchFamily="34" charset="-120"/>
              </a:rPr>
              <a:t>bid = 0 ⇒ not backed up yet</a:t>
            </a:r>
            <a:endParaRPr lang="en-US" sz="1300" dirty="0"/>
          </a:p>
          <a:p>
            <a:pPr marL="177800" indent="-177800">
              <a:lnSpc>
                <a:spcPct val="105000"/>
              </a:lnSpc>
              <a:spcAft>
                <a:spcPts val="800"/>
              </a:spcAft>
              <a:buSzPct val="100000"/>
              <a:buChar char="•"/>
            </a:pPr>
            <a:r>
              <a:rPr lang="en-US" sz="1300" dirty="0">
                <a:solidFill>
                  <a:srgbClr val="00357A"/>
                </a:solidFill>
                <a:latin typeface="Poppins" pitchFamily="34" charset="0"/>
                <a:ea typeface="Poppins" pitchFamily="34" charset="-122"/>
                <a:cs typeface="Poppins" pitchFamily="34" charset="-120"/>
              </a:rPr>
              <a:t>bid = &lt;bfile&gt; ⇒ inside that tar</a:t>
            </a:r>
            <a:endParaRPr lang="en-US" sz="1300" dirty="0"/>
          </a:p>
          <a:p>
            <a:pPr marL="177800" indent="-177800">
              <a:lnSpc>
                <a:spcPct val="105000"/>
              </a:lnSpc>
              <a:spcAft>
                <a:spcPts val="800"/>
              </a:spcAft>
              <a:buSzPct val="100000"/>
              <a:buChar char="•"/>
            </a:pPr>
            <a:r>
              <a:rPr lang="en-US" sz="1300" dirty="0">
                <a:solidFill>
                  <a:srgbClr val="00357A"/>
                </a:solidFill>
                <a:latin typeface="Poppins" pitchFamily="34" charset="0"/>
                <a:ea typeface="Poppins" pitchFamily="34" charset="-122"/>
                <a:cs typeface="Poppins" pitchFamily="34" charset="-120"/>
              </a:rPr>
              <a:t>data_size / checksum / timestamps re-verified on disk before tarring</a:t>
            </a:r>
            <a:endParaRPr lang="en-US" sz="1300" dirty="0"/>
          </a:p>
          <a:p>
            <a:pPr marL="177800" indent="-177800">
              <a:lnSpc>
                <a:spcPct val="105000"/>
              </a:lnSpc>
              <a:buSzPct val="100000"/>
              <a:buChar char="•"/>
            </a:pPr>
            <a:r>
              <a:rPr lang="en-US" sz="1300" dirty="0">
                <a:solidFill>
                  <a:srgbClr val="00357A"/>
                </a:solidFill>
                <a:latin typeface="Poppins" pitchFamily="34" charset="0"/>
                <a:ea typeface="Poppins" pitchFamily="34" charset="-122"/>
                <a:cs typeface="Poppins" pitchFamily="34" charset="-120"/>
              </a:rPr>
              <a:t>locflag 'O' files are pulled from object storage first</a:t>
            </a:r>
            <a:endParaRPr lang="en-US" sz="1300" dirty="0"/>
          </a:p>
        </p:txBody>
      </p:sp>
      <p:sp>
        <p:nvSpPr>
          <p:cNvPr id="16" name="Shape 14"/>
          <p:cNvSpPr/>
          <p:nvPr/>
        </p:nvSpPr>
        <p:spPr>
          <a:xfrm>
            <a:off x="8193024" y="1554480"/>
            <a:ext cx="3611880" cy="4114800"/>
          </a:xfrm>
          <a:prstGeom prst="roundRect">
            <a:avLst>
              <a:gd name="adj" fmla="val 2532"/>
            </a:avLst>
          </a:prstGeom>
          <a:solidFill>
            <a:srgbClr val="FFFFFF"/>
          </a:solidFill>
          <a:ln w="25400">
            <a:solidFill>
              <a:srgbClr val="0097A7"/>
            </a:solidFill>
            <a:prstDash val="solid"/>
          </a:ln>
          <a:effectLst>
            <a:outerShdw sx="100000" sy="100000" kx="0" ky="0" algn="bl" rotWithShape="0" blurRad="76200" dist="25400" dir="5400000">
              <a:srgbClr val="C3D7EE">
                <a:alpha val="30000"/>
              </a:srgbClr>
            </a:outerShdw>
          </a:effectLst>
        </p:spPr>
      </p:sp>
      <p:sp>
        <p:nvSpPr>
          <p:cNvPr id="17" name="Shape 15"/>
          <p:cNvSpPr/>
          <p:nvPr/>
        </p:nvSpPr>
        <p:spPr>
          <a:xfrm>
            <a:off x="8193024" y="1554480"/>
            <a:ext cx="3611880" cy="1051560"/>
          </a:xfrm>
          <a:prstGeom prst="roundRect">
            <a:avLst>
              <a:gd name="adj" fmla="val 8696"/>
            </a:avLst>
          </a:prstGeom>
          <a:solidFill>
            <a:srgbClr val="0097A7"/>
          </a:solidFill>
          <a:ln/>
        </p:spPr>
      </p:sp>
      <p:sp>
        <p:nvSpPr>
          <p:cNvPr id="18" name="Shape 16"/>
          <p:cNvSpPr/>
          <p:nvPr/>
        </p:nvSpPr>
        <p:spPr>
          <a:xfrm>
            <a:off x="8193024" y="2103120"/>
            <a:ext cx="3611880" cy="502920"/>
          </a:xfrm>
          <a:prstGeom prst="rect">
            <a:avLst/>
          </a:prstGeom>
          <a:solidFill>
            <a:srgbClr val="0097A7"/>
          </a:solidFill>
          <a:ln/>
        </p:spPr>
      </p:sp>
      <p:sp>
        <p:nvSpPr>
          <p:cNvPr id="19" name="Text 17"/>
          <p:cNvSpPr/>
          <p:nvPr/>
        </p:nvSpPr>
        <p:spPr>
          <a:xfrm>
            <a:off x="8421624" y="1682496"/>
            <a:ext cx="3154680" cy="411480"/>
          </a:xfrm>
          <a:prstGeom prst="rect">
            <a:avLst/>
          </a:prstGeom>
          <a:noFill/>
          <a:ln/>
        </p:spPr>
        <p:txBody>
          <a:bodyPr wrap="square" lIns="0" tIns="0" rIns="0" bIns="0" rtlCol="0" anchor="ctr"/>
          <a:lstStyle/>
          <a:p>
            <a:pPr indent="0" marL="0">
              <a:buNone/>
            </a:pPr>
            <a:r>
              <a:rPr lang="en-US" sz="2000" b="1" dirty="0">
                <a:solidFill>
                  <a:srgbClr val="FFFFFF"/>
                </a:solidFill>
                <a:latin typeface="Poppins" pitchFamily="34" charset="0"/>
                <a:ea typeface="Poppins" pitchFamily="34" charset="-122"/>
                <a:cs typeface="Poppins" pitchFamily="34" charset="-120"/>
              </a:rPr>
              <a:t>Backup File Record</a:t>
            </a:r>
            <a:endParaRPr lang="en-US" sz="2000" dirty="0"/>
          </a:p>
        </p:txBody>
      </p:sp>
      <p:sp>
        <p:nvSpPr>
          <p:cNvPr id="20" name="Text 18"/>
          <p:cNvSpPr/>
          <p:nvPr/>
        </p:nvSpPr>
        <p:spPr>
          <a:xfrm>
            <a:off x="8421624" y="2121408"/>
            <a:ext cx="3154680" cy="365760"/>
          </a:xfrm>
          <a:prstGeom prst="rect">
            <a:avLst/>
          </a:prstGeom>
          <a:noFill/>
          <a:ln/>
        </p:spPr>
        <p:txBody>
          <a:bodyPr wrap="square" lIns="0" tIns="0" rIns="0" bIns="0" rtlCol="0" anchor="ctr"/>
          <a:lstStyle/>
          <a:p>
            <a:pPr indent="0" marL="0">
              <a:buNone/>
            </a:pPr>
            <a:r>
              <a:rPr lang="en-US" sz="1200" dirty="0">
                <a:solidFill>
                  <a:srgbClr val="DBE2E9"/>
                </a:solidFill>
                <a:latin typeface="Courier New" pitchFamily="34" charset="0"/>
                <a:ea typeface="Courier New" pitchFamily="34" charset="-122"/>
                <a:cs typeface="Courier New" pitchFamily="34" charset="-120"/>
              </a:rPr>
              <a:t>bfile   </a:t>
            </a:r>
            <a:pPr indent="0" marL="0">
              <a:buNone/>
            </a:pPr>
            <a:r>
              <a:rPr lang="en-US" sz="1200" b="1" dirty="0">
                <a:solidFill>
                  <a:srgbClr val="FFFFFF"/>
                </a:solidFill>
                <a:latin typeface="Poppins" pitchFamily="34" charset="0"/>
                <a:ea typeface="Poppins" pitchFamily="34" charset="-122"/>
                <a:cs typeface="Poppins" pitchFamily="34" charset="-120"/>
              </a:rPr>
              <a:t>write</a:t>
            </a:r>
            <a:endParaRPr lang="en-US" sz="1200" dirty="0"/>
          </a:p>
        </p:txBody>
      </p:sp>
      <p:sp>
        <p:nvSpPr>
          <p:cNvPr id="21" name="Text 19"/>
          <p:cNvSpPr/>
          <p:nvPr/>
        </p:nvSpPr>
        <p:spPr>
          <a:xfrm>
            <a:off x="8467344" y="2834640"/>
            <a:ext cx="3108960" cy="265176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300" dirty="0">
                <a:solidFill>
                  <a:srgbClr val="00357A"/>
                </a:solidFill>
                <a:latin typeface="Poppins" pitchFamily="34" charset="0"/>
                <a:ea typeface="Poppins" pitchFamily="34" charset="-122"/>
                <a:cs typeface="Poppins" pitchFamily="34" charset="-120"/>
              </a:rPr>
              <a:t>one record per tar file</a:t>
            </a:r>
            <a:endParaRPr lang="en-US" sz="1300" dirty="0"/>
          </a:p>
          <a:p>
            <a:pPr marL="177800" indent="-177800">
              <a:lnSpc>
                <a:spcPct val="105000"/>
              </a:lnSpc>
              <a:spcAft>
                <a:spcPts val="800"/>
              </a:spcAft>
              <a:buSzPct val="100000"/>
              <a:buChar char="•"/>
            </a:pPr>
            <a:r>
              <a:rPr lang="en-US" sz="1300" dirty="0">
                <a:solidFill>
                  <a:srgbClr val="00357A"/>
                </a:solidFill>
                <a:latin typeface="Poppins" pitchFamily="34" charset="0"/>
                <a:ea typeface="Poppins" pitchFamily="34" charset="-122"/>
                <a:cs typeface="Poppins" pitchFamily="34" charset="-120"/>
              </a:rPr>
              <a:t>status 'N' → 'T' → 'A'</a:t>
            </a:r>
            <a:endParaRPr lang="en-US" sz="1300" dirty="0"/>
          </a:p>
          <a:p>
            <a:pPr marL="177800" indent="-177800">
              <a:lnSpc>
                <a:spcPct val="105000"/>
              </a:lnSpc>
              <a:spcAft>
                <a:spcPts val="800"/>
              </a:spcAft>
              <a:buSzPct val="100000"/>
              <a:buChar char="•"/>
            </a:pPr>
            <a:r>
              <a:rPr lang="en-US" sz="1300" dirty="0">
                <a:solidFill>
                  <a:srgbClr val="00357A"/>
                </a:solidFill>
                <a:latin typeface="Poppins" pitchFamily="34" charset="0"/>
                <a:ea typeface="Poppins" pitchFamily="34" charset="-122"/>
                <a:cs typeface="Poppins" pitchFamily="34" charset="-120"/>
              </a:rPr>
              <a:t>type 'B' or 'D'; dsids lists extra datasets</a:t>
            </a:r>
            <a:endParaRPr lang="en-US" sz="1300" dirty="0"/>
          </a:p>
          <a:p>
            <a:pPr marL="177800" indent="-177800">
              <a:lnSpc>
                <a:spcPct val="105000"/>
              </a:lnSpc>
              <a:buSzPct val="100000"/>
              <a:buChar char="•"/>
            </a:pPr>
            <a:r>
              <a:rPr lang="en-US" sz="1300" dirty="0">
                <a:solidFill>
                  <a:srgbClr val="00357A"/>
                </a:solidFill>
                <a:latin typeface="Poppins" pitchFamily="34" charset="0"/>
                <a:ea typeface="Poppins" pitchFamily="34" charset="-122"/>
                <a:cs typeface="Poppins" pitchFamily="34" charset="-120"/>
              </a:rPr>
              <a:t>note holds the whole input-file listing — the manifest of what is inside</a:t>
            </a:r>
            <a:endParaRPr lang="en-US" sz="1300" dirty="0"/>
          </a:p>
        </p:txBody>
      </p:sp>
      <p:sp>
        <p:nvSpPr>
          <p:cNvPr id="22" name="Text 20"/>
          <p:cNvSpPr/>
          <p:nvPr/>
        </p:nvSpPr>
        <p:spPr>
          <a:xfrm>
            <a:off x="457200" y="5870448"/>
            <a:ext cx="9966960" cy="411480"/>
          </a:xfrm>
          <a:prstGeom prst="rect">
            <a:avLst/>
          </a:prstGeom>
          <a:noFill/>
          <a:ln/>
        </p:spPr>
        <p:txBody>
          <a:bodyPr wrap="square" lIns="0" tIns="0" rIns="0" bIns="0" rtlCol="0" anchor="ctr"/>
          <a:lstStyle/>
          <a:p>
            <a:pPr algn="ctr" indent="0" marL="0">
              <a:buNone/>
            </a:pPr>
            <a:r>
              <a:rPr lang="en-US" sz="1150" b="1" dirty="0">
                <a:solidFill>
                  <a:srgbClr val="0057C2"/>
                </a:solidFill>
                <a:latin typeface="Poppins" pitchFamily="34" charset="0"/>
                <a:ea typeface="Poppins" pitchFamily="34" charset="-122"/>
                <a:cs typeface="Poppins" pitchFamily="34" charset="-120"/>
              </a:rPr>
              <a:t>The bfile note is the recovery key:  </a:t>
            </a:r>
            <a:pPr algn="ctr" indent="0" marL="0">
              <a:buNone/>
            </a:pPr>
            <a:r>
              <a:rPr lang="en-US" sz="1150" dirty="0">
                <a:solidFill>
                  <a:srgbClr val="53565A"/>
                </a:solidFill>
                <a:latin typeface="Poppins" pitchFamily="34" charset="0"/>
                <a:ea typeface="Poppins" pitchFamily="34" charset="-122"/>
                <a:cs typeface="Poppins" pitchFamily="34" charset="-120"/>
              </a:rPr>
              <a:t>it records every member file, its size and checksum, so a tar can be re-listed, re-tarred, or restored without re-reading the archive.</a:t>
            </a:r>
            <a:endParaRPr lang="en-US" sz="1150" dirty="0"/>
          </a:p>
        </p:txBody>
      </p:sp>
      <p:sp>
        <p:nvSpPr>
          <p:cNvPr id="23" name="Text 21"/>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4</a:t>
            </a:r>
            <a:endParaRPr lang="en-US" sz="950" dirty="0"/>
          </a:p>
        </p:txBody>
      </p:sp>
      <p:sp>
        <p:nvSpPr>
          <p:cNvPr id="24" name="Text 22"/>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2DB"/>
                </a:solidFill>
                <a:latin typeface="Poppins" pitchFamily="34" charset="0"/>
                <a:ea typeface="Poppins" pitchFamily="34" charset="-122"/>
                <a:cs typeface="Poppins" pitchFamily="34" charset="-120"/>
              </a:rPr>
              <a:t>GENERAL USAGE</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Anatomy of a Command</a:t>
            </a:r>
            <a:endParaRPr lang="en-US" sz="3200" dirty="0"/>
          </a:p>
        </p:txBody>
      </p:sp>
      <p:sp>
        <p:nvSpPr>
          <p:cNvPr id="4" name="Shape 2"/>
          <p:cNvSpPr/>
          <p:nvPr/>
        </p:nvSpPr>
        <p:spPr>
          <a:xfrm>
            <a:off x="457200" y="1508760"/>
            <a:ext cx="11247120" cy="868680"/>
          </a:xfrm>
          <a:prstGeom prst="roundRect">
            <a:avLst>
              <a:gd name="adj" fmla="val 8421"/>
            </a:avLst>
          </a:prstGeom>
          <a:solidFill>
            <a:srgbClr val="011837"/>
          </a:solidFill>
          <a:ln/>
        </p:spPr>
      </p:sp>
      <p:sp>
        <p:nvSpPr>
          <p:cNvPr id="5" name="Text 3"/>
          <p:cNvSpPr/>
          <p:nvPr/>
        </p:nvSpPr>
        <p:spPr>
          <a:xfrm>
            <a:off x="685800" y="1508760"/>
            <a:ext cx="10789920" cy="868680"/>
          </a:xfrm>
          <a:prstGeom prst="rect">
            <a:avLst/>
          </a:prstGeom>
          <a:noFill/>
          <a:ln/>
        </p:spPr>
        <p:txBody>
          <a:bodyPr wrap="square" lIns="0" tIns="0" rIns="0" bIns="0" rtlCol="0" anchor="ctr"/>
          <a:lstStyle/>
          <a:p>
            <a:pPr indent="0" marL="0">
              <a:buNone/>
            </a:pPr>
            <a:r>
              <a:rPr lang="en-US" sz="2000" dirty="0">
                <a:solidFill>
                  <a:srgbClr val="FFFFFF"/>
                </a:solidFill>
                <a:latin typeface="Courier New" pitchFamily="34" charset="0"/>
                <a:ea typeface="Courier New" pitchFamily="34" charset="-122"/>
                <a:cs typeface="Courier New" pitchFamily="34" charset="-120"/>
              </a:rPr>
              <a:t>dsquasar </a:t>
            </a:r>
            <a:pPr indent="0" marL="0">
              <a:buNone/>
            </a:pPr>
            <a:r>
              <a:rPr lang="en-US" sz="2000" b="1" dirty="0">
                <a:solidFill>
                  <a:srgbClr val="42C0FF"/>
                </a:solidFill>
                <a:latin typeface="Courier New" pitchFamily="34" charset="0"/>
                <a:ea typeface="Courier New" pitchFamily="34" charset="-122"/>
                <a:cs typeface="Courier New" pitchFamily="34" charset="-120"/>
              </a:rPr>
              <a:t>(-a | -t dNNNNNN…) </a:t>
            </a:r>
            <a:pPr indent="0" marL="0">
              <a:buNone/>
            </a:pPr>
            <a:r>
              <a:rPr lang="en-US" sz="2000" b="1" dirty="0">
                <a:solidFill>
                  <a:srgbClr val="F0A030"/>
                </a:solidFill>
                <a:latin typeface="Courier New" pitchFamily="34" charset="0"/>
                <a:ea typeface="Courier New" pitchFamily="34" charset="-122"/>
                <a:cs typeface="Courier New" pitchFamily="34" charset="-120"/>
              </a:rPr>
              <a:t>[-A Bits] </a:t>
            </a:r>
            <a:pPr indent="0" marL="0">
              <a:buNone/>
            </a:pPr>
            <a:r>
              <a:rPr lang="en-US" sz="2000" b="1" dirty="0">
                <a:solidFill>
                  <a:srgbClr val="0097A7"/>
                </a:solidFill>
                <a:latin typeface="Courier New" pitchFamily="34" charset="0"/>
                <a:ea typeface="Courier New" pitchFamily="34" charset="-122"/>
                <a:cs typeface="Courier New" pitchFamily="34" charset="-120"/>
              </a:rPr>
              <a:t>[-B|-D] </a:t>
            </a:r>
            <a:pPr indent="0" marL="0">
              <a:buNone/>
            </a:pPr>
            <a:r>
              <a:rPr lang="en-US" sz="2000" b="1" dirty="0">
                <a:solidFill>
                  <a:srgbClr val="C3D7EE"/>
                </a:solidFill>
                <a:latin typeface="Courier New" pitchFamily="34" charset="0"/>
                <a:ea typeface="Courier New" pitchFamily="34" charset="-122"/>
                <a:cs typeface="Courier New" pitchFamily="34" charset="-120"/>
              </a:rPr>
              <a:t>[Run…] </a:t>
            </a:r>
            <a:pPr indent="0" marL="0">
              <a:buNone/>
            </a:pPr>
            <a:r>
              <a:rPr lang="en-US" sz="2000" dirty="0">
                <a:solidFill>
                  <a:srgbClr val="C3D7EE"/>
                </a:solidFill>
                <a:latin typeface="Courier New" pitchFamily="34" charset="0"/>
                <a:ea typeface="Courier New" pitchFamily="34" charset="-122"/>
                <a:cs typeface="Courier New" pitchFamily="34" charset="-120"/>
              </a:rPr>
              <a:t>[-e|-E]</a:t>
            </a:r>
            <a:endParaRPr lang="en-US" sz="2000" dirty="0"/>
          </a:p>
        </p:txBody>
      </p:sp>
      <p:sp>
        <p:nvSpPr>
          <p:cNvPr id="6" name="Shape 4"/>
          <p:cNvSpPr/>
          <p:nvPr/>
        </p:nvSpPr>
        <p:spPr>
          <a:xfrm>
            <a:off x="457200" y="2697480"/>
            <a:ext cx="2688336" cy="2194560"/>
          </a:xfrm>
          <a:prstGeom prst="roundRect">
            <a:avLst>
              <a:gd name="adj" fmla="val 4167"/>
            </a:avLst>
          </a:prstGeom>
          <a:solidFill>
            <a:srgbClr val="DCEBF7"/>
          </a:solidFill>
          <a:ln w="25400">
            <a:solidFill>
              <a:srgbClr val="42C0FF"/>
            </a:solidFill>
            <a:prstDash val="solid"/>
          </a:ln>
        </p:spPr>
      </p:sp>
      <p:sp>
        <p:nvSpPr>
          <p:cNvPr id="7" name="Text 5"/>
          <p:cNvSpPr/>
          <p:nvPr/>
        </p:nvSpPr>
        <p:spPr>
          <a:xfrm>
            <a:off x="676656" y="2880360"/>
            <a:ext cx="2276856" cy="411480"/>
          </a:xfrm>
          <a:prstGeom prst="rect">
            <a:avLst/>
          </a:prstGeom>
          <a:noFill/>
          <a:ln/>
        </p:spPr>
        <p:txBody>
          <a:bodyPr wrap="square" lIns="0" tIns="0" rIns="0" bIns="0" rtlCol="0" anchor="ctr"/>
          <a:lstStyle/>
          <a:p>
            <a:pPr indent="0" marL="0">
              <a:buNone/>
            </a:pPr>
            <a:r>
              <a:rPr lang="en-US" sz="1900" b="1" dirty="0">
                <a:solidFill>
                  <a:srgbClr val="1A658F"/>
                </a:solidFill>
                <a:latin typeface="Poppins" pitchFamily="34" charset="0"/>
                <a:ea typeface="Poppins" pitchFamily="34" charset="-122"/>
                <a:cs typeface="Poppins" pitchFamily="34" charset="-120"/>
              </a:rPr>
              <a:t>Scope</a:t>
            </a:r>
            <a:endParaRPr lang="en-US" sz="1900" dirty="0"/>
          </a:p>
        </p:txBody>
      </p:sp>
      <p:sp>
        <p:nvSpPr>
          <p:cNvPr id="8" name="Shape 6"/>
          <p:cNvSpPr/>
          <p:nvPr/>
        </p:nvSpPr>
        <p:spPr>
          <a:xfrm>
            <a:off x="676656" y="3355848"/>
            <a:ext cx="2249424" cy="365760"/>
          </a:xfrm>
          <a:prstGeom prst="roundRect">
            <a:avLst>
              <a:gd name="adj" fmla="val 20000"/>
            </a:avLst>
          </a:prstGeom>
          <a:solidFill>
            <a:srgbClr val="42C0FF"/>
          </a:solidFill>
          <a:ln/>
        </p:spPr>
      </p:sp>
      <p:sp>
        <p:nvSpPr>
          <p:cNvPr id="9" name="Text 7"/>
          <p:cNvSpPr/>
          <p:nvPr/>
        </p:nvSpPr>
        <p:spPr>
          <a:xfrm>
            <a:off x="676656" y="3355848"/>
            <a:ext cx="2249424" cy="365760"/>
          </a:xfrm>
          <a:prstGeom prst="rect">
            <a:avLst/>
          </a:prstGeom>
          <a:noFill/>
          <a:ln/>
        </p:spPr>
        <p:txBody>
          <a:bodyPr wrap="square" lIns="0" tIns="0" rIns="0" bIns="0" rtlCol="0" anchor="ctr"/>
          <a:lstStyle/>
          <a:p>
            <a:pPr algn="ctr" indent="0" marL="0">
              <a:buNone/>
            </a:pPr>
            <a:r>
              <a:rPr lang="en-US" sz="1100" b="1" dirty="0">
                <a:solidFill>
                  <a:srgbClr val="011837"/>
                </a:solidFill>
                <a:latin typeface="Courier New" pitchFamily="34" charset="0"/>
                <a:ea typeface="Courier New" pitchFamily="34" charset="-122"/>
                <a:cs typeface="Courier New" pitchFamily="34" charset="-120"/>
              </a:rPr>
              <a:t>required</a:t>
            </a:r>
            <a:endParaRPr lang="en-US" sz="1100" dirty="0"/>
          </a:p>
        </p:txBody>
      </p:sp>
      <p:sp>
        <p:nvSpPr>
          <p:cNvPr id="10" name="Text 8"/>
          <p:cNvSpPr/>
          <p:nvPr/>
        </p:nvSpPr>
        <p:spPr>
          <a:xfrm>
            <a:off x="676656" y="3840480"/>
            <a:ext cx="2249424" cy="960120"/>
          </a:xfrm>
          <a:prstGeom prst="rect">
            <a:avLst/>
          </a:prstGeom>
          <a:noFill/>
          <a:ln/>
        </p:spPr>
        <p:txBody>
          <a:bodyPr wrap="square" lIns="0" tIns="0" rIns="0" bIns="0" rtlCol="0" anchor="t"/>
          <a:lstStyle/>
          <a:p>
            <a:pPr indent="0" marL="0">
              <a:lnSpc>
                <a:spcPct val="108000"/>
              </a:lnSpc>
              <a:buNone/>
            </a:pPr>
            <a:r>
              <a:rPr lang="en-US" sz="1200" dirty="0">
                <a:solidFill>
                  <a:srgbClr val="00357A"/>
                </a:solidFill>
                <a:latin typeface="Poppins" pitchFamily="34" charset="0"/>
                <a:ea typeface="Poppins" pitchFamily="34" charset="-122"/>
                <a:cs typeface="Poppins" pitchFamily="34" charset="-120"/>
              </a:rPr>
              <a:t>Which datasets. -a walks every dataset with a Backup flag; -t takes IDs and accepts the SQL wildcard %.</a:t>
            </a:r>
            <a:endParaRPr lang="en-US" sz="1200" dirty="0"/>
          </a:p>
        </p:txBody>
      </p:sp>
      <p:sp>
        <p:nvSpPr>
          <p:cNvPr id="11" name="Shape 9"/>
          <p:cNvSpPr/>
          <p:nvPr/>
        </p:nvSpPr>
        <p:spPr>
          <a:xfrm>
            <a:off x="3364992" y="2697480"/>
            <a:ext cx="2688336" cy="2194560"/>
          </a:xfrm>
          <a:prstGeom prst="roundRect">
            <a:avLst>
              <a:gd name="adj" fmla="val 4167"/>
            </a:avLst>
          </a:prstGeom>
          <a:solidFill>
            <a:srgbClr val="DCEBF7"/>
          </a:solidFill>
          <a:ln w="25400">
            <a:solidFill>
              <a:srgbClr val="C25E00"/>
            </a:solidFill>
            <a:prstDash val="solid"/>
          </a:ln>
        </p:spPr>
      </p:sp>
      <p:sp>
        <p:nvSpPr>
          <p:cNvPr id="12" name="Text 10"/>
          <p:cNvSpPr/>
          <p:nvPr/>
        </p:nvSpPr>
        <p:spPr>
          <a:xfrm>
            <a:off x="3584448" y="2880360"/>
            <a:ext cx="2276856" cy="411480"/>
          </a:xfrm>
          <a:prstGeom prst="rect">
            <a:avLst/>
          </a:prstGeom>
          <a:noFill/>
          <a:ln/>
        </p:spPr>
        <p:txBody>
          <a:bodyPr wrap="square" lIns="0" tIns="0" rIns="0" bIns="0" rtlCol="0" anchor="ctr"/>
          <a:lstStyle/>
          <a:p>
            <a:pPr indent="0" marL="0">
              <a:buNone/>
            </a:pPr>
            <a:r>
              <a:rPr lang="en-US" sz="1900" b="1" dirty="0">
                <a:solidFill>
                  <a:srgbClr val="6E8300"/>
                </a:solidFill>
                <a:latin typeface="Poppins" pitchFamily="34" charset="0"/>
                <a:ea typeface="Poppins" pitchFamily="34" charset="-122"/>
                <a:cs typeface="Poppins" pitchFamily="34" charset="-120"/>
              </a:rPr>
              <a:t>Action</a:t>
            </a:r>
            <a:endParaRPr lang="en-US" sz="1900" dirty="0"/>
          </a:p>
        </p:txBody>
      </p:sp>
      <p:sp>
        <p:nvSpPr>
          <p:cNvPr id="13" name="Shape 11"/>
          <p:cNvSpPr/>
          <p:nvPr/>
        </p:nvSpPr>
        <p:spPr>
          <a:xfrm>
            <a:off x="3584448" y="3355848"/>
            <a:ext cx="2249424" cy="365760"/>
          </a:xfrm>
          <a:prstGeom prst="roundRect">
            <a:avLst>
              <a:gd name="adj" fmla="val 20000"/>
            </a:avLst>
          </a:prstGeom>
          <a:solidFill>
            <a:srgbClr val="C25E00"/>
          </a:solidFill>
          <a:ln/>
        </p:spPr>
      </p:sp>
      <p:sp>
        <p:nvSpPr>
          <p:cNvPr id="14" name="Text 12"/>
          <p:cNvSpPr/>
          <p:nvPr/>
        </p:nvSpPr>
        <p:spPr>
          <a:xfrm>
            <a:off x="3584448" y="3355848"/>
            <a:ext cx="22494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-A Bits</a:t>
            </a:r>
            <a:endParaRPr lang="en-US" sz="1100" dirty="0"/>
          </a:p>
        </p:txBody>
      </p:sp>
      <p:sp>
        <p:nvSpPr>
          <p:cNvPr id="15" name="Text 13"/>
          <p:cNvSpPr/>
          <p:nvPr/>
        </p:nvSpPr>
        <p:spPr>
          <a:xfrm>
            <a:off x="3584448" y="3840480"/>
            <a:ext cx="2249424" cy="960120"/>
          </a:xfrm>
          <a:prstGeom prst="rect">
            <a:avLst/>
          </a:prstGeom>
          <a:noFill/>
          <a:ln/>
        </p:spPr>
        <p:txBody>
          <a:bodyPr wrap="square" lIns="0" tIns="0" rIns="0" bIns="0" rtlCol="0" anchor="t"/>
          <a:lstStyle/>
          <a:p>
            <a:pPr indent="0" marL="0">
              <a:lnSpc>
                <a:spcPct val="108000"/>
              </a:lnSpc>
              <a:buNone/>
            </a:pPr>
            <a:r>
              <a:rPr lang="en-US" sz="1200" dirty="0">
                <a:solidFill>
                  <a:srgbClr val="00357A"/>
                </a:solidFill>
                <a:latin typeface="Poppins" pitchFamily="34" charset="0"/>
                <a:ea typeface="Poppins" pitchFamily="34" charset="-122"/>
                <a:cs typeface="Poppins" pitchFamily="34" charset="-120"/>
              </a:rPr>
              <a:t>What to do, as a bitmask: 1 list, 2 tar, 4 transfer, 8 check, 16 stats. Defaults to 3.</a:t>
            </a:r>
            <a:endParaRPr lang="en-US" sz="1200" dirty="0"/>
          </a:p>
        </p:txBody>
      </p:sp>
      <p:sp>
        <p:nvSpPr>
          <p:cNvPr id="16" name="Shape 14"/>
          <p:cNvSpPr/>
          <p:nvPr/>
        </p:nvSpPr>
        <p:spPr>
          <a:xfrm>
            <a:off x="6272784" y="2697480"/>
            <a:ext cx="2688336" cy="2194560"/>
          </a:xfrm>
          <a:prstGeom prst="roundRect">
            <a:avLst>
              <a:gd name="adj" fmla="val 4167"/>
            </a:avLst>
          </a:prstGeom>
          <a:solidFill>
            <a:srgbClr val="DCEBF7"/>
          </a:solidFill>
          <a:ln w="25400">
            <a:solidFill>
              <a:srgbClr val="0097A7"/>
            </a:solidFill>
            <a:prstDash val="solid"/>
          </a:ln>
        </p:spPr>
      </p:sp>
      <p:sp>
        <p:nvSpPr>
          <p:cNvPr id="17" name="Text 15"/>
          <p:cNvSpPr/>
          <p:nvPr/>
        </p:nvSpPr>
        <p:spPr>
          <a:xfrm>
            <a:off x="6492240" y="2880360"/>
            <a:ext cx="2276856" cy="411480"/>
          </a:xfrm>
          <a:prstGeom prst="rect">
            <a:avLst/>
          </a:prstGeom>
          <a:noFill/>
          <a:ln/>
        </p:spPr>
        <p:txBody>
          <a:bodyPr wrap="square" lIns="0" tIns="0" rIns="0" bIns="0" rtlCol="0" anchor="ctr"/>
          <a:lstStyle/>
          <a:p>
            <a:pPr indent="0" marL="0">
              <a:buNone/>
            </a:pPr>
            <a:r>
              <a:rPr lang="en-US" sz="1900" b="1" dirty="0">
                <a:solidFill>
                  <a:srgbClr val="00797C"/>
                </a:solidFill>
                <a:latin typeface="Poppins" pitchFamily="34" charset="0"/>
                <a:ea typeface="Poppins" pitchFamily="34" charset="-122"/>
                <a:cs typeface="Poppins" pitchFamily="34" charset="-120"/>
              </a:rPr>
              <a:t>Copies</a:t>
            </a:r>
            <a:endParaRPr lang="en-US" sz="1900" dirty="0"/>
          </a:p>
        </p:txBody>
      </p:sp>
      <p:sp>
        <p:nvSpPr>
          <p:cNvPr id="18" name="Shape 16"/>
          <p:cNvSpPr/>
          <p:nvPr/>
        </p:nvSpPr>
        <p:spPr>
          <a:xfrm>
            <a:off x="6492240" y="3355848"/>
            <a:ext cx="2249424" cy="365760"/>
          </a:xfrm>
          <a:prstGeom prst="roundRect">
            <a:avLst>
              <a:gd name="adj" fmla="val 20000"/>
            </a:avLst>
          </a:prstGeom>
          <a:solidFill>
            <a:srgbClr val="0097A7"/>
          </a:solidFill>
          <a:ln/>
        </p:spPr>
      </p:sp>
      <p:sp>
        <p:nvSpPr>
          <p:cNvPr id="19" name="Text 17"/>
          <p:cNvSpPr/>
          <p:nvPr/>
        </p:nvSpPr>
        <p:spPr>
          <a:xfrm>
            <a:off x="6492240" y="3355848"/>
            <a:ext cx="22494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-B | -D</a:t>
            </a:r>
            <a:endParaRPr lang="en-US" sz="1100" dirty="0"/>
          </a:p>
        </p:txBody>
      </p:sp>
      <p:sp>
        <p:nvSpPr>
          <p:cNvPr id="20" name="Text 18"/>
          <p:cNvSpPr/>
          <p:nvPr/>
        </p:nvSpPr>
        <p:spPr>
          <a:xfrm>
            <a:off x="6492240" y="3840480"/>
            <a:ext cx="2249424" cy="960120"/>
          </a:xfrm>
          <a:prstGeom prst="rect">
            <a:avLst/>
          </a:prstGeom>
          <a:noFill/>
          <a:ln/>
        </p:spPr>
        <p:txBody>
          <a:bodyPr wrap="square" lIns="0" tIns="0" rIns="0" bIns="0" rtlCol="0" anchor="t"/>
          <a:lstStyle/>
          <a:p>
            <a:pPr indent="0" marL="0">
              <a:lnSpc>
                <a:spcPct val="108000"/>
              </a:lnSpc>
              <a:buNone/>
            </a:pPr>
            <a:r>
              <a:rPr lang="en-US" sz="1200" dirty="0">
                <a:solidFill>
                  <a:srgbClr val="00357A"/>
                </a:solidFill>
                <a:latin typeface="Poppins" pitchFamily="34" charset="0"/>
                <a:ea typeface="Poppins" pitchFamily="34" charset="-122"/>
                <a:cs typeface="Poppins" pitchFamily="34" charset="-120"/>
              </a:rPr>
              <a:t>A filter, not an override. -B keeps single copy datasets, -D keeps two copy ones. Default: each dataset follows its own flag.</a:t>
            </a:r>
            <a:endParaRPr lang="en-US" sz="1200" dirty="0"/>
          </a:p>
        </p:txBody>
      </p:sp>
      <p:sp>
        <p:nvSpPr>
          <p:cNvPr id="21" name="Shape 19"/>
          <p:cNvSpPr/>
          <p:nvPr/>
        </p:nvSpPr>
        <p:spPr>
          <a:xfrm>
            <a:off x="9180576" y="2697480"/>
            <a:ext cx="2688336" cy="2194560"/>
          </a:xfrm>
          <a:prstGeom prst="roundRect">
            <a:avLst>
              <a:gd name="adj" fmla="val 4167"/>
            </a:avLst>
          </a:prstGeom>
          <a:solidFill>
            <a:srgbClr val="DCEBF7"/>
          </a:solidFill>
          <a:ln w="25400">
            <a:solidFill>
              <a:srgbClr val="0092DB"/>
            </a:solidFill>
            <a:prstDash val="solid"/>
          </a:ln>
        </p:spPr>
      </p:sp>
      <p:sp>
        <p:nvSpPr>
          <p:cNvPr id="22" name="Text 20"/>
          <p:cNvSpPr/>
          <p:nvPr/>
        </p:nvSpPr>
        <p:spPr>
          <a:xfrm>
            <a:off x="9400032" y="2880360"/>
            <a:ext cx="2276856" cy="411480"/>
          </a:xfrm>
          <a:prstGeom prst="rect">
            <a:avLst/>
          </a:prstGeom>
          <a:noFill/>
          <a:ln/>
        </p:spPr>
        <p:txBody>
          <a:bodyPr wrap="square" lIns="0" tIns="0" rIns="0" bIns="0" rtlCol="0" anchor="ctr"/>
          <a:lstStyle/>
          <a:p>
            <a:pPr indent="0" marL="0">
              <a:buNone/>
            </a:pPr>
            <a:r>
              <a:rPr lang="en-US" sz="1900" b="1" dirty="0">
                <a:solidFill>
                  <a:srgbClr val="1A658F"/>
                </a:solidFill>
                <a:latin typeface="Poppins" pitchFamily="34" charset="0"/>
                <a:ea typeface="Poppins" pitchFamily="34" charset="-122"/>
                <a:cs typeface="Poppins" pitchFamily="34" charset="-120"/>
              </a:rPr>
              <a:t>Run control</a:t>
            </a:r>
            <a:endParaRPr lang="en-US" sz="1900" dirty="0"/>
          </a:p>
        </p:txBody>
      </p:sp>
      <p:sp>
        <p:nvSpPr>
          <p:cNvPr id="23" name="Shape 21"/>
          <p:cNvSpPr/>
          <p:nvPr/>
        </p:nvSpPr>
        <p:spPr>
          <a:xfrm>
            <a:off x="9400032" y="3355848"/>
            <a:ext cx="2249424" cy="365760"/>
          </a:xfrm>
          <a:prstGeom prst="roundRect">
            <a:avLst>
              <a:gd name="adj" fmla="val 20000"/>
            </a:avLst>
          </a:prstGeom>
          <a:solidFill>
            <a:srgbClr val="0092DB"/>
          </a:solidFill>
          <a:ln/>
        </p:spPr>
      </p:sp>
      <p:sp>
        <p:nvSpPr>
          <p:cNvPr id="24" name="Text 22"/>
          <p:cNvSpPr/>
          <p:nvPr/>
        </p:nvSpPr>
        <p:spPr>
          <a:xfrm>
            <a:off x="9400032" y="3355848"/>
            <a:ext cx="22494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-b -d -m -l -n -W -w -u</a:t>
            </a:r>
            <a:endParaRPr lang="en-US" sz="1100" dirty="0"/>
          </a:p>
        </p:txBody>
      </p:sp>
      <p:sp>
        <p:nvSpPr>
          <p:cNvPr id="25" name="Text 23"/>
          <p:cNvSpPr/>
          <p:nvPr/>
        </p:nvSpPr>
        <p:spPr>
          <a:xfrm>
            <a:off x="9400032" y="3840480"/>
            <a:ext cx="2249424" cy="960120"/>
          </a:xfrm>
          <a:prstGeom prst="rect">
            <a:avLst/>
          </a:prstGeom>
          <a:noFill/>
          <a:ln/>
        </p:spPr>
        <p:txBody>
          <a:bodyPr wrap="square" lIns="0" tIns="0" rIns="0" bIns="0" rtlCol="0" anchor="t"/>
          <a:lstStyle/>
          <a:p>
            <a:pPr indent="0" marL="0">
              <a:lnSpc>
                <a:spcPct val="108000"/>
              </a:lnSpc>
              <a:buNone/>
            </a:pPr>
            <a:r>
              <a:rPr lang="en-US" sz="1200" dirty="0">
                <a:solidFill>
                  <a:srgbClr val="00357A"/>
                </a:solidFill>
                <a:latin typeface="Poppins" pitchFamily="34" charset="0"/>
                <a:ea typeface="Poppins" pitchFamily="34" charset="-122"/>
                <a:cs typeface="Poppins" pitchFamily="34" charset="-120"/>
              </a:rPr>
              <a:t>How it runs: background, PBS delay, processes, locking, dry run, worker slots.</a:t>
            </a:r>
            <a:endParaRPr lang="en-US" sz="1200" dirty="0"/>
          </a:p>
        </p:txBody>
      </p:sp>
      <p:sp>
        <p:nvSpPr>
          <p:cNvPr id="26" name="Shape 24"/>
          <p:cNvSpPr/>
          <p:nvPr/>
        </p:nvSpPr>
        <p:spPr>
          <a:xfrm>
            <a:off x="457200" y="5120640"/>
            <a:ext cx="11247120" cy="960120"/>
          </a:xfrm>
          <a:prstGeom prst="roundRect">
            <a:avLst>
              <a:gd name="adj" fmla="val 9524"/>
            </a:avLst>
          </a:prstGeom>
          <a:solidFill>
            <a:srgbClr val="C7E4F5"/>
          </a:solidFill>
          <a:ln w="12700">
            <a:solidFill>
              <a:srgbClr val="A9D6F2"/>
            </a:solidFill>
            <a:prstDash val="solid"/>
          </a:ln>
        </p:spPr>
      </p:sp>
      <p:sp>
        <p:nvSpPr>
          <p:cNvPr id="27" name="Text 25"/>
          <p:cNvSpPr/>
          <p:nvPr/>
        </p:nvSpPr>
        <p:spPr>
          <a:xfrm>
            <a:off x="731520" y="5166360"/>
            <a:ext cx="10789920" cy="868680"/>
          </a:xfrm>
          <a:prstGeom prst="rect">
            <a:avLst/>
          </a:prstGeom>
          <a:noFill/>
          <a:ln/>
        </p:spPr>
        <p:txBody>
          <a:bodyPr wrap="square" lIns="0" tIns="0" rIns="0" bIns="0" rtlCol="0" anchor="ctr"/>
          <a:lstStyle/>
          <a:p>
            <a:pPr indent="0" marL="0">
              <a:lnSpc>
                <a:spcPct val="110000"/>
              </a:lnSpc>
              <a:buNone/>
            </a:pPr>
            <a:r>
              <a:rPr lang="en-US" sz="1300" b="1" dirty="0">
                <a:solidFill>
                  <a:srgbClr val="0057C2"/>
                </a:solidFill>
                <a:latin typeface="Poppins" pitchFamily="34" charset="0"/>
                <a:ea typeface="Poppins" pitchFamily="34" charset="-122"/>
                <a:cs typeface="Poppins" pitchFamily="34" charset="-120"/>
              </a:rPr>
              <a:t>Notes   </a:t>
            </a:r>
            <a:pPr indent="0" marL="0">
              <a:lnSpc>
                <a:spcPct val="110000"/>
              </a:lnSpc>
              <a:buNone/>
            </a:pPr>
            <a:r>
              <a:rPr lang="en-US" sz="1300" dirty="0">
                <a:solidFill>
                  <a:srgbClr val="00357A"/>
                </a:solidFill>
                <a:latin typeface="Poppins" pitchFamily="34" charset="0"/>
                <a:ea typeface="Poppins" pitchFamily="34" charset="-122"/>
                <a:cs typeface="Poppins" pitchFamily="34" charset="-120"/>
              </a:rPr>
              <a:t>either </a:t>
            </a:r>
            <a:pPr indent="0" marL="0">
              <a:lnSpc>
                <a:spcPct val="110000"/>
              </a:lnSpc>
              <a:buNone/>
            </a:pPr>
            <a:r>
              <a:rPr lang="en-US" sz="1300" b="1" dirty="0">
                <a:solidFill>
                  <a:srgbClr val="00357A"/>
                </a:solidFill>
                <a:latin typeface="Courier New" pitchFamily="34" charset="0"/>
                <a:ea typeface="Courier New" pitchFamily="34" charset="-122"/>
                <a:cs typeface="Courier New" pitchFamily="34" charset="-120"/>
              </a:rPr>
              <a:t>-a</a:t>
            </a:r>
            <a:pPr indent="0" marL="0">
              <a:lnSpc>
                <a:spcPct val="110000"/>
              </a:lnSpc>
              <a:buNone/>
            </a:pPr>
            <a:r>
              <a:rPr lang="en-US" sz="1300" dirty="0">
                <a:solidFill>
                  <a:srgbClr val="00357A"/>
                </a:solidFill>
                <a:latin typeface="Poppins" pitchFamily="34" charset="0"/>
                <a:ea typeface="Poppins" pitchFamily="34" charset="-122"/>
                <a:cs typeface="Poppins" pitchFamily="34" charset="-120"/>
              </a:rPr>
              <a:t> or </a:t>
            </a:r>
            <a:pPr indent="0" marL="0">
              <a:lnSpc>
                <a:spcPct val="110000"/>
              </a:lnSpc>
              <a:buNone/>
            </a:pPr>
            <a:r>
              <a:rPr lang="en-US" sz="1300" b="1" dirty="0">
                <a:solidFill>
                  <a:srgbClr val="00357A"/>
                </a:solidFill>
                <a:latin typeface="Courier New" pitchFamily="34" charset="0"/>
                <a:ea typeface="Courier New" pitchFamily="34" charset="-122"/>
                <a:cs typeface="Courier New" pitchFamily="34" charset="-120"/>
              </a:rPr>
              <a:t>-t</a:t>
            </a:r>
            <a:pPr indent="0" marL="0">
              <a:lnSpc>
                <a:spcPct val="110000"/>
              </a:lnSpc>
              <a:buNone/>
            </a:pPr>
            <a:r>
              <a:rPr lang="en-US" sz="1300" dirty="0">
                <a:solidFill>
                  <a:srgbClr val="00357A"/>
                </a:solidFill>
                <a:latin typeface="Poppins" pitchFamily="34" charset="0"/>
                <a:ea typeface="Poppins" pitchFamily="34" charset="-122"/>
                <a:cs typeface="Poppins" pitchFamily="34" charset="-120"/>
              </a:rPr>
              <a:t> must be given, otherwise the usage is shown  •  </a:t>
            </a:r>
            <a:pPr indent="0" marL="0">
              <a:lnSpc>
                <a:spcPct val="110000"/>
              </a:lnSpc>
              <a:buNone/>
            </a:pPr>
            <a:r>
              <a:rPr lang="en-US" sz="1300" b="1" dirty="0">
                <a:solidFill>
                  <a:srgbClr val="00357A"/>
                </a:solidFill>
                <a:latin typeface="Courier New" pitchFamily="34" charset="0"/>
                <a:ea typeface="Courier New" pitchFamily="34" charset="-122"/>
                <a:cs typeface="Courier New" pitchFamily="34" charset="-120"/>
              </a:rPr>
              <a:t>-a</a:t>
            </a:r>
            <a:pPr indent="0" marL="0">
              <a:lnSpc>
                <a:spcPct val="110000"/>
              </a:lnSpc>
              <a:buNone/>
            </a:pPr>
            <a:r>
              <a:rPr lang="en-US" sz="1300" dirty="0">
                <a:solidFill>
                  <a:srgbClr val="00357A"/>
                </a:solidFill>
                <a:latin typeface="Poppins" pitchFamily="34" charset="0"/>
                <a:ea typeface="Poppins" pitchFamily="34" charset="-122"/>
                <a:cs typeface="Poppins" pitchFamily="34" charset="-120"/>
              </a:rPr>
              <a:t> wins over </a:t>
            </a:r>
            <a:pPr indent="0" marL="0">
              <a:lnSpc>
                <a:spcPct val="110000"/>
              </a:lnSpc>
              <a:buNone/>
            </a:pPr>
            <a:r>
              <a:rPr lang="en-US" sz="1300" b="1" dirty="0">
                <a:solidFill>
                  <a:srgbClr val="00357A"/>
                </a:solidFill>
                <a:latin typeface="Courier New" pitchFamily="34" charset="0"/>
                <a:ea typeface="Courier New" pitchFamily="34" charset="-122"/>
                <a:cs typeface="Courier New" pitchFamily="34" charset="-120"/>
              </a:rPr>
              <a:t>-t</a:t>
            </a:r>
            <a:pPr indent="0" marL="0">
              <a:lnSpc>
                <a:spcPct val="110000"/>
              </a:lnSpc>
              <a:buNone/>
            </a:pPr>
            <a:r>
              <a:rPr lang="en-US" sz="1300" dirty="0">
                <a:solidFill>
                  <a:srgbClr val="00357A"/>
                </a:solidFill>
                <a:latin typeface="Poppins" pitchFamily="34" charset="0"/>
                <a:ea typeface="Poppins" pitchFamily="34" charset="-122"/>
                <a:cs typeface="Poppins" pitchFamily="34" charset="-120"/>
              </a:rPr>
              <a:t> with a warning  •  the run always chdir's to the shared Quasar work directory  •  </a:t>
            </a:r>
            <a:pPr indent="0" marL="0">
              <a:lnSpc>
                <a:spcPct val="110000"/>
              </a:lnSpc>
              <a:buNone/>
            </a:pPr>
            <a:r>
              <a:rPr lang="en-US" sz="1300" b="1" dirty="0">
                <a:solidFill>
                  <a:srgbClr val="00357A"/>
                </a:solidFill>
                <a:latin typeface="Courier New" pitchFamily="34" charset="0"/>
                <a:ea typeface="Courier New" pitchFamily="34" charset="-122"/>
                <a:cs typeface="Courier New" pitchFamily="34" charset="-120"/>
              </a:rPr>
              <a:t>-h</a:t>
            </a:r>
            <a:pPr indent="0" marL="0">
              <a:lnSpc>
                <a:spcPct val="110000"/>
              </a:lnSpc>
              <a:buNone/>
            </a:pPr>
            <a:r>
              <a:rPr lang="en-US" sz="1300" dirty="0">
                <a:solidFill>
                  <a:srgbClr val="00357A"/>
                </a:solidFill>
                <a:latin typeface="Poppins" pitchFamily="34" charset="0"/>
                <a:ea typeface="Poppins" pitchFamily="34" charset="-122"/>
                <a:cs typeface="Poppins" pitchFamily="34" charset="-120"/>
              </a:rPr>
              <a:t> prints the full usage document.</a:t>
            </a:r>
            <a:endParaRPr lang="en-US" sz="1300" dirty="0"/>
          </a:p>
        </p:txBody>
      </p:sp>
      <p:sp>
        <p:nvSpPr>
          <p:cNvPr id="28" name="Text 26"/>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5</a:t>
            </a:r>
            <a:endParaRPr lang="en-US" sz="950" dirty="0"/>
          </a:p>
        </p:txBody>
      </p:sp>
      <p:sp>
        <p:nvSpPr>
          <p:cNvPr id="29" name="Text 27"/>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7A7"/>
                </a:solidFill>
                <a:latin typeface="Poppins" pitchFamily="34" charset="0"/>
                <a:ea typeface="Poppins" pitchFamily="34" charset="-122"/>
                <a:cs typeface="Poppins" pitchFamily="34" charset="-120"/>
              </a:rPr>
              <a:t>QUICK START</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Six Commands That Cover Most Work</a:t>
            </a:r>
            <a:endParaRPr lang="en-US" sz="3200" dirty="0"/>
          </a:p>
        </p:txBody>
      </p:sp>
      <p:sp>
        <p:nvSpPr>
          <p:cNvPr id="4" name="Shape 2"/>
          <p:cNvSpPr/>
          <p:nvPr/>
        </p:nvSpPr>
        <p:spPr>
          <a:xfrm>
            <a:off x="457200" y="1554480"/>
            <a:ext cx="5532120" cy="1371600"/>
          </a:xfrm>
          <a:prstGeom prst="roundRect">
            <a:avLst>
              <a:gd name="adj" fmla="val 5333"/>
            </a:avLst>
          </a:prstGeom>
          <a:solidFill>
            <a:srgbClr val="FFFFFF"/>
          </a:solidFill>
          <a:ln w="19050">
            <a:solidFill>
              <a:srgbClr val="0057C2"/>
            </a:solidFill>
            <a:prstDash val="solid"/>
          </a:ln>
          <a:effectLst>
            <a:outerShdw sx="100000" sy="100000" kx="0" ky="0" algn="bl" rotWithShape="0" blurRad="50800" dist="25400" dir="5400000">
              <a:srgbClr val="C3D7EE">
                <a:alpha val="25000"/>
              </a:srgbClr>
            </a:outerShdw>
          </a:effectLst>
        </p:spPr>
      </p:sp>
      <p:sp>
        <p:nvSpPr>
          <p:cNvPr id="5" name="Shape 3"/>
          <p:cNvSpPr/>
          <p:nvPr/>
        </p:nvSpPr>
        <p:spPr>
          <a:xfrm>
            <a:off x="658368" y="1737360"/>
            <a:ext cx="457200" cy="457200"/>
          </a:xfrm>
          <a:prstGeom prst="ellipse">
            <a:avLst/>
          </a:prstGeom>
          <a:solidFill>
            <a:srgbClr val="0057C2"/>
          </a:solidFill>
          <a:ln/>
        </p:spPr>
      </p:sp>
      <p:sp>
        <p:nvSpPr>
          <p:cNvPr id="6" name="Text 4"/>
          <p:cNvSpPr/>
          <p:nvPr/>
        </p:nvSpPr>
        <p:spPr>
          <a:xfrm>
            <a:off x="658368" y="1737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1</a:t>
            </a:r>
            <a:endParaRPr lang="en-US" sz="1500" dirty="0"/>
          </a:p>
        </p:txBody>
      </p:sp>
      <p:sp>
        <p:nvSpPr>
          <p:cNvPr id="7" name="Text 5"/>
          <p:cNvSpPr/>
          <p:nvPr/>
        </p:nvSpPr>
        <p:spPr>
          <a:xfrm>
            <a:off x="1234440" y="1700784"/>
            <a:ext cx="4572000" cy="36576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See what is waiting</a:t>
            </a:r>
            <a:endParaRPr lang="en-US" sz="1500" dirty="0"/>
          </a:p>
        </p:txBody>
      </p:sp>
      <p:sp>
        <p:nvSpPr>
          <p:cNvPr id="8" name="Text 6"/>
          <p:cNvSpPr/>
          <p:nvPr/>
        </p:nvSpPr>
        <p:spPr>
          <a:xfrm>
            <a:off x="1234440" y="2057400"/>
            <a:ext cx="4572000" cy="365760"/>
          </a:xfrm>
          <a:prstGeom prst="rect">
            <a:avLst/>
          </a:prstGeom>
          <a:noFill/>
          <a:ln/>
        </p:spPr>
        <p:txBody>
          <a:bodyPr wrap="square" lIns="0" tIns="0" rIns="0" bIns="0" rtlCol="0" anchor="t"/>
          <a:lstStyle/>
          <a:p>
            <a:pPr indent="0" marL="0">
              <a:lnSpc>
                <a:spcPct val="102000"/>
              </a:lnSpc>
              <a:buNone/>
            </a:pPr>
            <a:r>
              <a:rPr lang="en-US" sz="1150" dirty="0">
                <a:solidFill>
                  <a:srgbClr val="53565A"/>
                </a:solidFill>
                <a:latin typeface="Poppins" pitchFamily="34" charset="0"/>
                <a:ea typeface="Poppins" pitchFamily="34" charset="-122"/>
                <a:cs typeface="Poppins" pitchFamily="34" charset="-120"/>
              </a:rPr>
              <a:t>Counts only — gathers and reports, performs no backup.</a:t>
            </a:r>
            <a:endParaRPr lang="en-US" sz="1150" dirty="0"/>
          </a:p>
        </p:txBody>
      </p:sp>
      <p:sp>
        <p:nvSpPr>
          <p:cNvPr id="9" name="Shape 7"/>
          <p:cNvSpPr/>
          <p:nvPr/>
        </p:nvSpPr>
        <p:spPr>
          <a:xfrm>
            <a:off x="658368" y="2395728"/>
            <a:ext cx="5129784" cy="420624"/>
          </a:xfrm>
          <a:prstGeom prst="roundRect">
            <a:avLst>
              <a:gd name="adj" fmla="val 10870"/>
            </a:avLst>
          </a:prstGeom>
          <a:solidFill>
            <a:srgbClr val="011837"/>
          </a:solidFill>
          <a:ln/>
        </p:spPr>
      </p:sp>
      <p:sp>
        <p:nvSpPr>
          <p:cNvPr id="10" name="Text 8"/>
          <p:cNvSpPr/>
          <p:nvPr/>
        </p:nvSpPr>
        <p:spPr>
          <a:xfrm>
            <a:off x="786384" y="2395728"/>
            <a:ext cx="4873752" cy="420624"/>
          </a:xfrm>
          <a:prstGeom prst="rect">
            <a:avLst/>
          </a:prstGeom>
          <a:noFill/>
          <a:ln/>
        </p:spPr>
        <p:txBody>
          <a:bodyPr wrap="square" lIns="0" tIns="0" rIns="0" bIns="0" rtlCol="0" anchor="ctr"/>
          <a:lstStyle/>
          <a:p>
            <a:pPr indent="0" marL="0">
              <a:lnSpc>
                <a:spcPct val="100000"/>
              </a:lnSpc>
              <a:buNone/>
            </a:pPr>
            <a:r>
              <a:rPr lang="en-US" sz="1200" dirty="0">
                <a:solidFill>
                  <a:srgbClr val="0097A7"/>
                </a:solidFill>
                <a:latin typeface="Courier New" pitchFamily="34" charset="0"/>
                <a:ea typeface="Courier New" pitchFamily="34" charset="-122"/>
                <a:cs typeface="Courier New" pitchFamily="34" charset="-120"/>
              </a:rPr>
              <a:t>dsquasar -t d123456 -n</a:t>
            </a:r>
            <a:endParaRPr lang="en-US" sz="1200" dirty="0"/>
          </a:p>
        </p:txBody>
      </p:sp>
      <p:sp>
        <p:nvSpPr>
          <p:cNvPr id="11" name="Shape 9"/>
          <p:cNvSpPr/>
          <p:nvPr/>
        </p:nvSpPr>
        <p:spPr>
          <a:xfrm>
            <a:off x="6199632" y="1554480"/>
            <a:ext cx="5532120" cy="1371600"/>
          </a:xfrm>
          <a:prstGeom prst="roundRect">
            <a:avLst>
              <a:gd name="adj" fmla="val 5333"/>
            </a:avLst>
          </a:prstGeom>
          <a:solidFill>
            <a:srgbClr val="FFFFFF"/>
          </a:solidFill>
          <a:ln w="19050">
            <a:solidFill>
              <a:srgbClr val="0092DB"/>
            </a:solidFill>
            <a:prstDash val="solid"/>
          </a:ln>
          <a:effectLst>
            <a:outerShdw sx="100000" sy="100000" kx="0" ky="0" algn="bl" rotWithShape="0" blurRad="50800" dist="25400" dir="5400000">
              <a:srgbClr val="C3D7EE">
                <a:alpha val="25000"/>
              </a:srgbClr>
            </a:outerShdw>
          </a:effectLst>
        </p:spPr>
      </p:sp>
      <p:sp>
        <p:nvSpPr>
          <p:cNvPr id="12" name="Shape 10"/>
          <p:cNvSpPr/>
          <p:nvPr/>
        </p:nvSpPr>
        <p:spPr>
          <a:xfrm>
            <a:off x="6400800" y="1737360"/>
            <a:ext cx="457200" cy="457200"/>
          </a:xfrm>
          <a:prstGeom prst="ellipse">
            <a:avLst/>
          </a:prstGeom>
          <a:solidFill>
            <a:srgbClr val="0092DB"/>
          </a:solidFill>
          <a:ln/>
        </p:spPr>
      </p:sp>
      <p:sp>
        <p:nvSpPr>
          <p:cNvPr id="13" name="Text 11"/>
          <p:cNvSpPr/>
          <p:nvPr/>
        </p:nvSpPr>
        <p:spPr>
          <a:xfrm>
            <a:off x="6400800" y="1737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2</a:t>
            </a:r>
            <a:endParaRPr lang="en-US" sz="1500" dirty="0"/>
          </a:p>
        </p:txBody>
      </p:sp>
      <p:sp>
        <p:nvSpPr>
          <p:cNvPr id="14" name="Text 12"/>
          <p:cNvSpPr/>
          <p:nvPr/>
        </p:nvSpPr>
        <p:spPr>
          <a:xfrm>
            <a:off x="6976872" y="1700784"/>
            <a:ext cx="4572000" cy="36576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Back up one dataset</a:t>
            </a:r>
            <a:endParaRPr lang="en-US" sz="1500" dirty="0"/>
          </a:p>
        </p:txBody>
      </p:sp>
      <p:sp>
        <p:nvSpPr>
          <p:cNvPr id="15" name="Text 13"/>
          <p:cNvSpPr/>
          <p:nvPr/>
        </p:nvSpPr>
        <p:spPr>
          <a:xfrm>
            <a:off x="6976872" y="2057400"/>
            <a:ext cx="4572000" cy="365760"/>
          </a:xfrm>
          <a:prstGeom prst="rect">
            <a:avLst/>
          </a:prstGeom>
          <a:noFill/>
          <a:ln/>
        </p:spPr>
        <p:txBody>
          <a:bodyPr wrap="square" lIns="0" tIns="0" rIns="0" bIns="0" rtlCol="0" anchor="t"/>
          <a:lstStyle/>
          <a:p>
            <a:pPr indent="0" marL="0">
              <a:lnSpc>
                <a:spcPct val="102000"/>
              </a:lnSpc>
              <a:buNone/>
            </a:pPr>
            <a:r>
              <a:rPr lang="en-US" sz="1150" dirty="0">
                <a:solidFill>
                  <a:srgbClr val="53565A"/>
                </a:solidFill>
                <a:latin typeface="Poppins" pitchFamily="34" charset="0"/>
                <a:ea typeface="Poppins" pitchFamily="34" charset="-122"/>
                <a:cs typeface="Poppins" pitchFamily="34" charset="-120"/>
              </a:rPr>
              <a:t>Create the input lists and build the tar files.</a:t>
            </a:r>
            <a:endParaRPr lang="en-US" sz="1150" dirty="0"/>
          </a:p>
        </p:txBody>
      </p:sp>
      <p:sp>
        <p:nvSpPr>
          <p:cNvPr id="16" name="Shape 14"/>
          <p:cNvSpPr/>
          <p:nvPr/>
        </p:nvSpPr>
        <p:spPr>
          <a:xfrm>
            <a:off x="6400800" y="2395728"/>
            <a:ext cx="5129784" cy="420624"/>
          </a:xfrm>
          <a:prstGeom prst="roundRect">
            <a:avLst>
              <a:gd name="adj" fmla="val 10870"/>
            </a:avLst>
          </a:prstGeom>
          <a:solidFill>
            <a:srgbClr val="011837"/>
          </a:solidFill>
          <a:ln/>
        </p:spPr>
      </p:sp>
      <p:sp>
        <p:nvSpPr>
          <p:cNvPr id="17" name="Text 15"/>
          <p:cNvSpPr/>
          <p:nvPr/>
        </p:nvSpPr>
        <p:spPr>
          <a:xfrm>
            <a:off x="6528816" y="2395728"/>
            <a:ext cx="4873752" cy="420624"/>
          </a:xfrm>
          <a:prstGeom prst="rect">
            <a:avLst/>
          </a:prstGeom>
          <a:noFill/>
          <a:ln/>
        </p:spPr>
        <p:txBody>
          <a:bodyPr wrap="square" lIns="0" tIns="0" rIns="0" bIns="0" rtlCol="0" anchor="ctr"/>
          <a:lstStyle/>
          <a:p>
            <a:pPr indent="0" marL="0">
              <a:lnSpc>
                <a:spcPct val="100000"/>
              </a:lnSpc>
              <a:buNone/>
            </a:pPr>
            <a:r>
              <a:rPr lang="en-US" sz="1200" dirty="0">
                <a:solidFill>
                  <a:srgbClr val="0097A7"/>
                </a:solidFill>
                <a:latin typeface="Courier New" pitchFamily="34" charset="0"/>
                <a:ea typeface="Courier New" pitchFamily="34" charset="-122"/>
                <a:cs typeface="Courier New" pitchFamily="34" charset="-120"/>
              </a:rPr>
              <a:t>dsquasar -t d123456 -A 3</a:t>
            </a:r>
            <a:endParaRPr lang="en-US" sz="1200" dirty="0"/>
          </a:p>
        </p:txBody>
      </p:sp>
      <p:sp>
        <p:nvSpPr>
          <p:cNvPr id="18" name="Shape 16"/>
          <p:cNvSpPr/>
          <p:nvPr/>
        </p:nvSpPr>
        <p:spPr>
          <a:xfrm>
            <a:off x="457200" y="3035808"/>
            <a:ext cx="5532120" cy="1371600"/>
          </a:xfrm>
          <a:prstGeom prst="roundRect">
            <a:avLst>
              <a:gd name="adj" fmla="val 5333"/>
            </a:avLst>
          </a:prstGeom>
          <a:solidFill>
            <a:srgbClr val="FFFFFF"/>
          </a:solidFill>
          <a:ln w="19050">
            <a:solidFill>
              <a:srgbClr val="0097A7"/>
            </a:solidFill>
            <a:prstDash val="solid"/>
          </a:ln>
          <a:effectLst>
            <a:outerShdw sx="100000" sy="100000" kx="0" ky="0" algn="bl" rotWithShape="0" blurRad="50800" dist="25400" dir="5400000">
              <a:srgbClr val="C3D7EE">
                <a:alpha val="25000"/>
              </a:srgbClr>
            </a:outerShdw>
          </a:effectLst>
        </p:spPr>
      </p:sp>
      <p:sp>
        <p:nvSpPr>
          <p:cNvPr id="19" name="Shape 17"/>
          <p:cNvSpPr/>
          <p:nvPr/>
        </p:nvSpPr>
        <p:spPr>
          <a:xfrm>
            <a:off x="658368" y="3218688"/>
            <a:ext cx="457200" cy="457200"/>
          </a:xfrm>
          <a:prstGeom prst="ellipse">
            <a:avLst/>
          </a:prstGeom>
          <a:solidFill>
            <a:srgbClr val="0097A7"/>
          </a:solidFill>
          <a:ln/>
        </p:spPr>
      </p:sp>
      <p:sp>
        <p:nvSpPr>
          <p:cNvPr id="20" name="Text 18"/>
          <p:cNvSpPr/>
          <p:nvPr/>
        </p:nvSpPr>
        <p:spPr>
          <a:xfrm>
            <a:off x="658368" y="32186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3</a:t>
            </a:r>
            <a:endParaRPr lang="en-US" sz="1500" dirty="0"/>
          </a:p>
        </p:txBody>
      </p:sp>
      <p:sp>
        <p:nvSpPr>
          <p:cNvPr id="21" name="Text 19"/>
          <p:cNvSpPr/>
          <p:nvPr/>
        </p:nvSpPr>
        <p:spPr>
          <a:xfrm>
            <a:off x="1234440" y="3182112"/>
            <a:ext cx="4572000" cy="36576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Send the tars to tape</a:t>
            </a:r>
            <a:endParaRPr lang="en-US" sz="1500" dirty="0"/>
          </a:p>
        </p:txBody>
      </p:sp>
      <p:sp>
        <p:nvSpPr>
          <p:cNvPr id="22" name="Text 20"/>
          <p:cNvSpPr/>
          <p:nvPr/>
        </p:nvSpPr>
        <p:spPr>
          <a:xfrm>
            <a:off x="1234440" y="3538728"/>
            <a:ext cx="4572000" cy="365760"/>
          </a:xfrm>
          <a:prstGeom prst="rect">
            <a:avLst/>
          </a:prstGeom>
          <a:noFill/>
          <a:ln/>
        </p:spPr>
        <p:txBody>
          <a:bodyPr wrap="square" lIns="0" tIns="0" rIns="0" bIns="0" rtlCol="0" anchor="t"/>
          <a:lstStyle/>
          <a:p>
            <a:pPr indent="0" marL="0">
              <a:lnSpc>
                <a:spcPct val="102000"/>
              </a:lnSpc>
              <a:buNone/>
            </a:pPr>
            <a:r>
              <a:rPr lang="en-US" sz="1150" dirty="0">
                <a:solidFill>
                  <a:srgbClr val="53565A"/>
                </a:solidFill>
                <a:latin typeface="Poppins" pitchFamily="34" charset="0"/>
                <a:ea typeface="Poppins" pitchFamily="34" charset="-122"/>
                <a:cs typeface="Poppins" pitchFamily="34" charset="-120"/>
              </a:rPr>
              <a:t>Batches built tars into &gt;=90 GB dsglobus transfers.</a:t>
            </a:r>
            <a:endParaRPr lang="en-US" sz="1150" dirty="0"/>
          </a:p>
        </p:txBody>
      </p:sp>
      <p:sp>
        <p:nvSpPr>
          <p:cNvPr id="23" name="Shape 21"/>
          <p:cNvSpPr/>
          <p:nvPr/>
        </p:nvSpPr>
        <p:spPr>
          <a:xfrm>
            <a:off x="658368" y="3877056"/>
            <a:ext cx="5129784" cy="420624"/>
          </a:xfrm>
          <a:prstGeom prst="roundRect">
            <a:avLst>
              <a:gd name="adj" fmla="val 10870"/>
            </a:avLst>
          </a:prstGeom>
          <a:solidFill>
            <a:srgbClr val="011837"/>
          </a:solidFill>
          <a:ln/>
        </p:spPr>
      </p:sp>
      <p:sp>
        <p:nvSpPr>
          <p:cNvPr id="24" name="Text 22"/>
          <p:cNvSpPr/>
          <p:nvPr/>
        </p:nvSpPr>
        <p:spPr>
          <a:xfrm>
            <a:off x="786384" y="3877056"/>
            <a:ext cx="4873752" cy="420624"/>
          </a:xfrm>
          <a:prstGeom prst="rect">
            <a:avLst/>
          </a:prstGeom>
          <a:noFill/>
          <a:ln/>
        </p:spPr>
        <p:txBody>
          <a:bodyPr wrap="square" lIns="0" tIns="0" rIns="0" bIns="0" rtlCol="0" anchor="ctr"/>
          <a:lstStyle/>
          <a:p>
            <a:pPr indent="0" marL="0">
              <a:lnSpc>
                <a:spcPct val="100000"/>
              </a:lnSpc>
              <a:buNone/>
            </a:pPr>
            <a:r>
              <a:rPr lang="en-US" sz="1200" dirty="0">
                <a:solidFill>
                  <a:srgbClr val="0097A7"/>
                </a:solidFill>
                <a:latin typeface="Courier New" pitchFamily="34" charset="0"/>
                <a:ea typeface="Courier New" pitchFamily="34" charset="-122"/>
                <a:cs typeface="Courier New" pitchFamily="34" charset="-120"/>
              </a:rPr>
              <a:t>dsquasar -t d123456 -A 4</a:t>
            </a:r>
            <a:endParaRPr lang="en-US" sz="1200" dirty="0"/>
          </a:p>
        </p:txBody>
      </p:sp>
      <p:sp>
        <p:nvSpPr>
          <p:cNvPr id="25" name="Shape 23"/>
          <p:cNvSpPr/>
          <p:nvPr/>
        </p:nvSpPr>
        <p:spPr>
          <a:xfrm>
            <a:off x="6199632" y="3035808"/>
            <a:ext cx="5532120" cy="1371600"/>
          </a:xfrm>
          <a:prstGeom prst="roundRect">
            <a:avLst>
              <a:gd name="adj" fmla="val 5333"/>
            </a:avLst>
          </a:prstGeom>
          <a:solidFill>
            <a:srgbClr val="FFFFFF"/>
          </a:solidFill>
          <a:ln w="19050">
            <a:solidFill>
              <a:srgbClr val="C25E00"/>
            </a:solidFill>
            <a:prstDash val="solid"/>
          </a:ln>
          <a:effectLst>
            <a:outerShdw sx="100000" sy="100000" kx="0" ky="0" algn="bl" rotWithShape="0" blurRad="50800" dist="25400" dir="5400000">
              <a:srgbClr val="C3D7EE">
                <a:alpha val="25000"/>
              </a:srgbClr>
            </a:outerShdw>
          </a:effectLst>
        </p:spPr>
      </p:sp>
      <p:sp>
        <p:nvSpPr>
          <p:cNvPr id="26" name="Shape 24"/>
          <p:cNvSpPr/>
          <p:nvPr/>
        </p:nvSpPr>
        <p:spPr>
          <a:xfrm>
            <a:off x="6400800" y="3218688"/>
            <a:ext cx="457200" cy="457200"/>
          </a:xfrm>
          <a:prstGeom prst="ellipse">
            <a:avLst/>
          </a:prstGeom>
          <a:solidFill>
            <a:srgbClr val="C25E00"/>
          </a:solidFill>
          <a:ln/>
        </p:spPr>
      </p:sp>
      <p:sp>
        <p:nvSpPr>
          <p:cNvPr id="27" name="Text 25"/>
          <p:cNvSpPr/>
          <p:nvPr/>
        </p:nvSpPr>
        <p:spPr>
          <a:xfrm>
            <a:off x="6400800" y="32186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4</a:t>
            </a:r>
            <a:endParaRPr lang="en-US" sz="1500" dirty="0"/>
          </a:p>
        </p:txBody>
      </p:sp>
      <p:sp>
        <p:nvSpPr>
          <p:cNvPr id="28" name="Text 26"/>
          <p:cNvSpPr/>
          <p:nvPr/>
        </p:nvSpPr>
        <p:spPr>
          <a:xfrm>
            <a:off x="6976872" y="3182112"/>
            <a:ext cx="4572000" cy="36576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The nightly production run</a:t>
            </a:r>
            <a:endParaRPr lang="en-US" sz="1500" dirty="0"/>
          </a:p>
        </p:txBody>
      </p:sp>
      <p:sp>
        <p:nvSpPr>
          <p:cNvPr id="29" name="Text 27"/>
          <p:cNvSpPr/>
          <p:nvPr/>
        </p:nvSpPr>
        <p:spPr>
          <a:xfrm>
            <a:off x="6976872" y="3538728"/>
            <a:ext cx="4572000" cy="365760"/>
          </a:xfrm>
          <a:prstGeom prst="rect">
            <a:avLst/>
          </a:prstGeom>
          <a:noFill/>
          <a:ln/>
        </p:spPr>
        <p:txBody>
          <a:bodyPr wrap="square" lIns="0" tIns="0" rIns="0" bIns="0" rtlCol="0" anchor="t"/>
          <a:lstStyle/>
          <a:p>
            <a:pPr indent="0" marL="0">
              <a:lnSpc>
                <a:spcPct val="102000"/>
              </a:lnSpc>
              <a:buNone/>
            </a:pPr>
            <a:r>
              <a:rPr lang="en-US" sz="1150" dirty="0">
                <a:solidFill>
                  <a:srgbClr val="53565A"/>
                </a:solidFill>
                <a:latin typeface="Poppins" pitchFamily="34" charset="0"/>
                <a:ea typeface="Poppins" pitchFamily="34" charset="-122"/>
                <a:cs typeface="Poppins" pitchFamily="34" charset="-120"/>
              </a:rPr>
              <a:t>All flagged datasets, as a PBS batch job with email.</a:t>
            </a:r>
            <a:endParaRPr lang="en-US" sz="1150" dirty="0"/>
          </a:p>
        </p:txBody>
      </p:sp>
      <p:sp>
        <p:nvSpPr>
          <p:cNvPr id="30" name="Shape 28"/>
          <p:cNvSpPr/>
          <p:nvPr/>
        </p:nvSpPr>
        <p:spPr>
          <a:xfrm>
            <a:off x="6400800" y="3877056"/>
            <a:ext cx="5129784" cy="420624"/>
          </a:xfrm>
          <a:prstGeom prst="roundRect">
            <a:avLst>
              <a:gd name="adj" fmla="val 10870"/>
            </a:avLst>
          </a:prstGeom>
          <a:solidFill>
            <a:srgbClr val="011837"/>
          </a:solidFill>
          <a:ln/>
        </p:spPr>
      </p:sp>
      <p:sp>
        <p:nvSpPr>
          <p:cNvPr id="31" name="Text 29"/>
          <p:cNvSpPr/>
          <p:nvPr/>
        </p:nvSpPr>
        <p:spPr>
          <a:xfrm>
            <a:off x="6528816" y="3877056"/>
            <a:ext cx="4873752" cy="420624"/>
          </a:xfrm>
          <a:prstGeom prst="rect">
            <a:avLst/>
          </a:prstGeom>
          <a:noFill/>
          <a:ln/>
        </p:spPr>
        <p:txBody>
          <a:bodyPr wrap="square" lIns="0" tIns="0" rIns="0" bIns="0" rtlCol="0" anchor="ctr"/>
          <a:lstStyle/>
          <a:p>
            <a:pPr indent="0" marL="0">
              <a:lnSpc>
                <a:spcPct val="100000"/>
              </a:lnSpc>
              <a:buNone/>
            </a:pPr>
            <a:r>
              <a:rPr lang="en-US" sz="1200" dirty="0">
                <a:solidFill>
                  <a:srgbClr val="0097A7"/>
                </a:solidFill>
                <a:latin typeface="Courier New" pitchFamily="34" charset="0"/>
                <a:ea typeface="Courier New" pitchFamily="34" charset="-122"/>
                <a:cs typeface="Courier New" pitchFamily="34" charset="-120"/>
              </a:rPr>
              <a:t>dsquasar -a -A 3 -e -b -d PBS</a:t>
            </a:r>
            <a:endParaRPr lang="en-US" sz="1200" dirty="0"/>
          </a:p>
        </p:txBody>
      </p:sp>
      <p:sp>
        <p:nvSpPr>
          <p:cNvPr id="32" name="Shape 30"/>
          <p:cNvSpPr/>
          <p:nvPr/>
        </p:nvSpPr>
        <p:spPr>
          <a:xfrm>
            <a:off x="457200" y="4517136"/>
            <a:ext cx="5532120" cy="1371600"/>
          </a:xfrm>
          <a:prstGeom prst="roundRect">
            <a:avLst>
              <a:gd name="adj" fmla="val 5333"/>
            </a:avLst>
          </a:prstGeom>
          <a:solidFill>
            <a:srgbClr val="FFFFFF"/>
          </a:solidFill>
          <a:ln w="19050">
            <a:solidFill>
              <a:srgbClr val="0057C2"/>
            </a:solidFill>
            <a:prstDash val="solid"/>
          </a:ln>
          <a:effectLst>
            <a:outerShdw sx="100000" sy="100000" kx="0" ky="0" algn="bl" rotWithShape="0" blurRad="50800" dist="25400" dir="5400000">
              <a:srgbClr val="C3D7EE">
                <a:alpha val="25000"/>
              </a:srgbClr>
            </a:outerShdw>
          </a:effectLst>
        </p:spPr>
      </p:sp>
      <p:sp>
        <p:nvSpPr>
          <p:cNvPr id="33" name="Shape 31"/>
          <p:cNvSpPr/>
          <p:nvPr/>
        </p:nvSpPr>
        <p:spPr>
          <a:xfrm>
            <a:off x="658368" y="4700016"/>
            <a:ext cx="457200" cy="457200"/>
          </a:xfrm>
          <a:prstGeom prst="ellipse">
            <a:avLst/>
          </a:prstGeom>
          <a:solidFill>
            <a:srgbClr val="0057C2"/>
          </a:solidFill>
          <a:ln/>
        </p:spPr>
      </p:sp>
      <p:sp>
        <p:nvSpPr>
          <p:cNvPr id="34" name="Text 32"/>
          <p:cNvSpPr/>
          <p:nvPr/>
        </p:nvSpPr>
        <p:spPr>
          <a:xfrm>
            <a:off x="658368" y="47000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5</a:t>
            </a:r>
            <a:endParaRPr lang="en-US" sz="1500" dirty="0"/>
          </a:p>
        </p:txBody>
      </p:sp>
      <p:sp>
        <p:nvSpPr>
          <p:cNvPr id="35" name="Text 33"/>
          <p:cNvSpPr/>
          <p:nvPr/>
        </p:nvSpPr>
        <p:spPr>
          <a:xfrm>
            <a:off x="1234440" y="4663440"/>
            <a:ext cx="4572000" cy="36576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Report on everything</a:t>
            </a:r>
            <a:endParaRPr lang="en-US" sz="1500" dirty="0"/>
          </a:p>
        </p:txBody>
      </p:sp>
      <p:sp>
        <p:nvSpPr>
          <p:cNvPr id="36" name="Text 34"/>
          <p:cNvSpPr/>
          <p:nvPr/>
        </p:nvSpPr>
        <p:spPr>
          <a:xfrm>
            <a:off x="1234440" y="5020056"/>
            <a:ext cx="4572000" cy="365760"/>
          </a:xfrm>
          <a:prstGeom prst="rect">
            <a:avLst/>
          </a:prstGeom>
          <a:noFill/>
          <a:ln/>
        </p:spPr>
        <p:txBody>
          <a:bodyPr wrap="square" lIns="0" tIns="0" rIns="0" bIns="0" rtlCol="0" anchor="t"/>
          <a:lstStyle/>
          <a:p>
            <a:pPr indent="0" marL="0">
              <a:lnSpc>
                <a:spcPct val="102000"/>
              </a:lnSpc>
              <a:buNone/>
            </a:pPr>
            <a:r>
              <a:rPr lang="en-US" sz="1150" dirty="0">
                <a:solidFill>
                  <a:srgbClr val="53565A"/>
                </a:solidFill>
                <a:latin typeface="Poppins" pitchFamily="34" charset="0"/>
                <a:ea typeface="Poppins" pitchFamily="34" charset="-122"/>
                <a:cs typeface="Poppins" pitchFamily="34" charset="-120"/>
              </a:rPr>
              <a:t>Backup statistics for all datasets, mailed to the specialist.</a:t>
            </a:r>
            <a:endParaRPr lang="en-US" sz="1150" dirty="0"/>
          </a:p>
        </p:txBody>
      </p:sp>
      <p:sp>
        <p:nvSpPr>
          <p:cNvPr id="37" name="Shape 35"/>
          <p:cNvSpPr/>
          <p:nvPr/>
        </p:nvSpPr>
        <p:spPr>
          <a:xfrm>
            <a:off x="658368" y="5358384"/>
            <a:ext cx="5129784" cy="420624"/>
          </a:xfrm>
          <a:prstGeom prst="roundRect">
            <a:avLst>
              <a:gd name="adj" fmla="val 10870"/>
            </a:avLst>
          </a:prstGeom>
          <a:solidFill>
            <a:srgbClr val="011837"/>
          </a:solidFill>
          <a:ln/>
        </p:spPr>
      </p:sp>
      <p:sp>
        <p:nvSpPr>
          <p:cNvPr id="38" name="Text 36"/>
          <p:cNvSpPr/>
          <p:nvPr/>
        </p:nvSpPr>
        <p:spPr>
          <a:xfrm>
            <a:off x="786384" y="5358384"/>
            <a:ext cx="4873752" cy="420624"/>
          </a:xfrm>
          <a:prstGeom prst="rect">
            <a:avLst/>
          </a:prstGeom>
          <a:noFill/>
          <a:ln/>
        </p:spPr>
        <p:txBody>
          <a:bodyPr wrap="square" lIns="0" tIns="0" rIns="0" bIns="0" rtlCol="0" anchor="ctr"/>
          <a:lstStyle/>
          <a:p>
            <a:pPr indent="0" marL="0">
              <a:lnSpc>
                <a:spcPct val="100000"/>
              </a:lnSpc>
              <a:buNone/>
            </a:pPr>
            <a:r>
              <a:rPr lang="en-US" sz="1200" dirty="0">
                <a:solidFill>
                  <a:srgbClr val="0097A7"/>
                </a:solidFill>
                <a:latin typeface="Courier New" pitchFamily="34" charset="0"/>
                <a:ea typeface="Courier New" pitchFamily="34" charset="-122"/>
                <a:cs typeface="Courier New" pitchFamily="34" charset="-120"/>
              </a:rPr>
              <a:t>dsquasar -a -A 16 -e</a:t>
            </a:r>
            <a:endParaRPr lang="en-US" sz="1200" dirty="0"/>
          </a:p>
        </p:txBody>
      </p:sp>
      <p:sp>
        <p:nvSpPr>
          <p:cNvPr id="39" name="Shape 37"/>
          <p:cNvSpPr/>
          <p:nvPr/>
        </p:nvSpPr>
        <p:spPr>
          <a:xfrm>
            <a:off x="6199632" y="4517136"/>
            <a:ext cx="5532120" cy="1371600"/>
          </a:xfrm>
          <a:prstGeom prst="roundRect">
            <a:avLst>
              <a:gd name="adj" fmla="val 5333"/>
            </a:avLst>
          </a:prstGeom>
          <a:solidFill>
            <a:srgbClr val="FFFFFF"/>
          </a:solidFill>
          <a:ln w="19050">
            <a:solidFill>
              <a:srgbClr val="53565A"/>
            </a:solidFill>
            <a:prstDash val="solid"/>
          </a:ln>
          <a:effectLst>
            <a:outerShdw sx="100000" sy="100000" kx="0" ky="0" algn="bl" rotWithShape="0" blurRad="50800" dist="25400" dir="5400000">
              <a:srgbClr val="C3D7EE">
                <a:alpha val="25000"/>
              </a:srgbClr>
            </a:outerShdw>
          </a:effectLst>
        </p:spPr>
      </p:sp>
      <p:sp>
        <p:nvSpPr>
          <p:cNvPr id="40" name="Shape 38"/>
          <p:cNvSpPr/>
          <p:nvPr/>
        </p:nvSpPr>
        <p:spPr>
          <a:xfrm>
            <a:off x="6400800" y="4700016"/>
            <a:ext cx="457200" cy="457200"/>
          </a:xfrm>
          <a:prstGeom prst="ellipse">
            <a:avLst/>
          </a:prstGeom>
          <a:solidFill>
            <a:srgbClr val="53565A"/>
          </a:solidFill>
          <a:ln/>
        </p:spPr>
      </p:sp>
      <p:sp>
        <p:nvSpPr>
          <p:cNvPr id="41" name="Text 39"/>
          <p:cNvSpPr/>
          <p:nvPr/>
        </p:nvSpPr>
        <p:spPr>
          <a:xfrm>
            <a:off x="6400800" y="47000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6</a:t>
            </a:r>
            <a:endParaRPr lang="en-US" sz="1500" dirty="0"/>
          </a:p>
        </p:txBody>
      </p:sp>
      <p:sp>
        <p:nvSpPr>
          <p:cNvPr id="42" name="Text 40"/>
          <p:cNvSpPr/>
          <p:nvPr/>
        </p:nvSpPr>
        <p:spPr>
          <a:xfrm>
            <a:off x="6976872" y="4663440"/>
            <a:ext cx="4572000" cy="36576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Clear a stale lock</a:t>
            </a:r>
            <a:endParaRPr lang="en-US" sz="1500" dirty="0"/>
          </a:p>
        </p:txBody>
      </p:sp>
      <p:sp>
        <p:nvSpPr>
          <p:cNvPr id="43" name="Text 41"/>
          <p:cNvSpPr/>
          <p:nvPr/>
        </p:nvSpPr>
        <p:spPr>
          <a:xfrm>
            <a:off x="6976872" y="5020056"/>
            <a:ext cx="4572000" cy="365760"/>
          </a:xfrm>
          <a:prstGeom prst="rect">
            <a:avLst/>
          </a:prstGeom>
          <a:noFill/>
          <a:ln/>
        </p:spPr>
        <p:txBody>
          <a:bodyPr wrap="square" lIns="0" tIns="0" rIns="0" bIns="0" rtlCol="0" anchor="t"/>
          <a:lstStyle/>
          <a:p>
            <a:pPr indent="0" marL="0">
              <a:lnSpc>
                <a:spcPct val="102000"/>
              </a:lnSpc>
              <a:buNone/>
            </a:pPr>
            <a:r>
              <a:rPr lang="en-US" sz="1150" dirty="0">
                <a:solidFill>
                  <a:srgbClr val="53565A"/>
                </a:solidFill>
                <a:latin typeface="Poppins" pitchFamily="34" charset="0"/>
                <a:ea typeface="Poppins" pitchFamily="34" charset="-122"/>
                <a:cs typeface="Poppins" pitchFamily="34" charset="-120"/>
              </a:rPr>
              <a:t>Unlock datasets left locked by a crashed run.</a:t>
            </a:r>
            <a:endParaRPr lang="en-US" sz="1150" dirty="0"/>
          </a:p>
        </p:txBody>
      </p:sp>
      <p:sp>
        <p:nvSpPr>
          <p:cNvPr id="44" name="Shape 42"/>
          <p:cNvSpPr/>
          <p:nvPr/>
        </p:nvSpPr>
        <p:spPr>
          <a:xfrm>
            <a:off x="6400800" y="5358384"/>
            <a:ext cx="5129784" cy="420624"/>
          </a:xfrm>
          <a:prstGeom prst="roundRect">
            <a:avLst>
              <a:gd name="adj" fmla="val 10870"/>
            </a:avLst>
          </a:prstGeom>
          <a:solidFill>
            <a:srgbClr val="011837"/>
          </a:solidFill>
          <a:ln/>
        </p:spPr>
      </p:sp>
      <p:sp>
        <p:nvSpPr>
          <p:cNvPr id="45" name="Text 43"/>
          <p:cNvSpPr/>
          <p:nvPr/>
        </p:nvSpPr>
        <p:spPr>
          <a:xfrm>
            <a:off x="6528816" y="5358384"/>
            <a:ext cx="4873752" cy="420624"/>
          </a:xfrm>
          <a:prstGeom prst="rect">
            <a:avLst/>
          </a:prstGeom>
          <a:noFill/>
          <a:ln/>
        </p:spPr>
        <p:txBody>
          <a:bodyPr wrap="square" lIns="0" tIns="0" rIns="0" bIns="0" rtlCol="0" anchor="ctr"/>
          <a:lstStyle/>
          <a:p>
            <a:pPr indent="0" marL="0">
              <a:lnSpc>
                <a:spcPct val="100000"/>
              </a:lnSpc>
              <a:buNone/>
            </a:pPr>
            <a:r>
              <a:rPr lang="en-US" sz="1200" dirty="0">
                <a:solidFill>
                  <a:srgbClr val="0097A7"/>
                </a:solidFill>
                <a:latin typeface="Courier New" pitchFamily="34" charset="0"/>
                <a:ea typeface="Courier New" pitchFamily="34" charset="-122"/>
                <a:cs typeface="Courier New" pitchFamily="34" charset="-120"/>
              </a:rPr>
              <a:t>dsquasar -t d123456 -u</a:t>
            </a:r>
            <a:endParaRPr lang="en-US" sz="1200" dirty="0"/>
          </a:p>
        </p:txBody>
      </p:sp>
      <p:sp>
        <p:nvSpPr>
          <p:cNvPr id="46" name="Text 44"/>
          <p:cNvSpPr/>
          <p:nvPr/>
        </p:nvSpPr>
        <p:spPr>
          <a:xfrm>
            <a:off x="457200" y="5943600"/>
            <a:ext cx="9966960" cy="320040"/>
          </a:xfrm>
          <a:prstGeom prst="rect">
            <a:avLst/>
          </a:prstGeom>
          <a:noFill/>
          <a:ln/>
        </p:spPr>
        <p:txBody>
          <a:bodyPr wrap="square" lIns="0" tIns="0" rIns="0" bIns="0" rtlCol="0" anchor="ctr"/>
          <a:lstStyle/>
          <a:p>
            <a:pPr algn="ctr" indent="0" marL="0">
              <a:buNone/>
            </a:pPr>
            <a:r>
              <a:rPr lang="en-US" sz="1150" b="1" dirty="0">
                <a:solidFill>
                  <a:srgbClr val="0057C2"/>
                </a:solidFill>
                <a:latin typeface="Poppins" pitchFamily="34" charset="0"/>
                <a:ea typeface="Poppins" pitchFamily="34" charset="-122"/>
                <a:cs typeface="Poppins" pitchFamily="34" charset="-120"/>
              </a:rPr>
              <a:t>Everything is incremental.  </a:t>
            </a:r>
            <a:pPr algn="ctr" indent="0" marL="0">
              <a:buNone/>
            </a:pPr>
            <a:r>
              <a:rPr lang="en-US" sz="1150" dirty="0">
                <a:solidFill>
                  <a:srgbClr val="00357A"/>
                </a:solidFill>
                <a:latin typeface="Poppins" pitchFamily="34" charset="0"/>
                <a:ea typeface="Poppins" pitchFamily="34" charset="-122"/>
                <a:cs typeface="Poppins" pitchFamily="34" charset="-120"/>
              </a:rPr>
              <a:t>A file is a candidate only while </a:t>
            </a:r>
            <a:pPr algn="ctr" indent="0" marL="0">
              <a:buNone/>
            </a:pPr>
            <a:r>
              <a:rPr lang="en-US" sz="1150" b="1" dirty="0">
                <a:solidFill>
                  <a:srgbClr val="00357A"/>
                </a:solidFill>
                <a:latin typeface="Courier New" pitchFamily="34" charset="0"/>
                <a:ea typeface="Courier New" pitchFamily="34" charset="-122"/>
                <a:cs typeface="Courier New" pitchFamily="34" charset="-120"/>
              </a:rPr>
              <a:t>bid = 0</a:t>
            </a:r>
            <a:pPr algn="ctr" indent="0" marL="0">
              <a:buNone/>
            </a:pPr>
            <a:r>
              <a:rPr lang="en-US" sz="1150" dirty="0">
                <a:solidFill>
                  <a:srgbClr val="00357A"/>
                </a:solidFill>
                <a:latin typeface="Poppins" pitchFamily="34" charset="0"/>
                <a:ea typeface="Poppins" pitchFamily="34" charset="-122"/>
                <a:cs typeface="Poppins" pitchFamily="34" charset="-120"/>
              </a:rPr>
              <a:t>, so re-running never redoes finished work.</a:t>
            </a:r>
            <a:endParaRPr lang="en-US" sz="1150" dirty="0"/>
          </a:p>
        </p:txBody>
      </p:sp>
      <p:sp>
        <p:nvSpPr>
          <p:cNvPr id="47" name="Text 45"/>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6</a:t>
            </a:r>
            <a:endParaRPr lang="en-US" sz="950" dirty="0"/>
          </a:p>
        </p:txBody>
      </p:sp>
      <p:sp>
        <p:nvSpPr>
          <p:cNvPr id="48" name="Text 46"/>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2DB"/>
                </a:solidFill>
                <a:latin typeface="Poppins" pitchFamily="34" charset="0"/>
                <a:ea typeface="Poppins" pitchFamily="34" charset="-122"/>
                <a:cs typeface="Poppins" pitchFamily="34" charset="-120"/>
              </a:rPr>
              <a:t>BACKUP SCOPE</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Backup Flags: What Gets Two Copies</a:t>
            </a:r>
            <a:endParaRPr lang="en-US" sz="3200" dirty="0"/>
          </a:p>
        </p:txBody>
      </p:sp>
      <p:sp>
        <p:nvSpPr>
          <p:cNvPr id="4" name="Text 2"/>
          <p:cNvSpPr/>
          <p:nvPr/>
        </p:nvSpPr>
        <p:spPr>
          <a:xfrm>
            <a:off x="457200" y="1444752"/>
            <a:ext cx="5532120" cy="548640"/>
          </a:xfrm>
          <a:prstGeom prst="rect">
            <a:avLst/>
          </a:prstGeom>
          <a:noFill/>
          <a:ln/>
        </p:spPr>
        <p:txBody>
          <a:bodyPr wrap="square" lIns="0" tIns="0" rIns="0" bIns="0" rtlCol="0" anchor="t"/>
          <a:lstStyle/>
          <a:p>
            <a:pPr indent="0" marL="0">
              <a:lnSpc>
                <a:spcPct val="106000"/>
              </a:lnSpc>
              <a:buNone/>
            </a:pPr>
            <a:r>
              <a:rPr lang="en-US" sz="1250" dirty="0">
                <a:solidFill>
                  <a:srgbClr val="00357A"/>
                </a:solidFill>
                <a:latin typeface="Poppins" pitchFamily="34" charset="0"/>
                <a:ea typeface="Poppins" pitchFamily="34" charset="-122"/>
                <a:cs typeface="Poppins" pitchFamily="34" charset="-120"/>
              </a:rPr>
              <a:t>A dataset is put under Quasar backup by setting </a:t>
            </a:r>
            <a:pPr indent="0" marL="0">
              <a:lnSpc>
                <a:spcPct val="106000"/>
              </a:lnSpc>
              <a:buNone/>
            </a:pPr>
            <a:r>
              <a:rPr lang="en-US" sz="1250" b="1" dirty="0">
                <a:solidFill>
                  <a:srgbClr val="0057C2"/>
                </a:solidFill>
                <a:latin typeface="Courier New" pitchFamily="34" charset="0"/>
                <a:ea typeface="Courier New" pitchFamily="34" charset="-122"/>
                <a:cs typeface="Courier New" pitchFamily="34" charset="-120"/>
              </a:rPr>
              <a:t>dataset.backflag</a:t>
            </a:r>
            <a:pPr indent="0" marL="0">
              <a:lnSpc>
                <a:spcPct val="106000"/>
              </a:lnSpc>
              <a:buNone/>
            </a:pPr>
            <a:r>
              <a:rPr lang="en-US" sz="1250" dirty="0">
                <a:solidFill>
                  <a:srgbClr val="00357A"/>
                </a:solidFill>
                <a:latin typeface="Poppins" pitchFamily="34" charset="0"/>
                <a:ea typeface="Poppins" pitchFamily="34" charset="-122"/>
                <a:cs typeface="Poppins" pitchFamily="34" charset="-120"/>
              </a:rPr>
              <a:t> — that one field is the switch, nothing else enrolls a dataset.</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5532120" cy="914400"/>
        </p:xfrm>
        <a:graphic>
          <a:graphicData uri="http://schemas.openxmlformats.org/drawingml/2006/table">
            <a:tbl>
              <a:tblPr/>
              <a:tblGrid>
                <a:gridCol w="1051560"/>
                <a:gridCol w="4480560"/>
              </a:tblGrid>
              <a:tr h="365760">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Flag</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57C2"/>
                    </a:solidFill>
                  </a:tcPr>
                </a:tc>
                <a:tc>
                  <a:txBody>
                    <a:bodyPr/>
                    <a:lstStyle/>
                    <a:p>
                      <a:pPr indent="0" marL="0">
                        <a:buNone/>
                      </a:pPr>
                      <a:r>
                        <a:rPr lang="en-US" sz="1200" b="1" dirty="0">
                          <a:solidFill>
                            <a:srgbClr val="FFFFFF"/>
                          </a:solidFill>
                          <a:latin typeface="Poppins" pitchFamily="34" charset="0"/>
                          <a:ea typeface="Poppins" pitchFamily="34" charset="-122"/>
                          <a:cs typeface="Poppins" pitchFamily="34" charset="-120"/>
                        </a:rPr>
                        <a:t>Value in dataset.backflag / dsgroup.backflag</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57C2"/>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'B'</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Quasar Backup only — endpoint gdex-quasar</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'D'</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Backup + Drdata — also gdex-quasar-drdata</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'N'</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Not backed up at all</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'P'</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Group level only: inherit the dataset's flag</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bl>
          </a:graphicData>
        </a:graphic>
      </p:graphicFrame>
      <p:sp>
        <p:nvSpPr>
          <p:cNvPr id="6" name="Text 3"/>
          <p:cNvSpPr/>
          <p:nvPr/>
        </p:nvSpPr>
        <p:spPr>
          <a:xfrm>
            <a:off x="457200" y="3968496"/>
            <a:ext cx="5532120" cy="502920"/>
          </a:xfrm>
          <a:prstGeom prst="rect">
            <a:avLst/>
          </a:prstGeom>
          <a:noFill/>
          <a:ln/>
        </p:spPr>
        <p:txBody>
          <a:bodyPr wrap="square" lIns="0" tIns="0" rIns="0" bIns="0" rtlCol="0" anchor="t"/>
          <a:lstStyle/>
          <a:p>
            <a:pPr indent="0" marL="0">
              <a:lnSpc>
                <a:spcPct val="106000"/>
              </a:lnSpc>
              <a:buNone/>
            </a:pPr>
            <a:r>
              <a:rPr lang="en-US" sz="1200" b="1" dirty="0">
                <a:solidFill>
                  <a:srgbClr val="0057C2"/>
                </a:solidFill>
                <a:latin typeface="Poppins" pitchFamily="34" charset="0"/>
                <a:ea typeface="Poppins" pitchFamily="34" charset="-122"/>
                <a:cs typeface="Poppins" pitchFamily="34" charset="-120"/>
              </a:rPr>
              <a:t>Group flags refine, they do not enroll.  </a:t>
            </a:r>
            <a:pPr indent="0" marL="0">
              <a:lnSpc>
                <a:spcPct val="106000"/>
              </a:lnSpc>
              <a:buNone/>
            </a:pPr>
            <a:r>
              <a:rPr lang="en-US" sz="1200" dirty="0">
                <a:solidFill>
                  <a:srgbClr val="00357A"/>
                </a:solidFill>
                <a:latin typeface="Poppins" pitchFamily="34" charset="0"/>
                <a:ea typeface="Poppins" pitchFamily="34" charset="-122"/>
                <a:cs typeface="Poppins" pitchFamily="34" charset="-120"/>
              </a:rPr>
              <a:t>Once the dataset flag is set, a top-level </a:t>
            </a:r>
            <a:pPr indent="0" marL="0">
              <a:lnSpc>
                <a:spcPct val="106000"/>
              </a:lnSpc>
              <a:buNone/>
            </a:pPr>
            <a:r>
              <a:rPr lang="en-US" sz="1200" b="1" dirty="0">
                <a:solidFill>
                  <a:srgbClr val="00357A"/>
                </a:solidFill>
                <a:latin typeface="Courier New" pitchFamily="34" charset="0"/>
                <a:ea typeface="Courier New" pitchFamily="34" charset="-122"/>
                <a:cs typeface="Courier New" pitchFamily="34" charset="-120"/>
              </a:rPr>
              <a:t>dsgroup</a:t>
            </a:r>
            <a:pPr indent="0" marL="0">
              <a:lnSpc>
                <a:spcPct val="106000"/>
              </a:lnSpc>
              <a:buNone/>
            </a:pPr>
            <a:r>
              <a:rPr lang="en-US" sz="1200" dirty="0">
                <a:solidFill>
                  <a:srgbClr val="00357A"/>
                </a:solidFill>
                <a:latin typeface="Poppins" pitchFamily="34" charset="0"/>
                <a:ea typeface="Poppins" pitchFamily="34" charset="-122"/>
                <a:cs typeface="Poppins" pitchFamily="34" charset="-120"/>
              </a:rPr>
              <a:t> flag is applied group by group.</a:t>
            </a:r>
            <a:endParaRPr lang="en-US" sz="1200" dirty="0"/>
          </a:p>
        </p:txBody>
      </p:sp>
      <p:sp>
        <p:nvSpPr>
          <p:cNvPr id="7" name="Shape 4"/>
          <p:cNvSpPr/>
          <p:nvPr/>
        </p:nvSpPr>
        <p:spPr>
          <a:xfrm>
            <a:off x="457200" y="4498848"/>
            <a:ext cx="5532120" cy="1554480"/>
          </a:xfrm>
          <a:prstGeom prst="roundRect">
            <a:avLst>
              <a:gd name="adj" fmla="val 5294"/>
            </a:avLst>
          </a:prstGeom>
          <a:solidFill>
            <a:srgbClr val="DCEBF7"/>
          </a:solidFill>
          <a:ln w="12700">
            <a:solidFill>
              <a:srgbClr val="A9D6F2"/>
            </a:solidFill>
            <a:prstDash val="solid"/>
          </a:ln>
        </p:spPr>
      </p:sp>
      <p:sp>
        <p:nvSpPr>
          <p:cNvPr id="8" name="Text 5"/>
          <p:cNvSpPr/>
          <p:nvPr/>
        </p:nvSpPr>
        <p:spPr>
          <a:xfrm>
            <a:off x="658368" y="4498848"/>
            <a:ext cx="5166360" cy="1554480"/>
          </a:xfrm>
          <a:prstGeom prst="rect">
            <a:avLst/>
          </a:prstGeom>
          <a:noFill/>
          <a:ln/>
        </p:spPr>
        <p:txBody>
          <a:bodyPr wrap="square" lIns="0" tIns="0" rIns="0" bIns="0" rtlCol="0" anchor="ctr"/>
          <a:lstStyle/>
          <a:p>
            <a:pPr indent="0" marL="0">
              <a:lnSpc>
                <a:spcPct val="118000"/>
              </a:lnSpc>
              <a:buNone/>
            </a:pPr>
            <a:r>
              <a:rPr lang="en-US" sz="1050" b="1" dirty="0">
                <a:solidFill>
                  <a:srgbClr val="0057C2"/>
                </a:solidFill>
                <a:latin typeface="Poppins" pitchFamily="34" charset="0"/>
                <a:ea typeface="Poppins" pitchFamily="34" charset="-122"/>
                <a:cs typeface="Poppins" pitchFamily="34" charset="-120"/>
              </a:rPr>
              <a:t>Set Backup Flag in the web config tool   </a:t>
            </a:r>
            <a:pPr indent="0" marL="0">
              <a:lnSpc>
                <a:spcPct val="118000"/>
              </a:lnSpc>
              <a:buNone/>
            </a:pPr>
            <a:r>
              <a:rPr lang="en-US" sz="1050" b="1" u="sng" dirty="0">
                <a:solidFill>
                  <a:srgbClr val="0057C2"/>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gdex.ucar.edu/rda_pg_config/</a:t>
            </a:r>
            <a:pPr indent="0" marL="0">
              <a:lnSpc>
                <a:spcPct val="118000"/>
              </a:lnSpc>
              <a:buNone/>
            </a:pPr>
            <a:endParaRPr lang="en-US" sz="1050" dirty="0"/>
          </a:p>
          <a:p>
            <a:pPr indent="0" marL="0">
              <a:lnSpc>
                <a:spcPct val="118000"/>
              </a:lnSpc>
              <a:buNone/>
            </a:pPr>
            <a:r>
              <a:rPr lang="en-US" sz="1050" b="1" dirty="0">
                <a:solidFill>
                  <a:srgbClr val="00357A"/>
                </a:solidFill>
                <a:latin typeface="Poppins" pitchFamily="34" charset="0"/>
                <a:ea typeface="Poppins" pitchFamily="34" charset="-122"/>
                <a:cs typeface="Poppins" pitchFamily="34" charset="-120"/>
              </a:rPr>
              <a:t>DSARCH → Dataset Information</a:t>
            </a:r>
            <a:endParaRPr lang="en-US" sz="1050" dirty="0"/>
          </a:p>
          <a:p>
            <a:pPr indent="0" marL="0">
              <a:lnSpc>
                <a:spcPct val="118000"/>
              </a:lnSpc>
              <a:buNone/>
            </a:pPr>
            <a:r>
              <a:rPr lang="en-US" sz="1050" dirty="0">
                <a:solidFill>
                  <a:srgbClr val="00357A"/>
                </a:solidFill>
                <a:latin typeface="Poppins" pitchFamily="34" charset="0"/>
                <a:ea typeface="Poppins" pitchFamily="34" charset="-122"/>
                <a:cs typeface="Poppins" pitchFamily="34" charset="-120"/>
              </a:rPr>
              <a:t>  sets </a:t>
            </a:r>
            <a:pPr indent="0" marL="0">
              <a:lnSpc>
                <a:spcPct val="118000"/>
              </a:lnSpc>
              <a:buNone/>
            </a:pPr>
            <a:r>
              <a:rPr lang="en-US" sz="1050" b="1" dirty="0">
                <a:solidFill>
                  <a:srgbClr val="00357A"/>
                </a:solidFill>
                <a:latin typeface="Courier New" pitchFamily="34" charset="0"/>
                <a:ea typeface="Courier New" pitchFamily="34" charset="-122"/>
                <a:cs typeface="Courier New" pitchFamily="34" charset="-120"/>
              </a:rPr>
              <a:t>dataset.backflag</a:t>
            </a:r>
            <a:pPr indent="0" marL="0">
              <a:lnSpc>
                <a:spcPct val="118000"/>
              </a:lnSpc>
              <a:buNone/>
            </a:pPr>
            <a:r>
              <a:rPr lang="en-US" sz="1050" dirty="0">
                <a:solidFill>
                  <a:srgbClr val="00357A"/>
                </a:solidFill>
                <a:latin typeface="Poppins" pitchFamily="34" charset="0"/>
                <a:ea typeface="Poppins" pitchFamily="34" charset="-122"/>
                <a:cs typeface="Poppins" pitchFamily="34" charset="-120"/>
              </a:rPr>
              <a:t> for the whole dataset</a:t>
            </a:r>
            <a:pPr indent="0" marL="0">
              <a:lnSpc>
                <a:spcPct val="118000"/>
              </a:lnSpc>
              <a:buNone/>
            </a:pPr>
            <a:endParaRPr lang="en-US" sz="1050" dirty="0"/>
          </a:p>
          <a:p>
            <a:pPr indent="0" marL="0">
              <a:lnSpc>
                <a:spcPct val="118000"/>
              </a:lnSpc>
              <a:buNone/>
            </a:pPr>
            <a:r>
              <a:rPr lang="en-US" sz="1050" b="1" dirty="0">
                <a:solidFill>
                  <a:srgbClr val="00357A"/>
                </a:solidFill>
                <a:latin typeface="Poppins" pitchFamily="34" charset="0"/>
                <a:ea typeface="Poppins" pitchFamily="34" charset="-122"/>
                <a:cs typeface="Poppins" pitchFamily="34" charset="-120"/>
              </a:rPr>
              <a:t>DSARCH → Group Information</a:t>
            </a:r>
            <a:endParaRPr lang="en-US" sz="1050" dirty="0"/>
          </a:p>
          <a:p>
            <a:pPr indent="0" marL="0">
              <a:lnSpc>
                <a:spcPct val="118000"/>
              </a:lnSpc>
              <a:buNone/>
            </a:pPr>
            <a:r>
              <a:rPr lang="en-US" sz="1050" dirty="0">
                <a:solidFill>
                  <a:srgbClr val="00357A"/>
                </a:solidFill>
                <a:latin typeface="Poppins" pitchFamily="34" charset="0"/>
                <a:ea typeface="Poppins" pitchFamily="34" charset="-122"/>
                <a:cs typeface="Poppins" pitchFamily="34" charset="-120"/>
              </a:rPr>
              <a:t>  sets </a:t>
            </a:r>
            <a:pPr indent="0" marL="0">
              <a:lnSpc>
                <a:spcPct val="118000"/>
              </a:lnSpc>
              <a:buNone/>
            </a:pPr>
            <a:r>
              <a:rPr lang="en-US" sz="1050" b="1" dirty="0">
                <a:solidFill>
                  <a:srgbClr val="00357A"/>
                </a:solidFill>
                <a:latin typeface="Courier New" pitchFamily="34" charset="0"/>
                <a:ea typeface="Courier New" pitchFamily="34" charset="-122"/>
                <a:cs typeface="Courier New" pitchFamily="34" charset="-120"/>
              </a:rPr>
              <a:t>dsgroup.backflag</a:t>
            </a:r>
            <a:pPr indent="0" marL="0">
              <a:lnSpc>
                <a:spcPct val="118000"/>
              </a:lnSpc>
              <a:buNone/>
            </a:pPr>
            <a:r>
              <a:rPr lang="en-US" sz="1050" dirty="0">
                <a:solidFill>
                  <a:srgbClr val="00357A"/>
                </a:solidFill>
                <a:latin typeface="Poppins" pitchFamily="34" charset="0"/>
                <a:ea typeface="Poppins" pitchFamily="34" charset="-122"/>
                <a:cs typeface="Poppins" pitchFamily="34" charset="-120"/>
              </a:rPr>
              <a:t> for one group</a:t>
            </a:r>
            <a:pPr indent="0" marL="0">
              <a:lnSpc>
                <a:spcPct val="118000"/>
              </a:lnSpc>
              <a:buNone/>
            </a:pPr>
            <a:endParaRPr lang="en-US" sz="1050" dirty="0"/>
          </a:p>
          <a:p>
            <a:pPr indent="0" marL="0">
              <a:lnSpc>
                <a:spcPct val="118000"/>
              </a:lnSpc>
              <a:buNone/>
            </a:pPr>
            <a:r>
              <a:rPr lang="en-US" sz="1050" b="1" dirty="0">
                <a:solidFill>
                  <a:srgbClr val="0057C2"/>
                </a:solidFill>
                <a:latin typeface="Poppins" pitchFamily="34" charset="0"/>
                <a:ea typeface="Poppins" pitchFamily="34" charset="-122"/>
                <a:cs typeface="Poppins" pitchFamily="34" charset="-120"/>
              </a:rPr>
              <a:t>Per-run filter: </a:t>
            </a:r>
            <a:endParaRPr lang="en-US" sz="1050" dirty="0"/>
          </a:p>
          <a:p>
            <a:pPr indent="0" marL="0">
              <a:lnSpc>
                <a:spcPct val="118000"/>
              </a:lnSpc>
              <a:buNone/>
            </a:pPr>
            <a:r>
              <a:rPr lang="en-US" sz="1050" b="1" dirty="0">
                <a:solidFill>
                  <a:srgbClr val="00357A"/>
                </a:solidFill>
                <a:latin typeface="Courier New" pitchFamily="34" charset="0"/>
                <a:ea typeface="Courier New" pitchFamily="34" charset="-122"/>
                <a:cs typeface="Courier New" pitchFamily="34" charset="-120"/>
              </a:rPr>
              <a:t>-B</a:t>
            </a:r>
            <a:pPr indent="0" marL="0">
              <a:lnSpc>
                <a:spcPct val="118000"/>
              </a:lnSpc>
              <a:buNone/>
            </a:pPr>
            <a:r>
              <a:rPr lang="en-US" sz="1050" dirty="0">
                <a:solidFill>
                  <a:srgbClr val="00357A"/>
                </a:solidFill>
                <a:latin typeface="Poppins" pitchFamily="34" charset="0"/>
                <a:ea typeface="Poppins" pitchFamily="34" charset="-122"/>
                <a:cs typeface="Poppins" pitchFamily="34" charset="-120"/>
              </a:rPr>
              <a:t> or </a:t>
            </a:r>
            <a:pPr indent="0" marL="0">
              <a:lnSpc>
                <a:spcPct val="118000"/>
              </a:lnSpc>
              <a:buNone/>
            </a:pPr>
            <a:r>
              <a:rPr lang="en-US" sz="1050" b="1" dirty="0">
                <a:solidFill>
                  <a:srgbClr val="00357A"/>
                </a:solidFill>
                <a:latin typeface="Courier New" pitchFamily="34" charset="0"/>
                <a:ea typeface="Courier New" pitchFamily="34" charset="-122"/>
                <a:cs typeface="Courier New" pitchFamily="34" charset="-120"/>
              </a:rPr>
              <a:t>-D</a:t>
            </a:r>
            <a:pPr indent="0" marL="0">
              <a:lnSpc>
                <a:spcPct val="118000"/>
              </a:lnSpc>
              <a:buNone/>
            </a:pPr>
            <a:r>
              <a:rPr lang="en-US" sz="1050" dirty="0">
                <a:solidFill>
                  <a:srgbClr val="00357A"/>
                </a:solidFill>
                <a:latin typeface="Poppins" pitchFamily="34" charset="0"/>
                <a:ea typeface="Poppins" pitchFamily="34" charset="-122"/>
                <a:cs typeface="Poppins" pitchFamily="34" charset="-120"/>
              </a:rPr>
              <a:t> limits a run to what is flagged that way; with neither, each dataset follows its own flag.</a:t>
            </a:r>
            <a:endParaRPr lang="en-US" sz="1050" dirty="0"/>
          </a:p>
        </p:txBody>
      </p:sp>
      <p:sp>
        <p:nvSpPr>
          <p:cNvPr id="9" name="Shape 6"/>
          <p:cNvSpPr/>
          <p:nvPr/>
        </p:nvSpPr>
        <p:spPr>
          <a:xfrm>
            <a:off x="6199632" y="1554480"/>
            <a:ext cx="5532120" cy="4526280"/>
          </a:xfrm>
          <a:prstGeom prst="roundRect">
            <a:avLst>
              <a:gd name="adj" fmla="val 2020"/>
            </a:avLst>
          </a:prstGeom>
          <a:solidFill>
            <a:srgbClr val="DCEBF7"/>
          </a:solidFill>
          <a:ln w="12700">
            <a:solidFill>
              <a:srgbClr val="A9D6F2"/>
            </a:solidFill>
            <a:prstDash val="solid"/>
          </a:ln>
        </p:spPr>
      </p:sp>
      <p:sp>
        <p:nvSpPr>
          <p:cNvPr id="10" name="Text 7"/>
          <p:cNvSpPr/>
          <p:nvPr/>
        </p:nvSpPr>
        <p:spPr>
          <a:xfrm>
            <a:off x="6446520" y="1737360"/>
            <a:ext cx="5029200" cy="365760"/>
          </a:xfrm>
          <a:prstGeom prst="rect">
            <a:avLst/>
          </a:prstGeom>
          <a:noFill/>
          <a:ln/>
        </p:spPr>
        <p:txBody>
          <a:bodyPr wrap="square" lIns="0" tIns="0" rIns="0" bIns="0" rtlCol="0" anchor="ctr"/>
          <a:lstStyle/>
          <a:p>
            <a:pPr indent="0" marL="0">
              <a:buNone/>
            </a:pPr>
            <a:r>
              <a:rPr lang="en-US" sz="1500" b="1" dirty="0">
                <a:solidFill>
                  <a:srgbClr val="0057C2"/>
                </a:solidFill>
                <a:latin typeface="Poppins" pitchFamily="34" charset="0"/>
                <a:ea typeface="Poppins" pitchFamily="34" charset="-122"/>
                <a:cs typeface="Poppins" pitchFamily="34" charset="-120"/>
              </a:rPr>
              <a:t>Two Globus end points, one source</a:t>
            </a:r>
            <a:endParaRPr lang="en-US" sz="1500" dirty="0"/>
          </a:p>
        </p:txBody>
      </p:sp>
      <p:sp>
        <p:nvSpPr>
          <p:cNvPr id="11" name="Shape 8"/>
          <p:cNvSpPr/>
          <p:nvPr/>
        </p:nvSpPr>
        <p:spPr>
          <a:xfrm>
            <a:off x="6949440" y="2286000"/>
            <a:ext cx="4023360" cy="777240"/>
          </a:xfrm>
          <a:prstGeom prst="roundRect">
            <a:avLst>
              <a:gd name="adj" fmla="val 9412"/>
            </a:avLst>
          </a:prstGeom>
          <a:solidFill>
            <a:srgbClr val="011837"/>
          </a:solidFill>
          <a:ln/>
        </p:spPr>
      </p:sp>
      <p:sp>
        <p:nvSpPr>
          <p:cNvPr id="12" name="Text 9"/>
          <p:cNvSpPr/>
          <p:nvPr/>
        </p:nvSpPr>
        <p:spPr>
          <a:xfrm>
            <a:off x="6949440" y="2286000"/>
            <a:ext cx="402336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gdex-glade
</a:t>
            </a:r>
            <a:pPr algn="ctr" indent="0" marL="0">
              <a:buNone/>
            </a:pPr>
            <a:r>
              <a:rPr lang="en-US" sz="1100" dirty="0">
                <a:solidFill>
                  <a:srgbClr val="C3D7EE"/>
                </a:solidFill>
                <a:latin typeface="Poppins" pitchFamily="34" charset="0"/>
                <a:ea typeface="Poppins" pitchFamily="34" charset="-122"/>
                <a:cs typeface="Poppins" pitchFamily="34" charset="-120"/>
              </a:rPr>
              <a:t>tar files built on disk</a:t>
            </a:r>
            <a:endParaRPr lang="en-US" sz="1400" dirty="0"/>
          </a:p>
        </p:txBody>
      </p:sp>
      <p:sp>
        <p:nvSpPr>
          <p:cNvPr id="13" name="Text 10"/>
          <p:cNvSpPr/>
          <p:nvPr/>
        </p:nvSpPr>
        <p:spPr>
          <a:xfrm>
            <a:off x="8503920" y="3108960"/>
            <a:ext cx="914400" cy="411480"/>
          </a:xfrm>
          <a:prstGeom prst="rect">
            <a:avLst/>
          </a:prstGeom>
          <a:noFill/>
          <a:ln/>
        </p:spPr>
        <p:txBody>
          <a:bodyPr wrap="square" lIns="0" tIns="0" rIns="0" bIns="0" rtlCol="0" anchor="ctr"/>
          <a:lstStyle/>
          <a:p>
            <a:pPr algn="ctr" indent="0" marL="0">
              <a:buNone/>
            </a:pPr>
            <a:r>
              <a:rPr lang="en-US" sz="2200" b="1" dirty="0">
                <a:solidFill>
                  <a:srgbClr val="0057C2"/>
                </a:solidFill>
                <a:latin typeface="Poppins" pitchFamily="34" charset="0"/>
                <a:ea typeface="Poppins" pitchFamily="34" charset="-122"/>
                <a:cs typeface="Poppins" pitchFamily="34" charset="-120"/>
              </a:rPr>
              <a:t>↓</a:t>
            </a:r>
            <a:endParaRPr lang="en-US" sz="2200" dirty="0"/>
          </a:p>
        </p:txBody>
      </p:sp>
      <p:sp>
        <p:nvSpPr>
          <p:cNvPr id="14" name="Shape 11"/>
          <p:cNvSpPr/>
          <p:nvPr/>
        </p:nvSpPr>
        <p:spPr>
          <a:xfrm>
            <a:off x="6537960" y="3520440"/>
            <a:ext cx="4846320" cy="914400"/>
          </a:xfrm>
          <a:prstGeom prst="roundRect">
            <a:avLst>
              <a:gd name="adj" fmla="val 8000"/>
            </a:avLst>
          </a:prstGeom>
          <a:solidFill>
            <a:srgbClr val="FFFFFF"/>
          </a:solidFill>
          <a:ln w="25400">
            <a:solidFill>
              <a:srgbClr val="0057C2"/>
            </a:solidFill>
            <a:prstDash val="solid"/>
          </a:ln>
        </p:spPr>
      </p:sp>
      <p:sp>
        <p:nvSpPr>
          <p:cNvPr id="15" name="Text 12"/>
          <p:cNvSpPr/>
          <p:nvPr/>
        </p:nvSpPr>
        <p:spPr>
          <a:xfrm>
            <a:off x="6766560" y="3611880"/>
            <a:ext cx="4480560" cy="365760"/>
          </a:xfrm>
          <a:prstGeom prst="rect">
            <a:avLst/>
          </a:prstGeom>
          <a:noFill/>
          <a:ln/>
        </p:spPr>
        <p:txBody>
          <a:bodyPr wrap="square" lIns="0" tIns="0" rIns="0" bIns="0" rtlCol="0" anchor="ctr"/>
          <a:lstStyle/>
          <a:p>
            <a:pPr indent="0" marL="0">
              <a:buNone/>
            </a:pPr>
            <a:r>
              <a:rPr lang="en-US" sz="1400" b="1" dirty="0">
                <a:solidFill>
                  <a:srgbClr val="0057C2"/>
                </a:solidFill>
                <a:latin typeface="Courier New" pitchFamily="34" charset="0"/>
                <a:ea typeface="Courier New" pitchFamily="34" charset="-122"/>
                <a:cs typeface="Courier New" pitchFamily="34" charset="-120"/>
              </a:rPr>
              <a:t>gdex-quasar</a:t>
            </a:r>
            <a:endParaRPr lang="en-US" sz="1400" dirty="0"/>
          </a:p>
        </p:txBody>
      </p:sp>
      <p:sp>
        <p:nvSpPr>
          <p:cNvPr id="16" name="Text 13"/>
          <p:cNvSpPr/>
          <p:nvPr/>
        </p:nvSpPr>
        <p:spPr>
          <a:xfrm>
            <a:off x="6766560" y="3977640"/>
            <a:ext cx="4480560" cy="365760"/>
          </a:xfrm>
          <a:prstGeom prst="rect">
            <a:avLst/>
          </a:prstGeom>
          <a:noFill/>
          <a:ln/>
        </p:spPr>
        <p:txBody>
          <a:bodyPr wrap="square" lIns="0" tIns="0" rIns="0" bIns="0" rtlCol="0" anchor="ctr"/>
          <a:lstStyle/>
          <a:p>
            <a:pPr indent="0" marL="0">
              <a:buNone/>
            </a:pPr>
            <a:r>
              <a:rPr lang="en-US" sz="1150" dirty="0">
                <a:solidFill>
                  <a:srgbClr val="53565A"/>
                </a:solidFill>
                <a:latin typeface="Poppins" pitchFamily="34" charset="0"/>
                <a:ea typeface="Poppins" pitchFamily="34" charset="-122"/>
                <a:cs typeface="Poppins" pitchFamily="34" charset="-120"/>
              </a:rPr>
              <a:t>Backup copy — always written</a:t>
            </a:r>
            <a:endParaRPr lang="en-US" sz="1150" dirty="0"/>
          </a:p>
        </p:txBody>
      </p:sp>
      <p:sp>
        <p:nvSpPr>
          <p:cNvPr id="17" name="Shape 14"/>
          <p:cNvSpPr/>
          <p:nvPr/>
        </p:nvSpPr>
        <p:spPr>
          <a:xfrm>
            <a:off x="6537960" y="4544568"/>
            <a:ext cx="4846320" cy="914400"/>
          </a:xfrm>
          <a:prstGeom prst="roundRect">
            <a:avLst>
              <a:gd name="adj" fmla="val 8000"/>
            </a:avLst>
          </a:prstGeom>
          <a:solidFill>
            <a:srgbClr val="FFFFFF"/>
          </a:solidFill>
          <a:ln w="25400">
            <a:solidFill>
              <a:srgbClr val="0097A7"/>
            </a:solidFill>
            <a:prstDash val="solid"/>
          </a:ln>
        </p:spPr>
      </p:sp>
      <p:sp>
        <p:nvSpPr>
          <p:cNvPr id="18" name="Text 15"/>
          <p:cNvSpPr/>
          <p:nvPr/>
        </p:nvSpPr>
        <p:spPr>
          <a:xfrm>
            <a:off x="6766560" y="4636008"/>
            <a:ext cx="4480560" cy="365760"/>
          </a:xfrm>
          <a:prstGeom prst="rect">
            <a:avLst/>
          </a:prstGeom>
          <a:noFill/>
          <a:ln/>
        </p:spPr>
        <p:txBody>
          <a:bodyPr wrap="square" lIns="0" tIns="0" rIns="0" bIns="0" rtlCol="0" anchor="ctr"/>
          <a:lstStyle/>
          <a:p>
            <a:pPr indent="0" marL="0">
              <a:buNone/>
            </a:pPr>
            <a:r>
              <a:rPr lang="en-US" sz="1400" b="1" dirty="0">
                <a:solidFill>
                  <a:srgbClr val="0097A7"/>
                </a:solidFill>
                <a:latin typeface="Courier New" pitchFamily="34" charset="0"/>
                <a:ea typeface="Courier New" pitchFamily="34" charset="-122"/>
                <a:cs typeface="Courier New" pitchFamily="34" charset="-120"/>
              </a:rPr>
              <a:t>gdex-quasar-drdata</a:t>
            </a:r>
            <a:endParaRPr lang="en-US" sz="1400" dirty="0"/>
          </a:p>
        </p:txBody>
      </p:sp>
      <p:sp>
        <p:nvSpPr>
          <p:cNvPr id="19" name="Text 16"/>
          <p:cNvSpPr/>
          <p:nvPr/>
        </p:nvSpPr>
        <p:spPr>
          <a:xfrm>
            <a:off x="6766560" y="5001768"/>
            <a:ext cx="4480560" cy="365760"/>
          </a:xfrm>
          <a:prstGeom prst="rect">
            <a:avLst/>
          </a:prstGeom>
          <a:noFill/>
          <a:ln/>
        </p:spPr>
        <p:txBody>
          <a:bodyPr wrap="square" lIns="0" tIns="0" rIns="0" bIns="0" rtlCol="0" anchor="ctr"/>
          <a:lstStyle/>
          <a:p>
            <a:pPr indent="0" marL="0">
              <a:buNone/>
            </a:pPr>
            <a:r>
              <a:rPr lang="en-US" sz="1150" dirty="0">
                <a:solidFill>
                  <a:srgbClr val="53565A"/>
                </a:solidFill>
                <a:latin typeface="Poppins" pitchFamily="34" charset="0"/>
                <a:ea typeface="Poppins" pitchFamily="34" charset="-122"/>
                <a:cs typeface="Poppins" pitchFamily="34" charset="-120"/>
              </a:rPr>
              <a:t>Disaster-recovery copy — only for flag 'D'</a:t>
            </a:r>
            <a:endParaRPr lang="en-US" sz="1150" dirty="0"/>
          </a:p>
        </p:txBody>
      </p:sp>
      <p:sp>
        <p:nvSpPr>
          <p:cNvPr id="20" name="Text 17"/>
          <p:cNvSpPr/>
          <p:nvPr/>
        </p:nvSpPr>
        <p:spPr>
          <a:xfrm>
            <a:off x="6537960" y="5532120"/>
            <a:ext cx="4846320" cy="457200"/>
          </a:xfrm>
          <a:prstGeom prst="rect">
            <a:avLst/>
          </a:prstGeom>
          <a:noFill/>
          <a:ln/>
        </p:spPr>
        <p:txBody>
          <a:bodyPr wrap="square" lIns="0" tIns="0" rIns="0" bIns="0" rtlCol="0" anchor="t"/>
          <a:lstStyle/>
          <a:p>
            <a:pPr indent="0" marL="0">
              <a:lnSpc>
                <a:spcPct val="105000"/>
              </a:lnSpc>
              <a:buNone/>
            </a:pPr>
            <a:r>
              <a:rPr lang="en-US" sz="1100" dirty="0">
                <a:solidFill>
                  <a:srgbClr val="53565A"/>
                </a:solidFill>
                <a:latin typeface="Poppins" pitchFamily="34" charset="0"/>
                <a:ea typeface="Poppins" pitchFamily="34" charset="-122"/>
                <a:cs typeface="Poppins" pitchFamily="34" charset="-120"/>
              </a:rPr>
              <a:t>A 'D' backup writes Drdata first, then Backup; both must succeed before the local tar is deleted.</a:t>
            </a:r>
            <a:endParaRPr lang="en-US" sz="1100" dirty="0"/>
          </a:p>
        </p:txBody>
      </p:sp>
      <p:sp>
        <p:nvSpPr>
          <p:cNvPr id="21" name="Text 18"/>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7</a:t>
            </a:r>
            <a:endParaRPr lang="en-US" sz="950" dirty="0"/>
          </a:p>
        </p:txBody>
      </p:sp>
      <p:sp>
        <p:nvSpPr>
          <p:cNvPr id="22" name="Text 19"/>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C25E00"/>
                </a:solidFill>
                <a:latin typeface="Poppins" pitchFamily="34" charset="0"/>
                <a:ea typeface="Poppins" pitchFamily="34" charset="-122"/>
                <a:cs typeface="Poppins" pitchFamily="34" charset="-120"/>
              </a:rPr>
              <a:t>ACTIONS</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The -A Action Bitmask</a:t>
            </a:r>
            <a:endParaRPr lang="en-US" sz="3200" dirty="0"/>
          </a:p>
        </p:txBody>
      </p:sp>
      <p:sp>
        <p:nvSpPr>
          <p:cNvPr id="4" name="Shape 2"/>
          <p:cNvSpPr/>
          <p:nvPr/>
        </p:nvSpPr>
        <p:spPr>
          <a:xfrm>
            <a:off x="457200" y="1554480"/>
            <a:ext cx="2743200" cy="1371600"/>
          </a:xfrm>
          <a:prstGeom prst="roundRect">
            <a:avLst>
              <a:gd name="adj" fmla="val 5333"/>
            </a:avLst>
          </a:prstGeom>
          <a:solidFill>
            <a:srgbClr val="FFFFFF"/>
          </a:solidFill>
          <a:ln w="19050">
            <a:solidFill>
              <a:srgbClr val="0057C2"/>
            </a:solidFill>
            <a:prstDash val="solid"/>
          </a:ln>
          <a:effectLst>
            <a:outerShdw sx="100000" sy="100000" kx="0" ky="0" algn="bl" rotWithShape="0" blurRad="50800" dist="25400" dir="5400000">
              <a:srgbClr val="C3D7EE">
                <a:alpha val="25000"/>
              </a:srgbClr>
            </a:outerShdw>
          </a:effectLst>
        </p:spPr>
      </p:sp>
      <p:sp>
        <p:nvSpPr>
          <p:cNvPr id="5" name="Text 3"/>
          <p:cNvSpPr/>
          <p:nvPr/>
        </p:nvSpPr>
        <p:spPr>
          <a:xfrm>
            <a:off x="640080" y="1691640"/>
            <a:ext cx="2377440" cy="384048"/>
          </a:xfrm>
          <a:prstGeom prst="rect">
            <a:avLst/>
          </a:prstGeom>
          <a:noFill/>
          <a:ln/>
        </p:spPr>
        <p:txBody>
          <a:bodyPr wrap="square" lIns="0" tIns="0" rIns="0" bIns="0" rtlCol="0" anchor="ctr"/>
          <a:lstStyle/>
          <a:p>
            <a:pPr indent="0" marL="0">
              <a:buNone/>
            </a:pPr>
            <a:r>
              <a:rPr lang="en-US" sz="2000" b="1" dirty="0">
                <a:solidFill>
                  <a:srgbClr val="0057C2"/>
                </a:solidFill>
                <a:latin typeface="Courier New" pitchFamily="34" charset="0"/>
                <a:ea typeface="Courier New" pitchFamily="34" charset="-122"/>
                <a:cs typeface="Courier New" pitchFamily="34" charset="-120"/>
              </a:rPr>
              <a:t>-A 1</a:t>
            </a:r>
            <a:endParaRPr lang="en-US" sz="2000" dirty="0"/>
          </a:p>
        </p:txBody>
      </p:sp>
      <p:sp>
        <p:nvSpPr>
          <p:cNvPr id="6" name="Text 4"/>
          <p:cNvSpPr/>
          <p:nvPr/>
        </p:nvSpPr>
        <p:spPr>
          <a:xfrm>
            <a:off x="640080" y="2057400"/>
            <a:ext cx="2377440" cy="320040"/>
          </a:xfrm>
          <a:prstGeom prst="rect">
            <a:avLst/>
          </a:prstGeom>
          <a:noFill/>
          <a:ln/>
        </p:spPr>
        <p:txBody>
          <a:bodyPr wrap="square" lIns="0" tIns="0" rIns="0" bIns="0" rtlCol="0" anchor="ctr"/>
          <a:lstStyle/>
          <a:p>
            <a:pPr indent="0" marL="0">
              <a:buNone/>
            </a:pPr>
            <a:r>
              <a:rPr lang="en-US" sz="1350" b="1" dirty="0">
                <a:solidFill>
                  <a:srgbClr val="00357A"/>
                </a:solidFill>
                <a:latin typeface="Poppins" pitchFamily="34" charset="0"/>
                <a:ea typeface="Poppins" pitchFamily="34" charset="-122"/>
                <a:cs typeface="Poppins" pitchFamily="34" charset="-120"/>
              </a:rPr>
              <a:t>Create Input</a:t>
            </a:r>
            <a:endParaRPr lang="en-US" sz="1350" dirty="0"/>
          </a:p>
        </p:txBody>
      </p:sp>
      <p:sp>
        <p:nvSpPr>
          <p:cNvPr id="7" name="Text 5"/>
          <p:cNvSpPr/>
          <p:nvPr/>
        </p:nvSpPr>
        <p:spPr>
          <a:xfrm>
            <a:off x="640080" y="2377440"/>
            <a:ext cx="2423160" cy="502920"/>
          </a:xfrm>
          <a:prstGeom prst="rect">
            <a:avLst/>
          </a:prstGeom>
          <a:noFill/>
          <a:ln/>
        </p:spPr>
        <p:txBody>
          <a:bodyPr wrap="square" lIns="0" tIns="0" rIns="0" bIns="0" rtlCol="0" anchor="t"/>
          <a:lstStyle/>
          <a:p>
            <a:pPr indent="0" marL="0">
              <a:lnSpc>
                <a:spcPct val="102000"/>
              </a:lnSpc>
              <a:buNone/>
            </a:pPr>
            <a:r>
              <a:rPr lang="en-US" sz="1050" dirty="0">
                <a:solidFill>
                  <a:srgbClr val="53565A"/>
                </a:solidFill>
                <a:latin typeface="Poppins" pitchFamily="34" charset="0"/>
                <a:ea typeface="Poppins" pitchFamily="34" charset="-122"/>
                <a:cs typeface="Poppins" pitchFamily="34" charset="-120"/>
              </a:rPr>
              <a:t>list Web/Saved files, add bfile records 'N'</a:t>
            </a:r>
            <a:endParaRPr lang="en-US" sz="1050" dirty="0"/>
          </a:p>
        </p:txBody>
      </p:sp>
      <p:sp>
        <p:nvSpPr>
          <p:cNvPr id="8" name="Shape 6"/>
          <p:cNvSpPr/>
          <p:nvPr/>
        </p:nvSpPr>
        <p:spPr>
          <a:xfrm>
            <a:off x="3310128" y="1554480"/>
            <a:ext cx="2743200" cy="1371600"/>
          </a:xfrm>
          <a:prstGeom prst="roundRect">
            <a:avLst>
              <a:gd name="adj" fmla="val 5333"/>
            </a:avLst>
          </a:prstGeom>
          <a:solidFill>
            <a:srgbClr val="FFFFFF"/>
          </a:solidFill>
          <a:ln w="19050">
            <a:solidFill>
              <a:srgbClr val="0092DB"/>
            </a:solidFill>
            <a:prstDash val="solid"/>
          </a:ln>
          <a:effectLst>
            <a:outerShdw sx="100000" sy="100000" kx="0" ky="0" algn="bl" rotWithShape="0" blurRad="50800" dist="25400" dir="5400000">
              <a:srgbClr val="C3D7EE">
                <a:alpha val="25000"/>
              </a:srgbClr>
            </a:outerShdw>
          </a:effectLst>
        </p:spPr>
      </p:sp>
      <p:sp>
        <p:nvSpPr>
          <p:cNvPr id="9" name="Text 7"/>
          <p:cNvSpPr/>
          <p:nvPr/>
        </p:nvSpPr>
        <p:spPr>
          <a:xfrm>
            <a:off x="3493008" y="1691640"/>
            <a:ext cx="2377440" cy="384048"/>
          </a:xfrm>
          <a:prstGeom prst="rect">
            <a:avLst/>
          </a:prstGeom>
          <a:noFill/>
          <a:ln/>
        </p:spPr>
        <p:txBody>
          <a:bodyPr wrap="square" lIns="0" tIns="0" rIns="0" bIns="0" rtlCol="0" anchor="ctr"/>
          <a:lstStyle/>
          <a:p>
            <a:pPr indent="0" marL="0">
              <a:buNone/>
            </a:pPr>
            <a:r>
              <a:rPr lang="en-US" sz="2000" b="1" dirty="0">
                <a:solidFill>
                  <a:srgbClr val="0092DB"/>
                </a:solidFill>
                <a:latin typeface="Courier New" pitchFamily="34" charset="0"/>
                <a:ea typeface="Courier New" pitchFamily="34" charset="-122"/>
                <a:cs typeface="Courier New" pitchFamily="34" charset="-120"/>
              </a:rPr>
              <a:t>-A 2</a:t>
            </a:r>
            <a:endParaRPr lang="en-US" sz="2000" dirty="0"/>
          </a:p>
        </p:txBody>
      </p:sp>
      <p:sp>
        <p:nvSpPr>
          <p:cNvPr id="10" name="Text 8"/>
          <p:cNvSpPr/>
          <p:nvPr/>
        </p:nvSpPr>
        <p:spPr>
          <a:xfrm>
            <a:off x="3493008" y="2057400"/>
            <a:ext cx="2377440" cy="320040"/>
          </a:xfrm>
          <a:prstGeom prst="rect">
            <a:avLst/>
          </a:prstGeom>
          <a:noFill/>
          <a:ln/>
        </p:spPr>
        <p:txBody>
          <a:bodyPr wrap="square" lIns="0" tIns="0" rIns="0" bIns="0" rtlCol="0" anchor="ctr"/>
          <a:lstStyle/>
          <a:p>
            <a:pPr indent="0" marL="0">
              <a:buNone/>
            </a:pPr>
            <a:r>
              <a:rPr lang="en-US" sz="1350" b="1" dirty="0">
                <a:solidFill>
                  <a:srgbClr val="00357A"/>
                </a:solidFill>
                <a:latin typeface="Poppins" pitchFamily="34" charset="0"/>
                <a:ea typeface="Poppins" pitchFamily="34" charset="-122"/>
                <a:cs typeface="Poppins" pitchFamily="34" charset="-120"/>
              </a:rPr>
              <a:t>Tar Backup</a:t>
            </a:r>
            <a:endParaRPr lang="en-US" sz="1350" dirty="0"/>
          </a:p>
        </p:txBody>
      </p:sp>
      <p:sp>
        <p:nvSpPr>
          <p:cNvPr id="11" name="Text 9"/>
          <p:cNvSpPr/>
          <p:nvPr/>
        </p:nvSpPr>
        <p:spPr>
          <a:xfrm>
            <a:off x="3493008" y="2377440"/>
            <a:ext cx="2423160" cy="502920"/>
          </a:xfrm>
          <a:prstGeom prst="rect">
            <a:avLst/>
          </a:prstGeom>
          <a:noFill/>
          <a:ln/>
        </p:spPr>
        <p:txBody>
          <a:bodyPr wrap="square" lIns="0" tIns="0" rIns="0" bIns="0" rtlCol="0" anchor="t"/>
          <a:lstStyle/>
          <a:p>
            <a:pPr indent="0" marL="0">
              <a:lnSpc>
                <a:spcPct val="102000"/>
              </a:lnSpc>
              <a:buNone/>
            </a:pPr>
            <a:r>
              <a:rPr lang="en-US" sz="1050" dirty="0">
                <a:solidFill>
                  <a:srgbClr val="53565A"/>
                </a:solidFill>
                <a:latin typeface="Poppins" pitchFamily="34" charset="0"/>
                <a:ea typeface="Poppins" pitchFamily="34" charset="-122"/>
                <a:cs typeface="Poppins" pitchFamily="34" charset="-120"/>
              </a:rPr>
              <a:t>build &gt;=5 GB tars from 'N' lists → 'T'</a:t>
            </a:r>
            <a:endParaRPr lang="en-US" sz="1050" dirty="0"/>
          </a:p>
        </p:txBody>
      </p:sp>
      <p:sp>
        <p:nvSpPr>
          <p:cNvPr id="12" name="Shape 10"/>
          <p:cNvSpPr/>
          <p:nvPr/>
        </p:nvSpPr>
        <p:spPr>
          <a:xfrm>
            <a:off x="6163056" y="1554480"/>
            <a:ext cx="2743200" cy="1371600"/>
          </a:xfrm>
          <a:prstGeom prst="roundRect">
            <a:avLst>
              <a:gd name="adj" fmla="val 5333"/>
            </a:avLst>
          </a:prstGeom>
          <a:solidFill>
            <a:srgbClr val="C25E00"/>
          </a:solidFill>
          <a:ln w="12700">
            <a:solidFill>
              <a:srgbClr val="C25E00"/>
            </a:solidFill>
            <a:prstDash val="solid"/>
          </a:ln>
          <a:effectLst>
            <a:outerShdw sx="100000" sy="100000" kx="0" ky="0" algn="bl" rotWithShape="0" blurRad="50800" dist="25400" dir="5400000">
              <a:srgbClr val="C3D7EE">
                <a:alpha val="25000"/>
              </a:srgbClr>
            </a:outerShdw>
          </a:effectLst>
        </p:spPr>
      </p:sp>
      <p:sp>
        <p:nvSpPr>
          <p:cNvPr id="13" name="Text 11"/>
          <p:cNvSpPr/>
          <p:nvPr/>
        </p:nvSpPr>
        <p:spPr>
          <a:xfrm>
            <a:off x="6345936" y="1691640"/>
            <a:ext cx="2377440" cy="384048"/>
          </a:xfrm>
          <a:prstGeom prst="rect">
            <a:avLst/>
          </a:prstGeom>
          <a:noFill/>
          <a:ln/>
        </p:spPr>
        <p:txBody>
          <a:bodyPr wrap="square" lIns="0" tIns="0" rIns="0" bIns="0" rtlCol="0" anchor="ctr"/>
          <a:lstStyle/>
          <a:p>
            <a:pPr indent="0" marL="0">
              <a:buNone/>
            </a:pPr>
            <a:r>
              <a:rPr lang="en-US" sz="2000" b="1" dirty="0">
                <a:solidFill>
                  <a:srgbClr val="FFFFFF"/>
                </a:solidFill>
                <a:latin typeface="Courier New" pitchFamily="34" charset="0"/>
                <a:ea typeface="Courier New" pitchFamily="34" charset="-122"/>
                <a:cs typeface="Courier New" pitchFamily="34" charset="-120"/>
              </a:rPr>
              <a:t>-A 3</a:t>
            </a:r>
            <a:endParaRPr lang="en-US" sz="2000" dirty="0"/>
          </a:p>
        </p:txBody>
      </p:sp>
      <p:sp>
        <p:nvSpPr>
          <p:cNvPr id="14" name="Text 12"/>
          <p:cNvSpPr/>
          <p:nvPr/>
        </p:nvSpPr>
        <p:spPr>
          <a:xfrm>
            <a:off x="6345936" y="2057400"/>
            <a:ext cx="2377440" cy="320040"/>
          </a:xfrm>
          <a:prstGeom prst="rect">
            <a:avLst/>
          </a:prstGeom>
          <a:noFill/>
          <a:ln/>
        </p:spPr>
        <p:txBody>
          <a:bodyPr wrap="square" lIns="0" tIns="0" rIns="0" bIns="0" rtlCol="0" anchor="ctr"/>
          <a:lstStyle/>
          <a:p>
            <a:pPr indent="0" marL="0">
              <a:buNone/>
            </a:pPr>
            <a:r>
              <a:rPr lang="en-US" sz="1350" b="1" dirty="0">
                <a:solidFill>
                  <a:srgbClr val="FFFFFF"/>
                </a:solidFill>
                <a:latin typeface="Poppins" pitchFamily="34" charset="0"/>
                <a:ea typeface="Poppins" pitchFamily="34" charset="-122"/>
                <a:cs typeface="Poppins" pitchFamily="34" charset="-120"/>
              </a:rPr>
              <a:t>Create + Tar</a:t>
            </a:r>
            <a:endParaRPr lang="en-US" sz="1350" dirty="0"/>
          </a:p>
        </p:txBody>
      </p:sp>
      <p:sp>
        <p:nvSpPr>
          <p:cNvPr id="15" name="Text 13"/>
          <p:cNvSpPr/>
          <p:nvPr/>
        </p:nvSpPr>
        <p:spPr>
          <a:xfrm>
            <a:off x="6345936" y="2377440"/>
            <a:ext cx="2423160" cy="502920"/>
          </a:xfrm>
          <a:prstGeom prst="rect">
            <a:avLst/>
          </a:prstGeom>
          <a:noFill/>
          <a:ln/>
        </p:spPr>
        <p:txBody>
          <a:bodyPr wrap="square" lIns="0" tIns="0" rIns="0" bIns="0" rtlCol="0" anchor="t"/>
          <a:lstStyle/>
          <a:p>
            <a:pPr indent="0" marL="0">
              <a:lnSpc>
                <a:spcPct val="102000"/>
              </a:lnSpc>
              <a:buNone/>
            </a:pPr>
            <a:r>
              <a:rPr lang="en-US" sz="1050" dirty="0">
                <a:solidFill>
                  <a:srgbClr val="DBE2E9"/>
                </a:solidFill>
                <a:latin typeface="Poppins" pitchFamily="34" charset="0"/>
                <a:ea typeface="Poppins" pitchFamily="34" charset="-122"/>
                <a:cs typeface="Poppins" pitchFamily="34" charset="-120"/>
              </a:rPr>
              <a:t>the default, and the normal production run</a:t>
            </a:r>
            <a:endParaRPr lang="en-US" sz="1050" dirty="0"/>
          </a:p>
        </p:txBody>
      </p:sp>
      <p:sp>
        <p:nvSpPr>
          <p:cNvPr id="16" name="Shape 14"/>
          <p:cNvSpPr/>
          <p:nvPr/>
        </p:nvSpPr>
        <p:spPr>
          <a:xfrm>
            <a:off x="9015984" y="1554480"/>
            <a:ext cx="2743200" cy="1371600"/>
          </a:xfrm>
          <a:prstGeom prst="roundRect">
            <a:avLst>
              <a:gd name="adj" fmla="val 5333"/>
            </a:avLst>
          </a:prstGeom>
          <a:solidFill>
            <a:srgbClr val="FFFFFF"/>
          </a:solidFill>
          <a:ln w="19050">
            <a:solidFill>
              <a:srgbClr val="0097A7"/>
            </a:solidFill>
            <a:prstDash val="solid"/>
          </a:ln>
          <a:effectLst>
            <a:outerShdw sx="100000" sy="100000" kx="0" ky="0" algn="bl" rotWithShape="0" blurRad="50800" dist="25400" dir="5400000">
              <a:srgbClr val="C3D7EE">
                <a:alpha val="25000"/>
              </a:srgbClr>
            </a:outerShdw>
          </a:effectLst>
        </p:spPr>
      </p:sp>
      <p:sp>
        <p:nvSpPr>
          <p:cNvPr id="17" name="Text 15"/>
          <p:cNvSpPr/>
          <p:nvPr/>
        </p:nvSpPr>
        <p:spPr>
          <a:xfrm>
            <a:off x="9198864" y="1691640"/>
            <a:ext cx="2377440" cy="384048"/>
          </a:xfrm>
          <a:prstGeom prst="rect">
            <a:avLst/>
          </a:prstGeom>
          <a:noFill/>
          <a:ln/>
        </p:spPr>
        <p:txBody>
          <a:bodyPr wrap="square" lIns="0" tIns="0" rIns="0" bIns="0" rtlCol="0" anchor="ctr"/>
          <a:lstStyle/>
          <a:p>
            <a:pPr indent="0" marL="0">
              <a:buNone/>
            </a:pPr>
            <a:r>
              <a:rPr lang="en-US" sz="2000" b="1" dirty="0">
                <a:solidFill>
                  <a:srgbClr val="0097A7"/>
                </a:solidFill>
                <a:latin typeface="Courier New" pitchFamily="34" charset="0"/>
                <a:ea typeface="Courier New" pitchFamily="34" charset="-122"/>
                <a:cs typeface="Courier New" pitchFamily="34" charset="-120"/>
              </a:rPr>
              <a:t>-A 4</a:t>
            </a:r>
            <a:endParaRPr lang="en-US" sz="2000" dirty="0"/>
          </a:p>
        </p:txBody>
      </p:sp>
      <p:sp>
        <p:nvSpPr>
          <p:cNvPr id="18" name="Text 16"/>
          <p:cNvSpPr/>
          <p:nvPr/>
        </p:nvSpPr>
        <p:spPr>
          <a:xfrm>
            <a:off x="9198864" y="2057400"/>
            <a:ext cx="2377440" cy="320040"/>
          </a:xfrm>
          <a:prstGeom prst="rect">
            <a:avLst/>
          </a:prstGeom>
          <a:noFill/>
          <a:ln/>
        </p:spPr>
        <p:txBody>
          <a:bodyPr wrap="square" lIns="0" tIns="0" rIns="0" bIns="0" rtlCol="0" anchor="ctr"/>
          <a:lstStyle/>
          <a:p>
            <a:pPr indent="0" marL="0">
              <a:buNone/>
            </a:pPr>
            <a:r>
              <a:rPr lang="en-US" sz="1350" b="1" dirty="0">
                <a:solidFill>
                  <a:srgbClr val="00357A"/>
                </a:solidFill>
                <a:latin typeface="Poppins" pitchFamily="34" charset="0"/>
                <a:ea typeface="Poppins" pitchFamily="34" charset="-122"/>
                <a:cs typeface="Poppins" pitchFamily="34" charset="-120"/>
              </a:rPr>
              <a:t>Transfer</a:t>
            </a:r>
            <a:endParaRPr lang="en-US" sz="1350" dirty="0"/>
          </a:p>
        </p:txBody>
      </p:sp>
      <p:sp>
        <p:nvSpPr>
          <p:cNvPr id="19" name="Text 17"/>
          <p:cNvSpPr/>
          <p:nvPr/>
        </p:nvSpPr>
        <p:spPr>
          <a:xfrm>
            <a:off x="9198864" y="2377440"/>
            <a:ext cx="2423160" cy="502920"/>
          </a:xfrm>
          <a:prstGeom prst="rect">
            <a:avLst/>
          </a:prstGeom>
          <a:noFill/>
          <a:ln/>
        </p:spPr>
        <p:txBody>
          <a:bodyPr wrap="square" lIns="0" tIns="0" rIns="0" bIns="0" rtlCol="0" anchor="t"/>
          <a:lstStyle/>
          <a:p>
            <a:pPr indent="0" marL="0">
              <a:lnSpc>
                <a:spcPct val="102000"/>
              </a:lnSpc>
              <a:buNone/>
            </a:pPr>
            <a:r>
              <a:rPr lang="en-US" sz="1050" dirty="0">
                <a:solidFill>
                  <a:srgbClr val="53565A"/>
                </a:solidFill>
                <a:latin typeface="Poppins" pitchFamily="34" charset="0"/>
                <a:ea typeface="Poppins" pitchFamily="34" charset="-122"/>
                <a:cs typeface="Poppins" pitchFamily="34" charset="-120"/>
              </a:rPr>
              <a:t>dsglobus batches of 'T' tars to Quasar → 'A'</a:t>
            </a:r>
            <a:endParaRPr lang="en-US" sz="1050" dirty="0"/>
          </a:p>
        </p:txBody>
      </p:sp>
      <p:sp>
        <p:nvSpPr>
          <p:cNvPr id="20" name="Shape 18"/>
          <p:cNvSpPr/>
          <p:nvPr/>
        </p:nvSpPr>
        <p:spPr>
          <a:xfrm>
            <a:off x="457200" y="3108960"/>
            <a:ext cx="2743200" cy="1371600"/>
          </a:xfrm>
          <a:prstGeom prst="roundRect">
            <a:avLst>
              <a:gd name="adj" fmla="val 5333"/>
            </a:avLst>
          </a:prstGeom>
          <a:solidFill>
            <a:srgbClr val="FFFFFF"/>
          </a:solidFill>
          <a:ln w="19050">
            <a:solidFill>
              <a:srgbClr val="0057C2"/>
            </a:solidFill>
            <a:prstDash val="solid"/>
          </a:ln>
          <a:effectLst>
            <a:outerShdw sx="100000" sy="100000" kx="0" ky="0" algn="bl" rotWithShape="0" blurRad="50800" dist="25400" dir="5400000">
              <a:srgbClr val="C3D7EE">
                <a:alpha val="25000"/>
              </a:srgbClr>
            </a:outerShdw>
          </a:effectLst>
        </p:spPr>
      </p:sp>
      <p:sp>
        <p:nvSpPr>
          <p:cNvPr id="21" name="Text 19"/>
          <p:cNvSpPr/>
          <p:nvPr/>
        </p:nvSpPr>
        <p:spPr>
          <a:xfrm>
            <a:off x="640080" y="3246120"/>
            <a:ext cx="2377440" cy="384048"/>
          </a:xfrm>
          <a:prstGeom prst="rect">
            <a:avLst/>
          </a:prstGeom>
          <a:noFill/>
          <a:ln/>
        </p:spPr>
        <p:txBody>
          <a:bodyPr wrap="square" lIns="0" tIns="0" rIns="0" bIns="0" rtlCol="0" anchor="ctr"/>
          <a:lstStyle/>
          <a:p>
            <a:pPr indent="0" marL="0">
              <a:buNone/>
            </a:pPr>
            <a:r>
              <a:rPr lang="en-US" sz="2000" b="1" dirty="0">
                <a:solidFill>
                  <a:srgbClr val="0057C2"/>
                </a:solidFill>
                <a:latin typeface="Courier New" pitchFamily="34" charset="0"/>
                <a:ea typeface="Courier New" pitchFamily="34" charset="-122"/>
                <a:cs typeface="Courier New" pitchFamily="34" charset="-120"/>
              </a:rPr>
              <a:t>-A 6</a:t>
            </a:r>
            <a:endParaRPr lang="en-US" sz="2000" dirty="0"/>
          </a:p>
        </p:txBody>
      </p:sp>
      <p:sp>
        <p:nvSpPr>
          <p:cNvPr id="22" name="Text 20"/>
          <p:cNvSpPr/>
          <p:nvPr/>
        </p:nvSpPr>
        <p:spPr>
          <a:xfrm>
            <a:off x="640080" y="3611880"/>
            <a:ext cx="2377440" cy="320040"/>
          </a:xfrm>
          <a:prstGeom prst="rect">
            <a:avLst/>
          </a:prstGeom>
          <a:noFill/>
          <a:ln/>
        </p:spPr>
        <p:txBody>
          <a:bodyPr wrap="square" lIns="0" tIns="0" rIns="0" bIns="0" rtlCol="0" anchor="ctr"/>
          <a:lstStyle/>
          <a:p>
            <a:pPr indent="0" marL="0">
              <a:buNone/>
            </a:pPr>
            <a:r>
              <a:rPr lang="en-US" sz="1350" b="1" dirty="0">
                <a:solidFill>
                  <a:srgbClr val="00357A"/>
                </a:solidFill>
                <a:latin typeface="Poppins" pitchFamily="34" charset="0"/>
                <a:ea typeface="Poppins" pitchFamily="34" charset="-122"/>
                <a:cs typeface="Poppins" pitchFamily="34" charset="-120"/>
              </a:rPr>
              <a:t>Tar + Transfer</a:t>
            </a:r>
            <a:endParaRPr lang="en-US" sz="1350" dirty="0"/>
          </a:p>
        </p:txBody>
      </p:sp>
      <p:sp>
        <p:nvSpPr>
          <p:cNvPr id="23" name="Text 21"/>
          <p:cNvSpPr/>
          <p:nvPr/>
        </p:nvSpPr>
        <p:spPr>
          <a:xfrm>
            <a:off x="640080" y="3931920"/>
            <a:ext cx="2423160" cy="502920"/>
          </a:xfrm>
          <a:prstGeom prst="rect">
            <a:avLst/>
          </a:prstGeom>
          <a:noFill/>
          <a:ln/>
        </p:spPr>
        <p:txBody>
          <a:bodyPr wrap="square" lIns="0" tIns="0" rIns="0" bIns="0" rtlCol="0" anchor="t"/>
          <a:lstStyle/>
          <a:p>
            <a:pPr indent="0" marL="0">
              <a:lnSpc>
                <a:spcPct val="102000"/>
              </a:lnSpc>
              <a:buNone/>
            </a:pPr>
            <a:r>
              <a:rPr lang="en-US" sz="1050" dirty="0">
                <a:solidFill>
                  <a:srgbClr val="53565A"/>
                </a:solidFill>
                <a:latin typeface="Poppins" pitchFamily="34" charset="0"/>
                <a:ea typeface="Poppins" pitchFamily="34" charset="-122"/>
                <a:cs typeface="Poppins" pitchFamily="34" charset="-120"/>
              </a:rPr>
              <a:t>build then ship in one run</a:t>
            </a:r>
            <a:endParaRPr lang="en-US" sz="1050" dirty="0"/>
          </a:p>
        </p:txBody>
      </p:sp>
      <p:sp>
        <p:nvSpPr>
          <p:cNvPr id="24" name="Shape 22"/>
          <p:cNvSpPr/>
          <p:nvPr/>
        </p:nvSpPr>
        <p:spPr>
          <a:xfrm>
            <a:off x="3310128" y="3108960"/>
            <a:ext cx="2743200" cy="1371600"/>
          </a:xfrm>
          <a:prstGeom prst="roundRect">
            <a:avLst>
              <a:gd name="adj" fmla="val 5333"/>
            </a:avLst>
          </a:prstGeom>
          <a:solidFill>
            <a:srgbClr val="FFFFFF"/>
          </a:solidFill>
          <a:ln w="19050">
            <a:solidFill>
              <a:srgbClr val="0092DB"/>
            </a:solidFill>
            <a:prstDash val="solid"/>
          </a:ln>
          <a:effectLst>
            <a:outerShdw sx="100000" sy="100000" kx="0" ky="0" algn="bl" rotWithShape="0" blurRad="50800" dist="25400" dir="5400000">
              <a:srgbClr val="C3D7EE">
                <a:alpha val="25000"/>
              </a:srgbClr>
            </a:outerShdw>
          </a:effectLst>
        </p:spPr>
      </p:sp>
      <p:sp>
        <p:nvSpPr>
          <p:cNvPr id="25" name="Text 23"/>
          <p:cNvSpPr/>
          <p:nvPr/>
        </p:nvSpPr>
        <p:spPr>
          <a:xfrm>
            <a:off x="3493008" y="3246120"/>
            <a:ext cx="2377440" cy="384048"/>
          </a:xfrm>
          <a:prstGeom prst="rect">
            <a:avLst/>
          </a:prstGeom>
          <a:noFill/>
          <a:ln/>
        </p:spPr>
        <p:txBody>
          <a:bodyPr wrap="square" lIns="0" tIns="0" rIns="0" bIns="0" rtlCol="0" anchor="ctr"/>
          <a:lstStyle/>
          <a:p>
            <a:pPr indent="0" marL="0">
              <a:buNone/>
            </a:pPr>
            <a:r>
              <a:rPr lang="en-US" sz="2000" b="1" dirty="0">
                <a:solidFill>
                  <a:srgbClr val="0092DB"/>
                </a:solidFill>
                <a:latin typeface="Courier New" pitchFamily="34" charset="0"/>
                <a:ea typeface="Courier New" pitchFamily="34" charset="-122"/>
                <a:cs typeface="Courier New" pitchFamily="34" charset="-120"/>
              </a:rPr>
              <a:t>-A 7</a:t>
            </a:r>
            <a:endParaRPr lang="en-US" sz="2000" dirty="0"/>
          </a:p>
        </p:txBody>
      </p:sp>
      <p:sp>
        <p:nvSpPr>
          <p:cNvPr id="26" name="Text 24"/>
          <p:cNvSpPr/>
          <p:nvPr/>
        </p:nvSpPr>
        <p:spPr>
          <a:xfrm>
            <a:off x="3493008" y="3611880"/>
            <a:ext cx="2377440" cy="320040"/>
          </a:xfrm>
          <a:prstGeom prst="rect">
            <a:avLst/>
          </a:prstGeom>
          <a:noFill/>
          <a:ln/>
        </p:spPr>
        <p:txBody>
          <a:bodyPr wrap="square" lIns="0" tIns="0" rIns="0" bIns="0" rtlCol="0" anchor="ctr"/>
          <a:lstStyle/>
          <a:p>
            <a:pPr indent="0" marL="0">
              <a:buNone/>
            </a:pPr>
            <a:r>
              <a:rPr lang="en-US" sz="1350" b="1" dirty="0">
                <a:solidFill>
                  <a:srgbClr val="00357A"/>
                </a:solidFill>
                <a:latin typeface="Poppins" pitchFamily="34" charset="0"/>
                <a:ea typeface="Poppins" pitchFamily="34" charset="-122"/>
                <a:cs typeface="Poppins" pitchFamily="34" charset="-120"/>
              </a:rPr>
              <a:t>Full chain</a:t>
            </a:r>
            <a:endParaRPr lang="en-US" sz="1350" dirty="0"/>
          </a:p>
        </p:txBody>
      </p:sp>
      <p:sp>
        <p:nvSpPr>
          <p:cNvPr id="27" name="Text 25"/>
          <p:cNvSpPr/>
          <p:nvPr/>
        </p:nvSpPr>
        <p:spPr>
          <a:xfrm>
            <a:off x="3493008" y="3931920"/>
            <a:ext cx="2423160" cy="502920"/>
          </a:xfrm>
          <a:prstGeom prst="rect">
            <a:avLst/>
          </a:prstGeom>
          <a:noFill/>
          <a:ln/>
        </p:spPr>
        <p:txBody>
          <a:bodyPr wrap="square" lIns="0" tIns="0" rIns="0" bIns="0" rtlCol="0" anchor="t"/>
          <a:lstStyle/>
          <a:p>
            <a:pPr indent="0" marL="0">
              <a:lnSpc>
                <a:spcPct val="102000"/>
              </a:lnSpc>
              <a:buNone/>
            </a:pPr>
            <a:r>
              <a:rPr lang="en-US" sz="1050" dirty="0">
                <a:solidFill>
                  <a:srgbClr val="53565A"/>
                </a:solidFill>
                <a:latin typeface="Poppins" pitchFamily="34" charset="0"/>
                <a:ea typeface="Poppins" pitchFamily="34" charset="-122"/>
                <a:cs typeface="Poppins" pitchFamily="34" charset="-120"/>
              </a:rPr>
              <a:t>list, tar, and ship end to end</a:t>
            </a:r>
            <a:endParaRPr lang="en-US" sz="1050" dirty="0"/>
          </a:p>
        </p:txBody>
      </p:sp>
      <p:sp>
        <p:nvSpPr>
          <p:cNvPr id="28" name="Shape 26"/>
          <p:cNvSpPr/>
          <p:nvPr/>
        </p:nvSpPr>
        <p:spPr>
          <a:xfrm>
            <a:off x="6163056" y="3108960"/>
            <a:ext cx="2743200" cy="1371600"/>
          </a:xfrm>
          <a:prstGeom prst="roundRect">
            <a:avLst>
              <a:gd name="adj" fmla="val 5333"/>
            </a:avLst>
          </a:prstGeom>
          <a:solidFill>
            <a:srgbClr val="FFFFFF"/>
          </a:solidFill>
          <a:ln w="19050">
            <a:solidFill>
              <a:srgbClr val="0097A7"/>
            </a:solidFill>
            <a:prstDash val="solid"/>
          </a:ln>
          <a:effectLst>
            <a:outerShdw sx="100000" sy="100000" kx="0" ky="0" algn="bl" rotWithShape="0" blurRad="50800" dist="25400" dir="5400000">
              <a:srgbClr val="C3D7EE">
                <a:alpha val="25000"/>
              </a:srgbClr>
            </a:outerShdw>
          </a:effectLst>
        </p:spPr>
      </p:sp>
      <p:sp>
        <p:nvSpPr>
          <p:cNvPr id="29" name="Text 27"/>
          <p:cNvSpPr/>
          <p:nvPr/>
        </p:nvSpPr>
        <p:spPr>
          <a:xfrm>
            <a:off x="6345936" y="3246120"/>
            <a:ext cx="2377440" cy="384048"/>
          </a:xfrm>
          <a:prstGeom prst="rect">
            <a:avLst/>
          </a:prstGeom>
          <a:noFill/>
          <a:ln/>
        </p:spPr>
        <p:txBody>
          <a:bodyPr wrap="square" lIns="0" tIns="0" rIns="0" bIns="0" rtlCol="0" anchor="ctr"/>
          <a:lstStyle/>
          <a:p>
            <a:pPr indent="0" marL="0">
              <a:buNone/>
            </a:pPr>
            <a:r>
              <a:rPr lang="en-US" sz="2000" b="1" dirty="0">
                <a:solidFill>
                  <a:srgbClr val="0097A7"/>
                </a:solidFill>
                <a:latin typeface="Courier New" pitchFamily="34" charset="0"/>
                <a:ea typeface="Courier New" pitchFamily="34" charset="-122"/>
                <a:cs typeface="Courier New" pitchFamily="34" charset="-120"/>
              </a:rPr>
              <a:t>-A 8</a:t>
            </a:r>
            <a:endParaRPr lang="en-US" sz="2000" dirty="0"/>
          </a:p>
        </p:txBody>
      </p:sp>
      <p:sp>
        <p:nvSpPr>
          <p:cNvPr id="30" name="Text 28"/>
          <p:cNvSpPr/>
          <p:nvPr/>
        </p:nvSpPr>
        <p:spPr>
          <a:xfrm>
            <a:off x="6345936" y="3611880"/>
            <a:ext cx="2377440" cy="320040"/>
          </a:xfrm>
          <a:prstGeom prst="rect">
            <a:avLst/>
          </a:prstGeom>
          <a:noFill/>
          <a:ln/>
        </p:spPr>
        <p:txBody>
          <a:bodyPr wrap="square" lIns="0" tIns="0" rIns="0" bIns="0" rtlCol="0" anchor="ctr"/>
          <a:lstStyle/>
          <a:p>
            <a:pPr indent="0" marL="0">
              <a:buNone/>
            </a:pPr>
            <a:r>
              <a:rPr lang="en-US" sz="1350" b="1" dirty="0">
                <a:solidFill>
                  <a:srgbClr val="00357A"/>
                </a:solidFill>
                <a:latin typeface="Poppins" pitchFamily="34" charset="0"/>
                <a:ea typeface="Poppins" pitchFamily="34" charset="-122"/>
                <a:cs typeface="Poppins" pitchFamily="34" charset="-120"/>
              </a:rPr>
              <a:t>Check</a:t>
            </a:r>
            <a:endParaRPr lang="en-US" sz="1350" dirty="0"/>
          </a:p>
        </p:txBody>
      </p:sp>
      <p:sp>
        <p:nvSpPr>
          <p:cNvPr id="31" name="Text 29"/>
          <p:cNvSpPr/>
          <p:nvPr/>
        </p:nvSpPr>
        <p:spPr>
          <a:xfrm>
            <a:off x="6345936" y="3931920"/>
            <a:ext cx="2423160" cy="502920"/>
          </a:xfrm>
          <a:prstGeom prst="rect">
            <a:avLst/>
          </a:prstGeom>
          <a:noFill/>
          <a:ln/>
        </p:spPr>
        <p:txBody>
          <a:bodyPr wrap="square" lIns="0" tIns="0" rIns="0" bIns="0" rtlCol="0" anchor="t"/>
          <a:lstStyle/>
          <a:p>
            <a:pPr indent="0" marL="0">
              <a:lnSpc>
                <a:spcPct val="102000"/>
              </a:lnSpc>
              <a:buNone/>
            </a:pPr>
            <a:r>
              <a:rPr lang="en-US" sz="1050" dirty="0">
                <a:solidFill>
                  <a:srgbClr val="53565A"/>
                </a:solidFill>
                <a:latin typeface="Poppins" pitchFamily="34" charset="0"/>
                <a:ea typeface="Poppins" pitchFamily="34" charset="-122"/>
                <a:cs typeface="Poppins" pitchFamily="34" charset="-120"/>
              </a:rPr>
              <a:t>compare sizes on tape, reset bad ones to 'N'</a:t>
            </a:r>
            <a:endParaRPr lang="en-US" sz="1050" dirty="0"/>
          </a:p>
        </p:txBody>
      </p:sp>
      <p:sp>
        <p:nvSpPr>
          <p:cNvPr id="32" name="Shape 30"/>
          <p:cNvSpPr/>
          <p:nvPr/>
        </p:nvSpPr>
        <p:spPr>
          <a:xfrm>
            <a:off x="9015984" y="3108960"/>
            <a:ext cx="2743200" cy="1371600"/>
          </a:xfrm>
          <a:prstGeom prst="roundRect">
            <a:avLst>
              <a:gd name="adj" fmla="val 5333"/>
            </a:avLst>
          </a:prstGeom>
          <a:solidFill>
            <a:srgbClr val="FFFFFF"/>
          </a:solidFill>
          <a:ln w="19050">
            <a:solidFill>
              <a:srgbClr val="53565A"/>
            </a:solidFill>
            <a:prstDash val="solid"/>
          </a:ln>
          <a:effectLst>
            <a:outerShdw sx="100000" sy="100000" kx="0" ky="0" algn="bl" rotWithShape="0" blurRad="50800" dist="25400" dir="5400000">
              <a:srgbClr val="C3D7EE">
                <a:alpha val="25000"/>
              </a:srgbClr>
            </a:outerShdw>
          </a:effectLst>
        </p:spPr>
      </p:sp>
      <p:sp>
        <p:nvSpPr>
          <p:cNvPr id="33" name="Text 31"/>
          <p:cNvSpPr/>
          <p:nvPr/>
        </p:nvSpPr>
        <p:spPr>
          <a:xfrm>
            <a:off x="9198864" y="3246120"/>
            <a:ext cx="2377440" cy="384048"/>
          </a:xfrm>
          <a:prstGeom prst="rect">
            <a:avLst/>
          </a:prstGeom>
          <a:noFill/>
          <a:ln/>
        </p:spPr>
        <p:txBody>
          <a:bodyPr wrap="square" lIns="0" tIns="0" rIns="0" bIns="0" rtlCol="0" anchor="ctr"/>
          <a:lstStyle/>
          <a:p>
            <a:pPr indent="0" marL="0">
              <a:buNone/>
            </a:pPr>
            <a:r>
              <a:rPr lang="en-US" sz="2000" b="1" dirty="0">
                <a:solidFill>
                  <a:srgbClr val="53565A"/>
                </a:solidFill>
                <a:latin typeface="Courier New" pitchFamily="34" charset="0"/>
                <a:ea typeface="Courier New" pitchFamily="34" charset="-122"/>
                <a:cs typeface="Courier New" pitchFamily="34" charset="-120"/>
              </a:rPr>
              <a:t>-A 16</a:t>
            </a:r>
            <a:endParaRPr lang="en-US" sz="2000" dirty="0"/>
          </a:p>
        </p:txBody>
      </p:sp>
      <p:sp>
        <p:nvSpPr>
          <p:cNvPr id="34" name="Text 32"/>
          <p:cNvSpPr/>
          <p:nvPr/>
        </p:nvSpPr>
        <p:spPr>
          <a:xfrm>
            <a:off x="9198864" y="3611880"/>
            <a:ext cx="2377440" cy="320040"/>
          </a:xfrm>
          <a:prstGeom prst="rect">
            <a:avLst/>
          </a:prstGeom>
          <a:noFill/>
          <a:ln/>
        </p:spPr>
        <p:txBody>
          <a:bodyPr wrap="square" lIns="0" tIns="0" rIns="0" bIns="0" rtlCol="0" anchor="ctr"/>
          <a:lstStyle/>
          <a:p>
            <a:pPr indent="0" marL="0">
              <a:buNone/>
            </a:pPr>
            <a:r>
              <a:rPr lang="en-US" sz="1350" b="1" dirty="0">
                <a:solidFill>
                  <a:srgbClr val="00357A"/>
                </a:solidFill>
                <a:latin typeface="Poppins" pitchFamily="34" charset="0"/>
                <a:ea typeface="Poppins" pitchFamily="34" charset="-122"/>
                <a:cs typeface="Poppins" pitchFamily="34" charset="-120"/>
              </a:rPr>
              <a:t>Statistics</a:t>
            </a:r>
            <a:endParaRPr lang="en-US" sz="1350" dirty="0"/>
          </a:p>
        </p:txBody>
      </p:sp>
      <p:sp>
        <p:nvSpPr>
          <p:cNvPr id="35" name="Text 33"/>
          <p:cNvSpPr/>
          <p:nvPr/>
        </p:nvSpPr>
        <p:spPr>
          <a:xfrm>
            <a:off x="9198864" y="3931920"/>
            <a:ext cx="2423160" cy="502920"/>
          </a:xfrm>
          <a:prstGeom prst="rect">
            <a:avLst/>
          </a:prstGeom>
          <a:noFill/>
          <a:ln/>
        </p:spPr>
        <p:txBody>
          <a:bodyPr wrap="square" lIns="0" tIns="0" rIns="0" bIns="0" rtlCol="0" anchor="t"/>
          <a:lstStyle/>
          <a:p>
            <a:pPr indent="0" marL="0">
              <a:lnSpc>
                <a:spcPct val="102000"/>
              </a:lnSpc>
              <a:buNone/>
            </a:pPr>
            <a:r>
              <a:rPr lang="en-US" sz="1050" dirty="0">
                <a:solidFill>
                  <a:srgbClr val="53565A"/>
                </a:solidFill>
                <a:latin typeface="Poppins" pitchFamily="34" charset="0"/>
                <a:ea typeface="Poppins" pitchFamily="34" charset="-122"/>
                <a:cs typeface="Poppins" pitchFamily="34" charset="-120"/>
              </a:rPr>
              <a:t>dump counts for done and pending work</a:t>
            </a:r>
            <a:endParaRPr lang="en-US" sz="1050" dirty="0"/>
          </a:p>
        </p:txBody>
      </p:sp>
      <p:sp>
        <p:nvSpPr>
          <p:cNvPr id="36" name="Shape 34"/>
          <p:cNvSpPr/>
          <p:nvPr/>
        </p:nvSpPr>
        <p:spPr>
          <a:xfrm>
            <a:off x="457200" y="4892040"/>
            <a:ext cx="11274552" cy="1188720"/>
          </a:xfrm>
          <a:prstGeom prst="roundRect">
            <a:avLst>
              <a:gd name="adj" fmla="val 7692"/>
            </a:avLst>
          </a:prstGeom>
          <a:solidFill>
            <a:srgbClr val="C7E4F5"/>
          </a:solidFill>
          <a:ln w="12700">
            <a:solidFill>
              <a:srgbClr val="A9D6F2"/>
            </a:solidFill>
            <a:prstDash val="solid"/>
          </a:ln>
        </p:spPr>
      </p:sp>
      <p:sp>
        <p:nvSpPr>
          <p:cNvPr id="37" name="Text 35"/>
          <p:cNvSpPr/>
          <p:nvPr/>
        </p:nvSpPr>
        <p:spPr>
          <a:xfrm>
            <a:off x="731520" y="5029200"/>
            <a:ext cx="10789920" cy="914400"/>
          </a:xfrm>
          <a:prstGeom prst="rect">
            <a:avLst/>
          </a:prstGeom>
          <a:noFill/>
          <a:ln/>
        </p:spPr>
        <p:txBody>
          <a:bodyPr wrap="square" lIns="0" tIns="0" rIns="0" bIns="0" rtlCol="0" anchor="ctr"/>
          <a:lstStyle/>
          <a:p>
            <a:pPr indent="0" marL="0">
              <a:lnSpc>
                <a:spcPct val="112000"/>
              </a:lnSpc>
              <a:buNone/>
            </a:pPr>
            <a:r>
              <a:rPr lang="en-US" sz="1350" b="1" dirty="0">
                <a:solidFill>
                  <a:srgbClr val="0057C2"/>
                </a:solidFill>
                <a:latin typeface="Poppins" pitchFamily="34" charset="0"/>
                <a:ea typeface="Poppins" pitchFamily="34" charset="-122"/>
                <a:cs typeface="Poppins" pitchFamily="34" charset="-120"/>
              </a:rPr>
              <a:t>It really is a bitmask.  </a:t>
            </a:r>
            <a:pPr indent="0" marL="0">
              <a:lnSpc>
                <a:spcPct val="112000"/>
              </a:lnSpc>
              <a:buNone/>
            </a:pPr>
            <a:r>
              <a:rPr lang="en-US" sz="1350" dirty="0">
                <a:solidFill>
                  <a:srgbClr val="00357A"/>
                </a:solidFill>
                <a:latin typeface="Poppins" pitchFamily="34" charset="0"/>
                <a:ea typeface="Poppins" pitchFamily="34" charset="-122"/>
                <a:cs typeface="Poppins" pitchFamily="34" charset="-120"/>
              </a:rPr>
              <a:t>3 = 1+2, 6 = 2+4, 7 = 1+2+4 — only those combinations are accepted. </a:t>
            </a:r>
            <a:pPr indent="0" marL="0">
              <a:lnSpc>
                <a:spcPct val="112000"/>
              </a:lnSpc>
              <a:buNone/>
            </a:pPr>
            <a:r>
              <a:rPr lang="en-US" sz="1350" b="1" dirty="0">
                <a:solidFill>
                  <a:srgbClr val="00357A"/>
                </a:solidFill>
                <a:latin typeface="Courier New" pitchFamily="34" charset="0"/>
                <a:ea typeface="Courier New" pitchFamily="34" charset="-122"/>
                <a:cs typeface="Courier New" pitchFamily="34" charset="-120"/>
              </a:rPr>
              <a:t>1</a:t>
            </a:r>
            <a:pPr indent="0" marL="0">
              <a:lnSpc>
                <a:spcPct val="112000"/>
              </a:lnSpc>
              <a:buNone/>
            </a:pPr>
            <a:r>
              <a:rPr lang="en-US" sz="1350" dirty="0">
                <a:solidFill>
                  <a:srgbClr val="00357A"/>
                </a:solidFill>
                <a:latin typeface="Poppins" pitchFamily="34" charset="0"/>
                <a:ea typeface="Poppins" pitchFamily="34" charset="-122"/>
                <a:cs typeface="Poppins" pitchFamily="34" charset="-120"/>
              </a:rPr>
              <a:t>, </a:t>
            </a:r>
            <a:pPr indent="0" marL="0">
              <a:lnSpc>
                <a:spcPct val="112000"/>
              </a:lnSpc>
              <a:buNone/>
            </a:pPr>
            <a:r>
              <a:rPr lang="en-US" sz="1350" b="1" dirty="0">
                <a:solidFill>
                  <a:srgbClr val="00357A"/>
                </a:solidFill>
                <a:latin typeface="Courier New" pitchFamily="34" charset="0"/>
                <a:ea typeface="Courier New" pitchFamily="34" charset="-122"/>
                <a:cs typeface="Courier New" pitchFamily="34" charset="-120"/>
              </a:rPr>
              <a:t>8</a:t>
            </a:r>
            <a:pPr indent="0" marL="0">
              <a:lnSpc>
                <a:spcPct val="112000"/>
              </a:lnSpc>
              <a:buNone/>
            </a:pPr>
            <a:r>
              <a:rPr lang="en-US" sz="1350" dirty="0">
                <a:solidFill>
                  <a:srgbClr val="00357A"/>
                </a:solidFill>
                <a:latin typeface="Poppins" pitchFamily="34" charset="0"/>
                <a:ea typeface="Poppins" pitchFamily="34" charset="-122"/>
                <a:cs typeface="Poppins" pitchFamily="34" charset="-120"/>
              </a:rPr>
              <a:t> and </a:t>
            </a:r>
            <a:pPr indent="0" marL="0">
              <a:lnSpc>
                <a:spcPct val="112000"/>
              </a:lnSpc>
              <a:buNone/>
            </a:pPr>
            <a:r>
              <a:rPr lang="en-US" sz="1350" b="1" dirty="0">
                <a:solidFill>
                  <a:srgbClr val="00357A"/>
                </a:solidFill>
                <a:latin typeface="Courier New" pitchFamily="34" charset="0"/>
                <a:ea typeface="Courier New" pitchFamily="34" charset="-122"/>
                <a:cs typeface="Courier New" pitchFamily="34" charset="-120"/>
              </a:rPr>
              <a:t>16</a:t>
            </a:r>
            <a:pPr indent="0" marL="0">
              <a:lnSpc>
                <a:spcPct val="112000"/>
              </a:lnSpc>
              <a:buNone/>
            </a:pPr>
            <a:r>
              <a:rPr lang="en-US" sz="1350" dirty="0">
                <a:solidFill>
                  <a:srgbClr val="00357A"/>
                </a:solidFill>
                <a:latin typeface="Poppins" pitchFamily="34" charset="0"/>
                <a:ea typeface="Poppins" pitchFamily="34" charset="-122"/>
                <a:cs typeface="Poppins" pitchFamily="34" charset="-120"/>
              </a:rPr>
              <a:t> are single-process bookkeeping actions; </a:t>
            </a:r>
            <a:pPr indent="0" marL="0">
              <a:lnSpc>
                <a:spcPct val="112000"/>
              </a:lnSpc>
              <a:buNone/>
            </a:pPr>
            <a:r>
              <a:rPr lang="en-US" sz="1350" b="1" dirty="0">
                <a:solidFill>
                  <a:srgbClr val="00357A"/>
                </a:solidFill>
                <a:latin typeface="Courier New" pitchFamily="34" charset="0"/>
                <a:ea typeface="Courier New" pitchFamily="34" charset="-122"/>
                <a:cs typeface="Courier New" pitchFamily="34" charset="-120"/>
              </a:rPr>
              <a:t>2</a:t>
            </a:r>
            <a:pPr indent="0" marL="0">
              <a:lnSpc>
                <a:spcPct val="112000"/>
              </a:lnSpc>
              <a:buNone/>
            </a:pPr>
            <a:r>
              <a:rPr lang="en-US" sz="1350" dirty="0">
                <a:solidFill>
                  <a:srgbClr val="00357A"/>
                </a:solidFill>
                <a:latin typeface="Poppins" pitchFamily="34" charset="0"/>
                <a:ea typeface="Poppins" pitchFamily="34" charset="-122"/>
                <a:cs typeface="Poppins" pitchFamily="34" charset="-120"/>
              </a:rPr>
              <a:t>, </a:t>
            </a:r>
            <a:pPr indent="0" marL="0">
              <a:lnSpc>
                <a:spcPct val="112000"/>
              </a:lnSpc>
              <a:buNone/>
            </a:pPr>
            <a:r>
              <a:rPr lang="en-US" sz="1350" b="1" dirty="0">
                <a:solidFill>
                  <a:srgbClr val="00357A"/>
                </a:solidFill>
                <a:latin typeface="Courier New" pitchFamily="34" charset="0"/>
                <a:ea typeface="Courier New" pitchFamily="34" charset="-122"/>
                <a:cs typeface="Courier New" pitchFamily="34" charset="-120"/>
              </a:rPr>
              <a:t>3</a:t>
            </a:r>
            <a:pPr indent="0" marL="0">
              <a:lnSpc>
                <a:spcPct val="112000"/>
              </a:lnSpc>
              <a:buNone/>
            </a:pPr>
            <a:r>
              <a:rPr lang="en-US" sz="1350" dirty="0">
                <a:solidFill>
                  <a:srgbClr val="00357A"/>
                </a:solidFill>
                <a:latin typeface="Poppins" pitchFamily="34" charset="0"/>
                <a:ea typeface="Poppins" pitchFamily="34" charset="-122"/>
                <a:cs typeface="Poppins" pitchFamily="34" charset="-120"/>
              </a:rPr>
              <a:t>, </a:t>
            </a:r>
            <a:pPr indent="0" marL="0">
              <a:lnSpc>
                <a:spcPct val="112000"/>
              </a:lnSpc>
              <a:buNone/>
            </a:pPr>
            <a:r>
              <a:rPr lang="en-US" sz="1350" b="1" dirty="0">
                <a:solidFill>
                  <a:srgbClr val="00357A"/>
                </a:solidFill>
                <a:latin typeface="Courier New" pitchFamily="34" charset="0"/>
                <a:ea typeface="Courier New" pitchFamily="34" charset="-122"/>
                <a:cs typeface="Courier New" pitchFamily="34" charset="-120"/>
              </a:rPr>
              <a:t>4</a:t>
            </a:r>
            <a:pPr indent="0" marL="0">
              <a:lnSpc>
                <a:spcPct val="112000"/>
              </a:lnSpc>
              <a:buNone/>
            </a:pPr>
            <a:r>
              <a:rPr lang="en-US" sz="1350" dirty="0">
                <a:solidFill>
                  <a:srgbClr val="00357A"/>
                </a:solidFill>
                <a:latin typeface="Poppins" pitchFamily="34" charset="0"/>
                <a:ea typeface="Poppins" pitchFamily="34" charset="-122"/>
                <a:cs typeface="Poppins" pitchFamily="34" charset="-120"/>
              </a:rPr>
              <a:t>, </a:t>
            </a:r>
            <a:pPr indent="0" marL="0">
              <a:lnSpc>
                <a:spcPct val="112000"/>
              </a:lnSpc>
              <a:buNone/>
            </a:pPr>
            <a:r>
              <a:rPr lang="en-US" sz="1350" b="1" dirty="0">
                <a:solidFill>
                  <a:srgbClr val="00357A"/>
                </a:solidFill>
                <a:latin typeface="Courier New" pitchFamily="34" charset="0"/>
                <a:ea typeface="Courier New" pitchFamily="34" charset="-122"/>
                <a:cs typeface="Courier New" pitchFamily="34" charset="-120"/>
              </a:rPr>
              <a:t>6</a:t>
            </a:r>
            <a:pPr indent="0" marL="0">
              <a:lnSpc>
                <a:spcPct val="112000"/>
              </a:lnSpc>
              <a:buNone/>
            </a:pPr>
            <a:r>
              <a:rPr lang="en-US" sz="1350" dirty="0">
                <a:solidFill>
                  <a:srgbClr val="00357A"/>
                </a:solidFill>
                <a:latin typeface="Poppins" pitchFamily="34" charset="0"/>
                <a:ea typeface="Poppins" pitchFamily="34" charset="-122"/>
                <a:cs typeface="Poppins" pitchFamily="34" charset="-120"/>
              </a:rPr>
              <a:t>, </a:t>
            </a:r>
            <a:pPr indent="0" marL="0">
              <a:lnSpc>
                <a:spcPct val="112000"/>
              </a:lnSpc>
              <a:buNone/>
            </a:pPr>
            <a:r>
              <a:rPr lang="en-US" sz="1350" b="1" dirty="0">
                <a:solidFill>
                  <a:srgbClr val="00357A"/>
                </a:solidFill>
                <a:latin typeface="Courier New" pitchFamily="34" charset="0"/>
                <a:ea typeface="Courier New" pitchFamily="34" charset="-122"/>
                <a:cs typeface="Courier New" pitchFamily="34" charset="-120"/>
              </a:rPr>
              <a:t>7</a:t>
            </a:r>
            <a:pPr indent="0" marL="0">
              <a:lnSpc>
                <a:spcPct val="112000"/>
              </a:lnSpc>
              <a:buNone/>
            </a:pPr>
            <a:r>
              <a:rPr lang="en-US" sz="1350" dirty="0">
                <a:solidFill>
                  <a:srgbClr val="00357A"/>
                </a:solidFill>
                <a:latin typeface="Poppins" pitchFamily="34" charset="0"/>
                <a:ea typeface="Poppins" pitchFamily="34" charset="-122"/>
                <a:cs typeface="Poppins" pitchFamily="34" charset="-120"/>
              </a:rPr>
              <a:t> are the batch actions that get PBS cpus and multi-processing.</a:t>
            </a:r>
            <a:endParaRPr lang="en-US" sz="1350" dirty="0"/>
          </a:p>
        </p:txBody>
      </p:sp>
      <p:sp>
        <p:nvSpPr>
          <p:cNvPr id="38" name="Text 36"/>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8</a:t>
            </a:r>
            <a:endParaRPr lang="en-US" sz="950" dirty="0"/>
          </a:p>
        </p:txBody>
      </p:sp>
      <p:sp>
        <p:nvSpPr>
          <p:cNvPr id="39" name="Text 37"/>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2DB"/>
                </a:solidFill>
                <a:latin typeface="Poppins" pitchFamily="34" charset="0"/>
                <a:ea typeface="Poppins" pitchFamily="34" charset="-122"/>
                <a:cs typeface="Poppins" pitchFamily="34" charset="-120"/>
              </a:rPr>
              <a:t>BACKUP RECORDS</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The bfile Status Lifecycle</a:t>
            </a:r>
            <a:endParaRPr lang="en-US" sz="3200" dirty="0"/>
          </a:p>
        </p:txBody>
      </p:sp>
      <p:sp>
        <p:nvSpPr>
          <p:cNvPr id="4" name="Shape 2"/>
          <p:cNvSpPr/>
          <p:nvPr/>
        </p:nvSpPr>
        <p:spPr>
          <a:xfrm>
            <a:off x="1234440" y="1691640"/>
            <a:ext cx="2834640" cy="1600200"/>
          </a:xfrm>
          <a:prstGeom prst="roundRect">
            <a:avLst>
              <a:gd name="adj" fmla="val 5714"/>
            </a:avLst>
          </a:prstGeom>
          <a:solidFill>
            <a:srgbClr val="DCEBF7"/>
          </a:solidFill>
          <a:ln w="25400">
            <a:solidFill>
              <a:srgbClr val="0057C2"/>
            </a:solidFill>
            <a:prstDash val="solid"/>
          </a:ln>
        </p:spPr>
      </p:sp>
      <p:sp>
        <p:nvSpPr>
          <p:cNvPr id="5" name="Shape 3"/>
          <p:cNvSpPr/>
          <p:nvPr/>
        </p:nvSpPr>
        <p:spPr>
          <a:xfrm>
            <a:off x="1453896" y="1920240"/>
            <a:ext cx="658368" cy="658368"/>
          </a:xfrm>
          <a:prstGeom prst="ellipse">
            <a:avLst/>
          </a:prstGeom>
          <a:solidFill>
            <a:srgbClr val="0057C2"/>
          </a:solidFill>
          <a:ln/>
        </p:spPr>
      </p:sp>
      <p:sp>
        <p:nvSpPr>
          <p:cNvPr id="6" name="Text 4"/>
          <p:cNvSpPr/>
          <p:nvPr/>
        </p:nvSpPr>
        <p:spPr>
          <a:xfrm>
            <a:off x="1453896" y="192024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Poppins" pitchFamily="34" charset="0"/>
                <a:ea typeface="Poppins" pitchFamily="34" charset="-122"/>
                <a:cs typeface="Poppins" pitchFamily="34" charset="-120"/>
              </a:rPr>
              <a:t>'N'</a:t>
            </a:r>
            <a:endParaRPr lang="en-US" sz="2000" dirty="0"/>
          </a:p>
        </p:txBody>
      </p:sp>
      <p:sp>
        <p:nvSpPr>
          <p:cNvPr id="7" name="Text 5"/>
          <p:cNvSpPr/>
          <p:nvPr/>
        </p:nvSpPr>
        <p:spPr>
          <a:xfrm>
            <a:off x="2240280" y="1901952"/>
            <a:ext cx="1691640" cy="365760"/>
          </a:xfrm>
          <a:prstGeom prst="rect">
            <a:avLst/>
          </a:prstGeom>
          <a:noFill/>
          <a:ln/>
        </p:spPr>
        <p:txBody>
          <a:bodyPr wrap="square" lIns="0" tIns="0" rIns="0" bIns="0" rtlCol="0" anchor="ctr"/>
          <a:lstStyle/>
          <a:p>
            <a:pPr indent="0" marL="0">
              <a:buNone/>
            </a:pPr>
            <a:r>
              <a:rPr lang="en-US" sz="1600" b="1" dirty="0">
                <a:solidFill>
                  <a:srgbClr val="00357A"/>
                </a:solidFill>
                <a:latin typeface="Poppins" pitchFamily="34" charset="0"/>
                <a:ea typeface="Poppins" pitchFamily="34" charset="-122"/>
                <a:cs typeface="Poppins" pitchFamily="34" charset="-120"/>
              </a:rPr>
              <a:t>Input Files</a:t>
            </a:r>
            <a:endParaRPr lang="en-US" sz="1600" dirty="0"/>
          </a:p>
        </p:txBody>
      </p:sp>
      <p:sp>
        <p:nvSpPr>
          <p:cNvPr id="8" name="Text 6"/>
          <p:cNvSpPr/>
          <p:nvPr/>
        </p:nvSpPr>
        <p:spPr>
          <a:xfrm>
            <a:off x="1490472" y="2606040"/>
            <a:ext cx="2377440" cy="594360"/>
          </a:xfrm>
          <a:prstGeom prst="rect">
            <a:avLst/>
          </a:prstGeom>
          <a:noFill/>
          <a:ln/>
        </p:spPr>
        <p:txBody>
          <a:bodyPr wrap="square" lIns="0" tIns="0" rIns="0" bIns="0" rtlCol="0" anchor="t"/>
          <a:lstStyle/>
          <a:p>
            <a:pPr indent="0" marL="0">
              <a:lnSpc>
                <a:spcPct val="105000"/>
              </a:lnSpc>
              <a:buNone/>
            </a:pPr>
            <a:r>
              <a:rPr lang="en-US" sz="1150" dirty="0">
                <a:solidFill>
                  <a:srgbClr val="53565A"/>
                </a:solidFill>
                <a:latin typeface="Poppins" pitchFamily="34" charset="0"/>
                <a:ea typeface="Poppins" pitchFamily="34" charset="-122"/>
                <a:cs typeface="Poppins" pitchFamily="34" charset="-120"/>
              </a:rPr>
              <a:t>the list exists, the tar does not yet</a:t>
            </a:r>
            <a:endParaRPr lang="en-US" sz="1150" dirty="0"/>
          </a:p>
        </p:txBody>
      </p:sp>
      <p:sp>
        <p:nvSpPr>
          <p:cNvPr id="9" name="Text 7"/>
          <p:cNvSpPr/>
          <p:nvPr/>
        </p:nvSpPr>
        <p:spPr>
          <a:xfrm>
            <a:off x="4069080" y="1691640"/>
            <a:ext cx="548640" cy="1600200"/>
          </a:xfrm>
          <a:prstGeom prst="rect">
            <a:avLst/>
          </a:prstGeom>
          <a:noFill/>
          <a:ln/>
        </p:spPr>
        <p:txBody>
          <a:bodyPr wrap="square" lIns="0" tIns="0" rIns="0" bIns="0" rtlCol="0" anchor="ctr"/>
          <a:lstStyle/>
          <a:p>
            <a:pPr algn="ctr" indent="0" marL="0">
              <a:buNone/>
            </a:pPr>
            <a:r>
              <a:rPr lang="en-US" sz="2600" b="1" dirty="0">
                <a:solidFill>
                  <a:srgbClr val="0057C2"/>
                </a:solidFill>
                <a:latin typeface="Poppins" pitchFamily="34" charset="0"/>
                <a:ea typeface="Poppins" pitchFamily="34" charset="-122"/>
                <a:cs typeface="Poppins" pitchFamily="34" charset="-120"/>
              </a:rPr>
              <a:t>→</a:t>
            </a:r>
            <a:endParaRPr lang="en-US" sz="2600" dirty="0"/>
          </a:p>
        </p:txBody>
      </p:sp>
      <p:sp>
        <p:nvSpPr>
          <p:cNvPr id="10" name="Shape 8"/>
          <p:cNvSpPr/>
          <p:nvPr/>
        </p:nvSpPr>
        <p:spPr>
          <a:xfrm>
            <a:off x="4617720" y="1691640"/>
            <a:ext cx="2834640" cy="1600200"/>
          </a:xfrm>
          <a:prstGeom prst="roundRect">
            <a:avLst>
              <a:gd name="adj" fmla="val 5714"/>
            </a:avLst>
          </a:prstGeom>
          <a:solidFill>
            <a:srgbClr val="DCEBF7"/>
          </a:solidFill>
          <a:ln w="25400">
            <a:solidFill>
              <a:srgbClr val="0097A7"/>
            </a:solidFill>
            <a:prstDash val="solid"/>
          </a:ln>
        </p:spPr>
      </p:sp>
      <p:sp>
        <p:nvSpPr>
          <p:cNvPr id="11" name="Shape 9"/>
          <p:cNvSpPr/>
          <p:nvPr/>
        </p:nvSpPr>
        <p:spPr>
          <a:xfrm>
            <a:off x="4837176" y="1920240"/>
            <a:ext cx="658368" cy="658368"/>
          </a:xfrm>
          <a:prstGeom prst="ellipse">
            <a:avLst/>
          </a:prstGeom>
          <a:solidFill>
            <a:srgbClr val="0097A7"/>
          </a:solidFill>
          <a:ln/>
        </p:spPr>
      </p:sp>
      <p:sp>
        <p:nvSpPr>
          <p:cNvPr id="12" name="Text 10"/>
          <p:cNvSpPr/>
          <p:nvPr/>
        </p:nvSpPr>
        <p:spPr>
          <a:xfrm>
            <a:off x="4837176" y="192024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Poppins" pitchFamily="34" charset="0"/>
                <a:ea typeface="Poppins" pitchFamily="34" charset="-122"/>
                <a:cs typeface="Poppins" pitchFamily="34" charset="-120"/>
              </a:rPr>
              <a:t>'T'</a:t>
            </a:r>
            <a:endParaRPr lang="en-US" sz="2000" dirty="0"/>
          </a:p>
        </p:txBody>
      </p:sp>
      <p:sp>
        <p:nvSpPr>
          <p:cNvPr id="13" name="Text 11"/>
          <p:cNvSpPr/>
          <p:nvPr/>
        </p:nvSpPr>
        <p:spPr>
          <a:xfrm>
            <a:off x="5623560" y="1901952"/>
            <a:ext cx="1691640" cy="365760"/>
          </a:xfrm>
          <a:prstGeom prst="rect">
            <a:avLst/>
          </a:prstGeom>
          <a:noFill/>
          <a:ln/>
        </p:spPr>
        <p:txBody>
          <a:bodyPr wrap="square" lIns="0" tIns="0" rIns="0" bIns="0" rtlCol="0" anchor="ctr"/>
          <a:lstStyle/>
          <a:p>
            <a:pPr indent="0" marL="0">
              <a:buNone/>
            </a:pPr>
            <a:r>
              <a:rPr lang="en-US" sz="1600" b="1" dirty="0">
                <a:solidFill>
                  <a:srgbClr val="00357A"/>
                </a:solidFill>
                <a:latin typeface="Poppins" pitchFamily="34" charset="0"/>
                <a:ea typeface="Poppins" pitchFamily="34" charset="-122"/>
                <a:cs typeface="Poppins" pitchFamily="34" charset="-120"/>
              </a:rPr>
              <a:t>Tarred</a:t>
            </a:r>
            <a:endParaRPr lang="en-US" sz="1600" dirty="0"/>
          </a:p>
        </p:txBody>
      </p:sp>
      <p:sp>
        <p:nvSpPr>
          <p:cNvPr id="14" name="Text 12"/>
          <p:cNvSpPr/>
          <p:nvPr/>
        </p:nvSpPr>
        <p:spPr>
          <a:xfrm>
            <a:off x="4873752" y="2606040"/>
            <a:ext cx="2377440" cy="594360"/>
          </a:xfrm>
          <a:prstGeom prst="rect">
            <a:avLst/>
          </a:prstGeom>
          <a:noFill/>
          <a:ln/>
        </p:spPr>
        <p:txBody>
          <a:bodyPr wrap="square" lIns="0" tIns="0" rIns="0" bIns="0" rtlCol="0" anchor="t"/>
          <a:lstStyle/>
          <a:p>
            <a:pPr indent="0" marL="0">
              <a:lnSpc>
                <a:spcPct val="105000"/>
              </a:lnSpc>
              <a:buNone/>
            </a:pPr>
            <a:r>
              <a:rPr lang="en-US" sz="1150" dirty="0">
                <a:solidFill>
                  <a:srgbClr val="53565A"/>
                </a:solidFill>
                <a:latin typeface="Poppins" pitchFamily="34" charset="0"/>
                <a:ea typeface="Poppins" pitchFamily="34" charset="-122"/>
                <a:cs typeface="Poppins" pitchFamily="34" charset="-120"/>
              </a:rPr>
              <a:t>tar built on gdex-glade, not on tape yet</a:t>
            </a:r>
            <a:endParaRPr lang="en-US" sz="1150" dirty="0"/>
          </a:p>
        </p:txBody>
      </p:sp>
      <p:sp>
        <p:nvSpPr>
          <p:cNvPr id="15" name="Text 13"/>
          <p:cNvSpPr/>
          <p:nvPr/>
        </p:nvSpPr>
        <p:spPr>
          <a:xfrm>
            <a:off x="7452360" y="1691640"/>
            <a:ext cx="548640" cy="1600200"/>
          </a:xfrm>
          <a:prstGeom prst="rect">
            <a:avLst/>
          </a:prstGeom>
          <a:noFill/>
          <a:ln/>
        </p:spPr>
        <p:txBody>
          <a:bodyPr wrap="square" lIns="0" tIns="0" rIns="0" bIns="0" rtlCol="0" anchor="ctr"/>
          <a:lstStyle/>
          <a:p>
            <a:pPr algn="ctr" indent="0" marL="0">
              <a:buNone/>
            </a:pPr>
            <a:r>
              <a:rPr lang="en-US" sz="2600" b="1" dirty="0">
                <a:solidFill>
                  <a:srgbClr val="0097A7"/>
                </a:solidFill>
                <a:latin typeface="Poppins" pitchFamily="34" charset="0"/>
                <a:ea typeface="Poppins" pitchFamily="34" charset="-122"/>
                <a:cs typeface="Poppins" pitchFamily="34" charset="-120"/>
              </a:rPr>
              <a:t>→</a:t>
            </a:r>
            <a:endParaRPr lang="en-US" sz="2600" dirty="0"/>
          </a:p>
        </p:txBody>
      </p:sp>
      <p:sp>
        <p:nvSpPr>
          <p:cNvPr id="16" name="Shape 14"/>
          <p:cNvSpPr/>
          <p:nvPr/>
        </p:nvSpPr>
        <p:spPr>
          <a:xfrm>
            <a:off x="8001000" y="1691640"/>
            <a:ext cx="2834640" cy="1600200"/>
          </a:xfrm>
          <a:prstGeom prst="roundRect">
            <a:avLst>
              <a:gd name="adj" fmla="val 5714"/>
            </a:avLst>
          </a:prstGeom>
          <a:solidFill>
            <a:srgbClr val="011837"/>
          </a:solidFill>
          <a:ln w="25400">
            <a:solidFill>
              <a:srgbClr val="011837"/>
            </a:solidFill>
            <a:prstDash val="solid"/>
          </a:ln>
        </p:spPr>
      </p:sp>
      <p:sp>
        <p:nvSpPr>
          <p:cNvPr id="17" name="Shape 15"/>
          <p:cNvSpPr/>
          <p:nvPr/>
        </p:nvSpPr>
        <p:spPr>
          <a:xfrm>
            <a:off x="8220456" y="1920240"/>
            <a:ext cx="658368" cy="658368"/>
          </a:xfrm>
          <a:prstGeom prst="ellipse">
            <a:avLst/>
          </a:prstGeom>
          <a:solidFill>
            <a:srgbClr val="011837"/>
          </a:solidFill>
          <a:ln/>
        </p:spPr>
      </p:sp>
      <p:sp>
        <p:nvSpPr>
          <p:cNvPr id="18" name="Text 16"/>
          <p:cNvSpPr/>
          <p:nvPr/>
        </p:nvSpPr>
        <p:spPr>
          <a:xfrm>
            <a:off x="8220456" y="1920240"/>
            <a:ext cx="658368" cy="658368"/>
          </a:xfrm>
          <a:prstGeom prst="rect">
            <a:avLst/>
          </a:prstGeom>
          <a:noFill/>
          <a:ln/>
        </p:spPr>
        <p:txBody>
          <a:bodyPr wrap="square" lIns="0" tIns="0" rIns="0" bIns="0" rtlCol="0" anchor="ctr"/>
          <a:lstStyle/>
          <a:p>
            <a:pPr algn="ctr" indent="0" marL="0">
              <a:buNone/>
            </a:pPr>
            <a:r>
              <a:rPr lang="en-US" sz="2000" b="1" dirty="0">
                <a:solidFill>
                  <a:srgbClr val="42C0FF"/>
                </a:solidFill>
                <a:latin typeface="Poppins" pitchFamily="34" charset="0"/>
                <a:ea typeface="Poppins" pitchFamily="34" charset="-122"/>
                <a:cs typeface="Poppins" pitchFamily="34" charset="-120"/>
              </a:rPr>
              <a:t>'A'</a:t>
            </a:r>
            <a:endParaRPr lang="en-US" sz="2000" dirty="0"/>
          </a:p>
        </p:txBody>
      </p:sp>
      <p:sp>
        <p:nvSpPr>
          <p:cNvPr id="19" name="Text 17"/>
          <p:cNvSpPr/>
          <p:nvPr/>
        </p:nvSpPr>
        <p:spPr>
          <a:xfrm>
            <a:off x="9006840" y="1901952"/>
            <a:ext cx="1691640" cy="365760"/>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Archived</a:t>
            </a:r>
            <a:endParaRPr lang="en-US" sz="1600" dirty="0"/>
          </a:p>
        </p:txBody>
      </p:sp>
      <p:sp>
        <p:nvSpPr>
          <p:cNvPr id="20" name="Text 18"/>
          <p:cNvSpPr/>
          <p:nvPr/>
        </p:nvSpPr>
        <p:spPr>
          <a:xfrm>
            <a:off x="8257032" y="2606040"/>
            <a:ext cx="2377440" cy="594360"/>
          </a:xfrm>
          <a:prstGeom prst="rect">
            <a:avLst/>
          </a:prstGeom>
          <a:noFill/>
          <a:ln/>
        </p:spPr>
        <p:txBody>
          <a:bodyPr wrap="square" lIns="0" tIns="0" rIns="0" bIns="0" rtlCol="0" anchor="t"/>
          <a:lstStyle/>
          <a:p>
            <a:pPr indent="0" marL="0">
              <a:lnSpc>
                <a:spcPct val="105000"/>
              </a:lnSpc>
              <a:buNone/>
            </a:pPr>
            <a:r>
              <a:rPr lang="en-US" sz="1150" dirty="0">
                <a:solidFill>
                  <a:srgbClr val="C3D7EE"/>
                </a:solidFill>
                <a:latin typeface="Poppins" pitchFamily="34" charset="0"/>
                <a:ea typeface="Poppins" pitchFamily="34" charset="-122"/>
                <a:cs typeface="Poppins" pitchFamily="34" charset="-120"/>
              </a:rPr>
              <a:t>on Quasar; the local tar has been deleted</a:t>
            </a:r>
            <a:endParaRPr lang="en-US" sz="1150" dirty="0"/>
          </a:p>
        </p:txBody>
      </p:sp>
      <p:sp>
        <p:nvSpPr>
          <p:cNvPr id="21" name="Text 19"/>
          <p:cNvSpPr/>
          <p:nvPr/>
        </p:nvSpPr>
        <p:spPr>
          <a:xfrm>
            <a:off x="3429000" y="3337560"/>
            <a:ext cx="1828800" cy="320040"/>
          </a:xfrm>
          <a:prstGeom prst="rect">
            <a:avLst/>
          </a:prstGeom>
          <a:noFill/>
          <a:ln/>
        </p:spPr>
        <p:txBody>
          <a:bodyPr wrap="square" lIns="0" tIns="0" rIns="0" bIns="0" rtlCol="0" anchor="ctr"/>
          <a:lstStyle/>
          <a:p>
            <a:pPr algn="ctr" indent="0" marL="0">
              <a:buNone/>
            </a:pPr>
            <a:r>
              <a:rPr lang="en-US" sz="1300" b="1" dirty="0">
                <a:solidFill>
                  <a:srgbClr val="0097A7"/>
                </a:solidFill>
                <a:latin typeface="Courier New" pitchFamily="34" charset="0"/>
                <a:ea typeface="Courier New" pitchFamily="34" charset="-122"/>
                <a:cs typeface="Courier New" pitchFamily="34" charset="-120"/>
              </a:rPr>
              <a:t>-A 2 / -A 3</a:t>
            </a:r>
            <a:endParaRPr lang="en-US" sz="1300" dirty="0"/>
          </a:p>
        </p:txBody>
      </p:sp>
      <p:sp>
        <p:nvSpPr>
          <p:cNvPr id="22" name="Text 20"/>
          <p:cNvSpPr/>
          <p:nvPr/>
        </p:nvSpPr>
        <p:spPr>
          <a:xfrm>
            <a:off x="6812280" y="3337560"/>
            <a:ext cx="1828800" cy="320040"/>
          </a:xfrm>
          <a:prstGeom prst="rect">
            <a:avLst/>
          </a:prstGeom>
          <a:noFill/>
          <a:ln/>
        </p:spPr>
        <p:txBody>
          <a:bodyPr wrap="square" lIns="0" tIns="0" rIns="0" bIns="0" rtlCol="0" anchor="ctr"/>
          <a:lstStyle/>
          <a:p>
            <a:pPr algn="ctr" indent="0" marL="0">
              <a:buNone/>
            </a:pPr>
            <a:r>
              <a:rPr lang="en-US" sz="1300" b="1" dirty="0">
                <a:solidFill>
                  <a:srgbClr val="C25E00"/>
                </a:solidFill>
                <a:latin typeface="Courier New" pitchFamily="34" charset="0"/>
                <a:ea typeface="Courier New" pitchFamily="34" charset="-122"/>
                <a:cs typeface="Courier New" pitchFamily="34" charset="-120"/>
              </a:rPr>
              <a:t>-A 4</a:t>
            </a:r>
            <a:endParaRPr lang="en-US" sz="1300" dirty="0"/>
          </a:p>
        </p:txBody>
      </p:sp>
      <p:sp>
        <p:nvSpPr>
          <p:cNvPr id="23" name="Text 21"/>
          <p:cNvSpPr/>
          <p:nvPr/>
        </p:nvSpPr>
        <p:spPr>
          <a:xfrm>
            <a:off x="457200" y="3794760"/>
            <a:ext cx="11247120" cy="320040"/>
          </a:xfrm>
          <a:prstGeom prst="rect">
            <a:avLst/>
          </a:prstGeom>
          <a:noFill/>
          <a:ln/>
        </p:spPr>
        <p:txBody>
          <a:bodyPr wrap="square" lIns="0" tIns="0" rIns="0" bIns="0" rtlCol="0" anchor="ctr"/>
          <a:lstStyle/>
          <a:p>
            <a:pPr indent="0" marL="0">
              <a:buNone/>
            </a:pPr>
            <a:r>
              <a:rPr lang="en-US" sz="1500" b="1" dirty="0">
                <a:solidFill>
                  <a:srgbClr val="0057C2"/>
                </a:solidFill>
                <a:latin typeface="Poppins" pitchFamily="34" charset="0"/>
                <a:ea typeface="Poppins" pitchFamily="34" charset="-122"/>
                <a:cs typeface="Poppins" pitchFamily="34" charset="-120"/>
              </a:rPr>
              <a:t>Records also move backwards — that is the self-healing part</a:t>
            </a:r>
            <a:endParaRPr lang="en-US" sz="1500" dirty="0"/>
          </a:p>
        </p:txBody>
      </p:sp>
      <p:sp>
        <p:nvSpPr>
          <p:cNvPr id="24" name="Shape 22"/>
          <p:cNvSpPr/>
          <p:nvPr/>
        </p:nvSpPr>
        <p:spPr>
          <a:xfrm>
            <a:off x="457200" y="4187952"/>
            <a:ext cx="11247120" cy="548640"/>
          </a:xfrm>
          <a:prstGeom prst="roundRect">
            <a:avLst>
              <a:gd name="adj" fmla="val 13333"/>
            </a:avLst>
          </a:prstGeom>
          <a:solidFill>
            <a:srgbClr val="FFFFFF"/>
          </a:solidFill>
          <a:ln w="19050">
            <a:solidFill>
              <a:srgbClr val="0092DB"/>
            </a:solidFill>
            <a:prstDash val="solid"/>
          </a:ln>
        </p:spPr>
      </p:sp>
      <p:sp>
        <p:nvSpPr>
          <p:cNvPr id="25" name="Text 23"/>
          <p:cNvSpPr/>
          <p:nvPr/>
        </p:nvSpPr>
        <p:spPr>
          <a:xfrm>
            <a:off x="685800" y="4187952"/>
            <a:ext cx="2377440" cy="548640"/>
          </a:xfrm>
          <a:prstGeom prst="rect">
            <a:avLst/>
          </a:prstGeom>
          <a:noFill/>
          <a:ln/>
        </p:spPr>
        <p:txBody>
          <a:bodyPr wrap="square" lIns="0" tIns="0" rIns="0" bIns="0" rtlCol="0" anchor="ctr"/>
          <a:lstStyle/>
          <a:p>
            <a:pPr indent="0" marL="0">
              <a:buNone/>
            </a:pPr>
            <a:r>
              <a:rPr lang="en-US" sz="1300" b="1" dirty="0">
                <a:solidFill>
                  <a:srgbClr val="0092DB"/>
                </a:solidFill>
                <a:latin typeface="Courier New" pitchFamily="34" charset="0"/>
                <a:ea typeface="Courier New" pitchFamily="34" charset="-122"/>
                <a:cs typeface="Courier New" pitchFamily="34" charset="-120"/>
              </a:rPr>
              <a:t>'T' → 'N'</a:t>
            </a:r>
            <a:endParaRPr lang="en-US" sz="1300" dirty="0"/>
          </a:p>
        </p:txBody>
      </p:sp>
      <p:sp>
        <p:nvSpPr>
          <p:cNvPr id="26" name="Text 24"/>
          <p:cNvSpPr/>
          <p:nvPr/>
        </p:nvSpPr>
        <p:spPr>
          <a:xfrm>
            <a:off x="3108960" y="4187952"/>
            <a:ext cx="8412480" cy="548640"/>
          </a:xfrm>
          <a:prstGeom prst="rect">
            <a:avLst/>
          </a:prstGeom>
          <a:noFill/>
          <a:ln/>
        </p:spPr>
        <p:txBody>
          <a:bodyPr wrap="square" lIns="0" tIns="0" rIns="0" bIns="0" rtlCol="0" anchor="ctr"/>
          <a:lstStyle/>
          <a:p>
            <a:pPr indent="0" marL="0">
              <a:buNone/>
            </a:pPr>
            <a:r>
              <a:rPr lang="en-US" sz="1250" dirty="0">
                <a:solidFill>
                  <a:srgbClr val="00357A"/>
                </a:solidFill>
                <a:latin typeface="Poppins" pitchFamily="34" charset="0"/>
                <a:ea typeface="Poppins" pitchFamily="34" charset="-122"/>
                <a:cs typeface="Poppins" pitchFamily="34" charset="-120"/>
              </a:rPr>
              <a:t>the local tar file is missing when a transfer is prepared, so the tar is rebuilt from the stored input lists</a:t>
            </a:r>
            <a:endParaRPr lang="en-US" sz="1250" dirty="0"/>
          </a:p>
        </p:txBody>
      </p:sp>
      <p:sp>
        <p:nvSpPr>
          <p:cNvPr id="27" name="Shape 25"/>
          <p:cNvSpPr/>
          <p:nvPr/>
        </p:nvSpPr>
        <p:spPr>
          <a:xfrm>
            <a:off x="457200" y="4809744"/>
            <a:ext cx="11247120" cy="548640"/>
          </a:xfrm>
          <a:prstGeom prst="roundRect">
            <a:avLst>
              <a:gd name="adj" fmla="val 13333"/>
            </a:avLst>
          </a:prstGeom>
          <a:solidFill>
            <a:srgbClr val="FFFFFF"/>
          </a:solidFill>
          <a:ln w="19050">
            <a:solidFill>
              <a:srgbClr val="0097A7"/>
            </a:solidFill>
            <a:prstDash val="solid"/>
          </a:ln>
        </p:spPr>
      </p:sp>
      <p:sp>
        <p:nvSpPr>
          <p:cNvPr id="28" name="Text 26"/>
          <p:cNvSpPr/>
          <p:nvPr/>
        </p:nvSpPr>
        <p:spPr>
          <a:xfrm>
            <a:off x="685800" y="4809744"/>
            <a:ext cx="2377440" cy="548640"/>
          </a:xfrm>
          <a:prstGeom prst="rect">
            <a:avLst/>
          </a:prstGeom>
          <a:noFill/>
          <a:ln/>
        </p:spPr>
        <p:txBody>
          <a:bodyPr wrap="square" lIns="0" tIns="0" rIns="0" bIns="0" rtlCol="0" anchor="ctr"/>
          <a:lstStyle/>
          <a:p>
            <a:pPr indent="0" marL="0">
              <a:buNone/>
            </a:pPr>
            <a:r>
              <a:rPr lang="en-US" sz="1300" b="1" dirty="0">
                <a:solidFill>
                  <a:srgbClr val="0097A7"/>
                </a:solidFill>
                <a:latin typeface="Courier New" pitchFamily="34" charset="0"/>
                <a:ea typeface="Courier New" pitchFamily="34" charset="-122"/>
                <a:cs typeface="Courier New" pitchFamily="34" charset="-120"/>
              </a:rPr>
              <a:t>'A' → 'N'</a:t>
            </a:r>
            <a:endParaRPr lang="en-US" sz="1300" dirty="0"/>
          </a:p>
        </p:txBody>
      </p:sp>
      <p:sp>
        <p:nvSpPr>
          <p:cNvPr id="29" name="Text 27"/>
          <p:cNvSpPr/>
          <p:nvPr/>
        </p:nvSpPr>
        <p:spPr>
          <a:xfrm>
            <a:off x="3108960" y="4809744"/>
            <a:ext cx="8412480" cy="548640"/>
          </a:xfrm>
          <a:prstGeom prst="rect">
            <a:avLst/>
          </a:prstGeom>
          <a:noFill/>
          <a:ln/>
        </p:spPr>
        <p:txBody>
          <a:bodyPr wrap="square" lIns="0" tIns="0" rIns="0" bIns="0" rtlCol="0" anchor="ctr"/>
          <a:lstStyle/>
          <a:p>
            <a:pPr indent="0" marL="0">
              <a:buNone/>
            </a:pPr>
            <a:r>
              <a:rPr lang="en-US" sz="1250" dirty="0">
                <a:solidFill>
                  <a:srgbClr val="00357A"/>
                </a:solidFill>
                <a:latin typeface="Poppins" pitchFamily="34" charset="0"/>
                <a:ea typeface="Poppins" pitchFamily="34" charset="-122"/>
                <a:cs typeface="Poppins" pitchFamily="34" charset="-120"/>
              </a:rPr>
              <a:t>-A 8 finds the file absent or the wrong size on the end point, so the whole tar is redone</a:t>
            </a:r>
            <a:endParaRPr lang="en-US" sz="1250" dirty="0"/>
          </a:p>
        </p:txBody>
      </p:sp>
      <p:sp>
        <p:nvSpPr>
          <p:cNvPr id="30" name="Shape 28"/>
          <p:cNvSpPr/>
          <p:nvPr/>
        </p:nvSpPr>
        <p:spPr>
          <a:xfrm>
            <a:off x="457200" y="5431536"/>
            <a:ext cx="11247120" cy="548640"/>
          </a:xfrm>
          <a:prstGeom prst="roundRect">
            <a:avLst>
              <a:gd name="adj" fmla="val 13333"/>
            </a:avLst>
          </a:prstGeom>
          <a:solidFill>
            <a:srgbClr val="FFFFFF"/>
          </a:solidFill>
          <a:ln w="19050">
            <a:solidFill>
              <a:srgbClr val="C25E00"/>
            </a:solidFill>
            <a:prstDash val="solid"/>
          </a:ln>
        </p:spPr>
      </p:sp>
      <p:sp>
        <p:nvSpPr>
          <p:cNvPr id="31" name="Text 29"/>
          <p:cNvSpPr/>
          <p:nvPr/>
        </p:nvSpPr>
        <p:spPr>
          <a:xfrm>
            <a:off x="685800" y="5431536"/>
            <a:ext cx="2377440" cy="548640"/>
          </a:xfrm>
          <a:prstGeom prst="rect">
            <a:avLst/>
          </a:prstGeom>
          <a:noFill/>
          <a:ln/>
        </p:spPr>
        <p:txBody>
          <a:bodyPr wrap="square" lIns="0" tIns="0" rIns="0" bIns="0" rtlCol="0" anchor="ctr"/>
          <a:lstStyle/>
          <a:p>
            <a:pPr indent="0" marL="0">
              <a:buNone/>
            </a:pPr>
            <a:r>
              <a:rPr lang="en-US" sz="1300" b="1" dirty="0">
                <a:solidFill>
                  <a:srgbClr val="C25E00"/>
                </a:solidFill>
                <a:latin typeface="Courier New" pitchFamily="34" charset="0"/>
                <a:ea typeface="Courier New" pitchFamily="34" charset="-122"/>
                <a:cs typeface="Courier New" pitchFamily="34" charset="-120"/>
              </a:rPr>
              <a:t>record dropped</a:t>
            </a:r>
            <a:endParaRPr lang="en-US" sz="1300" dirty="0"/>
          </a:p>
        </p:txBody>
      </p:sp>
      <p:sp>
        <p:nvSpPr>
          <p:cNvPr id="32" name="Text 30"/>
          <p:cNvSpPr/>
          <p:nvPr/>
        </p:nvSpPr>
        <p:spPr>
          <a:xfrm>
            <a:off x="3108960" y="5431536"/>
            <a:ext cx="8412480" cy="548640"/>
          </a:xfrm>
          <a:prstGeom prst="rect">
            <a:avLst/>
          </a:prstGeom>
          <a:noFill/>
          <a:ln/>
        </p:spPr>
        <p:txBody>
          <a:bodyPr wrap="square" lIns="0" tIns="0" rIns="0" bIns="0" rtlCol="0" anchor="ctr"/>
          <a:lstStyle/>
          <a:p>
            <a:pPr indent="0" marL="0">
              <a:buNone/>
            </a:pPr>
            <a:r>
              <a:rPr lang="en-US" sz="1250" dirty="0">
                <a:solidFill>
                  <a:srgbClr val="00357A"/>
                </a:solidFill>
                <a:latin typeface="Poppins" pitchFamily="34" charset="0"/>
                <a:ea typeface="Poppins" pitchFamily="34" charset="-122"/>
                <a:cs typeface="Poppins" pitchFamily="34" charset="-120"/>
              </a:rPr>
              <a:t>dsarch reports every member file as already backed up elsewhere, so the duplicate placeholder is deleted</a:t>
            </a:r>
            <a:endParaRPr lang="en-US" sz="1250" dirty="0"/>
          </a:p>
        </p:txBody>
      </p:sp>
      <p:sp>
        <p:nvSpPr>
          <p:cNvPr id="33" name="Text 31"/>
          <p:cNvSpPr/>
          <p:nvPr/>
        </p:nvSpPr>
        <p:spPr>
          <a:xfrm>
            <a:off x="457200" y="5961888"/>
            <a:ext cx="9966960" cy="365760"/>
          </a:xfrm>
          <a:prstGeom prst="rect">
            <a:avLst/>
          </a:prstGeom>
          <a:noFill/>
          <a:ln/>
        </p:spPr>
        <p:txBody>
          <a:bodyPr wrap="square" lIns="0" tIns="0" rIns="0" bIns="0" rtlCol="0" anchor="ctr"/>
          <a:lstStyle/>
          <a:p>
            <a:pPr algn="ctr" indent="0" marL="0">
              <a:buNone/>
            </a:pPr>
            <a:r>
              <a:rPr lang="en-US" sz="1150" dirty="0">
                <a:solidFill>
                  <a:srgbClr val="53565A"/>
                </a:solidFill>
                <a:latin typeface="Poppins" pitchFamily="34" charset="0"/>
                <a:ea typeface="Poppins" pitchFamily="34" charset="-122"/>
                <a:cs typeface="Poppins" pitchFamily="34" charset="-120"/>
              </a:rPr>
              <a:t>Because status drives everything, an interrupted run is never a problem: whatever is still </a:t>
            </a:r>
            <a:pPr algn="ctr" indent="0" marL="0">
              <a:buNone/>
            </a:pPr>
            <a:r>
              <a:rPr lang="en-US" sz="1150" b="1" dirty="0">
                <a:solidFill>
                  <a:srgbClr val="53565A"/>
                </a:solidFill>
                <a:latin typeface="Courier New" pitchFamily="34" charset="0"/>
                <a:ea typeface="Courier New" pitchFamily="34" charset="-122"/>
                <a:cs typeface="Courier New" pitchFamily="34" charset="-120"/>
              </a:rPr>
              <a:t>'N'</a:t>
            </a:r>
            <a:pPr algn="ctr" indent="0" marL="0">
              <a:buNone/>
            </a:pPr>
            <a:r>
              <a:rPr lang="en-US" sz="1150" dirty="0">
                <a:solidFill>
                  <a:srgbClr val="53565A"/>
                </a:solidFill>
                <a:latin typeface="Poppins" pitchFamily="34" charset="0"/>
                <a:ea typeface="Poppins" pitchFamily="34" charset="-122"/>
                <a:cs typeface="Poppins" pitchFamily="34" charset="-120"/>
              </a:rPr>
              <a:t> or </a:t>
            </a:r>
            <a:pPr algn="ctr" indent="0" marL="0">
              <a:buNone/>
            </a:pPr>
            <a:r>
              <a:rPr lang="en-US" sz="1150" b="1" dirty="0">
                <a:solidFill>
                  <a:srgbClr val="53565A"/>
                </a:solidFill>
                <a:latin typeface="Courier New" pitchFamily="34" charset="0"/>
                <a:ea typeface="Courier New" pitchFamily="34" charset="-122"/>
                <a:cs typeface="Courier New" pitchFamily="34" charset="-120"/>
              </a:rPr>
              <a:t>'T'</a:t>
            </a:r>
            <a:pPr algn="ctr" indent="0" marL="0">
              <a:buNone/>
            </a:pPr>
            <a:r>
              <a:rPr lang="en-US" sz="1150" dirty="0">
                <a:solidFill>
                  <a:srgbClr val="53565A"/>
                </a:solidFill>
                <a:latin typeface="Poppins" pitchFamily="34" charset="0"/>
                <a:ea typeface="Poppins" pitchFamily="34" charset="-122"/>
                <a:cs typeface="Poppins" pitchFamily="34" charset="-120"/>
              </a:rPr>
              <a:t> is simply picked up by the next run.</a:t>
            </a:r>
            <a:endParaRPr lang="en-US" sz="1150" dirty="0"/>
          </a:p>
        </p:txBody>
      </p:sp>
      <p:sp>
        <p:nvSpPr>
          <p:cNvPr id="34" name="Text 32"/>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9</a:t>
            </a:r>
            <a:endParaRPr lang="en-US" sz="950" dirty="0"/>
          </a:p>
        </p:txBody>
      </p:sp>
      <p:sp>
        <p:nvSpPr>
          <p:cNvPr id="35" name="Text 33"/>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C25E00"/>
                </a:solidFill>
                <a:latin typeface="Poppins" pitchFamily="34" charset="0"/>
                <a:ea typeface="Poppins" pitchFamily="34" charset="-122"/>
                <a:cs typeface="Poppins" pitchFamily="34" charset="-120"/>
              </a:rPr>
              <a:t>ACTIONS</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-A 1 Deep Dive: Building the Input Lists</a:t>
            </a:r>
            <a:endParaRPr lang="en-US" sz="3200" dirty="0"/>
          </a:p>
        </p:txBody>
      </p:sp>
      <p:sp>
        <p:nvSpPr>
          <p:cNvPr id="4" name="Shape 2"/>
          <p:cNvSpPr/>
          <p:nvPr/>
        </p:nvSpPr>
        <p:spPr>
          <a:xfrm>
            <a:off x="457200" y="1554480"/>
            <a:ext cx="5486400" cy="4480560"/>
          </a:xfrm>
          <a:prstGeom prst="roundRect">
            <a:avLst>
              <a:gd name="adj" fmla="val 2041"/>
            </a:avLst>
          </a:prstGeom>
          <a:solidFill>
            <a:srgbClr val="DCEBF7"/>
          </a:solidFill>
          <a:ln w="12700">
            <a:solidFill>
              <a:srgbClr val="A9D6F2"/>
            </a:solidFill>
            <a:prstDash val="solid"/>
          </a:ln>
        </p:spPr>
      </p:sp>
      <p:sp>
        <p:nvSpPr>
          <p:cNvPr id="5" name="Text 3"/>
          <p:cNvSpPr/>
          <p:nvPr/>
        </p:nvSpPr>
        <p:spPr>
          <a:xfrm>
            <a:off x="685800" y="1737360"/>
            <a:ext cx="5029200" cy="365760"/>
          </a:xfrm>
          <a:prstGeom prst="rect">
            <a:avLst/>
          </a:prstGeom>
          <a:noFill/>
          <a:ln/>
        </p:spPr>
        <p:txBody>
          <a:bodyPr wrap="square" lIns="0" tIns="0" rIns="0" bIns="0" rtlCol="0" anchor="ctr"/>
          <a:lstStyle/>
          <a:p>
            <a:pPr indent="0" marL="0">
              <a:buNone/>
            </a:pPr>
            <a:r>
              <a:rPr lang="en-US" sz="1500" b="1" dirty="0">
                <a:solidFill>
                  <a:srgbClr val="0057C2"/>
                </a:solidFill>
                <a:latin typeface="Poppins" pitchFamily="34" charset="0"/>
                <a:ea typeface="Poppins" pitchFamily="34" charset="-122"/>
                <a:cs typeface="Poppins" pitchFamily="34" charset="-120"/>
              </a:rPr>
              <a:t>For each flagged dataset</a:t>
            </a:r>
            <a:endParaRPr lang="en-US" sz="1500" dirty="0"/>
          </a:p>
        </p:txBody>
      </p:sp>
      <p:sp>
        <p:nvSpPr>
          <p:cNvPr id="6" name="Text 4"/>
          <p:cNvSpPr/>
          <p:nvPr/>
        </p:nvSpPr>
        <p:spPr>
          <a:xfrm>
            <a:off x="822960" y="2194560"/>
            <a:ext cx="4937760" cy="2286000"/>
          </a:xfrm>
          <a:prstGeom prst="rect">
            <a:avLst/>
          </a:prstGeom>
          <a:noFill/>
          <a:ln/>
        </p:spPr>
        <p:txBody>
          <a:bodyPr wrap="square" lIns="0" tIns="0" rIns="0" bIns="0" rtlCol="0" anchor="t"/>
          <a:lstStyle/>
          <a:p>
            <a:pPr marL="254000" indent="-254000">
              <a:lnSpc>
                <a:spcPct val="108000"/>
              </a:lnSpc>
              <a:spcAft>
                <a:spcPts val="900"/>
              </a:spcAft>
              <a:buSzPct val="100000"/>
              <a:buFont typeface="+mj-lt"/>
              <a:buAutoNum type="arabicPeriod" startAt="1"/>
            </a:pPr>
            <a:r>
              <a:rPr lang="en-US" sz="1250" dirty="0">
                <a:solidFill>
                  <a:srgbClr val="00357A"/>
                </a:solidFill>
                <a:latin typeface="Poppins" pitchFamily="34" charset="0"/>
                <a:ea typeface="Poppins" pitchFamily="34" charset="-122"/>
                <a:cs typeface="Poppins" pitchFamily="34" charset="-120"/>
              </a:rPr>
              <a:t>Lock the dataset, then re-gather its files under the lock</a:t>
            </a:r>
            <a:endParaRPr lang="en-US" sz="1250" dirty="0"/>
          </a:p>
          <a:p>
            <a:pPr marL="254000" indent="-254000">
              <a:lnSpc>
                <a:spcPct val="108000"/>
              </a:lnSpc>
              <a:spcAft>
                <a:spcPts val="900"/>
              </a:spcAft>
              <a:buSzPct val="100000"/>
              <a:buFont typeface="+mj-lt"/>
              <a:buAutoNum type="arabicPeriod" startAt="1"/>
            </a:pPr>
            <a:r>
              <a:rPr lang="en-US" sz="1250" dirty="0">
                <a:solidFill>
                  <a:srgbClr val="00357A"/>
                </a:solidFill>
                <a:latin typeface="Poppins" pitchFamily="34" charset="0"/>
                <a:ea typeface="Poppins" pitchFamily="34" charset="-122"/>
                <a:cs typeface="Poppins" pitchFamily="34" charset="-120"/>
              </a:rPr>
              <a:t>Skip files already listed in an open 'N' record</a:t>
            </a:r>
            <a:endParaRPr lang="en-US" sz="1250" dirty="0"/>
          </a:p>
          <a:p>
            <a:pPr marL="254000" indent="-254000">
              <a:lnSpc>
                <a:spcPct val="108000"/>
              </a:lnSpc>
              <a:spcAft>
                <a:spcPts val="900"/>
              </a:spcAft>
              <a:buSzPct val="100000"/>
              <a:buFont typeface="+mj-lt"/>
              <a:buAutoNum type="arabicPeriod" startAt="1"/>
            </a:pPr>
            <a:r>
              <a:rPr lang="en-US" sz="1250" dirty="0">
                <a:solidFill>
                  <a:srgbClr val="00357A"/>
                </a:solidFill>
                <a:latin typeface="Poppins" pitchFamily="34" charset="0"/>
                <a:ea typeface="Poppins" pitchFamily="34" charset="-122"/>
                <a:cs typeface="Poppins" pitchFamily="34" charset="-120"/>
              </a:rPr>
              <a:t>Re-check each file on disk or object storage; fix size, checksum and timestamp in GDEXDB</a:t>
            </a:r>
            <a:endParaRPr lang="en-US" sz="1250" dirty="0"/>
          </a:p>
          <a:p>
            <a:pPr marL="254000" indent="-254000">
              <a:lnSpc>
                <a:spcPct val="108000"/>
              </a:lnSpc>
              <a:spcAft>
                <a:spcPts val="900"/>
              </a:spcAft>
              <a:buSzPct val="100000"/>
              <a:buFont typeface="+mj-lt"/>
              <a:buAutoNum type="arabicPeriod" startAt="1"/>
            </a:pPr>
            <a:r>
              <a:rPr lang="en-US" sz="1250" dirty="0">
                <a:solidFill>
                  <a:srgbClr val="00357A"/>
                </a:solidFill>
                <a:latin typeface="Poppins" pitchFamily="34" charset="0"/>
                <a:ea typeface="Poppins" pitchFamily="34" charset="-122"/>
                <a:cs typeface="Poppins" pitchFamily="34" charset="-120"/>
              </a:rPr>
              <a:t>Append a line per file to a dsarch input file, per type</a:t>
            </a:r>
            <a:endParaRPr lang="en-US" sz="1250" dirty="0"/>
          </a:p>
          <a:p>
            <a:pPr marL="254000" indent="-254000">
              <a:lnSpc>
                <a:spcPct val="108000"/>
              </a:lnSpc>
              <a:buSzPct val="100000"/>
              <a:buFont typeface="+mj-lt"/>
              <a:buAutoNum type="arabicPeriod" startAt="1"/>
            </a:pPr>
            <a:r>
              <a:rPr lang="en-US" sz="1250" dirty="0">
                <a:solidFill>
                  <a:srgbClr val="00357A"/>
                </a:solidFill>
                <a:latin typeface="Poppins" pitchFamily="34" charset="0"/>
                <a:ea typeface="Poppins" pitchFamily="34" charset="-122"/>
                <a:cs typeface="Poppins" pitchFamily="34" charset="-120"/>
              </a:rPr>
              <a:t>Close the group when big enough; add the bfile record</a:t>
            </a:r>
            <a:endParaRPr lang="en-US" sz="1250" dirty="0"/>
          </a:p>
        </p:txBody>
      </p:sp>
      <p:sp>
        <p:nvSpPr>
          <p:cNvPr id="7" name="Text 5"/>
          <p:cNvSpPr/>
          <p:nvPr/>
        </p:nvSpPr>
        <p:spPr>
          <a:xfrm>
            <a:off x="685800" y="4572000"/>
            <a:ext cx="5029200" cy="320040"/>
          </a:xfrm>
          <a:prstGeom prst="rect">
            <a:avLst/>
          </a:prstGeom>
          <a:noFill/>
          <a:ln/>
        </p:spPr>
        <p:txBody>
          <a:bodyPr wrap="square" lIns="0" tIns="0" rIns="0" bIns="0" rtlCol="0" anchor="ctr"/>
          <a:lstStyle/>
          <a:p>
            <a:pPr indent="0" marL="0">
              <a:buNone/>
            </a:pPr>
            <a:r>
              <a:rPr lang="en-US" sz="1400" b="1" dirty="0">
                <a:solidFill>
                  <a:srgbClr val="0057C2"/>
                </a:solidFill>
                <a:latin typeface="Poppins" pitchFamily="34" charset="0"/>
                <a:ea typeface="Poppins" pitchFamily="34" charset="-122"/>
                <a:cs typeface="Poppins" pitchFamily="34" charset="-120"/>
              </a:rPr>
              <a:t>Input file layout</a:t>
            </a:r>
            <a:endParaRPr lang="en-US" sz="1400" dirty="0"/>
          </a:p>
        </p:txBody>
      </p:sp>
      <p:sp>
        <p:nvSpPr>
          <p:cNvPr id="8" name="Shape 6"/>
          <p:cNvSpPr/>
          <p:nvPr/>
        </p:nvSpPr>
        <p:spPr>
          <a:xfrm>
            <a:off x="685800" y="4919472"/>
            <a:ext cx="5074920" cy="1005840"/>
          </a:xfrm>
          <a:prstGeom prst="roundRect">
            <a:avLst>
              <a:gd name="adj" fmla="val 4545"/>
            </a:avLst>
          </a:prstGeom>
          <a:solidFill>
            <a:srgbClr val="011837"/>
          </a:solidFill>
          <a:ln/>
        </p:spPr>
      </p:sp>
      <p:sp>
        <p:nvSpPr>
          <p:cNvPr id="9" name="Text 7"/>
          <p:cNvSpPr/>
          <p:nvPr/>
        </p:nvSpPr>
        <p:spPr>
          <a:xfrm>
            <a:off x="813816" y="4919472"/>
            <a:ext cx="4818888" cy="1005840"/>
          </a:xfrm>
          <a:prstGeom prst="rect">
            <a:avLst/>
          </a:prstGeom>
          <a:noFill/>
          <a:ln/>
        </p:spPr>
        <p:txBody>
          <a:bodyPr wrap="square" lIns="0" tIns="0" rIns="0" bIns="0" rtlCol="0" anchor="ctr"/>
          <a:lstStyle/>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DS&lt;=&gt;d123456</a:t>
            </a:r>
            <a:endParaRPr lang="en-US" sz="1050" dirty="0"/>
          </a:p>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WF&lt;:&gt;WT&lt;:&gt;SZ&lt;:&gt;MC&lt;:&gt;</a:t>
            </a:r>
            <a:endParaRPr lang="en-US" sz="1050" dirty="0"/>
          </a:p>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file.nc&lt;:&gt;data&lt;:&gt;2147483648&lt;:&gt;3f1c…&lt;:&gt;</a:t>
            </a:r>
            <a:endParaRPr lang="en-US" sz="1050" dirty="0"/>
          </a:p>
        </p:txBody>
      </p:sp>
      <p:sp>
        <p:nvSpPr>
          <p:cNvPr id="10" name="Text 8"/>
          <p:cNvSpPr/>
          <p:nvPr/>
        </p:nvSpPr>
        <p:spPr>
          <a:xfrm>
            <a:off x="6199632" y="1572768"/>
            <a:ext cx="5532120" cy="320040"/>
          </a:xfrm>
          <a:prstGeom prst="rect">
            <a:avLst/>
          </a:prstGeom>
          <a:noFill/>
          <a:ln/>
        </p:spPr>
        <p:txBody>
          <a:bodyPr wrap="square" lIns="0" tIns="0" rIns="0" bIns="0" rtlCol="0" anchor="ctr"/>
          <a:lstStyle/>
          <a:p>
            <a:pPr indent="0" marL="0">
              <a:buNone/>
            </a:pPr>
            <a:r>
              <a:rPr lang="en-US" sz="1500" b="1" dirty="0">
                <a:solidFill>
                  <a:srgbClr val="0057C2"/>
                </a:solidFill>
                <a:latin typeface="Poppins" pitchFamily="34" charset="0"/>
                <a:ea typeface="Poppins" pitchFamily="34" charset="-122"/>
                <a:cs typeface="Poppins" pitchFamily="34" charset="-120"/>
              </a:rPr>
              <a:t>When is a tar big enough?</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199632" y="1965960"/>
          <a:ext cx="5532120" cy="914400"/>
        </p:xfrm>
        <a:graphic>
          <a:graphicData uri="http://schemas.openxmlformats.org/drawingml/2006/table">
            <a:tbl>
              <a:tblPr/>
              <a:tblGrid>
                <a:gridCol w="1463040"/>
                <a:gridCol w="4069080"/>
              </a:tblGrid>
              <a:tr h="365760">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Threshold</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C25E00"/>
                    </a:solidFill>
                  </a:tcPr>
                </a:tc>
                <a:tc>
                  <a:txBody>
                    <a:bodyPr/>
                    <a:lstStyle/>
                    <a:p>
                      <a:pPr indent="0" marL="0">
                        <a:buNone/>
                      </a:pPr>
                      <a:r>
                        <a:rPr lang="en-US" sz="1200" b="1" dirty="0">
                          <a:solidFill>
                            <a:srgbClr val="FFFFFF"/>
                          </a:solidFill>
                          <a:latin typeface="Poppins" pitchFamily="34" charset="0"/>
                          <a:ea typeface="Poppins" pitchFamily="34" charset="-122"/>
                          <a:cs typeface="Poppins" pitchFamily="34" charset="-120"/>
                        </a:rPr>
                        <a:t>Rule applied while accumulating files</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C25E00"/>
                    </a:solidFill>
                  </a:tcPr>
                </a:tc>
              </a:tr>
              <a:tr h="365760">
                <a:tc>
                  <a:txBody>
                    <a:bodyPr/>
                    <a:lstStyle/>
                    <a:p>
                      <a:pPr indent="0" marL="0">
                        <a:buNone/>
                      </a:pPr>
                      <a:r>
                        <a:rPr lang="en-US" sz="1200" b="1" dirty="0">
                          <a:solidFill>
                            <a:srgbClr val="C25E00"/>
                          </a:solidFill>
                          <a:latin typeface="Courier New" pitchFamily="34" charset="0"/>
                          <a:ea typeface="Courier New" pitchFamily="34" charset="-122"/>
                          <a:cs typeface="Courier New" pitchFamily="34" charset="-120"/>
                        </a:rPr>
                        <a:t>20 GB</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a single file alone is enough to be its own tar</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C25E00"/>
                          </a:solidFill>
                          <a:latin typeface="Courier New" pitchFamily="34" charset="0"/>
                          <a:ea typeface="Courier New" pitchFamily="34" charset="-122"/>
                          <a:cs typeface="Courier New" pitchFamily="34" charset="-120"/>
                        </a:rPr>
                        <a:t>5 GB</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normal target size while under 100 files</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C25E00"/>
                          </a:solidFill>
                          <a:latin typeface="Courier New" pitchFamily="34" charset="0"/>
                          <a:ea typeface="Courier New" pitchFamily="34" charset="-122"/>
                          <a:cs typeface="Courier New" pitchFamily="34" charset="-120"/>
                        </a:rPr>
                        <a:t>2 GB</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accepted minimum once 100 files have piled up</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C25E00"/>
                          </a:solidFill>
                          <a:latin typeface="Courier New" pitchFamily="34" charset="0"/>
                          <a:ea typeface="Courier New" pitchFamily="34" charset="-122"/>
                          <a:cs typeface="Courier New" pitchFamily="34" charset="-120"/>
                        </a:rPr>
                        <a:t>65 datasets</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hard cap on datasets sharing one tar file</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bl>
          </a:graphicData>
        </a:graphic>
      </p:graphicFrame>
      <p:sp>
        <p:nvSpPr>
          <p:cNvPr id="12" name="Shape 9"/>
          <p:cNvSpPr/>
          <p:nvPr/>
        </p:nvSpPr>
        <p:spPr>
          <a:xfrm>
            <a:off x="6199632" y="3794760"/>
            <a:ext cx="5532120" cy="1234440"/>
          </a:xfrm>
          <a:prstGeom prst="roundRect">
            <a:avLst>
              <a:gd name="adj" fmla="val 7407"/>
            </a:avLst>
          </a:prstGeom>
          <a:solidFill>
            <a:srgbClr val="DCEBF7"/>
          </a:solidFill>
          <a:ln w="12700">
            <a:solidFill>
              <a:srgbClr val="A9D6F2"/>
            </a:solidFill>
            <a:prstDash val="solid"/>
          </a:ln>
        </p:spPr>
      </p:sp>
      <p:sp>
        <p:nvSpPr>
          <p:cNvPr id="13" name="Text 10"/>
          <p:cNvSpPr/>
          <p:nvPr/>
        </p:nvSpPr>
        <p:spPr>
          <a:xfrm>
            <a:off x="6428232" y="3840480"/>
            <a:ext cx="5074920" cy="1143000"/>
          </a:xfrm>
          <a:prstGeom prst="rect">
            <a:avLst/>
          </a:prstGeom>
          <a:noFill/>
          <a:ln/>
        </p:spPr>
        <p:txBody>
          <a:bodyPr wrap="square" lIns="0" tIns="0" rIns="0" bIns="0" rtlCol="0" anchor="ctr"/>
          <a:lstStyle/>
          <a:p>
            <a:pPr indent="0" marL="0">
              <a:lnSpc>
                <a:spcPct val="108000"/>
              </a:lnSpc>
              <a:buNone/>
            </a:pPr>
            <a:r>
              <a:rPr lang="en-US" sz="1250" b="1" dirty="0">
                <a:solidFill>
                  <a:srgbClr val="0057C2"/>
                </a:solidFill>
                <a:latin typeface="Poppins" pitchFamily="34" charset="0"/>
                <a:ea typeface="Poppins" pitchFamily="34" charset="-122"/>
                <a:cs typeface="Poppins" pitchFamily="34" charset="-120"/>
              </a:rPr>
              <a:t>Small files are the reason.  </a:t>
            </a:r>
            <a:pPr indent="0" marL="0">
              <a:lnSpc>
                <a:spcPct val="108000"/>
              </a:lnSpc>
              <a:buNone/>
            </a:pPr>
            <a:r>
              <a:rPr lang="en-US" sz="1250" dirty="0">
                <a:solidFill>
                  <a:srgbClr val="00357A"/>
                </a:solidFill>
                <a:latin typeface="Poppins" pitchFamily="34" charset="0"/>
                <a:ea typeface="Poppins" pitchFamily="34" charset="-122"/>
                <a:cs typeface="Poppins" pitchFamily="34" charset="-120"/>
              </a:rPr>
              <a:t>Tape wants few large files, so many tiny files are packed together — across datasets if need be — while a single very large file is never split.</a:t>
            </a:r>
            <a:endParaRPr lang="en-US" sz="1250" dirty="0"/>
          </a:p>
        </p:txBody>
      </p:sp>
      <p:sp>
        <p:nvSpPr>
          <p:cNvPr id="14" name="Text 11"/>
          <p:cNvSpPr/>
          <p:nvPr/>
        </p:nvSpPr>
        <p:spPr>
          <a:xfrm>
            <a:off x="6199632" y="5138928"/>
            <a:ext cx="5532120" cy="320040"/>
          </a:xfrm>
          <a:prstGeom prst="rect">
            <a:avLst/>
          </a:prstGeom>
          <a:noFill/>
          <a:ln/>
        </p:spPr>
        <p:txBody>
          <a:bodyPr wrap="square" lIns="0" tIns="0" rIns="0" bIns="0" rtlCol="0" anchor="ctr"/>
          <a:lstStyle/>
          <a:p>
            <a:pPr indent="0" marL="0">
              <a:buNone/>
            </a:pPr>
            <a:r>
              <a:rPr lang="en-US" sz="1400" b="1" dirty="0">
                <a:solidFill>
                  <a:srgbClr val="0057C2"/>
                </a:solidFill>
                <a:latin typeface="Poppins" pitchFamily="34" charset="0"/>
                <a:ea typeface="Poppins" pitchFamily="34" charset="-122"/>
                <a:cs typeface="Poppins" pitchFamily="34" charset="-120"/>
              </a:rPr>
              <a:t>Resulting tar file name</a:t>
            </a:r>
            <a:endParaRPr lang="en-US" sz="1400" dirty="0"/>
          </a:p>
        </p:txBody>
      </p:sp>
      <p:sp>
        <p:nvSpPr>
          <p:cNvPr id="15" name="Shape 12"/>
          <p:cNvSpPr/>
          <p:nvPr/>
        </p:nvSpPr>
        <p:spPr>
          <a:xfrm>
            <a:off x="6199632" y="5486400"/>
            <a:ext cx="5532120" cy="457200"/>
          </a:xfrm>
          <a:prstGeom prst="roundRect">
            <a:avLst>
              <a:gd name="adj" fmla="val 10000"/>
            </a:avLst>
          </a:prstGeom>
          <a:solidFill>
            <a:srgbClr val="011837"/>
          </a:solidFill>
          <a:ln/>
        </p:spPr>
      </p:sp>
      <p:sp>
        <p:nvSpPr>
          <p:cNvPr id="16" name="Text 13"/>
          <p:cNvSpPr/>
          <p:nvPr/>
        </p:nvSpPr>
        <p:spPr>
          <a:xfrm>
            <a:off x="6327648" y="5486400"/>
            <a:ext cx="5276088" cy="457200"/>
          </a:xfrm>
          <a:prstGeom prst="rect">
            <a:avLst/>
          </a:prstGeom>
          <a:noFill/>
          <a:ln/>
        </p:spPr>
        <p:txBody>
          <a:bodyPr wrap="square" lIns="0" tIns="0" rIns="0" bIns="0" rtlCol="0" anchor="ctr"/>
          <a:lstStyle/>
          <a:p>
            <a:pPr indent="0" marL="0">
              <a:lnSpc>
                <a:spcPct val="100000"/>
              </a:lnSpc>
              <a:buNone/>
            </a:pPr>
            <a:r>
              <a:rPr lang="en-US" sz="1200" dirty="0">
                <a:solidFill>
                  <a:srgbClr val="0097A7"/>
                </a:solidFill>
                <a:latin typeface="Courier New" pitchFamily="34" charset="0"/>
                <a:ea typeface="Courier New" pitchFamily="34" charset="-122"/>
                <a:cs typeface="Courier New" pitchFamily="34" charset="-120"/>
              </a:rPr>
              <a:t>G001/d123456_sn40321_dn3_fn218.tar</a:t>
            </a:r>
            <a:endParaRPr lang="en-US" sz="1200" dirty="0"/>
          </a:p>
        </p:txBody>
      </p:sp>
      <p:sp>
        <p:nvSpPr>
          <p:cNvPr id="17" name="Text 14"/>
          <p:cNvSpPr/>
          <p:nvPr/>
        </p:nvSpPr>
        <p:spPr>
          <a:xfrm>
            <a:off x="6199632" y="5989320"/>
            <a:ext cx="5532120" cy="274320"/>
          </a:xfrm>
          <a:prstGeom prst="rect">
            <a:avLst/>
          </a:prstGeom>
          <a:noFill/>
          <a:ln/>
        </p:spPr>
        <p:txBody>
          <a:bodyPr wrap="square" lIns="0" tIns="0" rIns="0" bIns="0" rtlCol="0" anchor="ctr"/>
          <a:lstStyle/>
          <a:p>
            <a:pPr indent="0" marL="0">
              <a:buNone/>
            </a:pPr>
            <a:r>
              <a:rPr lang="en-US" sz="1100" dirty="0">
                <a:solidFill>
                  <a:srgbClr val="53565A"/>
                </a:solidFill>
                <a:latin typeface="Poppins" pitchFamily="34" charset="0"/>
                <a:ea typeface="Poppins" pitchFamily="34" charset="-122"/>
                <a:cs typeface="Poppins" pitchFamily="34" charset="-120"/>
              </a:rPr>
              <a:t>subpath / dsid _ bid _ dataset count _ file count</a:t>
            </a:r>
            <a:endParaRPr lang="en-US" sz="1100" dirty="0"/>
          </a:p>
        </p:txBody>
      </p:sp>
      <p:sp>
        <p:nvSpPr>
          <p:cNvPr id="18" name="Text 15"/>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10</a:t>
            </a:r>
            <a:endParaRPr lang="en-US" sz="950" dirty="0"/>
          </a:p>
        </p:txBody>
      </p:sp>
      <p:sp>
        <p:nvSpPr>
          <p:cNvPr id="19" name="Text 16"/>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C25E00"/>
                </a:solidFill>
                <a:latin typeface="Poppins" pitchFamily="34" charset="0"/>
                <a:ea typeface="Poppins" pitchFamily="34" charset="-122"/>
                <a:cs typeface="Poppins" pitchFamily="34" charset="-120"/>
              </a:rPr>
              <a:t>ACTIONS</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-A 2 Deep Dive: Building the Tar Files</a:t>
            </a:r>
            <a:endParaRPr lang="en-US" sz="3200" dirty="0"/>
          </a:p>
        </p:txBody>
      </p:sp>
      <p:sp>
        <p:nvSpPr>
          <p:cNvPr id="4" name="Shape 2"/>
          <p:cNvSpPr/>
          <p:nvPr/>
        </p:nvSpPr>
        <p:spPr>
          <a:xfrm>
            <a:off x="457200" y="1554480"/>
            <a:ext cx="11247120" cy="914400"/>
          </a:xfrm>
          <a:prstGeom prst="roundRect">
            <a:avLst>
              <a:gd name="adj" fmla="val 8000"/>
            </a:avLst>
          </a:prstGeom>
          <a:solidFill>
            <a:srgbClr val="011837"/>
          </a:solidFill>
          <a:ln/>
        </p:spPr>
      </p:sp>
      <p:sp>
        <p:nvSpPr>
          <p:cNvPr id="5" name="Text 3"/>
          <p:cNvSpPr/>
          <p:nvPr/>
        </p:nvSpPr>
        <p:spPr>
          <a:xfrm>
            <a:off x="658368" y="1554480"/>
            <a:ext cx="10881360" cy="914400"/>
          </a:xfrm>
          <a:prstGeom prst="rect">
            <a:avLst/>
          </a:prstGeom>
          <a:noFill/>
          <a:ln/>
        </p:spPr>
        <p:txBody>
          <a:bodyPr wrap="square" lIns="0" tIns="0" rIns="0" bIns="0" rtlCol="0" anchor="ctr"/>
          <a:lstStyle/>
          <a:p>
            <a:pPr indent="0" marL="0">
              <a:lnSpc>
                <a:spcPct val="110000"/>
              </a:lnSpc>
              <a:buNone/>
            </a:pPr>
            <a:r>
              <a:rPr lang="en-US" sz="1300" dirty="0">
                <a:solidFill>
                  <a:srgbClr val="FFFFFF"/>
                </a:solidFill>
                <a:latin typeface="Courier New" pitchFamily="34" charset="0"/>
                <a:ea typeface="Courier New" pitchFamily="34" charset="-122"/>
                <a:cs typeface="Courier New" pitchFamily="34" charset="-120"/>
              </a:rPr>
              <a:t>dsarch </a:t>
            </a:r>
            <a:pPr indent="0" marL="0">
              <a:lnSpc>
                <a:spcPct val="110000"/>
              </a:lnSpc>
              <a:buNone/>
            </a:pPr>
            <a:r>
              <a:rPr lang="en-US" sz="1300" dirty="0">
                <a:solidFill>
                  <a:srgbClr val="C3D7EE"/>
                </a:solidFill>
                <a:latin typeface="Courier New" pitchFamily="34" charset="0"/>
                <a:ea typeface="Courier New" pitchFamily="34" charset="-122"/>
                <a:cs typeface="Courier New" pitchFamily="34" charset="-120"/>
              </a:rPr>
              <a:t>d123456 </a:t>
            </a:r>
            <a:pPr indent="0" marL="0">
              <a:lnSpc>
                <a:spcPct val="110000"/>
              </a:lnSpc>
              <a:buNone/>
            </a:pPr>
            <a:r>
              <a:rPr lang="en-US" sz="1300" b="1" dirty="0">
                <a:solidFill>
                  <a:srgbClr val="F0A030"/>
                </a:solidFill>
                <a:latin typeface="Courier New" pitchFamily="34" charset="0"/>
                <a:ea typeface="Courier New" pitchFamily="34" charset="-122"/>
                <a:cs typeface="Courier New" pitchFamily="34" charset="-120"/>
              </a:rPr>
              <a:t>AQ </a:t>
            </a:r>
            <a:pPr indent="0" marL="0">
              <a:lnSpc>
                <a:spcPct val="110000"/>
              </a:lnSpc>
              <a:buNone/>
            </a:pPr>
            <a:r>
              <a:rPr lang="en-US" sz="1300" dirty="0">
                <a:solidFill>
                  <a:srgbClr val="42C0FF"/>
                </a:solidFill>
                <a:latin typeface="Courier New" pitchFamily="34" charset="0"/>
                <a:ea typeface="Courier New" pitchFamily="34" charset="-122"/>
                <a:cs typeface="Courier New" pitchFamily="34" charset="-120"/>
              </a:rPr>
              <a:t>-QT D -QF </a:t>
            </a:r>
            <a:pPr indent="0" marL="0">
              <a:lnSpc>
                <a:spcPct val="110000"/>
              </a:lnSpc>
              <a:buNone/>
            </a:pPr>
            <a:r>
              <a:rPr lang="en-US" sz="1300" dirty="0">
                <a:solidFill>
                  <a:srgbClr val="C3D7EE"/>
                </a:solidFill>
                <a:latin typeface="Courier New" pitchFamily="34" charset="0"/>
                <a:ea typeface="Courier New" pitchFamily="34" charset="-122"/>
                <a:cs typeface="Courier New" pitchFamily="34" charset="-120"/>
              </a:rPr>
              <a:t>G001/d123456_sn40321_dn3_fn218.tar </a:t>
            </a:r>
            <a:pPr indent="0" marL="0">
              <a:lnSpc>
                <a:spcPct val="110000"/>
              </a:lnSpc>
              <a:buNone/>
            </a:pPr>
            <a:r>
              <a:rPr lang="en-US" sz="1300" b="1" dirty="0">
                <a:solidFill>
                  <a:srgbClr val="0097A7"/>
                </a:solidFill>
                <a:latin typeface="Courier New" pitchFamily="34" charset="0"/>
                <a:ea typeface="Courier New" pitchFamily="34" charset="-122"/>
                <a:cs typeface="Courier New" pitchFamily="34" charset="-120"/>
              </a:rPr>
              <a:t>-TO -OE -MD -IF </a:t>
            </a:r>
            <a:pPr indent="0" marL="0">
              <a:lnSpc>
                <a:spcPct val="110000"/>
              </a:lnSpc>
              <a:buNone/>
            </a:pPr>
            <a:r>
              <a:rPr lang="en-US" sz="1300" dirty="0">
                <a:solidFill>
                  <a:srgbClr val="C3D7EE"/>
                </a:solidFill>
                <a:latin typeface="Courier New" pitchFamily="34" charset="0"/>
                <a:ea typeface="Courier New" pitchFamily="34" charset="-122"/>
                <a:cs typeface="Courier New" pitchFamily="34" charset="-120"/>
              </a:rPr>
              <a:t>d123456_W_40321.txt …</a:t>
            </a:r>
            <a:endParaRPr lang="en-US" sz="1300" dirty="0"/>
          </a:p>
        </p:txBody>
      </p:sp>
      <p:sp>
        <p:nvSpPr>
          <p:cNvPr id="6" name="Shape 4"/>
          <p:cNvSpPr/>
          <p:nvPr/>
        </p:nvSpPr>
        <p:spPr>
          <a:xfrm>
            <a:off x="457200" y="2697480"/>
            <a:ext cx="5532120" cy="420624"/>
          </a:xfrm>
          <a:prstGeom prst="rect">
            <a:avLst/>
          </a:prstGeom>
          <a:solidFill>
            <a:srgbClr val="FFFFFF"/>
          </a:solidFill>
          <a:ln w="6350">
            <a:solidFill>
              <a:srgbClr val="A9D6F2"/>
            </a:solidFill>
            <a:prstDash val="solid"/>
          </a:ln>
        </p:spPr>
      </p:sp>
      <p:sp>
        <p:nvSpPr>
          <p:cNvPr id="7" name="Text 5"/>
          <p:cNvSpPr/>
          <p:nvPr/>
        </p:nvSpPr>
        <p:spPr>
          <a:xfrm>
            <a:off x="640080" y="2697480"/>
            <a:ext cx="914400" cy="420624"/>
          </a:xfrm>
          <a:prstGeom prst="rect">
            <a:avLst/>
          </a:prstGeom>
          <a:noFill/>
          <a:ln/>
        </p:spPr>
        <p:txBody>
          <a:bodyPr wrap="square" lIns="0" tIns="0" rIns="0" bIns="0" rtlCol="0" anchor="ctr"/>
          <a:lstStyle/>
          <a:p>
            <a:pPr indent="0" marL="0">
              <a:buNone/>
            </a:pPr>
            <a:r>
              <a:rPr lang="en-US" sz="1300" b="1" dirty="0">
                <a:solidFill>
                  <a:srgbClr val="0057C2"/>
                </a:solidFill>
                <a:latin typeface="Courier New" pitchFamily="34" charset="0"/>
                <a:ea typeface="Courier New" pitchFamily="34" charset="-122"/>
                <a:cs typeface="Courier New" pitchFamily="34" charset="-120"/>
              </a:rPr>
              <a:t>AQ</a:t>
            </a:r>
            <a:endParaRPr lang="en-US" sz="1300" dirty="0"/>
          </a:p>
        </p:txBody>
      </p:sp>
      <p:sp>
        <p:nvSpPr>
          <p:cNvPr id="8" name="Text 6"/>
          <p:cNvSpPr/>
          <p:nvPr/>
        </p:nvSpPr>
        <p:spPr>
          <a:xfrm>
            <a:off x="1600200" y="2697480"/>
            <a:ext cx="4251960" cy="420624"/>
          </a:xfrm>
          <a:prstGeom prst="rect">
            <a:avLst/>
          </a:prstGeom>
          <a:noFill/>
          <a:ln/>
        </p:spPr>
        <p:txBody>
          <a:bodyPr wrap="square" lIns="0" tIns="0" rIns="0" bIns="0" rtlCol="0" anchor="ctr"/>
          <a:lstStyle/>
          <a:p>
            <a:pPr indent="0" marL="0">
              <a:buNone/>
            </a:pPr>
            <a:r>
              <a:rPr lang="en-US" sz="1150" dirty="0">
                <a:solidFill>
                  <a:srgbClr val="00357A"/>
                </a:solidFill>
                <a:latin typeface="Poppins" pitchFamily="34" charset="0"/>
                <a:ea typeface="Poppins" pitchFamily="34" charset="-122"/>
                <a:cs typeface="Poppins" pitchFamily="34" charset="-120"/>
              </a:rPr>
              <a:t>Archive Quasar — pack the listed files into one tar</a:t>
            </a:r>
            <a:endParaRPr lang="en-US" sz="1150" dirty="0"/>
          </a:p>
        </p:txBody>
      </p:sp>
      <p:sp>
        <p:nvSpPr>
          <p:cNvPr id="9" name="Shape 7"/>
          <p:cNvSpPr/>
          <p:nvPr/>
        </p:nvSpPr>
        <p:spPr>
          <a:xfrm>
            <a:off x="457200" y="3154680"/>
            <a:ext cx="5532120" cy="420624"/>
          </a:xfrm>
          <a:prstGeom prst="rect">
            <a:avLst/>
          </a:prstGeom>
          <a:solidFill>
            <a:srgbClr val="DCEBF7"/>
          </a:solidFill>
          <a:ln w="6350">
            <a:solidFill>
              <a:srgbClr val="A9D6F2"/>
            </a:solidFill>
            <a:prstDash val="solid"/>
          </a:ln>
        </p:spPr>
      </p:sp>
      <p:sp>
        <p:nvSpPr>
          <p:cNvPr id="10" name="Text 8"/>
          <p:cNvSpPr/>
          <p:nvPr/>
        </p:nvSpPr>
        <p:spPr>
          <a:xfrm>
            <a:off x="640080" y="3154680"/>
            <a:ext cx="914400" cy="420624"/>
          </a:xfrm>
          <a:prstGeom prst="rect">
            <a:avLst/>
          </a:prstGeom>
          <a:noFill/>
          <a:ln/>
        </p:spPr>
        <p:txBody>
          <a:bodyPr wrap="square" lIns="0" tIns="0" rIns="0" bIns="0" rtlCol="0" anchor="ctr"/>
          <a:lstStyle/>
          <a:p>
            <a:pPr indent="0" marL="0">
              <a:buNone/>
            </a:pPr>
            <a:r>
              <a:rPr lang="en-US" sz="1300" b="1" dirty="0">
                <a:solidFill>
                  <a:srgbClr val="0092DB"/>
                </a:solidFill>
                <a:latin typeface="Courier New" pitchFamily="34" charset="0"/>
                <a:ea typeface="Courier New" pitchFamily="34" charset="-122"/>
                <a:cs typeface="Courier New" pitchFamily="34" charset="-120"/>
              </a:rPr>
              <a:t>-QT</a:t>
            </a:r>
            <a:endParaRPr lang="en-US" sz="1300" dirty="0"/>
          </a:p>
        </p:txBody>
      </p:sp>
      <p:sp>
        <p:nvSpPr>
          <p:cNvPr id="11" name="Text 9"/>
          <p:cNvSpPr/>
          <p:nvPr/>
        </p:nvSpPr>
        <p:spPr>
          <a:xfrm>
            <a:off x="1600200" y="3154680"/>
            <a:ext cx="4251960" cy="420624"/>
          </a:xfrm>
          <a:prstGeom prst="rect">
            <a:avLst/>
          </a:prstGeom>
          <a:noFill/>
          <a:ln/>
        </p:spPr>
        <p:txBody>
          <a:bodyPr wrap="square" lIns="0" tIns="0" rIns="0" bIns="0" rtlCol="0" anchor="ctr"/>
          <a:lstStyle/>
          <a:p>
            <a:pPr indent="0" marL="0">
              <a:buNone/>
            </a:pPr>
            <a:r>
              <a:rPr lang="en-US" sz="1150" dirty="0">
                <a:solidFill>
                  <a:srgbClr val="00357A"/>
                </a:solidFill>
                <a:latin typeface="Poppins" pitchFamily="34" charset="0"/>
                <a:ea typeface="Poppins" pitchFamily="34" charset="-122"/>
                <a:cs typeface="Poppins" pitchFamily="34" charset="-120"/>
              </a:rPr>
              <a:t>copy type: 'B' Backup only, or 'D' Backup + Drdata</a:t>
            </a:r>
            <a:endParaRPr lang="en-US" sz="1150" dirty="0"/>
          </a:p>
        </p:txBody>
      </p:sp>
      <p:sp>
        <p:nvSpPr>
          <p:cNvPr id="12" name="Shape 10"/>
          <p:cNvSpPr/>
          <p:nvPr/>
        </p:nvSpPr>
        <p:spPr>
          <a:xfrm>
            <a:off x="457200" y="3611880"/>
            <a:ext cx="5532120" cy="420624"/>
          </a:xfrm>
          <a:prstGeom prst="rect">
            <a:avLst/>
          </a:prstGeom>
          <a:solidFill>
            <a:srgbClr val="FFFFFF"/>
          </a:solidFill>
          <a:ln w="6350">
            <a:solidFill>
              <a:srgbClr val="A9D6F2"/>
            </a:solidFill>
            <a:prstDash val="solid"/>
          </a:ln>
        </p:spPr>
      </p:sp>
      <p:sp>
        <p:nvSpPr>
          <p:cNvPr id="13" name="Text 11"/>
          <p:cNvSpPr/>
          <p:nvPr/>
        </p:nvSpPr>
        <p:spPr>
          <a:xfrm>
            <a:off x="640080" y="3611880"/>
            <a:ext cx="914400" cy="420624"/>
          </a:xfrm>
          <a:prstGeom prst="rect">
            <a:avLst/>
          </a:prstGeom>
          <a:noFill/>
          <a:ln/>
        </p:spPr>
        <p:txBody>
          <a:bodyPr wrap="square" lIns="0" tIns="0" rIns="0" bIns="0" rtlCol="0" anchor="ctr"/>
          <a:lstStyle/>
          <a:p>
            <a:pPr indent="0" marL="0">
              <a:buNone/>
            </a:pPr>
            <a:r>
              <a:rPr lang="en-US" sz="1300" b="1" dirty="0">
                <a:solidFill>
                  <a:srgbClr val="0097A7"/>
                </a:solidFill>
                <a:latin typeface="Courier New" pitchFamily="34" charset="0"/>
                <a:ea typeface="Courier New" pitchFamily="34" charset="-122"/>
                <a:cs typeface="Courier New" pitchFamily="34" charset="-120"/>
              </a:rPr>
              <a:t>-QF</a:t>
            </a:r>
            <a:endParaRPr lang="en-US" sz="1300" dirty="0"/>
          </a:p>
        </p:txBody>
      </p:sp>
      <p:sp>
        <p:nvSpPr>
          <p:cNvPr id="14" name="Text 12"/>
          <p:cNvSpPr/>
          <p:nvPr/>
        </p:nvSpPr>
        <p:spPr>
          <a:xfrm>
            <a:off x="1600200" y="3611880"/>
            <a:ext cx="4251960" cy="420624"/>
          </a:xfrm>
          <a:prstGeom prst="rect">
            <a:avLst/>
          </a:prstGeom>
          <a:noFill/>
          <a:ln/>
        </p:spPr>
        <p:txBody>
          <a:bodyPr wrap="square" lIns="0" tIns="0" rIns="0" bIns="0" rtlCol="0" anchor="ctr"/>
          <a:lstStyle/>
          <a:p>
            <a:pPr indent="0" marL="0">
              <a:buNone/>
            </a:pPr>
            <a:r>
              <a:rPr lang="en-US" sz="1150" dirty="0">
                <a:solidFill>
                  <a:srgbClr val="00357A"/>
                </a:solidFill>
                <a:latin typeface="Poppins" pitchFamily="34" charset="0"/>
                <a:ea typeface="Poppins" pitchFamily="34" charset="-122"/>
                <a:cs typeface="Poppins" pitchFamily="34" charset="-120"/>
              </a:rPr>
              <a:t>the tar file name recorded in the bfile record</a:t>
            </a:r>
            <a:endParaRPr lang="en-US" sz="1150" dirty="0"/>
          </a:p>
        </p:txBody>
      </p:sp>
      <p:sp>
        <p:nvSpPr>
          <p:cNvPr id="15" name="Shape 13"/>
          <p:cNvSpPr/>
          <p:nvPr/>
        </p:nvSpPr>
        <p:spPr>
          <a:xfrm>
            <a:off x="457200" y="4069080"/>
            <a:ext cx="5532120" cy="420624"/>
          </a:xfrm>
          <a:prstGeom prst="rect">
            <a:avLst/>
          </a:prstGeom>
          <a:solidFill>
            <a:srgbClr val="DCEBF7"/>
          </a:solidFill>
          <a:ln w="6350">
            <a:solidFill>
              <a:srgbClr val="A9D6F2"/>
            </a:solidFill>
            <a:prstDash val="solid"/>
          </a:ln>
        </p:spPr>
      </p:sp>
      <p:sp>
        <p:nvSpPr>
          <p:cNvPr id="16" name="Text 14"/>
          <p:cNvSpPr/>
          <p:nvPr/>
        </p:nvSpPr>
        <p:spPr>
          <a:xfrm>
            <a:off x="640080" y="4069080"/>
            <a:ext cx="914400" cy="420624"/>
          </a:xfrm>
          <a:prstGeom prst="rect">
            <a:avLst/>
          </a:prstGeom>
          <a:noFill/>
          <a:ln/>
        </p:spPr>
        <p:txBody>
          <a:bodyPr wrap="square" lIns="0" tIns="0" rIns="0" bIns="0" rtlCol="0" anchor="ctr"/>
          <a:lstStyle/>
          <a:p>
            <a:pPr indent="0" marL="0">
              <a:buNone/>
            </a:pPr>
            <a:r>
              <a:rPr lang="en-US" sz="1300" b="1" dirty="0">
                <a:solidFill>
                  <a:srgbClr val="C25E00"/>
                </a:solidFill>
                <a:latin typeface="Courier New" pitchFamily="34" charset="0"/>
                <a:ea typeface="Courier New" pitchFamily="34" charset="-122"/>
                <a:cs typeface="Courier New" pitchFamily="34" charset="-120"/>
              </a:rPr>
              <a:t>-TO</a:t>
            </a:r>
            <a:endParaRPr lang="en-US" sz="1300" dirty="0"/>
          </a:p>
        </p:txBody>
      </p:sp>
      <p:sp>
        <p:nvSpPr>
          <p:cNvPr id="17" name="Text 15"/>
          <p:cNvSpPr/>
          <p:nvPr/>
        </p:nvSpPr>
        <p:spPr>
          <a:xfrm>
            <a:off x="1600200" y="4069080"/>
            <a:ext cx="4251960" cy="420624"/>
          </a:xfrm>
          <a:prstGeom prst="rect">
            <a:avLst/>
          </a:prstGeom>
          <a:noFill/>
          <a:ln/>
        </p:spPr>
        <p:txBody>
          <a:bodyPr wrap="square" lIns="0" tIns="0" rIns="0" bIns="0" rtlCol="0" anchor="ctr"/>
          <a:lstStyle/>
          <a:p>
            <a:pPr indent="0" marL="0">
              <a:buNone/>
            </a:pPr>
            <a:r>
              <a:rPr lang="en-US" sz="1150" dirty="0">
                <a:solidFill>
                  <a:srgbClr val="00357A"/>
                </a:solidFill>
                <a:latin typeface="Poppins" pitchFamily="34" charset="0"/>
                <a:ea typeface="Poppins" pitchFamily="34" charset="-122"/>
                <a:cs typeface="Poppins" pitchFamily="34" charset="-120"/>
              </a:rPr>
              <a:t>Tar Only — build the tar, do not upload it</a:t>
            </a:r>
            <a:endParaRPr lang="en-US" sz="1150" dirty="0"/>
          </a:p>
        </p:txBody>
      </p:sp>
      <p:sp>
        <p:nvSpPr>
          <p:cNvPr id="18" name="Shape 16"/>
          <p:cNvSpPr/>
          <p:nvPr/>
        </p:nvSpPr>
        <p:spPr>
          <a:xfrm>
            <a:off x="457200" y="4526280"/>
            <a:ext cx="5532120" cy="420624"/>
          </a:xfrm>
          <a:prstGeom prst="rect">
            <a:avLst/>
          </a:prstGeom>
          <a:solidFill>
            <a:srgbClr val="FFFFFF"/>
          </a:solidFill>
          <a:ln w="6350">
            <a:solidFill>
              <a:srgbClr val="A9D6F2"/>
            </a:solidFill>
            <a:prstDash val="solid"/>
          </a:ln>
        </p:spPr>
      </p:sp>
      <p:sp>
        <p:nvSpPr>
          <p:cNvPr id="19" name="Text 17"/>
          <p:cNvSpPr/>
          <p:nvPr/>
        </p:nvSpPr>
        <p:spPr>
          <a:xfrm>
            <a:off x="640080" y="4526280"/>
            <a:ext cx="914400" cy="420624"/>
          </a:xfrm>
          <a:prstGeom prst="rect">
            <a:avLst/>
          </a:prstGeom>
          <a:noFill/>
          <a:ln/>
        </p:spPr>
        <p:txBody>
          <a:bodyPr wrap="square" lIns="0" tIns="0" rIns="0" bIns="0" rtlCol="0" anchor="ctr"/>
          <a:lstStyle/>
          <a:p>
            <a:pPr indent="0" marL="0">
              <a:buNone/>
            </a:pPr>
            <a:r>
              <a:rPr lang="en-US" sz="1300" b="1" dirty="0">
                <a:solidFill>
                  <a:srgbClr val="0057C2"/>
                </a:solidFill>
                <a:latin typeface="Courier New" pitchFamily="34" charset="0"/>
                <a:ea typeface="Courier New" pitchFamily="34" charset="-122"/>
                <a:cs typeface="Courier New" pitchFamily="34" charset="-120"/>
              </a:rPr>
              <a:t>-OE</a:t>
            </a:r>
            <a:endParaRPr lang="en-US" sz="1300" dirty="0"/>
          </a:p>
        </p:txBody>
      </p:sp>
      <p:sp>
        <p:nvSpPr>
          <p:cNvPr id="20" name="Text 18"/>
          <p:cNvSpPr/>
          <p:nvPr/>
        </p:nvSpPr>
        <p:spPr>
          <a:xfrm>
            <a:off x="1600200" y="4526280"/>
            <a:ext cx="4251960" cy="420624"/>
          </a:xfrm>
          <a:prstGeom prst="rect">
            <a:avLst/>
          </a:prstGeom>
          <a:noFill/>
          <a:ln/>
        </p:spPr>
        <p:txBody>
          <a:bodyPr wrap="square" lIns="0" tIns="0" rIns="0" bIns="0" rtlCol="0" anchor="ctr"/>
          <a:lstStyle/>
          <a:p>
            <a:pPr indent="0" marL="0">
              <a:buNone/>
            </a:pPr>
            <a:r>
              <a:rPr lang="en-US" sz="1150" dirty="0">
                <a:solidFill>
                  <a:srgbClr val="00357A"/>
                </a:solidFill>
                <a:latin typeface="Poppins" pitchFamily="34" charset="0"/>
                <a:ea typeface="Poppins" pitchFamily="34" charset="-122"/>
                <a:cs typeface="Poppins" pitchFamily="34" charset="-120"/>
              </a:rPr>
              <a:t>overwrite an existing Quasar file of that name</a:t>
            </a:r>
            <a:endParaRPr lang="en-US" sz="1150" dirty="0"/>
          </a:p>
        </p:txBody>
      </p:sp>
      <p:sp>
        <p:nvSpPr>
          <p:cNvPr id="21" name="Shape 19"/>
          <p:cNvSpPr/>
          <p:nvPr/>
        </p:nvSpPr>
        <p:spPr>
          <a:xfrm>
            <a:off x="457200" y="4983480"/>
            <a:ext cx="5532120" cy="420624"/>
          </a:xfrm>
          <a:prstGeom prst="rect">
            <a:avLst/>
          </a:prstGeom>
          <a:solidFill>
            <a:srgbClr val="DCEBF7"/>
          </a:solidFill>
          <a:ln w="6350">
            <a:solidFill>
              <a:srgbClr val="A9D6F2"/>
            </a:solidFill>
            <a:prstDash val="solid"/>
          </a:ln>
        </p:spPr>
      </p:sp>
      <p:sp>
        <p:nvSpPr>
          <p:cNvPr id="22" name="Text 20"/>
          <p:cNvSpPr/>
          <p:nvPr/>
        </p:nvSpPr>
        <p:spPr>
          <a:xfrm>
            <a:off x="640080" y="4983480"/>
            <a:ext cx="914400" cy="420624"/>
          </a:xfrm>
          <a:prstGeom prst="rect">
            <a:avLst/>
          </a:prstGeom>
          <a:noFill/>
          <a:ln/>
        </p:spPr>
        <p:txBody>
          <a:bodyPr wrap="square" lIns="0" tIns="0" rIns="0" bIns="0" rtlCol="0" anchor="ctr"/>
          <a:lstStyle/>
          <a:p>
            <a:pPr indent="0" marL="0">
              <a:buNone/>
            </a:pPr>
            <a:r>
              <a:rPr lang="en-US" sz="1300" b="1" dirty="0">
                <a:solidFill>
                  <a:srgbClr val="53565A"/>
                </a:solidFill>
                <a:latin typeface="Courier New" pitchFamily="34" charset="0"/>
                <a:ea typeface="Courier New" pitchFamily="34" charset="-122"/>
                <a:cs typeface="Courier New" pitchFamily="34" charset="-120"/>
              </a:rPr>
              <a:t>-MD</a:t>
            </a:r>
            <a:endParaRPr lang="en-US" sz="1300" dirty="0"/>
          </a:p>
        </p:txBody>
      </p:sp>
      <p:sp>
        <p:nvSpPr>
          <p:cNvPr id="23" name="Text 21"/>
          <p:cNvSpPr/>
          <p:nvPr/>
        </p:nvSpPr>
        <p:spPr>
          <a:xfrm>
            <a:off x="1600200" y="4983480"/>
            <a:ext cx="4251960" cy="420624"/>
          </a:xfrm>
          <a:prstGeom prst="rect">
            <a:avLst/>
          </a:prstGeom>
          <a:noFill/>
          <a:ln/>
        </p:spPr>
        <p:txBody>
          <a:bodyPr wrap="square" lIns="0" tIns="0" rIns="0" bIns="0" rtlCol="0" anchor="ctr"/>
          <a:lstStyle/>
          <a:p>
            <a:pPr indent="0" marL="0">
              <a:buNone/>
            </a:pPr>
            <a:r>
              <a:rPr lang="en-US" sz="1150" dirty="0">
                <a:solidFill>
                  <a:srgbClr val="00357A"/>
                </a:solidFill>
                <a:latin typeface="Poppins" pitchFamily="34" charset="0"/>
                <a:ea typeface="Poppins" pitchFamily="34" charset="-122"/>
                <a:cs typeface="Poppins" pitchFamily="34" charset="-120"/>
              </a:rPr>
              <a:t>act on any specialist's dataset</a:t>
            </a:r>
            <a:endParaRPr lang="en-US" sz="1150" dirty="0"/>
          </a:p>
        </p:txBody>
      </p:sp>
      <p:sp>
        <p:nvSpPr>
          <p:cNvPr id="24" name="Shape 22"/>
          <p:cNvSpPr/>
          <p:nvPr/>
        </p:nvSpPr>
        <p:spPr>
          <a:xfrm>
            <a:off x="457200" y="5440680"/>
            <a:ext cx="5532120" cy="420624"/>
          </a:xfrm>
          <a:prstGeom prst="rect">
            <a:avLst/>
          </a:prstGeom>
          <a:solidFill>
            <a:srgbClr val="FFFFFF"/>
          </a:solidFill>
          <a:ln w="6350">
            <a:solidFill>
              <a:srgbClr val="A9D6F2"/>
            </a:solidFill>
            <a:prstDash val="solid"/>
          </a:ln>
        </p:spPr>
      </p:sp>
      <p:sp>
        <p:nvSpPr>
          <p:cNvPr id="25" name="Text 23"/>
          <p:cNvSpPr/>
          <p:nvPr/>
        </p:nvSpPr>
        <p:spPr>
          <a:xfrm>
            <a:off x="640080" y="5440680"/>
            <a:ext cx="914400" cy="420624"/>
          </a:xfrm>
          <a:prstGeom prst="rect">
            <a:avLst/>
          </a:prstGeom>
          <a:noFill/>
          <a:ln/>
        </p:spPr>
        <p:txBody>
          <a:bodyPr wrap="square" lIns="0" tIns="0" rIns="0" bIns="0" rtlCol="0" anchor="ctr"/>
          <a:lstStyle/>
          <a:p>
            <a:pPr indent="0" marL="0">
              <a:buNone/>
            </a:pPr>
            <a:r>
              <a:rPr lang="en-US" sz="1300" b="1" dirty="0">
                <a:solidFill>
                  <a:srgbClr val="0092DB"/>
                </a:solidFill>
                <a:latin typeface="Courier New" pitchFamily="34" charset="0"/>
                <a:ea typeface="Courier New" pitchFamily="34" charset="-122"/>
                <a:cs typeface="Courier New" pitchFamily="34" charset="-120"/>
              </a:rPr>
              <a:t>-IF</a:t>
            </a:r>
            <a:endParaRPr lang="en-US" sz="1300" dirty="0"/>
          </a:p>
        </p:txBody>
      </p:sp>
      <p:sp>
        <p:nvSpPr>
          <p:cNvPr id="26" name="Text 24"/>
          <p:cNvSpPr/>
          <p:nvPr/>
        </p:nvSpPr>
        <p:spPr>
          <a:xfrm>
            <a:off x="1600200" y="5440680"/>
            <a:ext cx="4251960" cy="420624"/>
          </a:xfrm>
          <a:prstGeom prst="rect">
            <a:avLst/>
          </a:prstGeom>
          <a:noFill/>
          <a:ln/>
        </p:spPr>
        <p:txBody>
          <a:bodyPr wrap="square" lIns="0" tIns="0" rIns="0" bIns="0" rtlCol="0" anchor="ctr"/>
          <a:lstStyle/>
          <a:p>
            <a:pPr indent="0" marL="0">
              <a:buNone/>
            </a:pPr>
            <a:r>
              <a:rPr lang="en-US" sz="1150" dirty="0">
                <a:solidFill>
                  <a:srgbClr val="00357A"/>
                </a:solidFill>
                <a:latin typeface="Poppins" pitchFamily="34" charset="0"/>
                <a:ea typeface="Poppins" pitchFamily="34" charset="-122"/>
                <a:cs typeface="Poppins" pitchFamily="34" charset="-120"/>
              </a:rPr>
              <a:t>the input files listing what goes into the tar</a:t>
            </a:r>
            <a:endParaRPr lang="en-US" sz="1150" dirty="0"/>
          </a:p>
        </p:txBody>
      </p:sp>
      <p:sp>
        <p:nvSpPr>
          <p:cNvPr id="27" name="Shape 25"/>
          <p:cNvSpPr/>
          <p:nvPr/>
        </p:nvSpPr>
        <p:spPr>
          <a:xfrm>
            <a:off x="6199632" y="2697480"/>
            <a:ext cx="5532120" cy="777240"/>
          </a:xfrm>
          <a:prstGeom prst="roundRect">
            <a:avLst>
              <a:gd name="adj" fmla="val 9412"/>
            </a:avLst>
          </a:prstGeom>
          <a:solidFill>
            <a:srgbClr val="FFFFFF"/>
          </a:solidFill>
          <a:ln w="19050">
            <a:solidFill>
              <a:srgbClr val="0057C2"/>
            </a:solidFill>
            <a:prstDash val="solid"/>
          </a:ln>
        </p:spPr>
      </p:sp>
      <p:sp>
        <p:nvSpPr>
          <p:cNvPr id="28" name="Text 26"/>
          <p:cNvSpPr/>
          <p:nvPr/>
        </p:nvSpPr>
        <p:spPr>
          <a:xfrm>
            <a:off x="6400800" y="2752344"/>
            <a:ext cx="5166360" cy="292608"/>
          </a:xfrm>
          <a:prstGeom prst="rect">
            <a:avLst/>
          </a:prstGeom>
          <a:noFill/>
          <a:ln/>
        </p:spPr>
        <p:txBody>
          <a:bodyPr wrap="square" lIns="0" tIns="0" rIns="0" bIns="0" rtlCol="0" anchor="ctr"/>
          <a:lstStyle/>
          <a:p>
            <a:pPr indent="0" marL="0">
              <a:buNone/>
            </a:pPr>
            <a:r>
              <a:rPr lang="en-US" sz="1300" b="1" dirty="0">
                <a:solidFill>
                  <a:srgbClr val="0057C2"/>
                </a:solidFill>
                <a:latin typeface="Poppins" pitchFamily="34" charset="0"/>
                <a:ea typeface="Poppins" pitchFamily="34" charset="-122"/>
                <a:cs typeface="Poppins" pitchFamily="34" charset="-120"/>
              </a:rPr>
              <a:t>One child per tar file</a:t>
            </a:r>
            <a:endParaRPr lang="en-US" sz="1300" dirty="0"/>
          </a:p>
        </p:txBody>
      </p:sp>
      <p:sp>
        <p:nvSpPr>
          <p:cNvPr id="29" name="Text 27"/>
          <p:cNvSpPr/>
          <p:nvPr/>
        </p:nvSpPr>
        <p:spPr>
          <a:xfrm>
            <a:off x="6400800" y="3026664"/>
            <a:ext cx="5166360" cy="411480"/>
          </a:xfrm>
          <a:prstGeom prst="rect">
            <a:avLst/>
          </a:prstGeom>
          <a:noFill/>
          <a:ln/>
        </p:spPr>
        <p:txBody>
          <a:bodyPr wrap="square" lIns="0" tIns="0" rIns="0" bIns="0" rtlCol="0" anchor="t"/>
          <a:lstStyle/>
          <a:p>
            <a:pPr indent="0" marL="0">
              <a:lnSpc>
                <a:spcPct val="102000"/>
              </a:lnSpc>
              <a:buNone/>
            </a:pPr>
            <a:r>
              <a:rPr lang="en-US" sz="1100" dirty="0">
                <a:solidFill>
                  <a:srgbClr val="53565A"/>
                </a:solidFill>
                <a:latin typeface="Poppins" pitchFamily="34" charset="0"/>
                <a:ea typeface="Poppins" pitchFamily="34" charset="-122"/>
                <a:cs typeface="Poppins" pitchFamily="34" charset="-120"/>
              </a:rPr>
              <a:t>With -m N, each tar file is handed to its own child process, so tarring scales widely across cpus.</a:t>
            </a:r>
            <a:endParaRPr lang="en-US" sz="1100" dirty="0"/>
          </a:p>
        </p:txBody>
      </p:sp>
      <p:sp>
        <p:nvSpPr>
          <p:cNvPr id="30" name="Shape 28"/>
          <p:cNvSpPr/>
          <p:nvPr/>
        </p:nvSpPr>
        <p:spPr>
          <a:xfrm>
            <a:off x="6199632" y="3566160"/>
            <a:ext cx="5532120" cy="777240"/>
          </a:xfrm>
          <a:prstGeom prst="roundRect">
            <a:avLst>
              <a:gd name="adj" fmla="val 9412"/>
            </a:avLst>
          </a:prstGeom>
          <a:solidFill>
            <a:srgbClr val="FFFFFF"/>
          </a:solidFill>
          <a:ln w="19050">
            <a:solidFill>
              <a:srgbClr val="0092DB"/>
            </a:solidFill>
            <a:prstDash val="solid"/>
          </a:ln>
        </p:spPr>
      </p:sp>
      <p:sp>
        <p:nvSpPr>
          <p:cNvPr id="31" name="Text 29"/>
          <p:cNvSpPr/>
          <p:nvPr/>
        </p:nvSpPr>
        <p:spPr>
          <a:xfrm>
            <a:off x="6400800" y="3621024"/>
            <a:ext cx="5166360" cy="292608"/>
          </a:xfrm>
          <a:prstGeom prst="rect">
            <a:avLst/>
          </a:prstGeom>
          <a:noFill/>
          <a:ln/>
        </p:spPr>
        <p:txBody>
          <a:bodyPr wrap="square" lIns="0" tIns="0" rIns="0" bIns="0" rtlCol="0" anchor="ctr"/>
          <a:lstStyle/>
          <a:p>
            <a:pPr indent="0" marL="0">
              <a:buNone/>
            </a:pPr>
            <a:r>
              <a:rPr lang="en-US" sz="1300" b="1" dirty="0">
                <a:solidFill>
                  <a:srgbClr val="0092DB"/>
                </a:solidFill>
                <a:latin typeface="Poppins" pitchFamily="34" charset="0"/>
                <a:ea typeface="Poppins" pitchFamily="34" charset="-122"/>
                <a:cs typeface="Poppins" pitchFamily="34" charset="-120"/>
              </a:rPr>
              <a:t>Missing lists are rebuilt</a:t>
            </a:r>
            <a:endParaRPr lang="en-US" sz="1300" dirty="0"/>
          </a:p>
        </p:txBody>
      </p:sp>
      <p:sp>
        <p:nvSpPr>
          <p:cNvPr id="32" name="Text 30"/>
          <p:cNvSpPr/>
          <p:nvPr/>
        </p:nvSpPr>
        <p:spPr>
          <a:xfrm>
            <a:off x="6400800" y="3895344"/>
            <a:ext cx="5166360" cy="411480"/>
          </a:xfrm>
          <a:prstGeom prst="rect">
            <a:avLst/>
          </a:prstGeom>
          <a:noFill/>
          <a:ln/>
        </p:spPr>
        <p:txBody>
          <a:bodyPr wrap="square" lIns="0" tIns="0" rIns="0" bIns="0" rtlCol="0" anchor="t"/>
          <a:lstStyle/>
          <a:p>
            <a:pPr indent="0" marL="0">
              <a:lnSpc>
                <a:spcPct val="102000"/>
              </a:lnSpc>
              <a:buNone/>
            </a:pPr>
            <a:r>
              <a:rPr lang="en-US" sz="1100" dirty="0">
                <a:solidFill>
                  <a:srgbClr val="53565A"/>
                </a:solidFill>
                <a:latin typeface="Poppins" pitchFamily="34" charset="0"/>
                <a:ea typeface="Poppins" pitchFamily="34" charset="-122"/>
                <a:cs typeface="Poppins" pitchFamily="34" charset="-120"/>
              </a:rPr>
              <a:t>The bfile note holds a copy of every input file, so a list deleted from the work directory is written back out before tarring.</a:t>
            </a:r>
            <a:endParaRPr lang="en-US" sz="1100" dirty="0"/>
          </a:p>
        </p:txBody>
      </p:sp>
      <p:sp>
        <p:nvSpPr>
          <p:cNvPr id="33" name="Shape 31"/>
          <p:cNvSpPr/>
          <p:nvPr/>
        </p:nvSpPr>
        <p:spPr>
          <a:xfrm>
            <a:off x="6199632" y="4434840"/>
            <a:ext cx="5532120" cy="777240"/>
          </a:xfrm>
          <a:prstGeom prst="roundRect">
            <a:avLst>
              <a:gd name="adj" fmla="val 9412"/>
            </a:avLst>
          </a:prstGeom>
          <a:solidFill>
            <a:srgbClr val="FFFFFF"/>
          </a:solidFill>
          <a:ln w="19050">
            <a:solidFill>
              <a:srgbClr val="0097A7"/>
            </a:solidFill>
            <a:prstDash val="solid"/>
          </a:ln>
        </p:spPr>
      </p:sp>
      <p:sp>
        <p:nvSpPr>
          <p:cNvPr id="34" name="Text 32"/>
          <p:cNvSpPr/>
          <p:nvPr/>
        </p:nvSpPr>
        <p:spPr>
          <a:xfrm>
            <a:off x="6400800" y="4489704"/>
            <a:ext cx="5166360" cy="292608"/>
          </a:xfrm>
          <a:prstGeom prst="rect">
            <a:avLst/>
          </a:prstGeom>
          <a:noFill/>
          <a:ln/>
        </p:spPr>
        <p:txBody>
          <a:bodyPr wrap="square" lIns="0" tIns="0" rIns="0" bIns="0" rtlCol="0" anchor="ctr"/>
          <a:lstStyle/>
          <a:p>
            <a:pPr indent="0" marL="0">
              <a:buNone/>
            </a:pPr>
            <a:r>
              <a:rPr lang="en-US" sz="1300" b="1" dirty="0">
                <a:solidFill>
                  <a:srgbClr val="0097A7"/>
                </a:solidFill>
                <a:latin typeface="Poppins" pitchFamily="34" charset="0"/>
                <a:ea typeface="Poppins" pitchFamily="34" charset="-122"/>
                <a:cs typeface="Poppins" pitchFamily="34" charset="-120"/>
              </a:rPr>
              <a:t>Verified before it counts</a:t>
            </a:r>
            <a:endParaRPr lang="en-US" sz="1300" dirty="0"/>
          </a:p>
        </p:txBody>
      </p:sp>
      <p:sp>
        <p:nvSpPr>
          <p:cNvPr id="35" name="Text 33"/>
          <p:cNvSpPr/>
          <p:nvPr/>
        </p:nvSpPr>
        <p:spPr>
          <a:xfrm>
            <a:off x="6400800" y="4764024"/>
            <a:ext cx="5166360" cy="411480"/>
          </a:xfrm>
          <a:prstGeom prst="rect">
            <a:avLst/>
          </a:prstGeom>
          <a:noFill/>
          <a:ln/>
        </p:spPr>
        <p:txBody>
          <a:bodyPr wrap="square" lIns="0" tIns="0" rIns="0" bIns="0" rtlCol="0" anchor="t"/>
          <a:lstStyle/>
          <a:p>
            <a:pPr indent="0" marL="0">
              <a:lnSpc>
                <a:spcPct val="102000"/>
              </a:lnSpc>
              <a:buNone/>
            </a:pPr>
            <a:r>
              <a:rPr lang="en-US" sz="1100" dirty="0">
                <a:solidFill>
                  <a:srgbClr val="53565A"/>
                </a:solidFill>
                <a:latin typeface="Poppins" pitchFamily="34" charset="0"/>
                <a:ea typeface="Poppins" pitchFamily="34" charset="-122"/>
                <a:cs typeface="Poppins" pitchFamily="34" charset="-120"/>
              </a:rPr>
              <a:t>After the children finish, the confirmed counts are re-read from GDEXDB, so the summary reports work that actually reached status 'T'.</a:t>
            </a:r>
            <a:endParaRPr lang="en-US" sz="1100" dirty="0"/>
          </a:p>
        </p:txBody>
      </p:sp>
      <p:sp>
        <p:nvSpPr>
          <p:cNvPr id="36" name="Shape 34"/>
          <p:cNvSpPr/>
          <p:nvPr/>
        </p:nvSpPr>
        <p:spPr>
          <a:xfrm>
            <a:off x="6199632" y="5303520"/>
            <a:ext cx="5532120" cy="777240"/>
          </a:xfrm>
          <a:prstGeom prst="roundRect">
            <a:avLst>
              <a:gd name="adj" fmla="val 9412"/>
            </a:avLst>
          </a:prstGeom>
          <a:solidFill>
            <a:srgbClr val="FFFFFF"/>
          </a:solidFill>
          <a:ln w="19050">
            <a:solidFill>
              <a:srgbClr val="C25E00"/>
            </a:solidFill>
            <a:prstDash val="solid"/>
          </a:ln>
        </p:spPr>
      </p:sp>
      <p:sp>
        <p:nvSpPr>
          <p:cNvPr id="37" name="Text 35"/>
          <p:cNvSpPr/>
          <p:nvPr/>
        </p:nvSpPr>
        <p:spPr>
          <a:xfrm>
            <a:off x="6400800" y="5358384"/>
            <a:ext cx="5166360" cy="292608"/>
          </a:xfrm>
          <a:prstGeom prst="rect">
            <a:avLst/>
          </a:prstGeom>
          <a:noFill/>
          <a:ln/>
        </p:spPr>
        <p:txBody>
          <a:bodyPr wrap="square" lIns="0" tIns="0" rIns="0" bIns="0" rtlCol="0" anchor="ctr"/>
          <a:lstStyle/>
          <a:p>
            <a:pPr indent="0" marL="0">
              <a:buNone/>
            </a:pPr>
            <a:r>
              <a:rPr lang="en-US" sz="1300" b="1" dirty="0">
                <a:solidFill>
                  <a:srgbClr val="C25E00"/>
                </a:solidFill>
                <a:latin typeface="Poppins" pitchFamily="34" charset="0"/>
                <a:ea typeface="Poppins" pitchFamily="34" charset="-122"/>
                <a:cs typeface="Poppins" pitchFamily="34" charset="-120"/>
              </a:rPr>
              <a:t>Duplicates are dropped</a:t>
            </a:r>
            <a:endParaRPr lang="en-US" sz="1300" dirty="0"/>
          </a:p>
        </p:txBody>
      </p:sp>
      <p:sp>
        <p:nvSpPr>
          <p:cNvPr id="38" name="Text 36"/>
          <p:cNvSpPr/>
          <p:nvPr/>
        </p:nvSpPr>
        <p:spPr>
          <a:xfrm>
            <a:off x="6400800" y="5632704"/>
            <a:ext cx="5166360" cy="411480"/>
          </a:xfrm>
          <a:prstGeom prst="rect">
            <a:avLst/>
          </a:prstGeom>
          <a:noFill/>
          <a:ln/>
        </p:spPr>
        <p:txBody>
          <a:bodyPr wrap="square" lIns="0" tIns="0" rIns="0" bIns="0" rtlCol="0" anchor="t"/>
          <a:lstStyle/>
          <a:p>
            <a:pPr indent="0" marL="0">
              <a:lnSpc>
                <a:spcPct val="102000"/>
              </a:lnSpc>
              <a:buNone/>
            </a:pPr>
            <a:r>
              <a:rPr lang="en-US" sz="1100" dirty="0">
                <a:solidFill>
                  <a:srgbClr val="53565A"/>
                </a:solidFill>
                <a:latin typeface="Poppins" pitchFamily="34" charset="0"/>
                <a:ea typeface="Poppins" pitchFamily="34" charset="-122"/>
                <a:cs typeface="Poppins" pitchFamily="34" charset="-120"/>
              </a:rPr>
              <a:t>If dsarch reports every member as already backed up under a different tar, the placeholder record and its lists are removed.</a:t>
            </a:r>
            <a:endParaRPr lang="en-US" sz="1100" dirty="0"/>
          </a:p>
        </p:txBody>
      </p:sp>
      <p:sp>
        <p:nvSpPr>
          <p:cNvPr id="39" name="Text 37"/>
          <p:cNvSpPr/>
          <p:nvPr/>
        </p:nvSpPr>
        <p:spPr>
          <a:xfrm>
            <a:off x="457200" y="5989320"/>
            <a:ext cx="9966960" cy="365760"/>
          </a:xfrm>
          <a:prstGeom prst="rect">
            <a:avLst/>
          </a:prstGeom>
          <a:noFill/>
          <a:ln/>
        </p:spPr>
        <p:txBody>
          <a:bodyPr wrap="square" lIns="0" tIns="0" rIns="0" bIns="0" rtlCol="0" anchor="ctr"/>
          <a:lstStyle/>
          <a:p>
            <a:pPr algn="ctr" indent="0" marL="0">
              <a:buNone/>
            </a:pPr>
            <a:r>
              <a:rPr lang="en-US" sz="1150" b="1" dirty="0">
                <a:solidFill>
                  <a:srgbClr val="0057C2"/>
                </a:solidFill>
                <a:latin typeface="Poppins" pitchFamily="34" charset="0"/>
                <a:ea typeface="Poppins" pitchFamily="34" charset="-122"/>
                <a:cs typeface="Poppins" pitchFamily="34" charset="-120"/>
              </a:rPr>
              <a:t>In an -A 3 run both phases tar.  </a:t>
            </a:r>
            <a:pPr algn="ctr" indent="0" marL="0">
              <a:buNone/>
            </a:pPr>
            <a:r>
              <a:rPr lang="en-US" sz="1150" dirty="0">
                <a:solidFill>
                  <a:srgbClr val="00357A"/>
                </a:solidFill>
                <a:latin typeface="Poppins" pitchFamily="34" charset="0"/>
                <a:ea typeface="Poppins" pitchFamily="34" charset="-122"/>
                <a:cs typeface="Poppins" pitchFamily="34" charset="-120"/>
              </a:rPr>
              <a:t>A list created this run is tarred right away, and any 'N' record left over from before is tarred too.</a:t>
            </a:r>
            <a:endParaRPr lang="en-US" sz="1150" dirty="0"/>
          </a:p>
        </p:txBody>
      </p:sp>
      <p:sp>
        <p:nvSpPr>
          <p:cNvPr id="40" name="Text 38"/>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11</a:t>
            </a:r>
            <a:endParaRPr lang="en-US" sz="950" dirty="0"/>
          </a:p>
        </p:txBody>
      </p:sp>
      <p:sp>
        <p:nvSpPr>
          <p:cNvPr id="41" name="Text 39"/>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C25E00"/>
                </a:solidFill>
                <a:latin typeface="Poppins" pitchFamily="34" charset="0"/>
                <a:ea typeface="Poppins" pitchFamily="34" charset="-122"/>
                <a:cs typeface="Poppins" pitchFamily="34" charset="-120"/>
              </a:rPr>
              <a:t>ACTIONS</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-A 4 Deep Dive: Transferring to Quasar</a:t>
            </a:r>
            <a:endParaRPr lang="en-US" sz="3200" dirty="0"/>
          </a:p>
        </p:txBody>
      </p:sp>
      <p:sp>
        <p:nvSpPr>
          <p:cNvPr id="4" name="Shape 2"/>
          <p:cNvSpPr/>
          <p:nvPr/>
        </p:nvSpPr>
        <p:spPr>
          <a:xfrm>
            <a:off x="457200" y="1554480"/>
            <a:ext cx="5486400" cy="4480560"/>
          </a:xfrm>
          <a:prstGeom prst="roundRect">
            <a:avLst>
              <a:gd name="adj" fmla="val 2041"/>
            </a:avLst>
          </a:prstGeom>
          <a:solidFill>
            <a:srgbClr val="DCEBF7"/>
          </a:solidFill>
          <a:ln w="12700">
            <a:solidFill>
              <a:srgbClr val="A9D6F2"/>
            </a:solidFill>
            <a:prstDash val="solid"/>
          </a:ln>
        </p:spPr>
      </p:sp>
      <p:sp>
        <p:nvSpPr>
          <p:cNvPr id="5" name="Text 3"/>
          <p:cNvSpPr/>
          <p:nvPr/>
        </p:nvSpPr>
        <p:spPr>
          <a:xfrm>
            <a:off x="685800" y="1737360"/>
            <a:ext cx="5029200" cy="365760"/>
          </a:xfrm>
          <a:prstGeom prst="rect">
            <a:avLst/>
          </a:prstGeom>
          <a:noFill/>
          <a:ln/>
        </p:spPr>
        <p:txBody>
          <a:bodyPr wrap="square" lIns="0" tIns="0" rIns="0" bIns="0" rtlCol="0" anchor="ctr"/>
          <a:lstStyle/>
          <a:p>
            <a:pPr indent="0" marL="0">
              <a:buNone/>
            </a:pPr>
            <a:r>
              <a:rPr lang="en-US" sz="1500" b="1" dirty="0">
                <a:solidFill>
                  <a:srgbClr val="0057C2"/>
                </a:solidFill>
                <a:latin typeface="Poppins" pitchFamily="34" charset="0"/>
                <a:ea typeface="Poppins" pitchFamily="34" charset="-122"/>
                <a:cs typeface="Poppins" pitchFamily="34" charset="-120"/>
              </a:rPr>
              <a:t>For each batch of tar files</a:t>
            </a:r>
            <a:endParaRPr lang="en-US" sz="1500" dirty="0"/>
          </a:p>
        </p:txBody>
      </p:sp>
      <p:sp>
        <p:nvSpPr>
          <p:cNvPr id="6" name="Text 4"/>
          <p:cNvSpPr/>
          <p:nvPr/>
        </p:nvSpPr>
        <p:spPr>
          <a:xfrm>
            <a:off x="822960" y="2194560"/>
            <a:ext cx="4937760" cy="2560320"/>
          </a:xfrm>
          <a:prstGeom prst="rect">
            <a:avLst/>
          </a:prstGeom>
          <a:noFill/>
          <a:ln/>
        </p:spPr>
        <p:txBody>
          <a:bodyPr wrap="square" lIns="0" tIns="0" rIns="0" bIns="0" rtlCol="0" anchor="t"/>
          <a:lstStyle/>
          <a:p>
            <a:pPr marL="254000" indent="-254000">
              <a:lnSpc>
                <a:spcPct val="108000"/>
              </a:lnSpc>
              <a:spcAft>
                <a:spcPts val="900"/>
              </a:spcAft>
              <a:buSzPct val="100000"/>
              <a:buFont typeface="+mj-lt"/>
              <a:buAutoNum type="arabicPeriod" startAt="1"/>
            </a:pPr>
            <a:r>
              <a:rPr lang="en-US" sz="1250" dirty="0">
                <a:solidFill>
                  <a:srgbClr val="00357A"/>
                </a:solidFill>
                <a:latin typeface="Poppins" pitchFamily="34" charset="0"/>
                <a:ea typeface="Poppins" pitchFamily="34" charset="-122"/>
                <a:cs typeface="Poppins" pitchFamily="34" charset="-120"/>
              </a:rPr>
              <a:t>Walk the 'T' records, accumulating tars until the batch hits 90 GB</a:t>
            </a:r>
            <a:endParaRPr lang="en-US" sz="1250" dirty="0"/>
          </a:p>
          <a:p>
            <a:pPr marL="254000" indent="-254000">
              <a:lnSpc>
                <a:spcPct val="108000"/>
              </a:lnSpc>
              <a:spcAft>
                <a:spcPts val="900"/>
              </a:spcAft>
              <a:buSzPct val="100000"/>
              <a:buFont typeface="+mj-lt"/>
              <a:buAutoNum type="arabicPeriod" startAt="1"/>
            </a:pPr>
            <a:r>
              <a:rPr lang="en-US" sz="1250" dirty="0">
                <a:solidFill>
                  <a:srgbClr val="00357A"/>
                </a:solidFill>
                <a:latin typeface="Poppins" pitchFamily="34" charset="0"/>
                <a:ea typeface="Poppins" pitchFamily="34" charset="-122"/>
                <a:cs typeface="Poppins" pitchFamily="34" charset="-120"/>
              </a:rPr>
              <a:t>Confirm each tar still exists on gdex-glade; if not, reset it to 'N'</a:t>
            </a:r>
            <a:endParaRPr lang="en-US" sz="1250" dirty="0"/>
          </a:p>
          <a:p>
            <a:pPr marL="254000" indent="-254000">
              <a:lnSpc>
                <a:spcPct val="108000"/>
              </a:lnSpc>
              <a:spcAft>
                <a:spcPts val="900"/>
              </a:spcAft>
              <a:buSzPct val="100000"/>
              <a:buFont typeface="+mj-lt"/>
              <a:buAutoNum type="arabicPeriod" startAt="1"/>
            </a:pPr>
            <a:r>
              <a:rPr lang="en-US" sz="1250" dirty="0">
                <a:solidFill>
                  <a:srgbClr val="00357A"/>
                </a:solidFill>
                <a:latin typeface="Poppins" pitchFamily="34" charset="0"/>
                <a:ea typeface="Poppins" pitchFamily="34" charset="-122"/>
                <a:cs typeface="Poppins" pitchFamily="34" charset="-120"/>
              </a:rPr>
              <a:t>Hand the whole list to dsglobus as one transfer — Drdata first, then Backup</a:t>
            </a:r>
            <a:endParaRPr lang="en-US" sz="1250" dirty="0"/>
          </a:p>
          <a:p>
            <a:pPr marL="254000" indent="-254000">
              <a:lnSpc>
                <a:spcPct val="108000"/>
              </a:lnSpc>
              <a:spcAft>
                <a:spcPts val="900"/>
              </a:spcAft>
              <a:buSzPct val="100000"/>
              <a:buFont typeface="+mj-lt"/>
              <a:buAutoNum type="arabicPeriod" startAt="1"/>
            </a:pPr>
            <a:r>
              <a:rPr lang="en-US" sz="1250" dirty="0">
                <a:solidFill>
                  <a:srgbClr val="00357A"/>
                </a:solidFill>
                <a:latin typeface="Poppins" pitchFamily="34" charset="0"/>
                <a:ea typeface="Poppins" pitchFamily="34" charset="-122"/>
                <a:cs typeface="Poppins" pitchFamily="34" charset="-120"/>
              </a:rPr>
              <a:t>Wait for both transfers to report finished</a:t>
            </a:r>
            <a:endParaRPr lang="en-US" sz="1250" dirty="0"/>
          </a:p>
          <a:p>
            <a:pPr marL="254000" indent="-254000">
              <a:lnSpc>
                <a:spcPct val="108000"/>
              </a:lnSpc>
              <a:buSzPct val="100000"/>
              <a:buFont typeface="+mj-lt"/>
              <a:buAutoNum type="arabicPeriod" startAt="1"/>
            </a:pPr>
            <a:r>
              <a:rPr lang="en-US" sz="1250" dirty="0">
                <a:solidFill>
                  <a:srgbClr val="00357A"/>
                </a:solidFill>
                <a:latin typeface="Poppins" pitchFamily="34" charset="0"/>
                <a:ea typeface="Poppins" pitchFamily="34" charset="-122"/>
                <a:cs typeface="Poppins" pitchFamily="34" charset="-120"/>
              </a:rPr>
              <a:t>Delete the local tars and set every record to status 'A'</a:t>
            </a:r>
            <a:endParaRPr lang="en-US" sz="1250" dirty="0"/>
          </a:p>
        </p:txBody>
      </p:sp>
      <p:sp>
        <p:nvSpPr>
          <p:cNvPr id="7" name="Shape 5"/>
          <p:cNvSpPr/>
          <p:nvPr/>
        </p:nvSpPr>
        <p:spPr>
          <a:xfrm>
            <a:off x="685800" y="4937760"/>
            <a:ext cx="5074920" cy="960120"/>
          </a:xfrm>
          <a:prstGeom prst="roundRect">
            <a:avLst>
              <a:gd name="adj" fmla="val 7619"/>
            </a:avLst>
          </a:prstGeom>
          <a:solidFill>
            <a:srgbClr val="FFFFFF"/>
          </a:solidFill>
          <a:ln w="19050">
            <a:solidFill>
              <a:srgbClr val="C25E00"/>
            </a:solidFill>
            <a:prstDash val="solid"/>
          </a:ln>
        </p:spPr>
      </p:sp>
      <p:sp>
        <p:nvSpPr>
          <p:cNvPr id="8" name="Text 6"/>
          <p:cNvSpPr/>
          <p:nvPr/>
        </p:nvSpPr>
        <p:spPr>
          <a:xfrm>
            <a:off x="868680" y="4983480"/>
            <a:ext cx="4754880" cy="868680"/>
          </a:xfrm>
          <a:prstGeom prst="rect">
            <a:avLst/>
          </a:prstGeom>
          <a:noFill/>
          <a:ln/>
        </p:spPr>
        <p:txBody>
          <a:bodyPr wrap="square" lIns="0" tIns="0" rIns="0" bIns="0" rtlCol="0" anchor="ctr"/>
          <a:lstStyle/>
          <a:p>
            <a:pPr indent="0" marL="0">
              <a:lnSpc>
                <a:spcPct val="105000"/>
              </a:lnSpc>
              <a:buNone/>
            </a:pPr>
            <a:r>
              <a:rPr lang="en-US" sz="1200" b="1" dirty="0">
                <a:solidFill>
                  <a:srgbClr val="C25E00"/>
                </a:solidFill>
                <a:latin typeface="Poppins" pitchFamily="34" charset="0"/>
                <a:ea typeface="Poppins" pitchFamily="34" charset="-122"/>
                <a:cs typeface="Poppins" pitchFamily="34" charset="-120"/>
              </a:rPr>
              <a:t>All or nothing.  </a:t>
            </a:r>
            <a:pPr indent="0" marL="0">
              <a:lnSpc>
                <a:spcPct val="105000"/>
              </a:lnSpc>
              <a:buNone/>
            </a:pPr>
            <a:r>
              <a:rPr lang="en-US" sz="1200" dirty="0">
                <a:solidFill>
                  <a:srgbClr val="00357A"/>
                </a:solidFill>
                <a:latin typeface="Poppins" pitchFamily="34" charset="0"/>
                <a:ea typeface="Poppins" pitchFamily="34" charset="-122"/>
                <a:cs typeface="Poppins" pitchFamily="34" charset="-120"/>
              </a:rPr>
              <a:t>If either copy fails, no local tar is deleted and no record advances — the whole batch is retried by a later run.</a:t>
            </a:r>
            <a:endParaRPr lang="en-US" sz="1200" dirty="0"/>
          </a:p>
        </p:txBody>
      </p:sp>
      <p:sp>
        <p:nvSpPr>
          <p:cNvPr id="9" name="Text 7"/>
          <p:cNvSpPr/>
          <p:nvPr/>
        </p:nvSpPr>
        <p:spPr>
          <a:xfrm>
            <a:off x="6199632" y="1572768"/>
            <a:ext cx="5532120" cy="320040"/>
          </a:xfrm>
          <a:prstGeom prst="rect">
            <a:avLst/>
          </a:prstGeom>
          <a:noFill/>
          <a:ln/>
        </p:spPr>
        <p:txBody>
          <a:bodyPr wrap="square" lIns="0" tIns="0" rIns="0" bIns="0" rtlCol="0" anchor="ctr"/>
          <a:lstStyle/>
          <a:p>
            <a:pPr indent="0" marL="0">
              <a:buNone/>
            </a:pPr>
            <a:r>
              <a:rPr lang="en-US" sz="1500" b="1" dirty="0">
                <a:solidFill>
                  <a:srgbClr val="0057C2"/>
                </a:solidFill>
                <a:latin typeface="Poppins" pitchFamily="34" charset="0"/>
                <a:ea typeface="Poppins" pitchFamily="34" charset="-122"/>
                <a:cs typeface="Poppins" pitchFamily="34" charset="-120"/>
              </a:rPr>
              <a:t>Why batch to 90 GB?</a:t>
            </a:r>
            <a:endParaRPr lang="en-US" sz="1500" dirty="0"/>
          </a:p>
        </p:txBody>
      </p:sp>
      <p:sp>
        <p:nvSpPr>
          <p:cNvPr id="10" name="Shape 8"/>
          <p:cNvSpPr/>
          <p:nvPr/>
        </p:nvSpPr>
        <p:spPr>
          <a:xfrm>
            <a:off x="6199632" y="1938528"/>
            <a:ext cx="5532120" cy="1600200"/>
          </a:xfrm>
          <a:prstGeom prst="roundRect">
            <a:avLst>
              <a:gd name="adj" fmla="val 5714"/>
            </a:avLst>
          </a:prstGeom>
          <a:solidFill>
            <a:srgbClr val="DCEBF7"/>
          </a:solidFill>
          <a:ln w="12700">
            <a:solidFill>
              <a:srgbClr val="A9D6F2"/>
            </a:solidFill>
            <a:prstDash val="solid"/>
          </a:ln>
        </p:spPr>
      </p:sp>
      <p:sp>
        <p:nvSpPr>
          <p:cNvPr id="11" name="Shape 9"/>
          <p:cNvSpPr/>
          <p:nvPr/>
        </p:nvSpPr>
        <p:spPr>
          <a:xfrm>
            <a:off x="6446520" y="2148840"/>
            <a:ext cx="457200" cy="347472"/>
          </a:xfrm>
          <a:prstGeom prst="roundRect">
            <a:avLst>
              <a:gd name="adj" fmla="val 10526"/>
            </a:avLst>
          </a:prstGeom>
          <a:solidFill>
            <a:srgbClr val="0097A7"/>
          </a:solidFill>
          <a:ln/>
        </p:spPr>
      </p:sp>
      <p:sp>
        <p:nvSpPr>
          <p:cNvPr id="12" name="Shape 10"/>
          <p:cNvSpPr/>
          <p:nvPr/>
        </p:nvSpPr>
        <p:spPr>
          <a:xfrm>
            <a:off x="6995160" y="2148840"/>
            <a:ext cx="457200" cy="347472"/>
          </a:xfrm>
          <a:prstGeom prst="roundRect">
            <a:avLst>
              <a:gd name="adj" fmla="val 10526"/>
            </a:avLst>
          </a:prstGeom>
          <a:solidFill>
            <a:srgbClr val="0097A7"/>
          </a:solidFill>
          <a:ln/>
        </p:spPr>
      </p:sp>
      <p:sp>
        <p:nvSpPr>
          <p:cNvPr id="13" name="Shape 11"/>
          <p:cNvSpPr/>
          <p:nvPr/>
        </p:nvSpPr>
        <p:spPr>
          <a:xfrm>
            <a:off x="7543800" y="2148840"/>
            <a:ext cx="457200" cy="347472"/>
          </a:xfrm>
          <a:prstGeom prst="roundRect">
            <a:avLst>
              <a:gd name="adj" fmla="val 10526"/>
            </a:avLst>
          </a:prstGeom>
          <a:solidFill>
            <a:srgbClr val="0097A7"/>
          </a:solidFill>
          <a:ln/>
        </p:spPr>
      </p:sp>
      <p:sp>
        <p:nvSpPr>
          <p:cNvPr id="14" name="Shape 12"/>
          <p:cNvSpPr/>
          <p:nvPr/>
        </p:nvSpPr>
        <p:spPr>
          <a:xfrm>
            <a:off x="8092440" y="2148840"/>
            <a:ext cx="457200" cy="347472"/>
          </a:xfrm>
          <a:prstGeom prst="roundRect">
            <a:avLst>
              <a:gd name="adj" fmla="val 10526"/>
            </a:avLst>
          </a:prstGeom>
          <a:solidFill>
            <a:srgbClr val="0097A7"/>
          </a:solidFill>
          <a:ln/>
        </p:spPr>
      </p:sp>
      <p:sp>
        <p:nvSpPr>
          <p:cNvPr id="15" name="Shape 13"/>
          <p:cNvSpPr/>
          <p:nvPr/>
        </p:nvSpPr>
        <p:spPr>
          <a:xfrm>
            <a:off x="8641080" y="2148840"/>
            <a:ext cx="457200" cy="347472"/>
          </a:xfrm>
          <a:prstGeom prst="roundRect">
            <a:avLst>
              <a:gd name="adj" fmla="val 10526"/>
            </a:avLst>
          </a:prstGeom>
          <a:solidFill>
            <a:srgbClr val="0097A7"/>
          </a:solidFill>
          <a:ln/>
        </p:spPr>
      </p:sp>
      <p:sp>
        <p:nvSpPr>
          <p:cNvPr id="16" name="Shape 14"/>
          <p:cNvSpPr/>
          <p:nvPr/>
        </p:nvSpPr>
        <p:spPr>
          <a:xfrm>
            <a:off x="9189720" y="2148840"/>
            <a:ext cx="457200" cy="347472"/>
          </a:xfrm>
          <a:prstGeom prst="roundRect">
            <a:avLst>
              <a:gd name="adj" fmla="val 10526"/>
            </a:avLst>
          </a:prstGeom>
          <a:solidFill>
            <a:srgbClr val="0097A7"/>
          </a:solidFill>
          <a:ln/>
        </p:spPr>
      </p:sp>
      <p:sp>
        <p:nvSpPr>
          <p:cNvPr id="17" name="Shape 15"/>
          <p:cNvSpPr/>
          <p:nvPr/>
        </p:nvSpPr>
        <p:spPr>
          <a:xfrm>
            <a:off x="9738360" y="2148840"/>
            <a:ext cx="457200" cy="347472"/>
          </a:xfrm>
          <a:prstGeom prst="roundRect">
            <a:avLst>
              <a:gd name="adj" fmla="val 10526"/>
            </a:avLst>
          </a:prstGeom>
          <a:solidFill>
            <a:srgbClr val="0097A7"/>
          </a:solidFill>
          <a:ln/>
        </p:spPr>
      </p:sp>
      <p:sp>
        <p:nvSpPr>
          <p:cNvPr id="18" name="Shape 16"/>
          <p:cNvSpPr/>
          <p:nvPr/>
        </p:nvSpPr>
        <p:spPr>
          <a:xfrm>
            <a:off x="10287000" y="2148840"/>
            <a:ext cx="457200" cy="347472"/>
          </a:xfrm>
          <a:prstGeom prst="roundRect">
            <a:avLst>
              <a:gd name="adj" fmla="val 10526"/>
            </a:avLst>
          </a:prstGeom>
          <a:solidFill>
            <a:srgbClr val="0097A7"/>
          </a:solidFill>
          <a:ln/>
        </p:spPr>
      </p:sp>
      <p:sp>
        <p:nvSpPr>
          <p:cNvPr id="19" name="Shape 17"/>
          <p:cNvSpPr/>
          <p:nvPr/>
        </p:nvSpPr>
        <p:spPr>
          <a:xfrm>
            <a:off x="10835640" y="2148840"/>
            <a:ext cx="457200" cy="347472"/>
          </a:xfrm>
          <a:prstGeom prst="roundRect">
            <a:avLst>
              <a:gd name="adj" fmla="val 10526"/>
            </a:avLst>
          </a:prstGeom>
          <a:solidFill>
            <a:srgbClr val="0097A7"/>
          </a:solidFill>
          <a:ln/>
        </p:spPr>
      </p:sp>
      <p:sp>
        <p:nvSpPr>
          <p:cNvPr id="20" name="Shape 18"/>
          <p:cNvSpPr/>
          <p:nvPr/>
        </p:nvSpPr>
        <p:spPr>
          <a:xfrm>
            <a:off x="6446520" y="2606040"/>
            <a:ext cx="457200" cy="347472"/>
          </a:xfrm>
          <a:prstGeom prst="roundRect">
            <a:avLst>
              <a:gd name="adj" fmla="val 10526"/>
            </a:avLst>
          </a:prstGeom>
          <a:solidFill>
            <a:srgbClr val="0097A7"/>
          </a:solidFill>
          <a:ln/>
        </p:spPr>
      </p:sp>
      <p:sp>
        <p:nvSpPr>
          <p:cNvPr id="21" name="Shape 19"/>
          <p:cNvSpPr/>
          <p:nvPr/>
        </p:nvSpPr>
        <p:spPr>
          <a:xfrm>
            <a:off x="6995160" y="2606040"/>
            <a:ext cx="457200" cy="347472"/>
          </a:xfrm>
          <a:prstGeom prst="roundRect">
            <a:avLst>
              <a:gd name="adj" fmla="val 10526"/>
            </a:avLst>
          </a:prstGeom>
          <a:solidFill>
            <a:srgbClr val="0097A7"/>
          </a:solidFill>
          <a:ln/>
        </p:spPr>
      </p:sp>
      <p:sp>
        <p:nvSpPr>
          <p:cNvPr id="22" name="Shape 20"/>
          <p:cNvSpPr/>
          <p:nvPr/>
        </p:nvSpPr>
        <p:spPr>
          <a:xfrm>
            <a:off x="7543800" y="2606040"/>
            <a:ext cx="457200" cy="347472"/>
          </a:xfrm>
          <a:prstGeom prst="roundRect">
            <a:avLst>
              <a:gd name="adj" fmla="val 10526"/>
            </a:avLst>
          </a:prstGeom>
          <a:solidFill>
            <a:srgbClr val="0097A7"/>
          </a:solidFill>
          <a:ln/>
        </p:spPr>
      </p:sp>
      <p:sp>
        <p:nvSpPr>
          <p:cNvPr id="23" name="Shape 21"/>
          <p:cNvSpPr/>
          <p:nvPr/>
        </p:nvSpPr>
        <p:spPr>
          <a:xfrm>
            <a:off x="8092440" y="2606040"/>
            <a:ext cx="457200" cy="347472"/>
          </a:xfrm>
          <a:prstGeom prst="roundRect">
            <a:avLst>
              <a:gd name="adj" fmla="val 10526"/>
            </a:avLst>
          </a:prstGeom>
          <a:solidFill>
            <a:srgbClr val="0097A7"/>
          </a:solidFill>
          <a:ln/>
        </p:spPr>
      </p:sp>
      <p:sp>
        <p:nvSpPr>
          <p:cNvPr id="24" name="Shape 22"/>
          <p:cNvSpPr/>
          <p:nvPr/>
        </p:nvSpPr>
        <p:spPr>
          <a:xfrm>
            <a:off x="8641080" y="2606040"/>
            <a:ext cx="457200" cy="347472"/>
          </a:xfrm>
          <a:prstGeom prst="roundRect">
            <a:avLst>
              <a:gd name="adj" fmla="val 10526"/>
            </a:avLst>
          </a:prstGeom>
          <a:solidFill>
            <a:srgbClr val="0097A7"/>
          </a:solidFill>
          <a:ln/>
        </p:spPr>
      </p:sp>
      <p:sp>
        <p:nvSpPr>
          <p:cNvPr id="25" name="Shape 23"/>
          <p:cNvSpPr/>
          <p:nvPr/>
        </p:nvSpPr>
        <p:spPr>
          <a:xfrm>
            <a:off x="9189720" y="2606040"/>
            <a:ext cx="457200" cy="347472"/>
          </a:xfrm>
          <a:prstGeom prst="roundRect">
            <a:avLst>
              <a:gd name="adj" fmla="val 10526"/>
            </a:avLst>
          </a:prstGeom>
          <a:solidFill>
            <a:srgbClr val="0097A7"/>
          </a:solidFill>
          <a:ln/>
        </p:spPr>
      </p:sp>
      <p:sp>
        <p:nvSpPr>
          <p:cNvPr id="26" name="Shape 24"/>
          <p:cNvSpPr/>
          <p:nvPr/>
        </p:nvSpPr>
        <p:spPr>
          <a:xfrm>
            <a:off x="9738360" y="2606040"/>
            <a:ext cx="457200" cy="347472"/>
          </a:xfrm>
          <a:prstGeom prst="roundRect">
            <a:avLst>
              <a:gd name="adj" fmla="val 10526"/>
            </a:avLst>
          </a:prstGeom>
          <a:solidFill>
            <a:srgbClr val="0097A7"/>
          </a:solidFill>
          <a:ln/>
        </p:spPr>
      </p:sp>
      <p:sp>
        <p:nvSpPr>
          <p:cNvPr id="27" name="Shape 25"/>
          <p:cNvSpPr/>
          <p:nvPr/>
        </p:nvSpPr>
        <p:spPr>
          <a:xfrm>
            <a:off x="10287000" y="2606040"/>
            <a:ext cx="457200" cy="347472"/>
          </a:xfrm>
          <a:prstGeom prst="roundRect">
            <a:avLst>
              <a:gd name="adj" fmla="val 10526"/>
            </a:avLst>
          </a:prstGeom>
          <a:solidFill>
            <a:srgbClr val="0097A7"/>
          </a:solidFill>
          <a:ln/>
        </p:spPr>
      </p:sp>
      <p:sp>
        <p:nvSpPr>
          <p:cNvPr id="28" name="Shape 26"/>
          <p:cNvSpPr/>
          <p:nvPr/>
        </p:nvSpPr>
        <p:spPr>
          <a:xfrm>
            <a:off x="10835640" y="2606040"/>
            <a:ext cx="457200" cy="347472"/>
          </a:xfrm>
          <a:prstGeom prst="roundRect">
            <a:avLst>
              <a:gd name="adj" fmla="val 10526"/>
            </a:avLst>
          </a:prstGeom>
          <a:solidFill>
            <a:srgbClr val="0097A7"/>
          </a:solidFill>
          <a:ln/>
        </p:spPr>
      </p:sp>
      <p:sp>
        <p:nvSpPr>
          <p:cNvPr id="29" name="Text 27"/>
          <p:cNvSpPr/>
          <p:nvPr/>
        </p:nvSpPr>
        <p:spPr>
          <a:xfrm>
            <a:off x="6446520" y="3108960"/>
            <a:ext cx="5029200" cy="320040"/>
          </a:xfrm>
          <a:prstGeom prst="rect">
            <a:avLst/>
          </a:prstGeom>
          <a:noFill/>
          <a:ln/>
        </p:spPr>
        <p:txBody>
          <a:bodyPr wrap="square" lIns="0" tIns="0" rIns="0" bIns="0" rtlCol="0" anchor="ctr"/>
          <a:lstStyle/>
          <a:p>
            <a:pPr indent="0" marL="0">
              <a:buNone/>
            </a:pPr>
            <a:r>
              <a:rPr lang="en-US" sz="1300" b="1" dirty="0">
                <a:solidFill>
                  <a:srgbClr val="00357A"/>
                </a:solidFill>
                <a:latin typeface="Poppins" pitchFamily="34" charset="0"/>
                <a:ea typeface="Poppins" pitchFamily="34" charset="-122"/>
                <a:cs typeface="Poppins" pitchFamily="34" charset="-120"/>
              </a:rPr>
              <a:t>18 tar files × 5 GB  =  one 90 GB dsglobus transfer</a:t>
            </a:r>
            <a:endParaRPr lang="en-US" sz="1300" dirty="0"/>
          </a:p>
        </p:txBody>
      </p:sp>
      <p:sp>
        <p:nvSpPr>
          <p:cNvPr id="30" name="Text 28"/>
          <p:cNvSpPr/>
          <p:nvPr/>
        </p:nvSpPr>
        <p:spPr>
          <a:xfrm>
            <a:off x="6199632" y="3611880"/>
            <a:ext cx="5532120" cy="457200"/>
          </a:xfrm>
          <a:prstGeom prst="rect">
            <a:avLst/>
          </a:prstGeom>
          <a:noFill/>
          <a:ln/>
        </p:spPr>
        <p:txBody>
          <a:bodyPr wrap="square" lIns="0" tIns="0" rIns="0" bIns="0" rtlCol="0" anchor="t"/>
          <a:lstStyle/>
          <a:p>
            <a:pPr indent="0" marL="0">
              <a:lnSpc>
                <a:spcPct val="103000"/>
              </a:lnSpc>
              <a:buNone/>
            </a:pPr>
            <a:r>
              <a:rPr lang="en-US" sz="1100" dirty="0">
                <a:solidFill>
                  <a:srgbClr val="53565A"/>
                </a:solidFill>
                <a:latin typeface="Poppins" pitchFamily="34" charset="0"/>
                <a:ea typeface="Poppins" pitchFamily="34" charset="-122"/>
                <a:cs typeface="Poppins" pitchFamily="34" charset="-120"/>
              </a:rPr>
              <a:t>dsarch AQ can upload a tar as it builds it, but only one at a time. dsquasar calls dsglobus with the whole list, so a batch costs one request, not eighteen.</a:t>
            </a:r>
            <a:endParaRPr lang="en-US" sz="1100" dirty="0"/>
          </a:p>
        </p:txBody>
      </p:sp>
      <p:sp>
        <p:nvSpPr>
          <p:cNvPr id="31" name="Text 29"/>
          <p:cNvSpPr/>
          <p:nvPr/>
        </p:nvSpPr>
        <p:spPr>
          <a:xfrm>
            <a:off x="6199632" y="4133088"/>
            <a:ext cx="5532120" cy="320040"/>
          </a:xfrm>
          <a:prstGeom prst="rect">
            <a:avLst/>
          </a:prstGeom>
          <a:noFill/>
          <a:ln/>
        </p:spPr>
        <p:txBody>
          <a:bodyPr wrap="square" lIns="0" tIns="0" rIns="0" bIns="0" rtlCol="0" anchor="ctr"/>
          <a:lstStyle/>
          <a:p>
            <a:pPr indent="0" marL="0">
              <a:buNone/>
            </a:pPr>
            <a:r>
              <a:rPr lang="en-US" sz="1400" b="1" dirty="0">
                <a:solidFill>
                  <a:srgbClr val="0057C2"/>
                </a:solidFill>
                <a:latin typeface="Poppins" pitchFamily="34" charset="0"/>
                <a:ea typeface="Poppins" pitchFamily="34" charset="-122"/>
                <a:cs typeface="Poppins" pitchFamily="34" charset="-120"/>
              </a:rPr>
              <a:t>Source and destination paths</a:t>
            </a:r>
            <a:endParaRPr lang="en-US" sz="1400" dirty="0"/>
          </a:p>
        </p:txBody>
      </p:sp>
      <p:sp>
        <p:nvSpPr>
          <p:cNvPr id="32" name="Shape 30"/>
          <p:cNvSpPr/>
          <p:nvPr/>
        </p:nvSpPr>
        <p:spPr>
          <a:xfrm>
            <a:off x="6199632" y="4462272"/>
            <a:ext cx="5532120" cy="914400"/>
          </a:xfrm>
          <a:prstGeom prst="roundRect">
            <a:avLst>
              <a:gd name="adj" fmla="val 5000"/>
            </a:avLst>
          </a:prstGeom>
          <a:solidFill>
            <a:srgbClr val="011837"/>
          </a:solidFill>
          <a:ln/>
        </p:spPr>
      </p:sp>
      <p:sp>
        <p:nvSpPr>
          <p:cNvPr id="33" name="Text 31"/>
          <p:cNvSpPr/>
          <p:nvPr/>
        </p:nvSpPr>
        <p:spPr>
          <a:xfrm>
            <a:off x="6327648" y="4462272"/>
            <a:ext cx="5276088" cy="914400"/>
          </a:xfrm>
          <a:prstGeom prst="rect">
            <a:avLst/>
          </a:prstGeom>
          <a:noFill/>
          <a:ln/>
        </p:spPr>
        <p:txBody>
          <a:bodyPr wrap="square" lIns="0" tIns="0" rIns="0" bIns="0" rtlCol="0" anchor="ctr"/>
          <a:lstStyle/>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from  /data/gdex-quasar/d123456/&lt;tar&gt;      (Web)</a:t>
            </a:r>
            <a:endParaRPr lang="en-US" sz="1050" dirty="0"/>
          </a:p>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      /decsdata/gdex-quasar/d123456/&lt;tar&gt;  (Saved)</a:t>
            </a:r>
            <a:endParaRPr lang="en-US" sz="1050" dirty="0"/>
          </a:p>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to    /d123456/G001/&lt;tar&gt;</a:t>
            </a:r>
            <a:endParaRPr lang="en-US" sz="1050" dirty="0"/>
          </a:p>
        </p:txBody>
      </p:sp>
      <p:sp>
        <p:nvSpPr>
          <p:cNvPr id="34" name="Shape 32"/>
          <p:cNvSpPr/>
          <p:nvPr/>
        </p:nvSpPr>
        <p:spPr>
          <a:xfrm>
            <a:off x="6199632" y="5486400"/>
            <a:ext cx="5532120" cy="548640"/>
          </a:xfrm>
          <a:prstGeom prst="roundRect">
            <a:avLst>
              <a:gd name="adj" fmla="val 13333"/>
            </a:avLst>
          </a:prstGeom>
          <a:solidFill>
            <a:srgbClr val="C7E4F5"/>
          </a:solidFill>
          <a:ln w="12700">
            <a:solidFill>
              <a:srgbClr val="A9D6F2"/>
            </a:solidFill>
            <a:prstDash val="solid"/>
          </a:ln>
        </p:spPr>
      </p:sp>
      <p:sp>
        <p:nvSpPr>
          <p:cNvPr id="35" name="Text 33"/>
          <p:cNvSpPr/>
          <p:nvPr/>
        </p:nvSpPr>
        <p:spPr>
          <a:xfrm>
            <a:off x="6382512" y="5486400"/>
            <a:ext cx="5166360" cy="548640"/>
          </a:xfrm>
          <a:prstGeom prst="rect">
            <a:avLst/>
          </a:prstGeom>
          <a:noFill/>
          <a:ln/>
        </p:spPr>
        <p:txBody>
          <a:bodyPr wrap="square" lIns="0" tIns="0" rIns="0" bIns="0" rtlCol="0" anchor="ctr"/>
          <a:lstStyle/>
          <a:p>
            <a:pPr indent="0" marL="0">
              <a:buNone/>
            </a:pPr>
            <a:r>
              <a:rPr lang="en-US" sz="1150" b="1" dirty="0">
                <a:solidFill>
                  <a:srgbClr val="0057C2"/>
                </a:solidFill>
                <a:latin typeface="Poppins" pitchFamily="34" charset="0"/>
                <a:ea typeface="Poppins" pitchFamily="34" charset="-122"/>
                <a:cs typeface="Poppins" pitchFamily="34" charset="-120"/>
              </a:rPr>
              <a:t>Single worker only.  </a:t>
            </a:r>
            <a:pPr indent="0" marL="0">
              <a:buNone/>
            </a:pPr>
            <a:r>
              <a:rPr lang="en-US" sz="1150" dirty="0">
                <a:solidFill>
                  <a:srgbClr val="00357A"/>
                </a:solidFill>
                <a:latin typeface="Poppins" pitchFamily="34" charset="0"/>
                <a:ea typeface="Poppins" pitchFamily="34" charset="-122"/>
                <a:cs typeface="Poppins" pitchFamily="34" charset="-120"/>
              </a:rPr>
              <a:t>Transfers claim tars without dataset locks, so -A 4 never runs two workers.</a:t>
            </a:r>
            <a:endParaRPr lang="en-US" sz="1150" dirty="0"/>
          </a:p>
        </p:txBody>
      </p:sp>
      <p:sp>
        <p:nvSpPr>
          <p:cNvPr id="36" name="Text 34"/>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12</a:t>
            </a:r>
            <a:endParaRPr lang="en-US" sz="950" dirty="0"/>
          </a:p>
        </p:txBody>
      </p:sp>
      <p:sp>
        <p:nvSpPr>
          <p:cNvPr id="37" name="Text 35"/>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C25E00"/>
                </a:solidFill>
                <a:latin typeface="Poppins" pitchFamily="34" charset="0"/>
                <a:ea typeface="Poppins" pitchFamily="34" charset="-122"/>
                <a:cs typeface="Poppins" pitchFamily="34" charset="-120"/>
              </a:rPr>
              <a:t>-C CHANGEDAYS</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Re-Backing Up Files That Changed</a:t>
            </a:r>
            <a:endParaRPr lang="en-US" sz="3200" dirty="0"/>
          </a:p>
        </p:txBody>
      </p:sp>
      <p:sp>
        <p:nvSpPr>
          <p:cNvPr id="4" name="Text 2"/>
          <p:cNvSpPr/>
          <p:nvPr/>
        </p:nvSpPr>
        <p:spPr>
          <a:xfrm>
            <a:off x="457200" y="1463040"/>
            <a:ext cx="5532120" cy="914400"/>
          </a:xfrm>
          <a:prstGeom prst="rect">
            <a:avLst/>
          </a:prstGeom>
          <a:noFill/>
          <a:ln/>
        </p:spPr>
        <p:txBody>
          <a:bodyPr wrap="square" lIns="0" tIns="0" rIns="0" bIns="0" rtlCol="0" anchor="t"/>
          <a:lstStyle/>
          <a:p>
            <a:pPr indent="0" marL="0">
              <a:lnSpc>
                <a:spcPct val="110000"/>
              </a:lnSpc>
              <a:buNone/>
            </a:pPr>
            <a:r>
              <a:rPr lang="en-US" sz="1350" dirty="0">
                <a:solidFill>
                  <a:srgbClr val="00357A"/>
                </a:solidFill>
                <a:latin typeface="Poppins" pitchFamily="34" charset="0"/>
                <a:ea typeface="Poppins" pitchFamily="34" charset="-122"/>
                <a:cs typeface="Poppins" pitchFamily="34" charset="-120"/>
              </a:rPr>
              <a:t>A file already on tape can be replaced on disk: a corrected version, a re-processed year. The tape copy is then stale. -c looks past the “never backed up” test and picks up files whose GDEXDB record changed recently.</a:t>
            </a:r>
            <a:endParaRPr lang="en-US" sz="1350" dirty="0"/>
          </a:p>
        </p:txBody>
      </p:sp>
      <p:sp>
        <p:nvSpPr>
          <p:cNvPr id="5" name="Shape 3"/>
          <p:cNvSpPr/>
          <p:nvPr/>
        </p:nvSpPr>
        <p:spPr>
          <a:xfrm>
            <a:off x="457200" y="2514600"/>
            <a:ext cx="5532120" cy="502920"/>
          </a:xfrm>
          <a:prstGeom prst="roundRect">
            <a:avLst>
              <a:gd name="adj" fmla="val 9091"/>
            </a:avLst>
          </a:prstGeom>
          <a:solidFill>
            <a:srgbClr val="011837"/>
          </a:solidFill>
          <a:ln/>
        </p:spPr>
      </p:sp>
      <p:sp>
        <p:nvSpPr>
          <p:cNvPr id="6" name="Text 4"/>
          <p:cNvSpPr/>
          <p:nvPr/>
        </p:nvSpPr>
        <p:spPr>
          <a:xfrm>
            <a:off x="585216" y="2514600"/>
            <a:ext cx="5276088" cy="502920"/>
          </a:xfrm>
          <a:prstGeom prst="rect">
            <a:avLst/>
          </a:prstGeom>
          <a:noFill/>
          <a:ln/>
        </p:spPr>
        <p:txBody>
          <a:bodyPr wrap="square" lIns="0" tIns="0" rIns="0" bIns="0" rtlCol="0" anchor="ctr"/>
          <a:lstStyle/>
          <a:p>
            <a:pPr indent="0" marL="0">
              <a:lnSpc>
                <a:spcPct val="100000"/>
              </a:lnSpc>
              <a:buNone/>
            </a:pPr>
            <a:r>
              <a:rPr lang="en-US" sz="1400" dirty="0">
                <a:solidFill>
                  <a:srgbClr val="0097A7"/>
                </a:solidFill>
                <a:latin typeface="Courier New" pitchFamily="34" charset="0"/>
                <a:ea typeface="Courier New" pitchFamily="34" charset="-122"/>
                <a:cs typeface="Courier New" pitchFamily="34" charset="-120"/>
              </a:rPr>
              <a:t>dsquasar -t d123456 -A 1 -c 30</a:t>
            </a:r>
            <a:endParaRPr lang="en-US" sz="1400" dirty="0"/>
          </a:p>
        </p:txBody>
      </p:sp>
      <p:sp>
        <p:nvSpPr>
          <p:cNvPr id="7" name="Text 5"/>
          <p:cNvSpPr/>
          <p:nvPr/>
        </p:nvSpPr>
        <p:spPr>
          <a:xfrm>
            <a:off x="457200" y="3154680"/>
            <a:ext cx="5532120" cy="457200"/>
          </a:xfrm>
          <a:prstGeom prst="rect">
            <a:avLst/>
          </a:prstGeom>
          <a:noFill/>
          <a:ln/>
        </p:spPr>
        <p:txBody>
          <a:bodyPr wrap="square" lIns="0" tIns="0" rIns="0" bIns="0" rtlCol="0" anchor="t"/>
          <a:lstStyle/>
          <a:p>
            <a:pPr indent="0" marL="0">
              <a:buNone/>
            </a:pPr>
            <a:r>
              <a:rPr lang="en-US" sz="1150" dirty="0">
                <a:solidFill>
                  <a:srgbClr val="53565A"/>
                </a:solidFill>
                <a:latin typeface="Poppins" pitchFamily="34" charset="0"/>
                <a:ea typeface="Poppins" pitchFamily="34" charset="-122"/>
                <a:cs typeface="Poppins" pitchFamily="34" charset="-120"/>
              </a:rPr>
              <a:t>Only meaningful with -A 1 — the gather step is what decides which files land in the input lists. Must be greater than 0.</a:t>
            </a:r>
            <a:endParaRPr lang="en-US" sz="1150" dirty="0"/>
          </a:p>
        </p:txBody>
      </p:sp>
      <p:sp>
        <p:nvSpPr>
          <p:cNvPr id="8" name="Text 6"/>
          <p:cNvSpPr/>
          <p:nvPr/>
        </p:nvSpPr>
        <p:spPr>
          <a:xfrm>
            <a:off x="457200" y="3703320"/>
            <a:ext cx="5532120" cy="320040"/>
          </a:xfrm>
          <a:prstGeom prst="rect">
            <a:avLst/>
          </a:prstGeom>
          <a:noFill/>
          <a:ln/>
        </p:spPr>
        <p:txBody>
          <a:bodyPr wrap="square" lIns="0" tIns="0" rIns="0" bIns="0" rtlCol="0" anchor="ctr"/>
          <a:lstStyle/>
          <a:p>
            <a:pPr indent="0" marL="0">
              <a:buNone/>
            </a:pPr>
            <a:r>
              <a:rPr lang="en-US" sz="1500" b="1" dirty="0">
                <a:solidFill>
                  <a:srgbClr val="0057C2"/>
                </a:solidFill>
                <a:latin typeface="Poppins" pitchFamily="34" charset="0"/>
                <a:ea typeface="Poppins" pitchFamily="34" charset="-122"/>
                <a:cs typeface="Poppins" pitchFamily="34" charset="-120"/>
              </a:rPr>
              <a:t>What changes</a:t>
            </a:r>
            <a:endParaRPr lang="en-US" sz="1500" dirty="0"/>
          </a:p>
        </p:txBody>
      </p:sp>
      <p:sp>
        <p:nvSpPr>
          <p:cNvPr id="9" name="Shape 7"/>
          <p:cNvSpPr/>
          <p:nvPr/>
        </p:nvSpPr>
        <p:spPr>
          <a:xfrm>
            <a:off x="457200" y="4041648"/>
            <a:ext cx="5532120" cy="603504"/>
          </a:xfrm>
          <a:prstGeom prst="roundRect">
            <a:avLst>
              <a:gd name="adj" fmla="val 10606"/>
            </a:avLst>
          </a:prstGeom>
          <a:solidFill>
            <a:srgbClr val="DCEBF7"/>
          </a:solidFill>
          <a:ln w="12700">
            <a:solidFill>
              <a:srgbClr val="A9D6F2"/>
            </a:solidFill>
            <a:prstDash val="solid"/>
          </a:ln>
        </p:spPr>
      </p:sp>
      <p:sp>
        <p:nvSpPr>
          <p:cNvPr id="10" name="Text 8"/>
          <p:cNvSpPr/>
          <p:nvPr/>
        </p:nvSpPr>
        <p:spPr>
          <a:xfrm>
            <a:off x="621792" y="4041648"/>
            <a:ext cx="1051560" cy="603504"/>
          </a:xfrm>
          <a:prstGeom prst="rect">
            <a:avLst/>
          </a:prstGeom>
          <a:noFill/>
          <a:ln/>
        </p:spPr>
        <p:txBody>
          <a:bodyPr wrap="square" lIns="0" tIns="0" rIns="0" bIns="0" rtlCol="0" anchor="ctr"/>
          <a:lstStyle/>
          <a:p>
            <a:pPr indent="0" marL="0">
              <a:buNone/>
            </a:pPr>
            <a:r>
              <a:rPr lang="en-US" sz="1200" b="1" dirty="0">
                <a:solidFill>
                  <a:srgbClr val="00357A"/>
                </a:solidFill>
                <a:latin typeface="Poppins" pitchFamily="34" charset="0"/>
                <a:ea typeface="Poppins" pitchFamily="34" charset="-122"/>
                <a:cs typeface="Poppins" pitchFamily="34" charset="-120"/>
              </a:rPr>
              <a:t>Selection</a:t>
            </a:r>
            <a:endParaRPr lang="en-US" sz="1200" dirty="0"/>
          </a:p>
        </p:txBody>
      </p:sp>
      <p:sp>
        <p:nvSpPr>
          <p:cNvPr id="11" name="Text 9"/>
          <p:cNvSpPr/>
          <p:nvPr/>
        </p:nvSpPr>
        <p:spPr>
          <a:xfrm>
            <a:off x="1719072" y="4041648"/>
            <a:ext cx="4114800" cy="603504"/>
          </a:xfrm>
          <a:prstGeom prst="rect">
            <a:avLst/>
          </a:prstGeom>
          <a:noFill/>
          <a:ln/>
        </p:spPr>
        <p:txBody>
          <a:bodyPr wrap="square" lIns="0" tIns="0" rIns="0" bIns="0" rtlCol="0" anchor="ctr"/>
          <a:lstStyle/>
          <a:p>
            <a:pPr indent="0" marL="0">
              <a:lnSpc>
                <a:spcPct val="100000"/>
              </a:lnSpc>
              <a:buNone/>
            </a:pPr>
            <a:r>
              <a:rPr lang="en-US" sz="1100" dirty="0">
                <a:solidFill>
                  <a:srgbClr val="53565A"/>
                </a:solidFill>
                <a:latin typeface="Poppins" pitchFamily="34" charset="0"/>
                <a:ea typeface="Poppins" pitchFamily="34" charset="-122"/>
                <a:cs typeface="Poppins" pitchFamily="34" charset="-120"/>
              </a:rPr>
              <a:t>adds files with a recent change date, even if they already have a backup record</a:t>
            </a:r>
            <a:endParaRPr lang="en-US" sz="1100" dirty="0"/>
          </a:p>
        </p:txBody>
      </p:sp>
      <p:sp>
        <p:nvSpPr>
          <p:cNvPr id="12" name="Shape 10"/>
          <p:cNvSpPr/>
          <p:nvPr/>
        </p:nvSpPr>
        <p:spPr>
          <a:xfrm>
            <a:off x="457200" y="4736592"/>
            <a:ext cx="5532120" cy="603504"/>
          </a:xfrm>
          <a:prstGeom prst="roundRect">
            <a:avLst>
              <a:gd name="adj" fmla="val 10606"/>
            </a:avLst>
          </a:prstGeom>
          <a:solidFill>
            <a:srgbClr val="DCEBF7"/>
          </a:solidFill>
          <a:ln w="12700">
            <a:solidFill>
              <a:srgbClr val="A9D6F2"/>
            </a:solidFill>
            <a:prstDash val="solid"/>
          </a:ln>
        </p:spPr>
      </p:sp>
      <p:sp>
        <p:nvSpPr>
          <p:cNvPr id="13" name="Text 11"/>
          <p:cNvSpPr/>
          <p:nvPr/>
        </p:nvSpPr>
        <p:spPr>
          <a:xfrm>
            <a:off x="621792" y="4736592"/>
            <a:ext cx="1051560" cy="603504"/>
          </a:xfrm>
          <a:prstGeom prst="rect">
            <a:avLst/>
          </a:prstGeom>
          <a:noFill/>
          <a:ln/>
        </p:spPr>
        <p:txBody>
          <a:bodyPr wrap="square" lIns="0" tIns="0" rIns="0" bIns="0" rtlCol="0" anchor="ctr"/>
          <a:lstStyle/>
          <a:p>
            <a:pPr indent="0" marL="0">
              <a:buNone/>
            </a:pPr>
            <a:r>
              <a:rPr lang="en-US" sz="1200" b="1" dirty="0">
                <a:solidFill>
                  <a:srgbClr val="00357A"/>
                </a:solidFill>
                <a:latin typeface="Poppins" pitchFamily="34" charset="0"/>
                <a:ea typeface="Poppins" pitchFamily="34" charset="-122"/>
                <a:cs typeface="Poppins" pitchFamily="34" charset="-120"/>
              </a:rPr>
              <a:t>Tar name</a:t>
            </a:r>
            <a:endParaRPr lang="en-US" sz="1200" dirty="0"/>
          </a:p>
        </p:txBody>
      </p:sp>
      <p:sp>
        <p:nvSpPr>
          <p:cNvPr id="14" name="Text 12"/>
          <p:cNvSpPr/>
          <p:nvPr/>
        </p:nvSpPr>
        <p:spPr>
          <a:xfrm>
            <a:off x="1719072" y="4736592"/>
            <a:ext cx="4114800" cy="603504"/>
          </a:xfrm>
          <a:prstGeom prst="rect">
            <a:avLst/>
          </a:prstGeom>
          <a:noFill/>
          <a:ln/>
        </p:spPr>
        <p:txBody>
          <a:bodyPr wrap="square" lIns="0" tIns="0" rIns="0" bIns="0" rtlCol="0" anchor="ctr"/>
          <a:lstStyle/>
          <a:p>
            <a:pPr indent="0" marL="0">
              <a:lnSpc>
                <a:spcPct val="100000"/>
              </a:lnSpc>
              <a:buNone/>
            </a:pPr>
            <a:r>
              <a:rPr lang="en-US" sz="1100" dirty="0">
                <a:solidFill>
                  <a:srgbClr val="53565A"/>
                </a:solidFill>
                <a:latin typeface="Poppins" pitchFamily="34" charset="0"/>
                <a:ea typeface="Poppins" pitchFamily="34" charset="-122"/>
                <a:cs typeface="Poppins" pitchFamily="34" charset="-120"/>
              </a:rPr>
              <a:t>gets a  _changed  suffix so the re-backup is obvious on tape</a:t>
            </a:r>
            <a:endParaRPr lang="en-US" sz="1100" dirty="0"/>
          </a:p>
        </p:txBody>
      </p:sp>
      <p:sp>
        <p:nvSpPr>
          <p:cNvPr id="15" name="Shape 13"/>
          <p:cNvSpPr/>
          <p:nvPr/>
        </p:nvSpPr>
        <p:spPr>
          <a:xfrm>
            <a:off x="457200" y="5431536"/>
            <a:ext cx="5532120" cy="603504"/>
          </a:xfrm>
          <a:prstGeom prst="roundRect">
            <a:avLst>
              <a:gd name="adj" fmla="val 10606"/>
            </a:avLst>
          </a:prstGeom>
          <a:solidFill>
            <a:srgbClr val="DCEBF7"/>
          </a:solidFill>
          <a:ln w="12700">
            <a:solidFill>
              <a:srgbClr val="A9D6F2"/>
            </a:solidFill>
            <a:prstDash val="solid"/>
          </a:ln>
        </p:spPr>
      </p:sp>
      <p:sp>
        <p:nvSpPr>
          <p:cNvPr id="16" name="Text 14"/>
          <p:cNvSpPr/>
          <p:nvPr/>
        </p:nvSpPr>
        <p:spPr>
          <a:xfrm>
            <a:off x="621792" y="5431536"/>
            <a:ext cx="1051560" cy="603504"/>
          </a:xfrm>
          <a:prstGeom prst="rect">
            <a:avLst/>
          </a:prstGeom>
          <a:noFill/>
          <a:ln/>
        </p:spPr>
        <p:txBody>
          <a:bodyPr wrap="square" lIns="0" tIns="0" rIns="0" bIns="0" rtlCol="0" anchor="ctr"/>
          <a:lstStyle/>
          <a:p>
            <a:pPr indent="0" marL="0">
              <a:buNone/>
            </a:pPr>
            <a:r>
              <a:rPr lang="en-US" sz="1200" b="1" dirty="0">
                <a:solidFill>
                  <a:srgbClr val="00357A"/>
                </a:solidFill>
                <a:latin typeface="Poppins" pitchFamily="34" charset="0"/>
                <a:ea typeface="Poppins" pitchFamily="34" charset="-122"/>
                <a:cs typeface="Poppins" pitchFamily="34" charset="-120"/>
              </a:rPr>
              <a:t>Old copy</a:t>
            </a:r>
            <a:endParaRPr lang="en-US" sz="1200" dirty="0"/>
          </a:p>
        </p:txBody>
      </p:sp>
      <p:sp>
        <p:nvSpPr>
          <p:cNvPr id="17" name="Text 15"/>
          <p:cNvSpPr/>
          <p:nvPr/>
        </p:nvSpPr>
        <p:spPr>
          <a:xfrm>
            <a:off x="1719072" y="5431536"/>
            <a:ext cx="4114800" cy="603504"/>
          </a:xfrm>
          <a:prstGeom prst="rect">
            <a:avLst/>
          </a:prstGeom>
          <a:noFill/>
          <a:ln/>
        </p:spPr>
        <p:txBody>
          <a:bodyPr wrap="square" lIns="0" tIns="0" rIns="0" bIns="0" rtlCol="0" anchor="ctr"/>
          <a:lstStyle/>
          <a:p>
            <a:pPr indent="0" marL="0">
              <a:lnSpc>
                <a:spcPct val="100000"/>
              </a:lnSpc>
              <a:buNone/>
            </a:pPr>
            <a:r>
              <a:rPr lang="en-US" sz="1100" dirty="0">
                <a:solidFill>
                  <a:srgbClr val="53565A"/>
                </a:solidFill>
                <a:latin typeface="Poppins" pitchFamily="34" charset="0"/>
                <a:ea typeface="Poppins" pitchFamily="34" charset="-122"/>
                <a:cs typeface="Poppins" pitchFamily="34" charset="-120"/>
              </a:rPr>
              <a:t>stays on Quasar — nothing is deleted; the new tar is an additional version</a:t>
            </a:r>
            <a:endParaRPr lang="en-US" sz="1100" dirty="0"/>
          </a:p>
        </p:txBody>
      </p:sp>
      <p:sp>
        <p:nvSpPr>
          <p:cNvPr id="18" name="Text 16"/>
          <p:cNvSpPr/>
          <p:nvPr/>
        </p:nvSpPr>
        <p:spPr>
          <a:xfrm>
            <a:off x="6309360" y="1463040"/>
            <a:ext cx="5440680" cy="320040"/>
          </a:xfrm>
          <a:prstGeom prst="rect">
            <a:avLst/>
          </a:prstGeom>
          <a:noFill/>
          <a:ln/>
        </p:spPr>
        <p:txBody>
          <a:bodyPr wrap="square" lIns="0" tIns="0" rIns="0" bIns="0" rtlCol="0" anchor="ctr"/>
          <a:lstStyle/>
          <a:p>
            <a:pPr indent="0" marL="0">
              <a:buNone/>
            </a:pPr>
            <a:r>
              <a:rPr lang="en-US" sz="1500" b="1" dirty="0">
                <a:solidFill>
                  <a:srgbClr val="0057C2"/>
                </a:solidFill>
                <a:latin typeface="Poppins" pitchFamily="34" charset="0"/>
                <a:ea typeface="Poppins" pitchFamily="34" charset="-122"/>
                <a:cs typeface="Poppins" pitchFamily="34" charset="-120"/>
              </a:rPr>
              <a:t>The four-way gather</a:t>
            </a:r>
            <a:endParaRPr lang="en-US" sz="1500" dirty="0"/>
          </a:p>
        </p:txBody>
      </p:sp>
      <p:sp>
        <p:nvSpPr>
          <p:cNvPr id="19" name="Text 17"/>
          <p:cNvSpPr/>
          <p:nvPr/>
        </p:nvSpPr>
        <p:spPr>
          <a:xfrm>
            <a:off x="6309360" y="1783080"/>
            <a:ext cx="5440680" cy="365760"/>
          </a:xfrm>
          <a:prstGeom prst="rect">
            <a:avLst/>
          </a:prstGeom>
          <a:noFill/>
          <a:ln/>
        </p:spPr>
        <p:txBody>
          <a:bodyPr wrap="square" lIns="0" tIns="0" rIns="0" bIns="0" rtlCol="0" anchor="ctr"/>
          <a:lstStyle/>
          <a:p>
            <a:pPr indent="0" marL="0">
              <a:buNone/>
            </a:pPr>
            <a:r>
              <a:rPr lang="en-US" sz="1150" dirty="0">
                <a:solidFill>
                  <a:srgbClr val="53565A"/>
                </a:solidFill>
                <a:latin typeface="Poppins" pitchFamily="34" charset="0"/>
                <a:ea typeface="Poppins" pitchFamily="34" charset="-122"/>
                <a:cs typeface="Poppins" pitchFamily="34" charset="-120"/>
              </a:rPr>
              <a:t>Each dataset is walked for up to four input lists, and -c widens each of them:</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309360" y="2212848"/>
          <a:ext cx="5440680" cy="914400"/>
        </p:xfrm>
        <a:graphic>
          <a:graphicData uri="http://schemas.openxmlformats.org/drawingml/2006/table">
            <a:tbl>
              <a:tblPr/>
              <a:tblGrid>
                <a:gridCol w="1371600"/>
                <a:gridCol w="4069080"/>
              </a:tblGrid>
              <a:tr h="365760">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List</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57C2"/>
                    </a:solidFill>
                  </a:tcPr>
                </a:tc>
                <a:tc>
                  <a:txBody>
                    <a:bodyPr/>
                    <a:lstStyle/>
                    <a:p>
                      <a:pPr indent="0" marL="0">
                        <a:buNone/>
                      </a:pPr>
                      <a:r>
                        <a:rPr lang="en-US" sz="1200" b="1" dirty="0">
                          <a:solidFill>
                            <a:srgbClr val="FFFFFF"/>
                          </a:solidFill>
                          <a:latin typeface="Poppins" pitchFamily="34" charset="0"/>
                          <a:ea typeface="Poppins" pitchFamily="34" charset="-122"/>
                          <a:cs typeface="Poppins" pitchFamily="34" charset="-120"/>
                        </a:rPr>
                        <a:t>Contents</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57C2"/>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Web / new</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Web files with no backup record</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Web / chg</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Web files changed within ChangeDays</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Saved / new</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Saved files with no backup record</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Saved / chg</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Saved files changed within ChangeDays</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bl>
          </a:graphicData>
        </a:graphic>
      </p:graphicFrame>
      <p:sp>
        <p:nvSpPr>
          <p:cNvPr id="21" name="Shape 18"/>
          <p:cNvSpPr/>
          <p:nvPr/>
        </p:nvSpPr>
        <p:spPr>
          <a:xfrm>
            <a:off x="6309360" y="4251960"/>
            <a:ext cx="5440680" cy="1051560"/>
          </a:xfrm>
          <a:prstGeom prst="roundRect">
            <a:avLst>
              <a:gd name="adj" fmla="val 6957"/>
            </a:avLst>
          </a:prstGeom>
          <a:solidFill>
            <a:srgbClr val="011837"/>
          </a:solidFill>
          <a:ln/>
        </p:spPr>
      </p:sp>
      <p:sp>
        <p:nvSpPr>
          <p:cNvPr id="22" name="Text 19"/>
          <p:cNvSpPr/>
          <p:nvPr/>
        </p:nvSpPr>
        <p:spPr>
          <a:xfrm>
            <a:off x="6537960" y="4389120"/>
            <a:ext cx="5029200" cy="292608"/>
          </a:xfrm>
          <a:prstGeom prst="rect">
            <a:avLst/>
          </a:prstGeom>
          <a:noFill/>
          <a:ln/>
        </p:spPr>
        <p:txBody>
          <a:bodyPr wrap="square" lIns="0" tIns="0" rIns="0" bIns="0" rtlCol="0" anchor="ctr"/>
          <a:lstStyle/>
          <a:p>
            <a:pPr indent="0" marL="0">
              <a:buNone/>
            </a:pPr>
            <a:r>
              <a:rPr lang="en-US" sz="1300" b="1" dirty="0">
                <a:solidFill>
                  <a:srgbClr val="42C0FF"/>
                </a:solidFill>
                <a:latin typeface="Poppins" pitchFamily="34" charset="0"/>
                <a:ea typeface="Poppins" pitchFamily="34" charset="-122"/>
                <a:cs typeface="Poppins" pitchFamily="34" charset="-120"/>
              </a:rPr>
              <a:t>Pick ChangeDays to match your run cadence</a:t>
            </a:r>
            <a:endParaRPr lang="en-US" sz="1300" dirty="0"/>
          </a:p>
        </p:txBody>
      </p:sp>
      <p:sp>
        <p:nvSpPr>
          <p:cNvPr id="23" name="Text 20"/>
          <p:cNvSpPr/>
          <p:nvPr/>
        </p:nvSpPr>
        <p:spPr>
          <a:xfrm>
            <a:off x="6537960" y="4681728"/>
            <a:ext cx="5029200" cy="548640"/>
          </a:xfrm>
          <a:prstGeom prst="rect">
            <a:avLst/>
          </a:prstGeom>
          <a:noFill/>
          <a:ln/>
        </p:spPr>
        <p:txBody>
          <a:bodyPr wrap="square" lIns="0" tIns="0" rIns="0" bIns="0" rtlCol="0" anchor="t"/>
          <a:lstStyle/>
          <a:p>
            <a:pPr indent="0" marL="0">
              <a:lnSpc>
                <a:spcPct val="105000"/>
              </a:lnSpc>
              <a:buNone/>
            </a:pPr>
            <a:r>
              <a:rPr lang="en-US" sz="1100" dirty="0">
                <a:solidFill>
                  <a:srgbClr val="C3D7EE"/>
                </a:solidFill>
                <a:latin typeface="Poppins" pitchFamily="34" charset="0"/>
                <a:ea typeface="Poppins" pitchFamily="34" charset="-122"/>
                <a:cs typeface="Poppins" pitchFamily="34" charset="-120"/>
              </a:rPr>
              <a:t>A large window re-tars files that were already re-tarred on the previous run, burning tape for nothing. Roughly one gather interval plus a safety margin is the useful range.</a:t>
            </a:r>
            <a:endParaRPr lang="en-US" sz="1100" dirty="0"/>
          </a:p>
        </p:txBody>
      </p:sp>
      <p:sp>
        <p:nvSpPr>
          <p:cNvPr id="24" name="Shape 21"/>
          <p:cNvSpPr/>
          <p:nvPr/>
        </p:nvSpPr>
        <p:spPr>
          <a:xfrm>
            <a:off x="6309360" y="5486400"/>
            <a:ext cx="5440680" cy="566928"/>
          </a:xfrm>
          <a:prstGeom prst="roundRect">
            <a:avLst>
              <a:gd name="adj" fmla="val 12903"/>
            </a:avLst>
          </a:prstGeom>
          <a:solidFill>
            <a:srgbClr val="C7E4F5"/>
          </a:solidFill>
          <a:ln w="12700">
            <a:solidFill>
              <a:srgbClr val="A9D6F2"/>
            </a:solidFill>
            <a:prstDash val="solid"/>
          </a:ln>
        </p:spPr>
      </p:sp>
      <p:sp>
        <p:nvSpPr>
          <p:cNvPr id="25" name="Text 22"/>
          <p:cNvSpPr/>
          <p:nvPr/>
        </p:nvSpPr>
        <p:spPr>
          <a:xfrm>
            <a:off x="6492240" y="5486400"/>
            <a:ext cx="5074920" cy="566928"/>
          </a:xfrm>
          <a:prstGeom prst="rect">
            <a:avLst/>
          </a:prstGeom>
          <a:noFill/>
          <a:ln/>
        </p:spPr>
        <p:txBody>
          <a:bodyPr wrap="square" lIns="0" tIns="0" rIns="0" bIns="0" rtlCol="0" anchor="ctr"/>
          <a:lstStyle/>
          <a:p>
            <a:pPr indent="0" marL="0">
              <a:buNone/>
            </a:pPr>
            <a:r>
              <a:rPr lang="en-US" sz="1150" b="1" dirty="0">
                <a:solidFill>
                  <a:srgbClr val="0057C2"/>
                </a:solidFill>
                <a:latin typeface="Poppins" pitchFamily="34" charset="0"/>
                <a:ea typeface="Poppins" pitchFamily="34" charset="-122"/>
                <a:cs typeface="Poppins" pitchFamily="34" charset="-120"/>
              </a:rPr>
              <a:t>Group flags still apply.  </a:t>
            </a:r>
            <a:pPr indent="0" marL="0">
              <a:buNone/>
            </a:pPr>
            <a:r>
              <a:rPr lang="en-US" sz="1150" dirty="0">
                <a:solidFill>
                  <a:srgbClr val="00357A"/>
                </a:solidFill>
                <a:latin typeface="Poppins" pitchFamily="34" charset="0"/>
                <a:ea typeface="Poppins" pitchFamily="34" charset="-122"/>
                <a:cs typeface="Poppins" pitchFamily="34" charset="-120"/>
              </a:rPr>
              <a:t>A group with backflag 'N' is skipped even for changed files.</a:t>
            </a:r>
            <a:endParaRPr lang="en-US" sz="1150" dirty="0"/>
          </a:p>
        </p:txBody>
      </p:sp>
      <p:sp>
        <p:nvSpPr>
          <p:cNvPr id="26" name="Text 23"/>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13</a:t>
            </a:r>
            <a:endParaRPr lang="en-US" sz="950" dirty="0"/>
          </a:p>
        </p:txBody>
      </p:sp>
      <p:sp>
        <p:nvSpPr>
          <p:cNvPr id="27" name="Text 24"/>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7A7"/>
                </a:solidFill>
                <a:latin typeface="Poppins" pitchFamily="34" charset="0"/>
                <a:ea typeface="Poppins" pitchFamily="34" charset="-122"/>
                <a:cs typeface="Poppins" pitchFamily="34" charset="-120"/>
              </a:rPr>
              <a:t>VERIFY &amp; REPORT</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-A 8 Integrity Check  •  -A 16 Statistics</a:t>
            </a:r>
            <a:endParaRPr lang="en-US" sz="3200" dirty="0"/>
          </a:p>
        </p:txBody>
      </p:sp>
      <p:sp>
        <p:nvSpPr>
          <p:cNvPr id="4" name="Shape 2"/>
          <p:cNvSpPr/>
          <p:nvPr/>
        </p:nvSpPr>
        <p:spPr>
          <a:xfrm>
            <a:off x="457200" y="1463040"/>
            <a:ext cx="5532120" cy="4526280"/>
          </a:xfrm>
          <a:prstGeom prst="roundRect">
            <a:avLst>
              <a:gd name="adj" fmla="val 2020"/>
            </a:avLst>
          </a:prstGeom>
          <a:solidFill>
            <a:srgbClr val="FFFFFF"/>
          </a:solidFill>
          <a:ln w="19050">
            <a:solidFill>
              <a:srgbClr val="0057C2"/>
            </a:solidFill>
            <a:prstDash val="solid"/>
          </a:ln>
        </p:spPr>
      </p:sp>
      <p:sp>
        <p:nvSpPr>
          <p:cNvPr id="5" name="Shape 3"/>
          <p:cNvSpPr/>
          <p:nvPr/>
        </p:nvSpPr>
        <p:spPr>
          <a:xfrm>
            <a:off x="685800" y="1691640"/>
            <a:ext cx="457200" cy="457200"/>
          </a:xfrm>
          <a:prstGeom prst="ellipse">
            <a:avLst/>
          </a:prstGeom>
          <a:solidFill>
            <a:srgbClr val="0057C2"/>
          </a:solidFill>
          <a:ln/>
        </p:spPr>
      </p:sp>
      <p:sp>
        <p:nvSpPr>
          <p:cNvPr id="6" name="Text 4"/>
          <p:cNvSpPr/>
          <p:nvPr/>
        </p:nvSpPr>
        <p:spPr>
          <a:xfrm>
            <a:off x="68580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8</a:t>
            </a:r>
            <a:endParaRPr lang="en-US" sz="1600" dirty="0"/>
          </a:p>
        </p:txBody>
      </p:sp>
      <p:sp>
        <p:nvSpPr>
          <p:cNvPr id="7" name="Text 5"/>
          <p:cNvSpPr/>
          <p:nvPr/>
        </p:nvSpPr>
        <p:spPr>
          <a:xfrm>
            <a:off x="1280160" y="1691640"/>
            <a:ext cx="4526280" cy="45720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-A 8  —  does tape match the database?</a:t>
            </a:r>
            <a:endParaRPr lang="en-US" sz="1500" dirty="0"/>
          </a:p>
        </p:txBody>
      </p:sp>
      <p:sp>
        <p:nvSpPr>
          <p:cNvPr id="8" name="Text 6"/>
          <p:cNvSpPr/>
          <p:nvPr/>
        </p:nvSpPr>
        <p:spPr>
          <a:xfrm>
            <a:off x="685800" y="2286000"/>
            <a:ext cx="5120640" cy="685800"/>
          </a:xfrm>
          <a:prstGeom prst="rect">
            <a:avLst/>
          </a:prstGeom>
          <a:noFill/>
          <a:ln/>
        </p:spPr>
        <p:txBody>
          <a:bodyPr wrap="square" lIns="0" tIns="0" rIns="0" bIns="0" rtlCol="0" anchor="t"/>
          <a:lstStyle/>
          <a:p>
            <a:pPr indent="0" marL="0">
              <a:lnSpc>
                <a:spcPct val="105000"/>
              </a:lnSpc>
              <a:buNone/>
            </a:pPr>
            <a:r>
              <a:rPr lang="en-US" sz="1250" dirty="0">
                <a:solidFill>
                  <a:srgbClr val="53565A"/>
                </a:solidFill>
                <a:latin typeface="Poppins" pitchFamily="34" charset="0"/>
                <a:ea typeface="Poppins" pitchFamily="34" charset="-122"/>
                <a:cs typeface="Poppins" pitchFamily="34" charset="-120"/>
              </a:rPr>
              <a:t>Walks every bfile record with status 'A' for the selected datasets, asks the Quasar end point for the real file size, and compares it against the size recorded in GDEXDB.</a:t>
            </a:r>
            <a:endParaRPr lang="en-US" sz="1250" dirty="0"/>
          </a:p>
        </p:txBody>
      </p:sp>
      <p:sp>
        <p:nvSpPr>
          <p:cNvPr id="9" name="Shape 7"/>
          <p:cNvSpPr/>
          <p:nvPr/>
        </p:nvSpPr>
        <p:spPr>
          <a:xfrm>
            <a:off x="685800" y="3035808"/>
            <a:ext cx="5120640" cy="457200"/>
          </a:xfrm>
          <a:prstGeom prst="roundRect">
            <a:avLst>
              <a:gd name="adj" fmla="val 10000"/>
            </a:avLst>
          </a:prstGeom>
          <a:solidFill>
            <a:srgbClr val="011837"/>
          </a:solidFill>
          <a:ln/>
        </p:spPr>
      </p:sp>
      <p:sp>
        <p:nvSpPr>
          <p:cNvPr id="10" name="Text 8"/>
          <p:cNvSpPr/>
          <p:nvPr/>
        </p:nvSpPr>
        <p:spPr>
          <a:xfrm>
            <a:off x="813816" y="3035808"/>
            <a:ext cx="4864608" cy="457200"/>
          </a:xfrm>
          <a:prstGeom prst="rect">
            <a:avLst/>
          </a:prstGeom>
          <a:noFill/>
          <a:ln/>
        </p:spPr>
        <p:txBody>
          <a:bodyPr wrap="square" lIns="0" tIns="0" rIns="0" bIns="0" rtlCol="0" anchor="ctr"/>
          <a:lstStyle/>
          <a:p>
            <a:pPr indent="0" marL="0">
              <a:lnSpc>
                <a:spcPct val="100000"/>
              </a:lnSpc>
              <a:buNone/>
            </a:pPr>
            <a:r>
              <a:rPr lang="en-US" sz="1300" dirty="0">
                <a:solidFill>
                  <a:srgbClr val="0097A7"/>
                </a:solidFill>
                <a:latin typeface="Courier New" pitchFamily="34" charset="0"/>
                <a:ea typeface="Courier New" pitchFamily="34" charset="-122"/>
                <a:cs typeface="Courier New" pitchFamily="34" charset="-120"/>
              </a:rPr>
              <a:t>dsquasar -a -A 8 -e</a:t>
            </a:r>
            <a:endParaRPr lang="en-US" sz="1300" dirty="0"/>
          </a:p>
        </p:txBody>
      </p:sp>
      <p:sp>
        <p:nvSpPr>
          <p:cNvPr id="11" name="Shape 9"/>
          <p:cNvSpPr/>
          <p:nvPr/>
        </p:nvSpPr>
        <p:spPr>
          <a:xfrm>
            <a:off x="685800" y="3657600"/>
            <a:ext cx="5120640" cy="713232"/>
          </a:xfrm>
          <a:prstGeom prst="roundRect">
            <a:avLst>
              <a:gd name="adj" fmla="val 8974"/>
            </a:avLst>
          </a:prstGeom>
          <a:solidFill>
            <a:srgbClr val="DCEBF7"/>
          </a:solidFill>
          <a:ln/>
        </p:spPr>
      </p:sp>
      <p:sp>
        <p:nvSpPr>
          <p:cNvPr id="12" name="Text 10"/>
          <p:cNvSpPr/>
          <p:nvPr/>
        </p:nvSpPr>
        <p:spPr>
          <a:xfrm>
            <a:off x="841248" y="3657600"/>
            <a:ext cx="1234440" cy="713232"/>
          </a:xfrm>
          <a:prstGeom prst="rect">
            <a:avLst/>
          </a:prstGeom>
          <a:noFill/>
          <a:ln/>
        </p:spPr>
        <p:txBody>
          <a:bodyPr wrap="square" lIns="0" tIns="0" rIns="0" bIns="0" rtlCol="0" anchor="ctr"/>
          <a:lstStyle/>
          <a:p>
            <a:pPr indent="0" marL="0">
              <a:buNone/>
            </a:pPr>
            <a:r>
              <a:rPr lang="en-US" sz="1150" b="1" dirty="0">
                <a:solidFill>
                  <a:srgbClr val="C25E00"/>
                </a:solidFill>
                <a:latin typeface="Courier New" pitchFamily="34" charset="0"/>
                <a:ea typeface="Courier New" pitchFamily="34" charset="-122"/>
                <a:cs typeface="Courier New" pitchFamily="34" charset="-120"/>
              </a:rPr>
              <a:t>sizes agree</a:t>
            </a:r>
            <a:endParaRPr lang="en-US" sz="1150" dirty="0"/>
          </a:p>
        </p:txBody>
      </p:sp>
      <p:sp>
        <p:nvSpPr>
          <p:cNvPr id="13" name="Text 11"/>
          <p:cNvSpPr/>
          <p:nvPr/>
        </p:nvSpPr>
        <p:spPr>
          <a:xfrm>
            <a:off x="2103120" y="3657600"/>
            <a:ext cx="3566160" cy="713232"/>
          </a:xfrm>
          <a:prstGeom prst="rect">
            <a:avLst/>
          </a:prstGeom>
          <a:noFill/>
          <a:ln/>
        </p:spPr>
        <p:txBody>
          <a:bodyPr wrap="square" lIns="0" tIns="0" rIns="0" bIns="0" rtlCol="0" anchor="ctr"/>
          <a:lstStyle/>
          <a:p>
            <a:pPr indent="0" marL="0">
              <a:lnSpc>
                <a:spcPct val="100000"/>
              </a:lnSpc>
              <a:buNone/>
            </a:pPr>
            <a:r>
              <a:rPr lang="en-US" sz="1050" dirty="0">
                <a:solidFill>
                  <a:srgbClr val="00357A"/>
                </a:solidFill>
                <a:latin typeface="Poppins" pitchFamily="34" charset="0"/>
                <a:ea typeface="Poppins" pitchFamily="34" charset="-122"/>
                <a:cs typeface="Poppins" pitchFamily="34" charset="-120"/>
              </a:rPr>
              <a:t>record is left alone; the tape copy is trusted</a:t>
            </a:r>
            <a:endParaRPr lang="en-US" sz="1050" dirty="0"/>
          </a:p>
        </p:txBody>
      </p:sp>
      <p:sp>
        <p:nvSpPr>
          <p:cNvPr id="14" name="Shape 12"/>
          <p:cNvSpPr/>
          <p:nvPr/>
        </p:nvSpPr>
        <p:spPr>
          <a:xfrm>
            <a:off x="685800" y="4434840"/>
            <a:ext cx="5120640" cy="713232"/>
          </a:xfrm>
          <a:prstGeom prst="roundRect">
            <a:avLst>
              <a:gd name="adj" fmla="val 8974"/>
            </a:avLst>
          </a:prstGeom>
          <a:solidFill>
            <a:srgbClr val="DCEBF7"/>
          </a:solidFill>
          <a:ln/>
        </p:spPr>
      </p:sp>
      <p:sp>
        <p:nvSpPr>
          <p:cNvPr id="15" name="Text 13"/>
          <p:cNvSpPr/>
          <p:nvPr/>
        </p:nvSpPr>
        <p:spPr>
          <a:xfrm>
            <a:off x="841248" y="4434840"/>
            <a:ext cx="1234440" cy="713232"/>
          </a:xfrm>
          <a:prstGeom prst="rect">
            <a:avLst/>
          </a:prstGeom>
          <a:noFill/>
          <a:ln/>
        </p:spPr>
        <p:txBody>
          <a:bodyPr wrap="square" lIns="0" tIns="0" rIns="0" bIns="0" rtlCol="0" anchor="ctr"/>
          <a:lstStyle/>
          <a:p>
            <a:pPr indent="0" marL="0">
              <a:buNone/>
            </a:pPr>
            <a:r>
              <a:rPr lang="en-US" sz="1150" b="1" dirty="0">
                <a:solidFill>
                  <a:srgbClr val="C25E00"/>
                </a:solidFill>
                <a:latin typeface="Courier New" pitchFamily="34" charset="0"/>
                <a:ea typeface="Courier New" pitchFamily="34" charset="-122"/>
                <a:cs typeface="Courier New" pitchFamily="34" charset="-120"/>
              </a:rPr>
              <a:t>sizes differ</a:t>
            </a:r>
            <a:endParaRPr lang="en-US" sz="1150" dirty="0"/>
          </a:p>
        </p:txBody>
      </p:sp>
      <p:sp>
        <p:nvSpPr>
          <p:cNvPr id="16" name="Text 14"/>
          <p:cNvSpPr/>
          <p:nvPr/>
        </p:nvSpPr>
        <p:spPr>
          <a:xfrm>
            <a:off x="2103120" y="4434840"/>
            <a:ext cx="3566160" cy="713232"/>
          </a:xfrm>
          <a:prstGeom prst="rect">
            <a:avLst/>
          </a:prstGeom>
          <a:noFill/>
          <a:ln/>
        </p:spPr>
        <p:txBody>
          <a:bodyPr wrap="square" lIns="0" tIns="0" rIns="0" bIns="0" rtlCol="0" anchor="ctr"/>
          <a:lstStyle/>
          <a:p>
            <a:pPr indent="0" marL="0">
              <a:lnSpc>
                <a:spcPct val="100000"/>
              </a:lnSpc>
              <a:buNone/>
            </a:pPr>
            <a:r>
              <a:rPr lang="en-US" sz="1050" dirty="0">
                <a:solidFill>
                  <a:srgbClr val="00357A"/>
                </a:solidFill>
                <a:latin typeface="Poppins" pitchFamily="34" charset="0"/>
                <a:ea typeface="Poppins" pitchFamily="34" charset="-122"/>
                <a:cs typeface="Poppins" pitchFamily="34" charset="-120"/>
              </a:rPr>
              <a:t>status is reset 'A' → 'N' and the file is re-listed, re-tarred and re-sent on the next -A 3 / -A 4</a:t>
            </a:r>
            <a:endParaRPr lang="en-US" sz="1050" dirty="0"/>
          </a:p>
        </p:txBody>
      </p:sp>
      <p:sp>
        <p:nvSpPr>
          <p:cNvPr id="17" name="Shape 15"/>
          <p:cNvSpPr/>
          <p:nvPr/>
        </p:nvSpPr>
        <p:spPr>
          <a:xfrm>
            <a:off x="685800" y="5212080"/>
            <a:ext cx="5120640" cy="713232"/>
          </a:xfrm>
          <a:prstGeom prst="roundRect">
            <a:avLst>
              <a:gd name="adj" fmla="val 8974"/>
            </a:avLst>
          </a:prstGeom>
          <a:solidFill>
            <a:srgbClr val="DCEBF7"/>
          </a:solidFill>
          <a:ln/>
        </p:spPr>
      </p:sp>
      <p:sp>
        <p:nvSpPr>
          <p:cNvPr id="18" name="Text 16"/>
          <p:cNvSpPr/>
          <p:nvPr/>
        </p:nvSpPr>
        <p:spPr>
          <a:xfrm>
            <a:off x="841248" y="5212080"/>
            <a:ext cx="1234440" cy="713232"/>
          </a:xfrm>
          <a:prstGeom prst="rect">
            <a:avLst/>
          </a:prstGeom>
          <a:noFill/>
          <a:ln/>
        </p:spPr>
        <p:txBody>
          <a:bodyPr wrap="square" lIns="0" tIns="0" rIns="0" bIns="0" rtlCol="0" anchor="ctr"/>
          <a:lstStyle/>
          <a:p>
            <a:pPr indent="0" marL="0">
              <a:buNone/>
            </a:pPr>
            <a:r>
              <a:rPr lang="en-US" sz="1150" b="1" dirty="0">
                <a:solidFill>
                  <a:srgbClr val="C25E00"/>
                </a:solidFill>
                <a:latin typeface="Courier New" pitchFamily="34" charset="0"/>
                <a:ea typeface="Courier New" pitchFamily="34" charset="-122"/>
                <a:cs typeface="Courier New" pitchFamily="34" charset="-120"/>
              </a:rPr>
              <a:t>file missing</a:t>
            </a:r>
            <a:endParaRPr lang="en-US" sz="1150" dirty="0"/>
          </a:p>
        </p:txBody>
      </p:sp>
      <p:sp>
        <p:nvSpPr>
          <p:cNvPr id="19" name="Text 17"/>
          <p:cNvSpPr/>
          <p:nvPr/>
        </p:nvSpPr>
        <p:spPr>
          <a:xfrm>
            <a:off x="2103120" y="5212080"/>
            <a:ext cx="3566160" cy="713232"/>
          </a:xfrm>
          <a:prstGeom prst="rect">
            <a:avLst/>
          </a:prstGeom>
          <a:noFill/>
          <a:ln/>
        </p:spPr>
        <p:txBody>
          <a:bodyPr wrap="square" lIns="0" tIns="0" rIns="0" bIns="0" rtlCol="0" anchor="ctr"/>
          <a:lstStyle/>
          <a:p>
            <a:pPr indent="0" marL="0">
              <a:lnSpc>
                <a:spcPct val="100000"/>
              </a:lnSpc>
              <a:buNone/>
            </a:pPr>
            <a:r>
              <a:rPr lang="en-US" sz="1050" dirty="0">
                <a:solidFill>
                  <a:srgbClr val="00357A"/>
                </a:solidFill>
                <a:latin typeface="Poppins" pitchFamily="34" charset="0"/>
                <a:ea typeface="Poppins" pitchFamily="34" charset="-122"/>
                <a:cs typeface="Poppins" pitchFamily="34" charset="-120"/>
              </a:rPr>
              <a:t>same reset — the backup is simply redone from the archive</a:t>
            </a:r>
            <a:endParaRPr lang="en-US" sz="1050" dirty="0"/>
          </a:p>
        </p:txBody>
      </p:sp>
      <p:sp>
        <p:nvSpPr>
          <p:cNvPr id="20" name="Shape 18"/>
          <p:cNvSpPr/>
          <p:nvPr/>
        </p:nvSpPr>
        <p:spPr>
          <a:xfrm>
            <a:off x="6309360" y="1463040"/>
            <a:ext cx="5440680" cy="4526280"/>
          </a:xfrm>
          <a:prstGeom prst="roundRect">
            <a:avLst>
              <a:gd name="adj" fmla="val 2020"/>
            </a:avLst>
          </a:prstGeom>
          <a:solidFill>
            <a:srgbClr val="FFFFFF"/>
          </a:solidFill>
          <a:ln w="19050">
            <a:solidFill>
              <a:srgbClr val="0097A7"/>
            </a:solidFill>
            <a:prstDash val="solid"/>
          </a:ln>
        </p:spPr>
      </p:sp>
      <p:sp>
        <p:nvSpPr>
          <p:cNvPr id="21" name="Shape 19"/>
          <p:cNvSpPr/>
          <p:nvPr/>
        </p:nvSpPr>
        <p:spPr>
          <a:xfrm>
            <a:off x="6537960" y="1691640"/>
            <a:ext cx="457200" cy="457200"/>
          </a:xfrm>
          <a:prstGeom prst="ellipse">
            <a:avLst/>
          </a:prstGeom>
          <a:solidFill>
            <a:srgbClr val="0097A7"/>
          </a:solidFill>
          <a:ln/>
        </p:spPr>
      </p:sp>
      <p:sp>
        <p:nvSpPr>
          <p:cNvPr id="22" name="Text 20"/>
          <p:cNvSpPr/>
          <p:nvPr/>
        </p:nvSpPr>
        <p:spPr>
          <a:xfrm>
            <a:off x="653796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16</a:t>
            </a:r>
            <a:endParaRPr lang="en-US" sz="1600" dirty="0"/>
          </a:p>
        </p:txBody>
      </p:sp>
      <p:sp>
        <p:nvSpPr>
          <p:cNvPr id="23" name="Text 21"/>
          <p:cNvSpPr/>
          <p:nvPr/>
        </p:nvSpPr>
        <p:spPr>
          <a:xfrm>
            <a:off x="7132320" y="1691640"/>
            <a:ext cx="4434840" cy="45720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-A 16  —  how much is on tape?</a:t>
            </a:r>
            <a:endParaRPr lang="en-US" sz="1500" dirty="0"/>
          </a:p>
        </p:txBody>
      </p:sp>
      <p:sp>
        <p:nvSpPr>
          <p:cNvPr id="24" name="Text 22"/>
          <p:cNvSpPr/>
          <p:nvPr/>
        </p:nvSpPr>
        <p:spPr>
          <a:xfrm>
            <a:off x="6537960" y="2286000"/>
            <a:ext cx="5029200" cy="640080"/>
          </a:xfrm>
          <a:prstGeom prst="rect">
            <a:avLst/>
          </a:prstGeom>
          <a:noFill/>
          <a:ln/>
        </p:spPr>
        <p:txBody>
          <a:bodyPr wrap="square" lIns="0" tIns="0" rIns="0" bIns="0" rtlCol="0" anchor="t"/>
          <a:lstStyle/>
          <a:p>
            <a:pPr indent="0" marL="0">
              <a:lnSpc>
                <a:spcPct val="105000"/>
              </a:lnSpc>
              <a:buNone/>
            </a:pPr>
            <a:r>
              <a:rPr lang="en-US" sz="1250" dirty="0">
                <a:solidFill>
                  <a:srgbClr val="53565A"/>
                </a:solidFill>
                <a:latin typeface="Poppins" pitchFamily="34" charset="0"/>
                <a:ea typeface="Poppins" pitchFamily="34" charset="-122"/>
                <a:cs typeface="Poppins" pitchFamily="34" charset="-120"/>
              </a:rPr>
              <a:t>Reports, per dataset and as a grand total, what is already backed up and what is still waiting. No files are touched — it is a pure read of GDEXDB.</a:t>
            </a:r>
            <a:endParaRPr lang="en-US" sz="1250" dirty="0"/>
          </a:p>
        </p:txBody>
      </p:sp>
      <p:sp>
        <p:nvSpPr>
          <p:cNvPr id="25" name="Shape 23"/>
          <p:cNvSpPr/>
          <p:nvPr/>
        </p:nvSpPr>
        <p:spPr>
          <a:xfrm>
            <a:off x="6537960" y="2999232"/>
            <a:ext cx="5029200" cy="457200"/>
          </a:xfrm>
          <a:prstGeom prst="roundRect">
            <a:avLst>
              <a:gd name="adj" fmla="val 10000"/>
            </a:avLst>
          </a:prstGeom>
          <a:solidFill>
            <a:srgbClr val="011837"/>
          </a:solidFill>
          <a:ln/>
        </p:spPr>
      </p:sp>
      <p:sp>
        <p:nvSpPr>
          <p:cNvPr id="26" name="Text 24"/>
          <p:cNvSpPr/>
          <p:nvPr/>
        </p:nvSpPr>
        <p:spPr>
          <a:xfrm>
            <a:off x="6665976" y="2999232"/>
            <a:ext cx="4773168" cy="457200"/>
          </a:xfrm>
          <a:prstGeom prst="rect">
            <a:avLst/>
          </a:prstGeom>
          <a:noFill/>
          <a:ln/>
        </p:spPr>
        <p:txBody>
          <a:bodyPr wrap="square" lIns="0" tIns="0" rIns="0" bIns="0" rtlCol="0" anchor="ctr"/>
          <a:lstStyle/>
          <a:p>
            <a:pPr indent="0" marL="0">
              <a:lnSpc>
                <a:spcPct val="100000"/>
              </a:lnSpc>
              <a:buNone/>
            </a:pPr>
            <a:r>
              <a:rPr lang="en-US" sz="1300" dirty="0">
                <a:solidFill>
                  <a:srgbClr val="0097A7"/>
                </a:solidFill>
                <a:latin typeface="Courier New" pitchFamily="34" charset="0"/>
                <a:ea typeface="Courier New" pitchFamily="34" charset="-122"/>
                <a:cs typeface="Courier New" pitchFamily="34" charset="-120"/>
              </a:rPr>
              <a:t>dsquasar -a -A 16 -E</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37960" y="3547872"/>
          <a:ext cx="5029200" cy="914400"/>
        </p:xfrm>
        <a:graphic>
          <a:graphicData uri="http://schemas.openxmlformats.org/drawingml/2006/table">
            <a:tbl>
              <a:tblPr/>
              <a:tblGrid>
                <a:gridCol w="1600200"/>
                <a:gridCol w="3429000"/>
              </a:tblGrid>
              <a:tr h="365760">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Section</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7A7"/>
                    </a:solidFill>
                  </a:tcPr>
                </a:tc>
                <a:tc>
                  <a:txBody>
                    <a:bodyPr/>
                    <a:lstStyle/>
                    <a:p>
                      <a:pPr indent="0" marL="0">
                        <a:buNone/>
                      </a:pPr>
                      <a:r>
                        <a:rPr lang="en-US" sz="1200" b="1" dirty="0">
                          <a:solidFill>
                            <a:srgbClr val="FFFFFF"/>
                          </a:solidFill>
                          <a:latin typeface="Poppins" pitchFamily="34" charset="0"/>
                          <a:ea typeface="Poppins" pitchFamily="34" charset="-122"/>
                          <a:cs typeface="Poppins" pitchFamily="34" charset="-120"/>
                        </a:rPr>
                        <a:t>What it shows</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7A7"/>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Backed up</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count and size already on Quasar</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Ready</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count and size still waiting</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Tar files</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bfile records by status: N / T / A</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Per dataset</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one line each, plus a summary row</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bl>
          </a:graphicData>
        </a:graphic>
      </p:graphicFrame>
      <p:sp>
        <p:nvSpPr>
          <p:cNvPr id="28" name="Shape 25"/>
          <p:cNvSpPr/>
          <p:nvPr/>
        </p:nvSpPr>
        <p:spPr>
          <a:xfrm>
            <a:off x="6537960" y="5440680"/>
            <a:ext cx="5029200" cy="502920"/>
          </a:xfrm>
          <a:prstGeom prst="roundRect">
            <a:avLst>
              <a:gd name="adj" fmla="val 14545"/>
            </a:avLst>
          </a:prstGeom>
          <a:solidFill>
            <a:srgbClr val="C7E4F5"/>
          </a:solidFill>
          <a:ln w="12700">
            <a:solidFill>
              <a:srgbClr val="A9D6F2"/>
            </a:solidFill>
            <a:prstDash val="solid"/>
          </a:ln>
        </p:spPr>
      </p:sp>
      <p:sp>
        <p:nvSpPr>
          <p:cNvPr id="29" name="Text 26"/>
          <p:cNvSpPr/>
          <p:nvPr/>
        </p:nvSpPr>
        <p:spPr>
          <a:xfrm>
            <a:off x="6720840" y="5440680"/>
            <a:ext cx="4663440" cy="502920"/>
          </a:xfrm>
          <a:prstGeom prst="rect">
            <a:avLst/>
          </a:prstGeom>
          <a:noFill/>
          <a:ln/>
        </p:spPr>
        <p:txBody>
          <a:bodyPr wrap="square" lIns="0" tIns="0" rIns="0" bIns="0" rtlCol="0" anchor="ctr"/>
          <a:lstStyle/>
          <a:p>
            <a:pPr indent="0" marL="0">
              <a:buNone/>
            </a:pPr>
            <a:r>
              <a:rPr lang="en-US" sz="1150" b="1" dirty="0">
                <a:solidFill>
                  <a:srgbClr val="0057C2"/>
                </a:solidFill>
                <a:latin typeface="Poppins" pitchFamily="34" charset="0"/>
                <a:ea typeface="Poppins" pitchFamily="34" charset="-122"/>
                <a:cs typeface="Poppins" pitchFamily="34" charset="-120"/>
              </a:rPr>
              <a:t>Pair with -e or -E.  </a:t>
            </a:r>
            <a:pPr indent="0" marL="0">
              <a:buNone/>
            </a:pPr>
            <a:r>
              <a:rPr lang="en-US" sz="1150" dirty="0">
                <a:solidFill>
                  <a:srgbClr val="00357A"/>
                </a:solidFill>
                <a:latin typeface="Poppins" pitchFamily="34" charset="0"/>
                <a:ea typeface="Poppins" pitchFamily="34" charset="-122"/>
                <a:cs typeface="Poppins" pitchFamily="34" charset="-120"/>
              </a:rPr>
              <a:t>Statistics are most useful mailed to the specialist.</a:t>
            </a:r>
            <a:endParaRPr lang="en-US" sz="1150" dirty="0"/>
          </a:p>
        </p:txBody>
      </p:sp>
      <p:sp>
        <p:nvSpPr>
          <p:cNvPr id="30" name="Text 27"/>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14</a:t>
            </a:r>
            <a:endParaRPr lang="en-US" sz="950" dirty="0"/>
          </a:p>
        </p:txBody>
      </p:sp>
      <p:sp>
        <p:nvSpPr>
          <p:cNvPr id="31" name="Text 28"/>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2DB"/>
                </a:solidFill>
                <a:latin typeface="Poppins" pitchFamily="34" charset="0"/>
                <a:ea typeface="Poppins" pitchFamily="34" charset="-122"/>
                <a:cs typeface="Poppins" pitchFamily="34" charset="-120"/>
              </a:rPr>
              <a:t>SCHEDULING</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-d PBS  —  Running as a Batch Job</a:t>
            </a:r>
            <a:endParaRPr lang="en-US" sz="3200" dirty="0"/>
          </a:p>
        </p:txBody>
      </p:sp>
      <p:sp>
        <p:nvSpPr>
          <p:cNvPr id="4" name="Text 2"/>
          <p:cNvSpPr/>
          <p:nvPr/>
        </p:nvSpPr>
        <p:spPr>
          <a:xfrm>
            <a:off x="457200" y="1463040"/>
            <a:ext cx="11292840" cy="566928"/>
          </a:xfrm>
          <a:prstGeom prst="rect">
            <a:avLst/>
          </a:prstGeom>
          <a:noFill/>
          <a:ln/>
        </p:spPr>
        <p:txBody>
          <a:bodyPr wrap="square" lIns="0" tIns="0" rIns="0" bIns="0" rtlCol="0" anchor="t"/>
          <a:lstStyle/>
          <a:p>
            <a:pPr indent="0" marL="0">
              <a:lnSpc>
                <a:spcPct val="110000"/>
              </a:lnSpc>
              <a:buNone/>
            </a:pPr>
            <a:r>
              <a:rPr lang="en-US" sz="1450" dirty="0">
                <a:solidFill>
                  <a:srgbClr val="00357A"/>
                </a:solidFill>
                <a:latin typeface="Poppins" pitchFamily="34" charset="0"/>
                <a:ea typeface="Poppins" pitchFamily="34" charset="-122"/>
                <a:cs typeface="Poppins" pitchFamily="34" charset="-120"/>
              </a:rPr>
              <a:t>Backing up the whole archive is far too big for a login session. -d turns the run into a delayed job: dsquasar writes a dscheck record and exits, and the dscheck daemon submits it to PBS when a slot is free.</a:t>
            </a:r>
            <a:endParaRPr lang="en-US" sz="1450" dirty="0"/>
          </a:p>
        </p:txBody>
      </p:sp>
      <p:sp>
        <p:nvSpPr>
          <p:cNvPr id="5" name="Shape 3"/>
          <p:cNvSpPr/>
          <p:nvPr/>
        </p:nvSpPr>
        <p:spPr>
          <a:xfrm>
            <a:off x="457200" y="2103120"/>
            <a:ext cx="11292840" cy="457200"/>
          </a:xfrm>
          <a:prstGeom prst="roundRect">
            <a:avLst>
              <a:gd name="adj" fmla="val 10000"/>
            </a:avLst>
          </a:prstGeom>
          <a:solidFill>
            <a:srgbClr val="011837"/>
          </a:solidFill>
          <a:ln/>
        </p:spPr>
      </p:sp>
      <p:sp>
        <p:nvSpPr>
          <p:cNvPr id="6" name="Text 4"/>
          <p:cNvSpPr/>
          <p:nvPr/>
        </p:nvSpPr>
        <p:spPr>
          <a:xfrm>
            <a:off x="585216" y="2103120"/>
            <a:ext cx="11036808" cy="457200"/>
          </a:xfrm>
          <a:prstGeom prst="rect">
            <a:avLst/>
          </a:prstGeom>
          <a:noFill/>
          <a:ln/>
        </p:spPr>
        <p:txBody>
          <a:bodyPr wrap="square" lIns="0" tIns="0" rIns="0" bIns="0" rtlCol="0" anchor="ctr"/>
          <a:lstStyle/>
          <a:p>
            <a:pPr indent="0" marL="0">
              <a:lnSpc>
                <a:spcPct val="100000"/>
              </a:lnSpc>
              <a:buNone/>
            </a:pPr>
            <a:r>
              <a:rPr lang="en-US" sz="1350" dirty="0">
                <a:solidFill>
                  <a:srgbClr val="0097A7"/>
                </a:solidFill>
                <a:latin typeface="Courier New" pitchFamily="34" charset="0"/>
                <a:ea typeface="Courier New" pitchFamily="34" charset="-122"/>
                <a:cs typeface="Courier New" pitchFamily="34" charset="-120"/>
              </a:rPr>
              <a:t>dsquasar -a -A 3 -e -b -d PBS            # the usual cron line</a:t>
            </a:r>
            <a:endParaRPr lang="en-US" sz="1350" dirty="0"/>
          </a:p>
        </p:txBody>
      </p:sp>
      <p:sp>
        <p:nvSpPr>
          <p:cNvPr id="7" name="Shape 5"/>
          <p:cNvSpPr/>
          <p:nvPr/>
        </p:nvSpPr>
        <p:spPr>
          <a:xfrm>
            <a:off x="457200" y="2743200"/>
            <a:ext cx="11292840" cy="548640"/>
          </a:xfrm>
          <a:prstGeom prst="roundRect">
            <a:avLst>
              <a:gd name="adj" fmla="val 11667"/>
            </a:avLst>
          </a:prstGeom>
          <a:solidFill>
            <a:srgbClr val="DCEBF7"/>
          </a:solidFill>
          <a:ln/>
        </p:spPr>
      </p:sp>
      <p:sp>
        <p:nvSpPr>
          <p:cNvPr id="8" name="Shape 6"/>
          <p:cNvSpPr/>
          <p:nvPr/>
        </p:nvSpPr>
        <p:spPr>
          <a:xfrm>
            <a:off x="621792" y="2816352"/>
            <a:ext cx="402336" cy="402336"/>
          </a:xfrm>
          <a:prstGeom prst="ellipse">
            <a:avLst/>
          </a:prstGeom>
          <a:solidFill>
            <a:srgbClr val="0057C2"/>
          </a:solidFill>
          <a:ln/>
        </p:spPr>
      </p:sp>
      <p:sp>
        <p:nvSpPr>
          <p:cNvPr id="9" name="Text 7"/>
          <p:cNvSpPr/>
          <p:nvPr/>
        </p:nvSpPr>
        <p:spPr>
          <a:xfrm>
            <a:off x="621792" y="28163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1</a:t>
            </a:r>
            <a:endParaRPr lang="en-US" sz="1300" dirty="0"/>
          </a:p>
        </p:txBody>
      </p:sp>
      <p:sp>
        <p:nvSpPr>
          <p:cNvPr id="10" name="Text 8"/>
          <p:cNvSpPr/>
          <p:nvPr/>
        </p:nvSpPr>
        <p:spPr>
          <a:xfrm>
            <a:off x="1170432" y="2743200"/>
            <a:ext cx="1691640" cy="548640"/>
          </a:xfrm>
          <a:prstGeom prst="rect">
            <a:avLst/>
          </a:prstGeom>
          <a:noFill/>
          <a:ln/>
        </p:spPr>
        <p:txBody>
          <a:bodyPr wrap="square" lIns="0" tIns="0" rIns="0" bIns="0" rtlCol="0" anchor="ctr"/>
          <a:lstStyle/>
          <a:p>
            <a:pPr indent="0" marL="0">
              <a:buNone/>
            </a:pPr>
            <a:r>
              <a:rPr lang="en-US" sz="1250" b="1" dirty="0">
                <a:solidFill>
                  <a:srgbClr val="00357A"/>
                </a:solidFill>
                <a:latin typeface="Poppins" pitchFamily="34" charset="0"/>
                <a:ea typeface="Poppins" pitchFamily="34" charset="-122"/>
                <a:cs typeface="Poppins" pitchFamily="34" charset="-120"/>
              </a:rPr>
              <a:t>Cron fires</a:t>
            </a:r>
            <a:endParaRPr lang="en-US" sz="1250" dirty="0"/>
          </a:p>
        </p:txBody>
      </p:sp>
      <p:sp>
        <p:nvSpPr>
          <p:cNvPr id="11" name="Text 9"/>
          <p:cNvSpPr/>
          <p:nvPr/>
        </p:nvSpPr>
        <p:spPr>
          <a:xfrm>
            <a:off x="2880360" y="2743200"/>
            <a:ext cx="8686800" cy="548640"/>
          </a:xfrm>
          <a:prstGeom prst="rect">
            <a:avLst/>
          </a:prstGeom>
          <a:noFill/>
          <a:ln/>
        </p:spPr>
        <p:txBody>
          <a:bodyPr wrap="square" lIns="0" tIns="0" rIns="0" bIns="0" rtlCol="0" anchor="ctr"/>
          <a:lstStyle/>
          <a:p>
            <a:pPr indent="0" marL="0">
              <a:lnSpc>
                <a:spcPct val="95000"/>
              </a:lnSpc>
              <a:buNone/>
            </a:pPr>
            <a:r>
              <a:rPr lang="en-US" sz="1050" dirty="0">
                <a:solidFill>
                  <a:srgbClr val="53565A"/>
                </a:solidFill>
                <a:latin typeface="Poppins" pitchFamily="34" charset="0"/>
                <a:ea typeface="Poppins" pitchFamily="34" charset="-122"/>
                <a:cs typeface="Poppins" pitchFamily="34" charset="-120"/>
              </a:rPr>
              <a:t>dsquasar -a -A 3 -e -b -d PBS runs on the login host, in background mode.</a:t>
            </a:r>
            <a:endParaRPr lang="en-US" sz="1050" dirty="0"/>
          </a:p>
        </p:txBody>
      </p:sp>
      <p:sp>
        <p:nvSpPr>
          <p:cNvPr id="12" name="Shape 10"/>
          <p:cNvSpPr/>
          <p:nvPr/>
        </p:nvSpPr>
        <p:spPr>
          <a:xfrm>
            <a:off x="457200" y="3364992"/>
            <a:ext cx="11292840" cy="548640"/>
          </a:xfrm>
          <a:prstGeom prst="roundRect">
            <a:avLst>
              <a:gd name="adj" fmla="val 11667"/>
            </a:avLst>
          </a:prstGeom>
          <a:solidFill>
            <a:srgbClr val="DCEBF7"/>
          </a:solidFill>
          <a:ln/>
        </p:spPr>
      </p:sp>
      <p:sp>
        <p:nvSpPr>
          <p:cNvPr id="13" name="Shape 11"/>
          <p:cNvSpPr/>
          <p:nvPr/>
        </p:nvSpPr>
        <p:spPr>
          <a:xfrm>
            <a:off x="621792" y="3438144"/>
            <a:ext cx="402336" cy="402336"/>
          </a:xfrm>
          <a:prstGeom prst="ellipse">
            <a:avLst/>
          </a:prstGeom>
          <a:solidFill>
            <a:srgbClr val="0092DB"/>
          </a:solidFill>
          <a:ln/>
        </p:spPr>
      </p:sp>
      <p:sp>
        <p:nvSpPr>
          <p:cNvPr id="14" name="Text 12"/>
          <p:cNvSpPr/>
          <p:nvPr/>
        </p:nvSpPr>
        <p:spPr>
          <a:xfrm>
            <a:off x="621792" y="34381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2</a:t>
            </a:r>
            <a:endParaRPr lang="en-US" sz="1300" dirty="0"/>
          </a:p>
        </p:txBody>
      </p:sp>
      <p:sp>
        <p:nvSpPr>
          <p:cNvPr id="15" name="Text 13"/>
          <p:cNvSpPr/>
          <p:nvPr/>
        </p:nvSpPr>
        <p:spPr>
          <a:xfrm>
            <a:off x="1170432" y="3364992"/>
            <a:ext cx="1691640" cy="548640"/>
          </a:xfrm>
          <a:prstGeom prst="rect">
            <a:avLst/>
          </a:prstGeom>
          <a:noFill/>
          <a:ln/>
        </p:spPr>
        <p:txBody>
          <a:bodyPr wrap="square" lIns="0" tIns="0" rIns="0" bIns="0" rtlCol="0" anchor="ctr"/>
          <a:lstStyle/>
          <a:p>
            <a:pPr indent="0" marL="0">
              <a:buNone/>
            </a:pPr>
            <a:r>
              <a:rPr lang="en-US" sz="1250" b="1" dirty="0">
                <a:solidFill>
                  <a:srgbClr val="00357A"/>
                </a:solidFill>
                <a:latin typeface="Poppins" pitchFamily="34" charset="0"/>
                <a:ea typeface="Poppins" pitchFamily="34" charset="-122"/>
                <a:cs typeface="Poppins" pitchFamily="34" charset="-120"/>
              </a:rPr>
              <a:t>Size the job</a:t>
            </a:r>
            <a:endParaRPr lang="en-US" sz="1250" dirty="0"/>
          </a:p>
        </p:txBody>
      </p:sp>
      <p:sp>
        <p:nvSpPr>
          <p:cNvPr id="16" name="Text 14"/>
          <p:cNvSpPr/>
          <p:nvPr/>
        </p:nvSpPr>
        <p:spPr>
          <a:xfrm>
            <a:off x="2880360" y="3364992"/>
            <a:ext cx="8686800" cy="548640"/>
          </a:xfrm>
          <a:prstGeom prst="rect">
            <a:avLst/>
          </a:prstGeom>
          <a:noFill/>
          <a:ln/>
        </p:spPr>
        <p:txBody>
          <a:bodyPr wrap="square" lIns="0" tIns="0" rIns="0" bIns="0" rtlCol="0" anchor="ctr"/>
          <a:lstStyle/>
          <a:p>
            <a:pPr indent="0" marL="0">
              <a:lnSpc>
                <a:spcPct val="95000"/>
              </a:lnSpc>
              <a:buNone/>
            </a:pPr>
            <a:r>
              <a:rPr lang="en-US" sz="1050" dirty="0">
                <a:solidFill>
                  <a:srgbClr val="53565A"/>
                </a:solidFill>
                <a:latin typeface="Poppins" pitchFamily="34" charset="0"/>
                <a:ea typeface="Poppins" pitchFamily="34" charset="-122"/>
                <a:cs typeface="Poppins" pitchFamily="34" charset="-120"/>
              </a:rPr>
              <a:t>The pending tar count is turned into a cpu count, and PBS qoptions are written:</a:t>
            </a:r>
            <a:endParaRPr lang="en-US" sz="1050" dirty="0"/>
          </a:p>
          <a:p>
            <a:pPr indent="0" marL="0">
              <a:lnSpc>
                <a:spcPct val="95000"/>
              </a:lnSpc>
              <a:buNone/>
            </a:pPr>
            <a:r>
              <a:rPr lang="en-US" sz="1050" dirty="0">
                <a:solidFill>
                  <a:srgbClr val="53565A"/>
                </a:solidFill>
                <a:latin typeface="Poppins" pitchFamily="34" charset="0"/>
                <a:ea typeface="Poppins" pitchFamily="34" charset="-122"/>
                <a:cs typeface="Poppins" pitchFamily="34" charset="-120"/>
              </a:rPr>
              <a:t>walltime + select=1:ncpus=N:mem=Ngb.</a:t>
            </a:r>
            <a:endParaRPr lang="en-US" sz="1050" dirty="0"/>
          </a:p>
        </p:txBody>
      </p:sp>
      <p:sp>
        <p:nvSpPr>
          <p:cNvPr id="17" name="Shape 15"/>
          <p:cNvSpPr/>
          <p:nvPr/>
        </p:nvSpPr>
        <p:spPr>
          <a:xfrm>
            <a:off x="457200" y="3986784"/>
            <a:ext cx="11292840" cy="548640"/>
          </a:xfrm>
          <a:prstGeom prst="roundRect">
            <a:avLst>
              <a:gd name="adj" fmla="val 11667"/>
            </a:avLst>
          </a:prstGeom>
          <a:solidFill>
            <a:srgbClr val="DCEBF7"/>
          </a:solidFill>
          <a:ln/>
        </p:spPr>
      </p:sp>
      <p:sp>
        <p:nvSpPr>
          <p:cNvPr id="18" name="Shape 16"/>
          <p:cNvSpPr/>
          <p:nvPr/>
        </p:nvSpPr>
        <p:spPr>
          <a:xfrm>
            <a:off x="621792" y="4059936"/>
            <a:ext cx="402336" cy="402336"/>
          </a:xfrm>
          <a:prstGeom prst="ellipse">
            <a:avLst/>
          </a:prstGeom>
          <a:solidFill>
            <a:srgbClr val="0097A7"/>
          </a:solidFill>
          <a:ln/>
        </p:spPr>
      </p:sp>
      <p:sp>
        <p:nvSpPr>
          <p:cNvPr id="19" name="Text 17"/>
          <p:cNvSpPr/>
          <p:nvPr/>
        </p:nvSpPr>
        <p:spPr>
          <a:xfrm>
            <a:off x="621792" y="40599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3</a:t>
            </a:r>
            <a:endParaRPr lang="en-US" sz="1300" dirty="0"/>
          </a:p>
        </p:txBody>
      </p:sp>
      <p:sp>
        <p:nvSpPr>
          <p:cNvPr id="20" name="Text 18"/>
          <p:cNvSpPr/>
          <p:nvPr/>
        </p:nvSpPr>
        <p:spPr>
          <a:xfrm>
            <a:off x="1170432" y="3986784"/>
            <a:ext cx="1691640" cy="548640"/>
          </a:xfrm>
          <a:prstGeom prst="rect">
            <a:avLst/>
          </a:prstGeom>
          <a:noFill/>
          <a:ln/>
        </p:spPr>
        <p:txBody>
          <a:bodyPr wrap="square" lIns="0" tIns="0" rIns="0" bIns="0" rtlCol="0" anchor="ctr"/>
          <a:lstStyle/>
          <a:p>
            <a:pPr indent="0" marL="0">
              <a:buNone/>
            </a:pPr>
            <a:r>
              <a:rPr lang="en-US" sz="1250" b="1" dirty="0">
                <a:solidFill>
                  <a:srgbClr val="00357A"/>
                </a:solidFill>
                <a:latin typeface="Poppins" pitchFamily="34" charset="0"/>
                <a:ea typeface="Poppins" pitchFamily="34" charset="-122"/>
                <a:cs typeface="Poppins" pitchFamily="34" charset="-120"/>
              </a:rPr>
              <a:t>dscheck record</a:t>
            </a:r>
            <a:endParaRPr lang="en-US" sz="1250" dirty="0"/>
          </a:p>
        </p:txBody>
      </p:sp>
      <p:sp>
        <p:nvSpPr>
          <p:cNvPr id="21" name="Text 19"/>
          <p:cNvSpPr/>
          <p:nvPr/>
        </p:nvSpPr>
        <p:spPr>
          <a:xfrm>
            <a:off x="2880360" y="3986784"/>
            <a:ext cx="8686800" cy="548640"/>
          </a:xfrm>
          <a:prstGeom prst="rect">
            <a:avLst/>
          </a:prstGeom>
          <a:noFill/>
          <a:ln/>
        </p:spPr>
        <p:txBody>
          <a:bodyPr wrap="square" lIns="0" tIns="0" rIns="0" bIns="0" rtlCol="0" anchor="ctr"/>
          <a:lstStyle/>
          <a:p>
            <a:pPr indent="0" marL="0">
              <a:lnSpc>
                <a:spcPct val="95000"/>
              </a:lnSpc>
              <a:buNone/>
            </a:pPr>
            <a:r>
              <a:rPr lang="en-US" sz="1050" dirty="0">
                <a:solidFill>
                  <a:srgbClr val="53565A"/>
                </a:solidFill>
                <a:latin typeface="Poppins" pitchFamily="34" charset="0"/>
                <a:ea typeface="Poppins" pitchFamily="34" charset="-122"/>
                <a:cs typeface="Poppins" pitchFamily="34" charset="-120"/>
              </a:rPr>
              <a:t>A record is inserted keyed on command + specialist + argv + workdir. The argv is left unchanged, so the next identical cron line is recognised as a duplicate and blocks.</a:t>
            </a:r>
            <a:endParaRPr lang="en-US" sz="1050" dirty="0"/>
          </a:p>
        </p:txBody>
      </p:sp>
      <p:sp>
        <p:nvSpPr>
          <p:cNvPr id="22" name="Shape 20"/>
          <p:cNvSpPr/>
          <p:nvPr/>
        </p:nvSpPr>
        <p:spPr>
          <a:xfrm>
            <a:off x="457200" y="4608576"/>
            <a:ext cx="11292840" cy="548640"/>
          </a:xfrm>
          <a:prstGeom prst="roundRect">
            <a:avLst>
              <a:gd name="adj" fmla="val 11667"/>
            </a:avLst>
          </a:prstGeom>
          <a:solidFill>
            <a:srgbClr val="DCEBF7"/>
          </a:solidFill>
          <a:ln/>
        </p:spPr>
      </p:sp>
      <p:sp>
        <p:nvSpPr>
          <p:cNvPr id="23" name="Shape 21"/>
          <p:cNvSpPr/>
          <p:nvPr/>
        </p:nvSpPr>
        <p:spPr>
          <a:xfrm>
            <a:off x="621792" y="4681728"/>
            <a:ext cx="402336" cy="402336"/>
          </a:xfrm>
          <a:prstGeom prst="ellipse">
            <a:avLst/>
          </a:prstGeom>
          <a:solidFill>
            <a:srgbClr val="C25E00"/>
          </a:solidFill>
          <a:ln/>
        </p:spPr>
      </p:sp>
      <p:sp>
        <p:nvSpPr>
          <p:cNvPr id="24" name="Text 22"/>
          <p:cNvSpPr/>
          <p:nvPr/>
        </p:nvSpPr>
        <p:spPr>
          <a:xfrm>
            <a:off x="621792" y="46817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4</a:t>
            </a:r>
            <a:endParaRPr lang="en-US" sz="1300" dirty="0"/>
          </a:p>
        </p:txBody>
      </p:sp>
      <p:sp>
        <p:nvSpPr>
          <p:cNvPr id="25" name="Text 23"/>
          <p:cNvSpPr/>
          <p:nvPr/>
        </p:nvSpPr>
        <p:spPr>
          <a:xfrm>
            <a:off x="1170432" y="4608576"/>
            <a:ext cx="1691640" cy="548640"/>
          </a:xfrm>
          <a:prstGeom prst="rect">
            <a:avLst/>
          </a:prstGeom>
          <a:noFill/>
          <a:ln/>
        </p:spPr>
        <p:txBody>
          <a:bodyPr wrap="square" lIns="0" tIns="0" rIns="0" bIns="0" rtlCol="0" anchor="ctr"/>
          <a:lstStyle/>
          <a:p>
            <a:pPr indent="0" marL="0">
              <a:buNone/>
            </a:pPr>
            <a:r>
              <a:rPr lang="en-US" sz="1250" b="1" dirty="0">
                <a:solidFill>
                  <a:srgbClr val="00357A"/>
                </a:solidFill>
                <a:latin typeface="Poppins" pitchFamily="34" charset="0"/>
                <a:ea typeface="Poppins" pitchFamily="34" charset="-122"/>
                <a:cs typeface="Poppins" pitchFamily="34" charset="-120"/>
              </a:rPr>
              <a:t>Daemon submits</a:t>
            </a:r>
            <a:endParaRPr lang="en-US" sz="1250" dirty="0"/>
          </a:p>
        </p:txBody>
      </p:sp>
      <p:sp>
        <p:nvSpPr>
          <p:cNvPr id="26" name="Text 24"/>
          <p:cNvSpPr/>
          <p:nvPr/>
        </p:nvSpPr>
        <p:spPr>
          <a:xfrm>
            <a:off x="2880360" y="4608576"/>
            <a:ext cx="8686800" cy="548640"/>
          </a:xfrm>
          <a:prstGeom prst="rect">
            <a:avLst/>
          </a:prstGeom>
          <a:noFill/>
          <a:ln/>
        </p:spPr>
        <p:txBody>
          <a:bodyPr wrap="square" lIns="0" tIns="0" rIns="0" bIns="0" rtlCol="0" anchor="ctr"/>
          <a:lstStyle/>
          <a:p>
            <a:pPr indent="0" marL="0">
              <a:lnSpc>
                <a:spcPct val="95000"/>
              </a:lnSpc>
              <a:buNone/>
            </a:pPr>
            <a:r>
              <a:rPr lang="en-US" sz="1050" dirty="0">
                <a:solidFill>
                  <a:srgbClr val="53565A"/>
                </a:solidFill>
                <a:latin typeface="Poppins" pitchFamily="34" charset="0"/>
                <a:ea typeface="Poppins" pitchFamily="34" charset="-122"/>
                <a:cs typeface="Poppins" pitchFamily="34" charset="-120"/>
              </a:rPr>
              <a:t>dscheck picks the record up, submits to PBS, and dsquasar re-runs there — reading its process count back from the reserved ncpus.</a:t>
            </a:r>
            <a:endParaRPr lang="en-US" sz="1050" dirty="0"/>
          </a:p>
        </p:txBody>
      </p:sp>
      <p:sp>
        <p:nvSpPr>
          <p:cNvPr id="27" name="Shape 25"/>
          <p:cNvSpPr/>
          <p:nvPr/>
        </p:nvSpPr>
        <p:spPr>
          <a:xfrm>
            <a:off x="457200" y="5230368"/>
            <a:ext cx="11292840" cy="548640"/>
          </a:xfrm>
          <a:prstGeom prst="roundRect">
            <a:avLst>
              <a:gd name="adj" fmla="val 11667"/>
            </a:avLst>
          </a:prstGeom>
          <a:solidFill>
            <a:srgbClr val="DCEBF7"/>
          </a:solidFill>
          <a:ln/>
        </p:spPr>
      </p:sp>
      <p:sp>
        <p:nvSpPr>
          <p:cNvPr id="28" name="Shape 26"/>
          <p:cNvSpPr/>
          <p:nvPr/>
        </p:nvSpPr>
        <p:spPr>
          <a:xfrm>
            <a:off x="621792" y="5303520"/>
            <a:ext cx="402336" cy="402336"/>
          </a:xfrm>
          <a:prstGeom prst="ellipse">
            <a:avLst/>
          </a:prstGeom>
          <a:solidFill>
            <a:srgbClr val="0057C2"/>
          </a:solidFill>
          <a:ln/>
        </p:spPr>
      </p:sp>
      <p:sp>
        <p:nvSpPr>
          <p:cNvPr id="29" name="Text 27"/>
          <p:cNvSpPr/>
          <p:nvPr/>
        </p:nvSpPr>
        <p:spPr>
          <a:xfrm>
            <a:off x="621792" y="53035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5</a:t>
            </a:r>
            <a:endParaRPr lang="en-US" sz="1300" dirty="0"/>
          </a:p>
        </p:txBody>
      </p:sp>
      <p:sp>
        <p:nvSpPr>
          <p:cNvPr id="30" name="Text 28"/>
          <p:cNvSpPr/>
          <p:nvPr/>
        </p:nvSpPr>
        <p:spPr>
          <a:xfrm>
            <a:off x="1170432" y="5230368"/>
            <a:ext cx="1691640" cy="548640"/>
          </a:xfrm>
          <a:prstGeom prst="rect">
            <a:avLst/>
          </a:prstGeom>
          <a:noFill/>
          <a:ln/>
        </p:spPr>
        <p:txBody>
          <a:bodyPr wrap="square" lIns="0" tIns="0" rIns="0" bIns="0" rtlCol="0" anchor="ctr"/>
          <a:lstStyle/>
          <a:p>
            <a:pPr indent="0" marL="0">
              <a:buNone/>
            </a:pPr>
            <a:r>
              <a:rPr lang="en-US" sz="1250" b="1" dirty="0">
                <a:solidFill>
                  <a:srgbClr val="00357A"/>
                </a:solidFill>
                <a:latin typeface="Poppins" pitchFamily="34" charset="0"/>
                <a:ea typeface="Poppins" pitchFamily="34" charset="-122"/>
                <a:cs typeface="Poppins" pitchFamily="34" charset="-120"/>
              </a:rPr>
              <a:t>Retry on failure</a:t>
            </a:r>
            <a:endParaRPr lang="en-US" sz="1250" dirty="0"/>
          </a:p>
        </p:txBody>
      </p:sp>
      <p:sp>
        <p:nvSpPr>
          <p:cNvPr id="31" name="Text 29"/>
          <p:cNvSpPr/>
          <p:nvPr/>
        </p:nvSpPr>
        <p:spPr>
          <a:xfrm>
            <a:off x="2880360" y="5230368"/>
            <a:ext cx="8686800" cy="548640"/>
          </a:xfrm>
          <a:prstGeom prst="rect">
            <a:avLst/>
          </a:prstGeom>
          <a:noFill/>
          <a:ln/>
        </p:spPr>
        <p:txBody>
          <a:bodyPr wrap="square" lIns="0" tIns="0" rIns="0" bIns="0" rtlCol="0" anchor="ctr"/>
          <a:lstStyle/>
          <a:p>
            <a:pPr indent="0" marL="0">
              <a:lnSpc>
                <a:spcPct val="95000"/>
              </a:lnSpc>
              <a:buNone/>
            </a:pPr>
            <a:r>
              <a:rPr lang="en-US" sz="1050" dirty="0">
                <a:solidFill>
                  <a:srgbClr val="53565A"/>
                </a:solidFill>
                <a:latin typeface="Poppins" pitchFamily="34" charset="0"/>
                <a:ea typeface="Poppins" pitchFamily="34" charset="-122"/>
                <a:cs typeface="Poppins" pitchFamily="34" charset="-120"/>
              </a:rPr>
              <a:t>TRYLMTS['dsquasar'] = 3: a failed run is resubmitted up to three times before the record is reported as failed.</a:t>
            </a:r>
            <a:endParaRPr lang="en-US" sz="1050" dirty="0"/>
          </a:p>
        </p:txBody>
      </p:sp>
      <p:sp>
        <p:nvSpPr>
          <p:cNvPr id="32" name="Shape 30"/>
          <p:cNvSpPr/>
          <p:nvPr/>
        </p:nvSpPr>
        <p:spPr>
          <a:xfrm>
            <a:off x="457200" y="5897880"/>
            <a:ext cx="11292840" cy="502920"/>
          </a:xfrm>
          <a:prstGeom prst="roundRect">
            <a:avLst>
              <a:gd name="adj" fmla="val 14545"/>
            </a:avLst>
          </a:prstGeom>
          <a:solidFill>
            <a:srgbClr val="011837"/>
          </a:solidFill>
          <a:ln/>
        </p:spPr>
      </p:sp>
      <p:sp>
        <p:nvSpPr>
          <p:cNvPr id="33" name="Text 31"/>
          <p:cNvSpPr/>
          <p:nvPr/>
        </p:nvSpPr>
        <p:spPr>
          <a:xfrm>
            <a:off x="658368" y="5897880"/>
            <a:ext cx="10881360" cy="502920"/>
          </a:xfrm>
          <a:prstGeom prst="rect">
            <a:avLst/>
          </a:prstGeom>
          <a:noFill/>
          <a:ln/>
        </p:spPr>
        <p:txBody>
          <a:bodyPr wrap="square" lIns="0" tIns="0" rIns="0" bIns="0" rtlCol="0" anchor="ctr"/>
          <a:lstStyle/>
          <a:p>
            <a:pPr indent="0" marL="0">
              <a:buNone/>
            </a:pPr>
            <a:r>
              <a:rPr lang="en-US" sz="1150" b="1" dirty="0">
                <a:solidFill>
                  <a:srgbClr val="42C0FF"/>
                </a:solidFill>
                <a:latin typeface="Poppins" pitchFamily="34" charset="0"/>
                <a:ea typeface="Poppins" pitchFamily="34" charset="-122"/>
                <a:cs typeface="Poppins" pitchFamily="34" charset="-120"/>
              </a:rPr>
              <a:t>-d takes optional HostName and TryCount.  </a:t>
            </a:r>
            <a:pPr indent="0" marL="0">
              <a:buNone/>
            </a:pPr>
            <a:r>
              <a:rPr lang="en-US" sz="1150" dirty="0">
                <a:solidFill>
                  <a:srgbClr val="C3D7EE"/>
                </a:solidFill>
                <a:latin typeface="Poppins" pitchFamily="34" charset="0"/>
                <a:ea typeface="Poppins" pitchFamily="34" charset="-122"/>
                <a:cs typeface="Poppins" pitchFamily="34" charset="-120"/>
              </a:rPr>
              <a:t>-d PBS is the normal form; a bare -d uses the configured default batch host.</a:t>
            </a:r>
            <a:endParaRPr lang="en-US" sz="1150" dirty="0"/>
          </a:p>
        </p:txBody>
      </p:sp>
      <p:sp>
        <p:nvSpPr>
          <p:cNvPr id="34" name="Text 32"/>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15</a:t>
            </a:r>
            <a:endParaRPr lang="en-US" sz="950" dirty="0"/>
          </a:p>
        </p:txBody>
      </p:sp>
      <p:sp>
        <p:nvSpPr>
          <p:cNvPr id="35" name="Text 33"/>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2DB"/>
                </a:solidFill>
                <a:latin typeface="Poppins" pitchFamily="34" charset="0"/>
                <a:ea typeface="Poppins" pitchFamily="34" charset="-122"/>
                <a:cs typeface="Poppins" pitchFamily="34" charset="-120"/>
              </a:rPr>
              <a:t>SCHEDULING</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How Often It Runs in Production</a:t>
            </a:r>
            <a:endParaRPr lang="en-US" sz="3200" dirty="0"/>
          </a:p>
        </p:txBody>
      </p:sp>
      <p:sp>
        <p:nvSpPr>
          <p:cNvPr id="4" name="Text 2"/>
          <p:cNvSpPr/>
          <p:nvPr/>
        </p:nvSpPr>
        <p:spPr>
          <a:xfrm>
            <a:off x="457200" y="1444752"/>
            <a:ext cx="11292840" cy="502920"/>
          </a:xfrm>
          <a:prstGeom prst="rect">
            <a:avLst/>
          </a:prstGeom>
          <a:noFill/>
          <a:ln/>
        </p:spPr>
        <p:txBody>
          <a:bodyPr wrap="square" lIns="0" tIns="0" rIns="0" bIns="0" rtlCol="0" anchor="t"/>
          <a:lstStyle/>
          <a:p>
            <a:pPr indent="0" marL="0">
              <a:lnSpc>
                <a:spcPct val="110000"/>
              </a:lnSpc>
              <a:buNone/>
            </a:pPr>
            <a:r>
              <a:rPr lang="en-US" sz="1450" dirty="0">
                <a:solidFill>
                  <a:srgbClr val="00357A"/>
                </a:solidFill>
                <a:latin typeface="Poppins" pitchFamily="34" charset="0"/>
                <a:ea typeface="Poppins" pitchFamily="34" charset="-122"/>
                <a:cs typeface="Poppins" pitchFamily="34" charset="-120"/>
              </a:rPr>
              <a:t>Nobody starts a backup by hand. Four cron entries on cron.hpc.ucar.edu keep the archive current — each one an ssh into casper that leaves a dscheck record behind for PBS.</a:t>
            </a:r>
            <a:endParaRPr lang="en-US" sz="14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11292840" cy="914400"/>
        </p:xfrm>
        <a:graphic>
          <a:graphicData uri="http://schemas.openxmlformats.org/drawingml/2006/table">
            <a:tbl>
              <a:tblPr/>
              <a:tblGrid>
                <a:gridCol w="1965960"/>
                <a:gridCol w="3291840"/>
                <a:gridCol w="6035040"/>
              </a:tblGrid>
              <a:tr h="365760">
                <a:tc>
                  <a:txBody>
                    <a:bodyPr/>
                    <a:lstStyle/>
                    <a:p>
                      <a:pPr indent="0" marL="0">
                        <a:buNone/>
                      </a:pPr>
                      <a:r>
                        <a:rPr lang="en-US" sz="1100" b="1" dirty="0">
                          <a:solidFill>
                            <a:srgbClr val="FFFFFF"/>
                          </a:solidFill>
                          <a:latin typeface="Courier New" pitchFamily="34" charset="0"/>
                          <a:ea typeface="Courier New" pitchFamily="34" charset="-122"/>
                          <a:cs typeface="Courier New" pitchFamily="34" charset="-120"/>
                        </a:rPr>
                        <a:t>Cron time</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2DB"/>
                    </a:solidFill>
                  </a:tcPr>
                </a:tc>
                <a:tc>
                  <a:txBody>
                    <a:bodyPr/>
                    <a:lstStyle/>
                    <a:p>
                      <a:pPr indent="0" marL="0">
                        <a:buNone/>
                      </a:pPr>
                      <a:r>
                        <a:rPr lang="en-US" sz="1100" b="1" dirty="0">
                          <a:solidFill>
                            <a:srgbClr val="FFFFFF"/>
                          </a:solidFill>
                          <a:latin typeface="Poppins" pitchFamily="34" charset="0"/>
                          <a:ea typeface="Poppins" pitchFamily="34" charset="-122"/>
                          <a:cs typeface="Poppins" pitchFamily="34" charset="-120"/>
                        </a:rPr>
                        <a:t>dsquasar arguments</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2DB"/>
                    </a:solidFill>
                  </a:tcPr>
                </a:tc>
                <a:tc>
                  <a:txBody>
                    <a:bodyPr/>
                    <a:lstStyle/>
                    <a:p>
                      <a:pPr indent="0" marL="0">
                        <a:buNone/>
                      </a:pPr>
                      <a:r>
                        <a:rPr lang="en-US" sz="1100" b="1" dirty="0">
                          <a:solidFill>
                            <a:srgbClr val="FFFFFF"/>
                          </a:solidFill>
                          <a:latin typeface="Poppins" pitchFamily="34" charset="0"/>
                          <a:ea typeface="Poppins" pitchFamily="34" charset="-122"/>
                          <a:cs typeface="Poppins" pitchFamily="34" charset="-120"/>
                        </a:rPr>
                        <a:t>What the run does</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2DB"/>
                    </a:solidFill>
                  </a:tcPr>
                </a:tc>
              </a:tr>
              <a:tr h="365760">
                <a:tc>
                  <a:txBody>
                    <a:bodyPr/>
                    <a:lstStyle/>
                    <a:p>
                      <a:pPr indent="0" marL="0">
                        <a:buNone/>
                      </a:pPr>
                      <a:r>
                        <a:rPr lang="en-US" sz="1100" b="1" dirty="0">
                          <a:solidFill>
                            <a:srgbClr val="0057C2"/>
                          </a:solidFill>
                          <a:latin typeface="Courier New" pitchFamily="34" charset="0"/>
                          <a:ea typeface="Courier New" pitchFamily="34" charset="-122"/>
                          <a:cs typeface="Courier New" pitchFamily="34" charset="-120"/>
                        </a:rPr>
                        <a:t>0 */4 * * *</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-a -A 3 -e -b -d PBS</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Every 4 hours, six times a day — list the files still to back up and build the tars</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57C2"/>
                          </a:solidFill>
                          <a:latin typeface="Courier New" pitchFamily="34" charset="0"/>
                          <a:ea typeface="Courier New" pitchFamily="34" charset="-122"/>
                          <a:cs typeface="Courier New" pitchFamily="34" charset="-120"/>
                        </a:rPr>
                        <a:t>0 */4 * * *</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-a -A 4 -e -b -d PBS</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Every 4 hours, six times a day — ship the finished tars to Quasar</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100" b="1" dirty="0">
                          <a:solidFill>
                            <a:srgbClr val="0057C2"/>
                          </a:solidFill>
                          <a:latin typeface="Courier New" pitchFamily="34" charset="0"/>
                          <a:ea typeface="Courier New" pitchFamily="34" charset="-122"/>
                          <a:cs typeface="Courier New" pitchFamily="34" charset="-120"/>
                        </a:rPr>
                        <a:t>0 1 1 */3 *</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-a -c 1 -A 3 -l N -e -b -d PBS</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1 AM on the 1st of every third month — re-back up files that changed</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57C2"/>
                          </a:solidFill>
                          <a:latin typeface="Courier New" pitchFamily="34" charset="0"/>
                          <a:ea typeface="Courier New" pitchFamily="34" charset="-122"/>
                          <a:cs typeface="Courier New" pitchFamily="34" charset="-120"/>
                        </a:rPr>
                        <a:t>0 3 1,15 * *</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-a -A 16 -e -b -d PBS</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3 AM on the 1st and the 15th — dump the backup statistics</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bl>
          </a:graphicData>
        </a:graphic>
      </p:graphicFrame>
      <p:sp>
        <p:nvSpPr>
          <p:cNvPr id="6" name="Text 3"/>
          <p:cNvSpPr/>
          <p:nvPr/>
        </p:nvSpPr>
        <p:spPr>
          <a:xfrm>
            <a:off x="457200" y="4023360"/>
            <a:ext cx="11292840" cy="274320"/>
          </a:xfrm>
          <a:prstGeom prst="rect">
            <a:avLst/>
          </a:prstGeom>
          <a:noFill/>
          <a:ln/>
        </p:spPr>
        <p:txBody>
          <a:bodyPr wrap="square" lIns="0" tIns="0" rIns="0" bIns="0" rtlCol="0" anchor="ctr"/>
          <a:lstStyle/>
          <a:p>
            <a:pPr indent="0" marL="0">
              <a:buNone/>
            </a:pPr>
            <a:r>
              <a:rPr lang="en-US" sz="1400" b="1" dirty="0">
                <a:solidFill>
                  <a:srgbClr val="00357A"/>
                </a:solidFill>
                <a:latin typeface="Poppins" pitchFamily="34" charset="0"/>
                <a:ea typeface="Poppins" pitchFamily="34" charset="-122"/>
                <a:cs typeface="Poppins" pitchFamily="34" charset="-120"/>
              </a:rPr>
              <a:t>Why running that often is safe</a:t>
            </a:r>
            <a:endParaRPr lang="en-US" sz="1400" dirty="0"/>
          </a:p>
        </p:txBody>
      </p:sp>
      <p:sp>
        <p:nvSpPr>
          <p:cNvPr id="7" name="Shape 4"/>
          <p:cNvSpPr/>
          <p:nvPr/>
        </p:nvSpPr>
        <p:spPr>
          <a:xfrm>
            <a:off x="457200" y="4343400"/>
            <a:ext cx="3611880" cy="1325880"/>
          </a:xfrm>
          <a:prstGeom prst="roundRect">
            <a:avLst>
              <a:gd name="adj" fmla="val 6207"/>
            </a:avLst>
          </a:prstGeom>
          <a:solidFill>
            <a:srgbClr val="DCEBF7"/>
          </a:solidFill>
          <a:ln w="19050">
            <a:solidFill>
              <a:srgbClr val="0057C2"/>
            </a:solidFill>
            <a:prstDash val="solid"/>
          </a:ln>
        </p:spPr>
      </p:sp>
      <p:sp>
        <p:nvSpPr>
          <p:cNvPr id="8" name="Text 5"/>
          <p:cNvSpPr/>
          <p:nvPr/>
        </p:nvSpPr>
        <p:spPr>
          <a:xfrm>
            <a:off x="658368" y="4462272"/>
            <a:ext cx="3200400" cy="320040"/>
          </a:xfrm>
          <a:prstGeom prst="rect">
            <a:avLst/>
          </a:prstGeom>
          <a:noFill/>
          <a:ln/>
        </p:spPr>
        <p:txBody>
          <a:bodyPr wrap="square" lIns="0" tIns="0" rIns="0" bIns="0" rtlCol="0" anchor="ctr"/>
          <a:lstStyle/>
          <a:p>
            <a:pPr indent="0" marL="0">
              <a:buNone/>
            </a:pPr>
            <a:r>
              <a:rPr lang="en-US" sz="1300" b="1" dirty="0">
                <a:solidFill>
                  <a:srgbClr val="0057C2"/>
                </a:solidFill>
                <a:latin typeface="Poppins" pitchFamily="34" charset="0"/>
                <a:ea typeface="Poppins" pitchFamily="34" charset="-122"/>
                <a:cs typeface="Poppins" pitchFamily="34" charset="-120"/>
              </a:rPr>
              <a:t>Duplicates block</a:t>
            </a:r>
            <a:endParaRPr lang="en-US" sz="1300" dirty="0"/>
          </a:p>
        </p:txBody>
      </p:sp>
      <p:sp>
        <p:nvSpPr>
          <p:cNvPr id="9" name="Text 6"/>
          <p:cNvSpPr/>
          <p:nvPr/>
        </p:nvSpPr>
        <p:spPr>
          <a:xfrm>
            <a:off x="658368" y="4800600"/>
            <a:ext cx="3246120" cy="777240"/>
          </a:xfrm>
          <a:prstGeom prst="rect">
            <a:avLst/>
          </a:prstGeom>
          <a:noFill/>
          <a:ln/>
        </p:spPr>
        <p:txBody>
          <a:bodyPr wrap="square" lIns="0" tIns="0" rIns="0" bIns="0" rtlCol="0" anchor="t"/>
          <a:lstStyle/>
          <a:p>
            <a:pPr indent="0" marL="0">
              <a:lnSpc>
                <a:spcPct val="105000"/>
              </a:lnSpc>
              <a:buNone/>
            </a:pPr>
            <a:r>
              <a:rPr lang="en-US" sz="1050" dirty="0">
                <a:solidFill>
                  <a:srgbClr val="53565A"/>
                </a:solidFill>
                <a:latin typeface="Poppins" pitchFamily="34" charset="0"/>
                <a:ea typeface="Poppins" pitchFamily="34" charset="-122"/>
                <a:cs typeface="Poppins" pitchFamily="34" charset="-120"/>
              </a:rPr>
              <a:t>The cron line never changes, so dscheck recognises the argv and refuses a second submit while the first record is still pending.</a:t>
            </a:r>
            <a:endParaRPr lang="en-US" sz="1050" dirty="0"/>
          </a:p>
        </p:txBody>
      </p:sp>
      <p:sp>
        <p:nvSpPr>
          <p:cNvPr id="10" name="Shape 7"/>
          <p:cNvSpPr/>
          <p:nvPr/>
        </p:nvSpPr>
        <p:spPr>
          <a:xfrm>
            <a:off x="4297680" y="4343400"/>
            <a:ext cx="3611880" cy="1325880"/>
          </a:xfrm>
          <a:prstGeom prst="roundRect">
            <a:avLst>
              <a:gd name="adj" fmla="val 6207"/>
            </a:avLst>
          </a:prstGeom>
          <a:solidFill>
            <a:srgbClr val="DCEBF7"/>
          </a:solidFill>
          <a:ln w="19050">
            <a:solidFill>
              <a:srgbClr val="0097A7"/>
            </a:solidFill>
            <a:prstDash val="solid"/>
          </a:ln>
        </p:spPr>
      </p:sp>
      <p:sp>
        <p:nvSpPr>
          <p:cNvPr id="11" name="Text 8"/>
          <p:cNvSpPr/>
          <p:nvPr/>
        </p:nvSpPr>
        <p:spPr>
          <a:xfrm>
            <a:off x="4498848" y="4462272"/>
            <a:ext cx="3200400" cy="320040"/>
          </a:xfrm>
          <a:prstGeom prst="rect">
            <a:avLst/>
          </a:prstGeom>
          <a:noFill/>
          <a:ln/>
        </p:spPr>
        <p:txBody>
          <a:bodyPr wrap="square" lIns="0" tIns="0" rIns="0" bIns="0" rtlCol="0" anchor="ctr"/>
          <a:lstStyle/>
          <a:p>
            <a:pPr indent="0" marL="0">
              <a:buNone/>
            </a:pPr>
            <a:r>
              <a:rPr lang="en-US" sz="1300" b="1" dirty="0">
                <a:solidFill>
                  <a:srgbClr val="0097A7"/>
                </a:solidFill>
                <a:latin typeface="Poppins" pitchFamily="34" charset="0"/>
                <a:ea typeface="Poppins" pitchFamily="34" charset="-122"/>
                <a:cs typeface="Poppins" pitchFamily="34" charset="-120"/>
              </a:rPr>
              <a:t>Nothing is lost</a:t>
            </a:r>
            <a:endParaRPr lang="en-US" sz="1300" dirty="0"/>
          </a:p>
        </p:txBody>
      </p:sp>
      <p:sp>
        <p:nvSpPr>
          <p:cNvPr id="12" name="Text 9"/>
          <p:cNvSpPr/>
          <p:nvPr/>
        </p:nvSpPr>
        <p:spPr>
          <a:xfrm>
            <a:off x="4498848" y="4800600"/>
            <a:ext cx="3246120" cy="777240"/>
          </a:xfrm>
          <a:prstGeom prst="rect">
            <a:avLst/>
          </a:prstGeom>
          <a:noFill/>
          <a:ln/>
        </p:spPr>
        <p:txBody>
          <a:bodyPr wrap="square" lIns="0" tIns="0" rIns="0" bIns="0" rtlCol="0" anchor="t"/>
          <a:lstStyle/>
          <a:p>
            <a:pPr indent="0" marL="0">
              <a:lnSpc>
                <a:spcPct val="105000"/>
              </a:lnSpc>
              <a:buNone/>
            </a:pPr>
            <a:r>
              <a:rPr lang="en-US" sz="1050" dirty="0">
                <a:solidFill>
                  <a:srgbClr val="53565A"/>
                </a:solidFill>
                <a:latin typeface="Poppins" pitchFamily="34" charset="0"/>
                <a:ea typeface="Poppins" pitchFamily="34" charset="-122"/>
                <a:cs typeface="Poppins" pitchFamily="34" charset="-120"/>
              </a:rPr>
              <a:t>A job killed at the walltime leaves its 'N' and 'T' records on file and its progress report in dscheck.einfo; the next run simply picks them up.</a:t>
            </a:r>
            <a:endParaRPr lang="en-US" sz="1050" dirty="0"/>
          </a:p>
        </p:txBody>
      </p:sp>
      <p:sp>
        <p:nvSpPr>
          <p:cNvPr id="13" name="Shape 10"/>
          <p:cNvSpPr/>
          <p:nvPr/>
        </p:nvSpPr>
        <p:spPr>
          <a:xfrm>
            <a:off x="8138160" y="4343400"/>
            <a:ext cx="3611880" cy="1325880"/>
          </a:xfrm>
          <a:prstGeom prst="roundRect">
            <a:avLst>
              <a:gd name="adj" fmla="val 6207"/>
            </a:avLst>
          </a:prstGeom>
          <a:solidFill>
            <a:srgbClr val="DCEBF7"/>
          </a:solidFill>
          <a:ln w="19050">
            <a:solidFill>
              <a:srgbClr val="C25E00"/>
            </a:solidFill>
            <a:prstDash val="solid"/>
          </a:ln>
        </p:spPr>
      </p:sp>
      <p:sp>
        <p:nvSpPr>
          <p:cNvPr id="14" name="Text 11"/>
          <p:cNvSpPr/>
          <p:nvPr/>
        </p:nvSpPr>
        <p:spPr>
          <a:xfrm>
            <a:off x="8339328" y="4462272"/>
            <a:ext cx="3200400" cy="320040"/>
          </a:xfrm>
          <a:prstGeom prst="rect">
            <a:avLst/>
          </a:prstGeom>
          <a:noFill/>
          <a:ln/>
        </p:spPr>
        <p:txBody>
          <a:bodyPr wrap="square" lIns="0" tIns="0" rIns="0" bIns="0" rtlCol="0" anchor="ctr"/>
          <a:lstStyle/>
          <a:p>
            <a:pPr indent="0" marL="0">
              <a:buNone/>
            </a:pPr>
            <a:r>
              <a:rPr lang="en-US" sz="1300" b="1" dirty="0">
                <a:solidFill>
                  <a:srgbClr val="C25E00"/>
                </a:solidFill>
                <a:latin typeface="Poppins" pitchFamily="34" charset="0"/>
                <a:ea typeface="Poppins" pitchFamily="34" charset="-122"/>
                <a:cs typeface="Poppins" pitchFamily="34" charset="-120"/>
              </a:rPr>
              <a:t>Build and ship overlap</a:t>
            </a:r>
            <a:endParaRPr lang="en-US" sz="1300" dirty="0"/>
          </a:p>
        </p:txBody>
      </p:sp>
      <p:sp>
        <p:nvSpPr>
          <p:cNvPr id="15" name="Text 12"/>
          <p:cNvSpPr/>
          <p:nvPr/>
        </p:nvSpPr>
        <p:spPr>
          <a:xfrm>
            <a:off x="8339328" y="4800600"/>
            <a:ext cx="3246120" cy="777240"/>
          </a:xfrm>
          <a:prstGeom prst="rect">
            <a:avLst/>
          </a:prstGeom>
          <a:noFill/>
          <a:ln/>
        </p:spPr>
        <p:txBody>
          <a:bodyPr wrap="square" lIns="0" tIns="0" rIns="0" bIns="0" rtlCol="0" anchor="t"/>
          <a:lstStyle/>
          <a:p>
            <a:pPr indent="0" marL="0">
              <a:lnSpc>
                <a:spcPct val="105000"/>
              </a:lnSpc>
              <a:buNone/>
            </a:pPr>
            <a:r>
              <a:rPr lang="en-US" sz="1050" dirty="0">
                <a:solidFill>
                  <a:srgbClr val="53565A"/>
                </a:solidFill>
                <a:latin typeface="Poppins" pitchFamily="34" charset="0"/>
                <a:ea typeface="Poppins" pitchFamily="34" charset="-122"/>
                <a:cs typeface="Poppins" pitchFamily="34" charset="-120"/>
              </a:rPr>
              <a:t>-A 3 and -A 4 fire at the same minute. One tars what is ready while the other uploads what is already tarred, and the dataset lock keeps them off the same files.</a:t>
            </a:r>
            <a:endParaRPr lang="en-US" sz="1050" dirty="0"/>
          </a:p>
        </p:txBody>
      </p:sp>
      <p:sp>
        <p:nvSpPr>
          <p:cNvPr id="16" name="Shape 13"/>
          <p:cNvSpPr/>
          <p:nvPr/>
        </p:nvSpPr>
        <p:spPr>
          <a:xfrm>
            <a:off x="457200" y="5760720"/>
            <a:ext cx="11292840" cy="502920"/>
          </a:xfrm>
          <a:prstGeom prst="roundRect">
            <a:avLst>
              <a:gd name="adj" fmla="val 14545"/>
            </a:avLst>
          </a:prstGeom>
          <a:solidFill>
            <a:srgbClr val="011837"/>
          </a:solidFill>
          <a:ln/>
        </p:spPr>
      </p:sp>
      <p:sp>
        <p:nvSpPr>
          <p:cNvPr id="17" name="Text 14"/>
          <p:cNvSpPr/>
          <p:nvPr/>
        </p:nvSpPr>
        <p:spPr>
          <a:xfrm>
            <a:off x="658368" y="5760720"/>
            <a:ext cx="10881360" cy="502920"/>
          </a:xfrm>
          <a:prstGeom prst="rect">
            <a:avLst/>
          </a:prstGeom>
          <a:noFill/>
          <a:ln/>
        </p:spPr>
        <p:txBody>
          <a:bodyPr wrap="square" lIns="0" tIns="0" rIns="0" bIns="0" rtlCol="0" anchor="ctr"/>
          <a:lstStyle/>
          <a:p>
            <a:pPr indent="0" marL="0">
              <a:buNone/>
            </a:pPr>
            <a:r>
              <a:rPr lang="en-US" sz="1150" b="1" dirty="0">
                <a:solidFill>
                  <a:srgbClr val="42C0FF"/>
                </a:solidFill>
                <a:latin typeface="Poppins" pitchFamily="34" charset="0"/>
                <a:ea typeface="Poppins" pitchFamily="34" charset="-122"/>
                <a:cs typeface="Poppins" pitchFamily="34" charset="-120"/>
              </a:rPr>
              <a:t>Where the schedule lives.  </a:t>
            </a:r>
            <a:pPr indent="0" marL="0">
              <a:buNone/>
            </a:pPr>
            <a:r>
              <a:rPr lang="en-US" sz="1150" dirty="0">
                <a:solidFill>
                  <a:srgbClr val="C3D7EE"/>
                </a:solidFill>
                <a:latin typeface="Poppins" pitchFamily="34" charset="0"/>
                <a:ea typeface="Poppins" pitchFamily="34" charset="-122"/>
                <a:cs typeface="Poppins" pitchFamily="34" charset="-120"/>
              </a:rPr>
              <a:t>crontab/cron/zji_cron.cron in the rda-cron-controls repository; every line logs to dssdb/log/cronjob.log, and -e mails the report to the specialist.</a:t>
            </a:r>
            <a:endParaRPr lang="en-US" sz="1150" dirty="0"/>
          </a:p>
        </p:txBody>
      </p:sp>
      <p:sp>
        <p:nvSpPr>
          <p:cNvPr id="18" name="Text 15"/>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16</a:t>
            </a:r>
            <a:endParaRPr lang="en-US" sz="950" dirty="0"/>
          </a:p>
        </p:txBody>
      </p:sp>
      <p:sp>
        <p:nvSpPr>
          <p:cNvPr id="19" name="Text 16"/>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2DB"/>
                </a:solidFill>
                <a:latin typeface="Poppins" pitchFamily="34" charset="0"/>
                <a:ea typeface="Poppins" pitchFamily="34" charset="-122"/>
                <a:cs typeface="Poppins" pitchFamily="34" charset="-120"/>
              </a:rPr>
              <a:t>SCHEDULING</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Watching a Run with dscheck</a:t>
            </a:r>
            <a:endParaRPr lang="en-US" sz="3200" dirty="0"/>
          </a:p>
        </p:txBody>
      </p:sp>
      <p:sp>
        <p:nvSpPr>
          <p:cNvPr id="4" name="Text 2"/>
          <p:cNvSpPr/>
          <p:nvPr/>
        </p:nvSpPr>
        <p:spPr>
          <a:xfrm>
            <a:off x="457200" y="1444752"/>
            <a:ext cx="11292840" cy="365760"/>
          </a:xfrm>
          <a:prstGeom prst="rect">
            <a:avLst/>
          </a:prstGeom>
          <a:noFill/>
          <a:ln/>
        </p:spPr>
        <p:txBody>
          <a:bodyPr wrap="square" lIns="0" tIns="0" rIns="0" bIns="0" rtlCol="0" anchor="t"/>
          <a:lstStyle/>
          <a:p>
            <a:pPr indent="0" marL="0">
              <a:lnSpc>
                <a:spcPct val="110000"/>
              </a:lnSpc>
              <a:buNone/>
            </a:pPr>
            <a:r>
              <a:rPr lang="en-US" sz="1450" dirty="0">
                <a:solidFill>
                  <a:srgbClr val="00357A"/>
                </a:solidFill>
                <a:latin typeface="Poppins" pitchFamily="34" charset="0"/>
                <a:ea typeface="Poppins" pitchFamily="34" charset="-122"/>
                <a:cs typeface="Poppins" pitchFamily="34" charset="-120"/>
              </a:rPr>
              <a:t>-d hands the run to dscheck, so dscheck is also where it is watched — in the browser, or on the command line.</a:t>
            </a:r>
            <a:endParaRPr lang="en-US" sz="1450" dirty="0"/>
          </a:p>
        </p:txBody>
      </p:sp>
      <p:sp>
        <p:nvSpPr>
          <p:cNvPr id="5" name="Shape 3"/>
          <p:cNvSpPr/>
          <p:nvPr/>
        </p:nvSpPr>
        <p:spPr>
          <a:xfrm>
            <a:off x="457200" y="1874520"/>
            <a:ext cx="5532120" cy="960120"/>
          </a:xfrm>
          <a:prstGeom prst="roundRect">
            <a:avLst>
              <a:gd name="adj" fmla="val 8571"/>
            </a:avLst>
          </a:prstGeom>
          <a:solidFill>
            <a:srgbClr val="DCEBF7"/>
          </a:solidFill>
          <a:ln w="12700">
            <a:solidFill>
              <a:srgbClr val="A9D6F2"/>
            </a:solidFill>
            <a:prstDash val="solid"/>
          </a:ln>
        </p:spPr>
      </p:sp>
      <p:sp>
        <p:nvSpPr>
          <p:cNvPr id="6" name="Text 4"/>
          <p:cNvSpPr/>
          <p:nvPr/>
        </p:nvSpPr>
        <p:spPr>
          <a:xfrm>
            <a:off x="658368" y="1874520"/>
            <a:ext cx="5120640" cy="960120"/>
          </a:xfrm>
          <a:prstGeom prst="rect">
            <a:avLst/>
          </a:prstGeom>
          <a:noFill/>
          <a:ln/>
        </p:spPr>
        <p:txBody>
          <a:bodyPr wrap="square" lIns="0" tIns="0" rIns="0" bIns="0" rtlCol="0" anchor="ctr"/>
          <a:lstStyle/>
          <a:p>
            <a:pPr indent="0" marL="0">
              <a:lnSpc>
                <a:spcPct val="115000"/>
              </a:lnSpc>
              <a:buNone/>
            </a:pPr>
            <a:r>
              <a:rPr lang="en-US" sz="1300" b="1" dirty="0">
                <a:solidFill>
                  <a:srgbClr val="0057C2"/>
                </a:solidFill>
                <a:latin typeface="Poppins" pitchFamily="34" charset="0"/>
                <a:ea typeface="Poppins" pitchFamily="34" charset="-122"/>
                <a:cs typeface="Poppins" pitchFamily="34" charset="-120"/>
              </a:rPr>
              <a:t>In the browser
</a:t>
            </a:r>
            <a:pPr indent="0" marL="0">
              <a:lnSpc>
                <a:spcPct val="115000"/>
              </a:lnSpc>
              <a:buNone/>
            </a:pPr>
            <a:r>
              <a:rPr lang="en-US" sz="1100" b="1" u="sng" dirty="0">
                <a:solidFill>
                  <a:srgbClr val="0057C2"/>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gdex.ucar.edu/rda_pg_config/</a:t>
            </a:r>
            <a:pPr indent="0" marL="0">
              <a:lnSpc>
                <a:spcPct val="115000"/>
              </a:lnSpc>
              <a:buNone/>
            </a:pPr>
            <a:r>
              <a:rPr lang="en-US" sz="1100" dirty="0">
                <a:solidFill>
                  <a:srgbClr val="00357A"/>
                </a:solidFill>
                <a:latin typeface="Poppins" pitchFamily="34" charset="0"/>
                <a:ea typeface="Poppins" pitchFamily="34" charset="-122"/>
                <a:cs typeface="Poppins" pitchFamily="34" charset="-120"/>
              </a:rPr>
              <a:t>  →  DSCHECK → Check Information, then search on Command = dsquasar.</a:t>
            </a:r>
            <a:endParaRPr lang="en-US" sz="1100" dirty="0"/>
          </a:p>
        </p:txBody>
      </p:sp>
      <p:sp>
        <p:nvSpPr>
          <p:cNvPr id="7" name="Shape 5"/>
          <p:cNvSpPr/>
          <p:nvPr/>
        </p:nvSpPr>
        <p:spPr>
          <a:xfrm>
            <a:off x="6309360" y="1874520"/>
            <a:ext cx="5440680" cy="960120"/>
          </a:xfrm>
          <a:prstGeom prst="roundRect">
            <a:avLst>
              <a:gd name="adj" fmla="val 4762"/>
            </a:avLst>
          </a:prstGeom>
          <a:solidFill>
            <a:srgbClr val="011837"/>
          </a:solidFill>
          <a:ln/>
        </p:spPr>
      </p:sp>
      <p:sp>
        <p:nvSpPr>
          <p:cNvPr id="8" name="Text 6"/>
          <p:cNvSpPr/>
          <p:nvPr/>
        </p:nvSpPr>
        <p:spPr>
          <a:xfrm>
            <a:off x="6437376" y="1874520"/>
            <a:ext cx="5184648" cy="960120"/>
          </a:xfrm>
          <a:prstGeom prst="rect">
            <a:avLst/>
          </a:prstGeom>
          <a:noFill/>
          <a:ln/>
        </p:spPr>
        <p:txBody>
          <a:bodyPr wrap="square" lIns="0" tIns="0" rIns="0" bIns="0" rtlCol="0" anchor="ctr"/>
          <a:lstStyle/>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 the same records from the command line</a:t>
            </a:r>
            <a:endParaRPr lang="en-US" sz="1050" dirty="0"/>
          </a:p>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dscheck gc -cs -cm dsquasar</a:t>
            </a:r>
            <a:endParaRPr lang="en-US" sz="1050" dirty="0"/>
          </a:p>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dscheck gc -cs -cm dsquasar -fn all</a:t>
            </a:r>
            <a:endParaRPr lang="en-US" sz="1050" dirty="0"/>
          </a:p>
        </p:txBody>
      </p:sp>
      <p:sp>
        <p:nvSpPr>
          <p:cNvPr id="9" name="Text 7"/>
          <p:cNvSpPr/>
          <p:nvPr/>
        </p:nvSpPr>
        <p:spPr>
          <a:xfrm>
            <a:off x="457200" y="2926080"/>
            <a:ext cx="11292840" cy="320040"/>
          </a:xfrm>
          <a:prstGeom prst="rect">
            <a:avLst/>
          </a:prstGeom>
          <a:noFill/>
          <a:ln/>
        </p:spPr>
        <p:txBody>
          <a:bodyPr wrap="square" lIns="0" tIns="0" rIns="0" bIns="0" rtlCol="0" anchor="ctr"/>
          <a:lstStyle/>
          <a:p>
            <a:pPr indent="0" marL="0">
              <a:buNone/>
            </a:pPr>
            <a:r>
              <a:rPr lang="en-US" sz="1150" b="1" dirty="0">
                <a:solidFill>
                  <a:srgbClr val="0057C2"/>
                </a:solidFill>
                <a:latin typeface="Courier New" pitchFamily="34" charset="0"/>
                <a:ea typeface="Courier New" pitchFamily="34" charset="-122"/>
                <a:cs typeface="Courier New" pitchFamily="34" charset="-120"/>
              </a:rPr>
              <a:t>-GC</a:t>
            </a:r>
            <a:pPr indent="0" marL="0">
              <a:buNone/>
            </a:pPr>
            <a:r>
              <a:rPr lang="en-US" sz="1150" dirty="0">
                <a:solidFill>
                  <a:srgbClr val="00357A"/>
                </a:solidFill>
                <a:latin typeface="Poppins" pitchFamily="34" charset="0"/>
                <a:ea typeface="Poppins" pitchFamily="34" charset="-122"/>
                <a:cs typeface="Poppins" pitchFamily="34" charset="-120"/>
              </a:rPr>
              <a:t> lists the check records,  </a:t>
            </a:r>
            <a:pPr indent="0" marL="0">
              <a:buNone/>
            </a:pPr>
            <a:r>
              <a:rPr lang="en-US" sz="1150" b="1" dirty="0">
                <a:solidFill>
                  <a:srgbClr val="0057C2"/>
                </a:solidFill>
                <a:latin typeface="Courier New" pitchFamily="34" charset="0"/>
                <a:ea typeface="Courier New" pitchFamily="34" charset="-122"/>
                <a:cs typeface="Courier New" pitchFamily="34" charset="-120"/>
              </a:rPr>
              <a:t>-CS</a:t>
            </a:r>
            <a:pPr indent="0" marL="0">
              <a:buNone/>
            </a:pPr>
            <a:r>
              <a:rPr lang="en-US" sz="1150" dirty="0">
                <a:solidFill>
                  <a:srgbClr val="00357A"/>
                </a:solidFill>
                <a:latin typeface="Poppins" pitchFamily="34" charset="0"/>
                <a:ea typeface="Poppins" pitchFamily="34" charset="-122"/>
                <a:cs typeface="Poppins" pitchFamily="34" charset="-120"/>
              </a:rPr>
              <a:t> adds the live status line,  </a:t>
            </a:r>
            <a:pPr indent="0" marL="0">
              <a:buNone/>
            </a:pPr>
            <a:r>
              <a:rPr lang="en-US" sz="1150" b="1" dirty="0">
                <a:solidFill>
                  <a:srgbClr val="0057C2"/>
                </a:solidFill>
                <a:latin typeface="Courier New" pitchFamily="34" charset="0"/>
                <a:ea typeface="Courier New" pitchFamily="34" charset="-122"/>
                <a:cs typeface="Courier New" pitchFamily="34" charset="-120"/>
              </a:rPr>
              <a:t>-CM</a:t>
            </a:r>
            <a:pPr indent="0" marL="0">
              <a:buNone/>
            </a:pPr>
            <a:r>
              <a:rPr lang="en-US" sz="1150" dirty="0">
                <a:solidFill>
                  <a:srgbClr val="00357A"/>
                </a:solidFill>
                <a:latin typeface="Poppins" pitchFamily="34" charset="0"/>
                <a:ea typeface="Poppins" pitchFamily="34" charset="-122"/>
                <a:cs typeface="Poppins" pitchFamily="34" charset="-120"/>
              </a:rPr>
              <a:t> narrows the list to one command, and  </a:t>
            </a:r>
            <a:pPr indent="0" marL="0">
              <a:buNone/>
            </a:pPr>
            <a:r>
              <a:rPr lang="en-US" sz="1150" b="1" dirty="0">
                <a:solidFill>
                  <a:srgbClr val="0057C2"/>
                </a:solidFill>
                <a:latin typeface="Courier New" pitchFamily="34" charset="0"/>
                <a:ea typeface="Courier New" pitchFamily="34" charset="-122"/>
                <a:cs typeface="Courier New" pitchFamily="34" charset="-120"/>
              </a:rPr>
              <a:t>-FN all</a:t>
            </a:r>
            <a:pPr indent="0" marL="0">
              <a:buNone/>
            </a:pPr>
            <a:r>
              <a:rPr lang="en-US" sz="1150" dirty="0">
                <a:solidFill>
                  <a:srgbClr val="00357A"/>
                </a:solidFill>
                <a:latin typeface="Poppins" pitchFamily="34" charset="0"/>
                <a:ea typeface="Poppins" pitchFamily="34" charset="-122"/>
                <a:cs typeface="Poppins" pitchFamily="34" charset="-120"/>
              </a:rPr>
              <a:t> returns every field instead of the short set.</a:t>
            </a:r>
            <a:endParaRPr lang="en-US" sz="1150" dirty="0"/>
          </a:p>
        </p:txBody>
      </p:sp>
      <p:sp>
        <p:nvSpPr>
          <p:cNvPr id="10" name="Shape 8"/>
          <p:cNvSpPr/>
          <p:nvPr/>
        </p:nvSpPr>
        <p:spPr>
          <a:xfrm>
            <a:off x="457200" y="3291840"/>
            <a:ext cx="11292840" cy="960120"/>
          </a:xfrm>
          <a:prstGeom prst="roundRect">
            <a:avLst>
              <a:gd name="adj" fmla="val 4762"/>
            </a:avLst>
          </a:prstGeom>
          <a:solidFill>
            <a:srgbClr val="011837"/>
          </a:solidFill>
          <a:ln/>
        </p:spPr>
      </p:sp>
      <p:sp>
        <p:nvSpPr>
          <p:cNvPr id="11" name="Text 9"/>
          <p:cNvSpPr/>
          <p:nvPr/>
        </p:nvSpPr>
        <p:spPr>
          <a:xfrm>
            <a:off x="585216" y="3291840"/>
            <a:ext cx="11036808" cy="960120"/>
          </a:xfrm>
          <a:prstGeom prst="rect">
            <a:avLst/>
          </a:prstGeom>
          <a:noFill/>
          <a:ln/>
        </p:spPr>
        <p:txBody>
          <a:bodyPr wrap="square" lIns="0" tIns="0" rIns="0" bIns="0" rtlCol="0" anchor="ctr"/>
          <a:lstStyle/>
          <a:p>
            <a:pPr indent="0" marL="0">
              <a:lnSpc>
                <a:spcPct val="100000"/>
              </a:lnSpc>
              <a:buNone/>
            </a:pPr>
            <a:r>
              <a:rPr lang="en-US" sz="950" dirty="0">
                <a:solidFill>
                  <a:srgbClr val="0097A7"/>
                </a:solidFill>
                <a:latin typeface="Courier New" pitchFamily="34" charset="0"/>
                <a:ea typeface="Courier New" pitchFamily="34" charset="-122"/>
                <a:cs typeface="Courier New" pitchFamily="34" charset="-120"/>
              </a:rPr>
              <a:t>CheckIndex&lt;:&gt;ArgumentVector&lt;:&gt;Status&lt;:&gt;FileCount&lt;:&gt;DoneCount&lt;:&gt;</a:t>
            </a:r>
            <a:endParaRPr lang="en-US" sz="950" dirty="0"/>
          </a:p>
          <a:p>
            <a:pPr indent="0" marL="0">
              <a:lnSpc>
                <a:spcPct val="100000"/>
              </a:lnSpc>
              <a:buNone/>
            </a:pPr>
            <a:r>
              <a:rPr lang="en-US" sz="950" dirty="0">
                <a:solidFill>
                  <a:srgbClr val="0097A7"/>
                </a:solidFill>
                <a:latin typeface="Courier New" pitchFamily="34" charset="0"/>
                <a:ea typeface="Courier New" pitchFamily="34" charset="-122"/>
                <a:cs typeface="Courier New" pitchFamily="34" charset="-120"/>
              </a:rPr>
              <a:t>4105237&lt;:&gt;-a -A 3 -e -b -d PBS&lt;:&gt;Run 2H4M5S, 6% done PBS&lt;5948540&gt;/casper62&lt;:&gt;19195&lt;:&gt;1214&lt;:&gt;</a:t>
            </a:r>
            <a:endParaRPr lang="en-US" sz="950" dirty="0"/>
          </a:p>
          <a:p>
            <a:pPr indent="0" marL="0">
              <a:lnSpc>
                <a:spcPct val="100000"/>
              </a:lnSpc>
              <a:buNone/>
            </a:pPr>
            <a:r>
              <a:rPr lang="en-US" sz="950" dirty="0">
                <a:solidFill>
                  <a:srgbClr val="0097A7"/>
                </a:solidFill>
                <a:latin typeface="Courier New" pitchFamily="34" charset="0"/>
                <a:ea typeface="Courier New" pitchFamily="34" charset="-122"/>
                <a:cs typeface="Courier New" pitchFamily="34" charset="-120"/>
              </a:rPr>
              <a:t>4102650&lt;:&gt;-a -A 3 -e -b -d PBS -w 2&lt;:&gt;Run 23H37M58S, 2% done PBS&lt;5928624&gt;/casper64&lt;:&gt;54290&lt;:&gt;1193&lt;:&gt;</a:t>
            </a:r>
            <a:endParaRPr lang="en-US" sz="950" dirty="0"/>
          </a:p>
          <a:p>
            <a:pPr indent="0" marL="0">
              <a:lnSpc>
                <a:spcPct val="100000"/>
              </a:lnSpc>
              <a:buNone/>
            </a:pPr>
            <a:r>
              <a:rPr lang="en-US" sz="950" dirty="0">
                <a:solidFill>
                  <a:srgbClr val="0097A7"/>
                </a:solidFill>
                <a:latin typeface="Courier New" pitchFamily="34" charset="0"/>
                <a:ea typeface="Courier New" pitchFamily="34" charset="-122"/>
                <a:cs typeface="Courier New" pitchFamily="34" charset="-120"/>
              </a:rPr>
              <a:t>2 check records retrieved                                        # columns trimmed to fit</a:t>
            </a:r>
            <a:endParaRPr lang="en-US" sz="950" dirty="0"/>
          </a:p>
        </p:txBody>
      </p:sp>
      <p:sp>
        <p:nvSpPr>
          <p:cNvPr id="12" name="Shape 10"/>
          <p:cNvSpPr/>
          <p:nvPr/>
        </p:nvSpPr>
        <p:spPr>
          <a:xfrm>
            <a:off x="457200" y="4370832"/>
            <a:ext cx="3611880" cy="1298448"/>
          </a:xfrm>
          <a:prstGeom prst="roundRect">
            <a:avLst>
              <a:gd name="adj" fmla="val 6338"/>
            </a:avLst>
          </a:prstGeom>
          <a:solidFill>
            <a:srgbClr val="DCEBF7"/>
          </a:solidFill>
          <a:ln w="19050">
            <a:solidFill>
              <a:srgbClr val="0057C2"/>
            </a:solidFill>
            <a:prstDash val="solid"/>
          </a:ln>
        </p:spPr>
      </p:sp>
      <p:sp>
        <p:nvSpPr>
          <p:cNvPr id="13" name="Text 11"/>
          <p:cNvSpPr/>
          <p:nvPr/>
        </p:nvSpPr>
        <p:spPr>
          <a:xfrm>
            <a:off x="658368" y="4462272"/>
            <a:ext cx="3246120" cy="292608"/>
          </a:xfrm>
          <a:prstGeom prst="rect">
            <a:avLst/>
          </a:prstGeom>
          <a:noFill/>
          <a:ln/>
        </p:spPr>
        <p:txBody>
          <a:bodyPr wrap="square" lIns="0" tIns="0" rIns="0" bIns="0" rtlCol="0" anchor="ctr"/>
          <a:lstStyle/>
          <a:p>
            <a:pPr indent="0" marL="0">
              <a:buNone/>
            </a:pPr>
            <a:r>
              <a:rPr lang="en-US" sz="1150" b="1" dirty="0">
                <a:solidFill>
                  <a:srgbClr val="0057C2"/>
                </a:solidFill>
                <a:latin typeface="Courier New" pitchFamily="34" charset="0"/>
                <a:ea typeface="Courier New" pitchFamily="34" charset="-122"/>
                <a:cs typeface="Courier New" pitchFamily="34" charset="-120"/>
              </a:rPr>
              <a:t>Status</a:t>
            </a:r>
            <a:endParaRPr lang="en-US" sz="1150" dirty="0"/>
          </a:p>
        </p:txBody>
      </p:sp>
      <p:sp>
        <p:nvSpPr>
          <p:cNvPr id="14" name="Text 12"/>
          <p:cNvSpPr/>
          <p:nvPr/>
        </p:nvSpPr>
        <p:spPr>
          <a:xfrm>
            <a:off x="658368" y="4773168"/>
            <a:ext cx="3246120" cy="822960"/>
          </a:xfrm>
          <a:prstGeom prst="rect">
            <a:avLst/>
          </a:prstGeom>
          <a:noFill/>
          <a:ln/>
        </p:spPr>
        <p:txBody>
          <a:bodyPr wrap="square" lIns="0" tIns="0" rIns="0" bIns="0" rtlCol="0" anchor="t"/>
          <a:lstStyle/>
          <a:p>
            <a:pPr indent="0" marL="0">
              <a:lnSpc>
                <a:spcPct val="105000"/>
              </a:lnSpc>
              <a:buNone/>
            </a:pPr>
            <a:r>
              <a:rPr lang="en-US" sz="1000" dirty="0">
                <a:solidFill>
                  <a:srgbClr val="53565A"/>
                </a:solidFill>
                <a:latin typeface="Poppins" pitchFamily="34" charset="0"/>
                <a:ea typeface="Poppins" pitchFamily="34" charset="-122"/>
                <a:cs typeface="Poppins" pitchFamily="34" charset="-120"/>
              </a:rPr>
              <a:t>How long the job has been running, how far along it is, and the PBS job id with the node it landed on. A failed check carries the error message here instead.</a:t>
            </a:r>
            <a:endParaRPr lang="en-US" sz="1000" dirty="0"/>
          </a:p>
        </p:txBody>
      </p:sp>
      <p:sp>
        <p:nvSpPr>
          <p:cNvPr id="15" name="Shape 13"/>
          <p:cNvSpPr/>
          <p:nvPr/>
        </p:nvSpPr>
        <p:spPr>
          <a:xfrm>
            <a:off x="4297680" y="4370832"/>
            <a:ext cx="3611880" cy="1298448"/>
          </a:xfrm>
          <a:prstGeom prst="roundRect">
            <a:avLst>
              <a:gd name="adj" fmla="val 6338"/>
            </a:avLst>
          </a:prstGeom>
          <a:solidFill>
            <a:srgbClr val="DCEBF7"/>
          </a:solidFill>
          <a:ln w="19050">
            <a:solidFill>
              <a:srgbClr val="0097A7"/>
            </a:solidFill>
            <a:prstDash val="solid"/>
          </a:ln>
        </p:spPr>
      </p:sp>
      <p:sp>
        <p:nvSpPr>
          <p:cNvPr id="16" name="Text 14"/>
          <p:cNvSpPr/>
          <p:nvPr/>
        </p:nvSpPr>
        <p:spPr>
          <a:xfrm>
            <a:off x="4498848" y="4462272"/>
            <a:ext cx="3246120" cy="292608"/>
          </a:xfrm>
          <a:prstGeom prst="rect">
            <a:avLst/>
          </a:prstGeom>
          <a:noFill/>
          <a:ln/>
        </p:spPr>
        <p:txBody>
          <a:bodyPr wrap="square" lIns="0" tIns="0" rIns="0" bIns="0" rtlCol="0" anchor="ctr"/>
          <a:lstStyle/>
          <a:p>
            <a:pPr indent="0" marL="0">
              <a:buNone/>
            </a:pPr>
            <a:r>
              <a:rPr lang="en-US" sz="1150" b="1" dirty="0">
                <a:solidFill>
                  <a:srgbClr val="0097A7"/>
                </a:solidFill>
                <a:latin typeface="Courier New" pitchFamily="34" charset="0"/>
                <a:ea typeface="Courier New" pitchFamily="34" charset="-122"/>
                <a:cs typeface="Courier New" pitchFamily="34" charset="-120"/>
              </a:rPr>
              <a:t>FileCount / DoneCount</a:t>
            </a:r>
            <a:endParaRPr lang="en-US" sz="1150" dirty="0"/>
          </a:p>
        </p:txBody>
      </p:sp>
      <p:sp>
        <p:nvSpPr>
          <p:cNvPr id="17" name="Text 15"/>
          <p:cNvSpPr/>
          <p:nvPr/>
        </p:nvSpPr>
        <p:spPr>
          <a:xfrm>
            <a:off x="4498848" y="4773168"/>
            <a:ext cx="3246120" cy="822960"/>
          </a:xfrm>
          <a:prstGeom prst="rect">
            <a:avLst/>
          </a:prstGeom>
          <a:noFill/>
          <a:ln/>
        </p:spPr>
        <p:txBody>
          <a:bodyPr wrap="square" lIns="0" tIns="0" rIns="0" bIns="0" rtlCol="0" anchor="t"/>
          <a:lstStyle/>
          <a:p>
            <a:pPr indent="0" marL="0">
              <a:lnSpc>
                <a:spcPct val="105000"/>
              </a:lnSpc>
              <a:buNone/>
            </a:pPr>
            <a:r>
              <a:rPr lang="en-US" sz="1000" dirty="0">
                <a:solidFill>
                  <a:srgbClr val="53565A"/>
                </a:solidFill>
                <a:latin typeface="Poppins" pitchFamily="34" charset="0"/>
                <a:ea typeface="Poppins" pitchFamily="34" charset="-122"/>
                <a:cs typeface="Poppins" pitchFamily="34" charset="-120"/>
              </a:rPr>
              <a:t>The work in the record and the part of it finished, which is where the percentage comes from. Unchanged between two checks means the job is alive but not progressing.</a:t>
            </a:r>
            <a:endParaRPr lang="en-US" sz="1000" dirty="0"/>
          </a:p>
        </p:txBody>
      </p:sp>
      <p:sp>
        <p:nvSpPr>
          <p:cNvPr id="18" name="Shape 16"/>
          <p:cNvSpPr/>
          <p:nvPr/>
        </p:nvSpPr>
        <p:spPr>
          <a:xfrm>
            <a:off x="8138160" y="4370832"/>
            <a:ext cx="3611880" cy="1298448"/>
          </a:xfrm>
          <a:prstGeom prst="roundRect">
            <a:avLst>
              <a:gd name="adj" fmla="val 6338"/>
            </a:avLst>
          </a:prstGeom>
          <a:solidFill>
            <a:srgbClr val="DCEBF7"/>
          </a:solidFill>
          <a:ln w="19050">
            <a:solidFill>
              <a:srgbClr val="C25E00"/>
            </a:solidFill>
            <a:prstDash val="solid"/>
          </a:ln>
        </p:spPr>
      </p:sp>
      <p:sp>
        <p:nvSpPr>
          <p:cNvPr id="19" name="Text 17"/>
          <p:cNvSpPr/>
          <p:nvPr/>
        </p:nvSpPr>
        <p:spPr>
          <a:xfrm>
            <a:off x="8339328" y="4462272"/>
            <a:ext cx="3246120" cy="292608"/>
          </a:xfrm>
          <a:prstGeom prst="rect">
            <a:avLst/>
          </a:prstGeom>
          <a:noFill/>
          <a:ln/>
        </p:spPr>
        <p:txBody>
          <a:bodyPr wrap="square" lIns="0" tIns="0" rIns="0" bIns="0" rtlCol="0" anchor="ctr"/>
          <a:lstStyle/>
          <a:p>
            <a:pPr indent="0" marL="0">
              <a:buNone/>
            </a:pPr>
            <a:r>
              <a:rPr lang="en-US" sz="1150" b="1" dirty="0">
                <a:solidFill>
                  <a:srgbClr val="C25E00"/>
                </a:solidFill>
                <a:latin typeface="Courier New" pitchFamily="34" charset="0"/>
                <a:ea typeface="Courier New" pitchFamily="34" charset="-122"/>
                <a:cs typeface="Courier New" pitchFamily="34" charset="-120"/>
              </a:rPr>
              <a:t>ArgumentVector</a:t>
            </a:r>
            <a:endParaRPr lang="en-US" sz="1150" dirty="0"/>
          </a:p>
        </p:txBody>
      </p:sp>
      <p:sp>
        <p:nvSpPr>
          <p:cNvPr id="20" name="Text 18"/>
          <p:cNvSpPr/>
          <p:nvPr/>
        </p:nvSpPr>
        <p:spPr>
          <a:xfrm>
            <a:off x="8339328" y="4773168"/>
            <a:ext cx="3246120" cy="822960"/>
          </a:xfrm>
          <a:prstGeom prst="rect">
            <a:avLst/>
          </a:prstGeom>
          <a:noFill/>
          <a:ln/>
        </p:spPr>
        <p:txBody>
          <a:bodyPr wrap="square" lIns="0" tIns="0" rIns="0" bIns="0" rtlCol="0" anchor="t"/>
          <a:lstStyle/>
          <a:p>
            <a:pPr indent="0" marL="0">
              <a:lnSpc>
                <a:spcPct val="105000"/>
              </a:lnSpc>
              <a:buNone/>
            </a:pPr>
            <a:r>
              <a:rPr lang="en-US" sz="1000" dirty="0">
                <a:solidFill>
                  <a:srgbClr val="53565A"/>
                </a:solidFill>
                <a:latin typeface="Poppins" pitchFamily="34" charset="0"/>
                <a:ea typeface="Poppins" pitchFamily="34" charset="-122"/>
                <a:cs typeface="Poppins" pitchFamily="34" charset="-120"/>
              </a:rPr>
              <a:t>The duplicate key. The second record differs only by -w 2, the extra worker slot, which is exactly why it gets a record of its own.</a:t>
            </a:r>
            <a:endParaRPr lang="en-US" sz="1000" dirty="0"/>
          </a:p>
        </p:txBody>
      </p:sp>
      <p:sp>
        <p:nvSpPr>
          <p:cNvPr id="21" name="Shape 19"/>
          <p:cNvSpPr/>
          <p:nvPr/>
        </p:nvSpPr>
        <p:spPr>
          <a:xfrm>
            <a:off x="457200" y="5760720"/>
            <a:ext cx="11292840" cy="502920"/>
          </a:xfrm>
          <a:prstGeom prst="roundRect">
            <a:avLst>
              <a:gd name="adj" fmla="val 14545"/>
            </a:avLst>
          </a:prstGeom>
          <a:solidFill>
            <a:srgbClr val="011837"/>
          </a:solidFill>
          <a:ln/>
        </p:spPr>
      </p:sp>
      <p:sp>
        <p:nvSpPr>
          <p:cNvPr id="22" name="Text 20"/>
          <p:cNvSpPr/>
          <p:nvPr/>
        </p:nvSpPr>
        <p:spPr>
          <a:xfrm>
            <a:off x="658368" y="5760720"/>
            <a:ext cx="10881360" cy="502920"/>
          </a:xfrm>
          <a:prstGeom prst="rect">
            <a:avLst/>
          </a:prstGeom>
          <a:noFill/>
          <a:ln/>
        </p:spPr>
        <p:txBody>
          <a:bodyPr wrap="square" lIns="0" tIns="0" rIns="0" bIns="0" rtlCol="0" anchor="ctr"/>
          <a:lstStyle/>
          <a:p>
            <a:pPr indent="0" marL="0">
              <a:buNone/>
            </a:pPr>
            <a:r>
              <a:rPr lang="en-US" sz="1100" b="1" dirty="0">
                <a:solidFill>
                  <a:srgbClr val="42C0FF"/>
                </a:solidFill>
                <a:latin typeface="Poppins" pitchFamily="34" charset="0"/>
                <a:ea typeface="Poppins" pitchFamily="34" charset="-122"/>
                <a:cs typeface="Poppins" pitchFamily="34" charset="-120"/>
              </a:rPr>
              <a:t>A long-running record is not by itself a problem.  </a:t>
            </a:r>
            <a:pPr indent="0" marL="0">
              <a:buNone/>
            </a:pPr>
            <a:r>
              <a:rPr lang="en-US" sz="1100" dirty="0">
                <a:solidFill>
                  <a:srgbClr val="C3D7EE"/>
                </a:solidFill>
                <a:latin typeface="Poppins" pitchFamily="34" charset="0"/>
                <a:ea typeface="Poppins" pitchFamily="34" charset="-122"/>
                <a:cs typeface="Poppins" pitchFamily="34" charset="-120"/>
              </a:rPr>
              <a:t>A first pass over a big archive legitimately runs for hours. The one to look at is the record whose DoneCount stops moving — it holds the duplicate key, so every later cron line blocks behind it.</a:t>
            </a:r>
            <a:endParaRPr lang="en-US" sz="1100" dirty="0"/>
          </a:p>
        </p:txBody>
      </p:sp>
      <p:sp>
        <p:nvSpPr>
          <p:cNvPr id="23" name="Text 21"/>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17</a:t>
            </a:r>
            <a:endParaRPr lang="en-US" sz="950" dirty="0"/>
          </a:p>
        </p:txBody>
      </p:sp>
      <p:sp>
        <p:nvSpPr>
          <p:cNvPr id="24" name="Text 22"/>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2DB"/>
                </a:solidFill>
                <a:latin typeface="Poppins" pitchFamily="34" charset="0"/>
                <a:ea typeface="Poppins" pitchFamily="34" charset="-122"/>
                <a:cs typeface="Poppins" pitchFamily="34" charset="-120"/>
              </a:rPr>
              <a:t>SCHEDULING</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-fn all  —  The Whole Check Record</a:t>
            </a:r>
            <a:endParaRPr lang="en-US" sz="3200" dirty="0"/>
          </a:p>
        </p:txBody>
      </p:sp>
      <p:sp>
        <p:nvSpPr>
          <p:cNvPr id="4" name="Text 2"/>
          <p:cNvSpPr/>
          <p:nvPr/>
        </p:nvSpPr>
        <p:spPr>
          <a:xfrm>
            <a:off x="457200" y="1444752"/>
            <a:ext cx="11292840" cy="365760"/>
          </a:xfrm>
          <a:prstGeom prst="rect">
            <a:avLst/>
          </a:prstGeom>
          <a:noFill/>
          <a:ln/>
        </p:spPr>
        <p:txBody>
          <a:bodyPr wrap="square" lIns="0" tIns="0" rIns="0" bIns="0" rtlCol="0" anchor="t"/>
          <a:lstStyle/>
          <a:p>
            <a:pPr indent="0" marL="0">
              <a:lnSpc>
                <a:spcPct val="110000"/>
              </a:lnSpc>
              <a:buNone/>
            </a:pPr>
            <a:r>
              <a:rPr lang="en-US" sz="1450" dirty="0">
                <a:solidFill>
                  <a:srgbClr val="00357A"/>
                </a:solidFill>
                <a:latin typeface="Poppins" pitchFamily="34" charset="0"/>
                <a:ea typeface="Poppins" pitchFamily="34" charset="-122"/>
                <a:cs typeface="Poppins" pitchFamily="34" charset="-120"/>
              </a:rPr>
              <a:t>The long form prints every column of the record. A few of them say more than the status line does.</a:t>
            </a:r>
            <a:endParaRPr lang="en-US" sz="1450" dirty="0"/>
          </a:p>
        </p:txBody>
      </p:sp>
      <p:sp>
        <p:nvSpPr>
          <p:cNvPr id="5" name="Shape 3"/>
          <p:cNvSpPr/>
          <p:nvPr/>
        </p:nvSpPr>
        <p:spPr>
          <a:xfrm>
            <a:off x="457200" y="1874520"/>
            <a:ext cx="11292840" cy="914400"/>
          </a:xfrm>
          <a:prstGeom prst="roundRect">
            <a:avLst>
              <a:gd name="adj" fmla="val 5000"/>
            </a:avLst>
          </a:prstGeom>
          <a:solidFill>
            <a:srgbClr val="011837"/>
          </a:solidFill>
          <a:ln/>
        </p:spPr>
      </p:sp>
      <p:sp>
        <p:nvSpPr>
          <p:cNvPr id="6" name="Text 4"/>
          <p:cNvSpPr/>
          <p:nvPr/>
        </p:nvSpPr>
        <p:spPr>
          <a:xfrm>
            <a:off x="585216" y="1874520"/>
            <a:ext cx="11036808" cy="914400"/>
          </a:xfrm>
          <a:prstGeom prst="rect">
            <a:avLst/>
          </a:prstGeom>
          <a:noFill/>
          <a:ln/>
        </p:spPr>
        <p:txBody>
          <a:bodyPr wrap="square" lIns="0" tIns="0" rIns="0" bIns="0" rtlCol="0" anchor="ctr"/>
          <a:lstStyle/>
          <a:p>
            <a:pPr indent="0" marL="0">
              <a:lnSpc>
                <a:spcPct val="100000"/>
              </a:lnSpc>
              <a:buNone/>
            </a:pPr>
            <a:r>
              <a:rPr lang="en-US" sz="950" dirty="0">
                <a:solidFill>
                  <a:srgbClr val="0097A7"/>
                </a:solidFill>
                <a:latin typeface="Courier New" pitchFamily="34" charset="0"/>
                <a:ea typeface="Courier New" pitchFamily="34" charset="-122"/>
                <a:cs typeface="Courier New" pitchFamily="34" charset="-120"/>
              </a:rPr>
              <a:t>CheckIndex&lt;:&gt;Command&lt;:&gt;ArgumentVector&lt;:&gt;Dataset&lt;:&gt;ActionName&lt;:&gt;Status&lt;:&gt;PBSQueue&lt;:&gt;ParentIndex&lt;:&gt;DownFlags&lt;:&gt;</a:t>
            </a:r>
            <a:endParaRPr lang="en-US" sz="950" dirty="0"/>
          </a:p>
          <a:p>
            <a:pPr indent="0" marL="0">
              <a:lnSpc>
                <a:spcPct val="100000"/>
              </a:lnSpc>
              <a:buNone/>
            </a:pPr>
            <a:r>
              <a:rPr lang="en-US" sz="950" dirty="0">
                <a:solidFill>
                  <a:srgbClr val="0097A7"/>
                </a:solidFill>
                <a:latin typeface="Courier New" pitchFamily="34" charset="0"/>
                <a:ea typeface="Courier New" pitchFamily="34" charset="-122"/>
                <a:cs typeface="Courier New" pitchFamily="34" charset="-120"/>
              </a:rPr>
              <a:t>FileCount&lt;:&gt;DoneCount&lt;:&gt;TryCount&lt;:&gt;MaxCount&lt;:&gt;DataSize&lt;:&gt;CheckDate&lt;:&gt;CheckTime&lt;:&gt;HostName&lt;:&gt;Specialist&lt;:&gt;</a:t>
            </a:r>
            <a:endParaRPr lang="en-US" sz="950" dirty="0"/>
          </a:p>
          <a:p>
            <a:pPr indent="0" marL="0">
              <a:lnSpc>
                <a:spcPct val="100000"/>
              </a:lnSpc>
              <a:buNone/>
            </a:pPr>
            <a:r>
              <a:rPr lang="en-US" sz="950" dirty="0">
                <a:solidFill>
                  <a:srgbClr val="0097A7"/>
                </a:solidFill>
                <a:latin typeface="Courier New" pitchFamily="34" charset="0"/>
                <a:ea typeface="Courier New" pitchFamily="34" charset="-122"/>
                <a:cs typeface="Courier New" pitchFamily="34" charset="-120"/>
              </a:rPr>
              <a:t>WorkDir&lt;:&gt;Modules&lt;:&gt;Environments&lt;:&gt;QSubOptions&lt;:&gt;ArgumenteXtra&lt;:&gt;ERrormessage&lt;:&gt;</a:t>
            </a: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2926080"/>
          <a:ext cx="11292840" cy="914400"/>
        </p:xfrm>
        <a:graphic>
          <a:graphicData uri="http://schemas.openxmlformats.org/drawingml/2006/table">
            <a:tbl>
              <a:tblPr/>
              <a:tblGrid>
                <a:gridCol w="2286000"/>
                <a:gridCol w="3931920"/>
                <a:gridCol w="5074920"/>
              </a:tblGrid>
              <a:tr h="365760">
                <a:tc>
                  <a:txBody>
                    <a:bodyPr/>
                    <a:lstStyle/>
                    <a:p>
                      <a:pPr indent="0" marL="0">
                        <a:buNone/>
                      </a:pPr>
                      <a:r>
                        <a:rPr lang="en-US" sz="1100" b="1" dirty="0">
                          <a:solidFill>
                            <a:srgbClr val="FFFFFF"/>
                          </a:solidFill>
                          <a:latin typeface="Courier New" pitchFamily="34" charset="0"/>
                          <a:ea typeface="Courier New" pitchFamily="34" charset="-122"/>
                          <a:cs typeface="Courier New" pitchFamily="34" charset="-120"/>
                        </a:rPr>
                        <a:t>Field</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2DB"/>
                    </a:solidFill>
                  </a:tcPr>
                </a:tc>
                <a:tc>
                  <a:txBody>
                    <a:bodyPr/>
                    <a:lstStyle/>
                    <a:p>
                      <a:pPr indent="0" marL="0">
                        <a:buNone/>
                      </a:pPr>
                      <a:r>
                        <a:rPr lang="en-US" sz="1100" b="1" dirty="0">
                          <a:solidFill>
                            <a:srgbClr val="FFFFFF"/>
                          </a:solidFill>
                          <a:latin typeface="Poppins" pitchFamily="34" charset="0"/>
                          <a:ea typeface="Poppins" pitchFamily="34" charset="-122"/>
                          <a:cs typeface="Poppins" pitchFamily="34" charset="-120"/>
                        </a:rPr>
                        <a:t>Value in the sample</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2DB"/>
                    </a:solidFill>
                  </a:tcPr>
                </a:tc>
                <a:tc>
                  <a:txBody>
                    <a:bodyPr/>
                    <a:lstStyle/>
                    <a:p>
                      <a:pPr indent="0" marL="0">
                        <a:buNone/>
                      </a:pPr>
                      <a:r>
                        <a:rPr lang="en-US" sz="1100" b="1" dirty="0">
                          <a:solidFill>
                            <a:srgbClr val="FFFFFF"/>
                          </a:solidFill>
                          <a:latin typeface="Poppins" pitchFamily="34" charset="0"/>
                          <a:ea typeface="Poppins" pitchFamily="34" charset="-122"/>
                          <a:cs typeface="Poppins" pitchFamily="34" charset="-120"/>
                        </a:rPr>
                        <a:t>What it tells you</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2DB"/>
                    </a:solidFill>
                  </a:tcPr>
                </a:tc>
              </a:tr>
              <a:tr h="365760">
                <a:tc>
                  <a:txBody>
                    <a:bodyPr/>
                    <a:lstStyle/>
                    <a:p>
                      <a:pPr indent="0" marL="0">
                        <a:buNone/>
                      </a:pPr>
                      <a:r>
                        <a:rPr lang="en-US" sz="1100" b="1" dirty="0">
                          <a:solidFill>
                            <a:srgbClr val="0057C2"/>
                          </a:solidFill>
                          <a:latin typeface="Courier New" pitchFamily="34" charset="0"/>
                          <a:ea typeface="Courier New" pitchFamily="34" charset="-122"/>
                          <a:cs typeface="Courier New" pitchFamily="34" charset="-120"/>
                        </a:rPr>
                        <a:t>ActionName</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A3</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Which -A action this record is running</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57C2"/>
                          </a:solidFill>
                          <a:latin typeface="Courier New" pitchFamily="34" charset="0"/>
                          <a:ea typeface="Courier New" pitchFamily="34" charset="-122"/>
                          <a:cs typeface="Courier New" pitchFamily="34" charset="-120"/>
                        </a:rPr>
                        <a:t>TryCount / MaxCount</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1  /  3</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Submissions so far; a failed run is retried twice more</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100" b="1" dirty="0">
                          <a:solidFill>
                            <a:srgbClr val="0057C2"/>
                          </a:solidFill>
                          <a:latin typeface="Courier New" pitchFamily="34" charset="0"/>
                          <a:ea typeface="Courier New" pitchFamily="34" charset="-122"/>
                          <a:cs typeface="Courier New" pitchFamily="34" charset="-120"/>
                        </a:rPr>
                        <a:t>DataSize</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227727328477</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The bytes the run has to move</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057C2"/>
                          </a:solidFill>
                          <a:latin typeface="Courier New" pitchFamily="34" charset="0"/>
                          <a:ea typeface="Courier New" pitchFamily="34" charset="-122"/>
                          <a:cs typeface="Courier New" pitchFamily="34" charset="-120"/>
                        </a:rPr>
                        <a:t>QSubOptions</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-l walltime=24:00:00,select=1:ncpus=12:mem=12gb</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What -d reserved: the walltime and the cpu count</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100" b="1" dirty="0">
                          <a:solidFill>
                            <a:srgbClr val="0057C2"/>
                          </a:solidFill>
                          <a:latin typeface="Courier New" pitchFamily="34" charset="0"/>
                          <a:ea typeface="Courier New" pitchFamily="34" charset="-122"/>
                          <a:cs typeface="Courier New" pitchFamily="34" charset="-120"/>
                        </a:rPr>
                        <a:t>ERrormessage</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(empty)</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Carries the failure text once a run gives up</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bl>
          </a:graphicData>
        </a:graphic>
      </p:graphicFrame>
      <p:sp>
        <p:nvSpPr>
          <p:cNvPr id="8" name="Shape 5"/>
          <p:cNvSpPr/>
          <p:nvPr/>
        </p:nvSpPr>
        <p:spPr>
          <a:xfrm>
            <a:off x="457200" y="5486400"/>
            <a:ext cx="11292840" cy="731520"/>
          </a:xfrm>
          <a:prstGeom prst="roundRect">
            <a:avLst>
              <a:gd name="adj" fmla="val 10000"/>
            </a:avLst>
          </a:prstGeom>
          <a:solidFill>
            <a:srgbClr val="011837"/>
          </a:solidFill>
          <a:ln/>
        </p:spPr>
      </p:sp>
      <p:sp>
        <p:nvSpPr>
          <p:cNvPr id="9" name="Text 6"/>
          <p:cNvSpPr/>
          <p:nvPr/>
        </p:nvSpPr>
        <p:spPr>
          <a:xfrm>
            <a:off x="658368" y="5486400"/>
            <a:ext cx="10881360" cy="731520"/>
          </a:xfrm>
          <a:prstGeom prst="rect">
            <a:avLst/>
          </a:prstGeom>
          <a:noFill/>
          <a:ln/>
        </p:spPr>
        <p:txBody>
          <a:bodyPr wrap="square" lIns="0" tIns="0" rIns="0" bIns="0" rtlCol="0" anchor="ctr"/>
          <a:lstStyle/>
          <a:p>
            <a:pPr indent="0" marL="0">
              <a:lnSpc>
                <a:spcPct val="105000"/>
              </a:lnSpc>
              <a:buNone/>
            </a:pPr>
            <a:r>
              <a:rPr lang="en-US" sz="1150" b="1" dirty="0">
                <a:solidFill>
                  <a:srgbClr val="42C0FF"/>
                </a:solidFill>
                <a:latin typeface="Poppins" pitchFamily="34" charset="0"/>
                <a:ea typeface="Poppins" pitchFamily="34" charset="-122"/>
                <a:cs typeface="Poppins" pitchFamily="34" charset="-120"/>
              </a:rPr>
              <a:t>ncpus is the auto-sizing, written down.  </a:t>
            </a:r>
            <a:pPr indent="0" marL="0">
              <a:lnSpc>
                <a:spcPct val="105000"/>
              </a:lnSpc>
              <a:buNone/>
            </a:pPr>
            <a:r>
              <a:rPr lang="en-US" sz="1150" dirty="0">
                <a:solidFill>
                  <a:srgbClr val="C3D7EE"/>
                </a:solidFill>
                <a:latin typeface="Poppins" pitchFamily="34" charset="0"/>
                <a:ea typeface="Poppins" pitchFamily="34" charset="-122"/>
                <a:cs typeface="Poppins" pitchFamily="34" charset="-120"/>
              </a:rPr>
              <a:t>ncpus=12 in QSubOptions is the process count dsquasar worked out from the pending tar count on the login host, stored in the record, and read back when the batch job starts. Reading it here is the simplest way to confirm what a run was actually given.</a:t>
            </a:r>
            <a:endParaRPr lang="en-US" sz="1150" dirty="0"/>
          </a:p>
        </p:txBody>
      </p:sp>
      <p:sp>
        <p:nvSpPr>
          <p:cNvPr id="10" name="Text 7"/>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18</a:t>
            </a:r>
            <a:endParaRPr lang="en-US" sz="950" dirty="0"/>
          </a:p>
        </p:txBody>
      </p:sp>
      <p:sp>
        <p:nvSpPr>
          <p:cNvPr id="11" name="Text 8"/>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C25E00"/>
                </a:solidFill>
                <a:latin typeface="Poppins" pitchFamily="34" charset="0"/>
                <a:ea typeface="Poppins" pitchFamily="34" charset="-122"/>
                <a:cs typeface="Poppins" pitchFamily="34" charset="-120"/>
              </a:rPr>
              <a:t>PARALLELISM</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How Many CPUs Does the Job Ask For?</a:t>
            </a:r>
            <a:endParaRPr lang="en-US" sz="3200" dirty="0"/>
          </a:p>
        </p:txBody>
      </p:sp>
      <p:sp>
        <p:nvSpPr>
          <p:cNvPr id="4" name="Text 2"/>
          <p:cNvSpPr/>
          <p:nvPr/>
        </p:nvSpPr>
        <p:spPr>
          <a:xfrm>
            <a:off x="457200" y="1463040"/>
            <a:ext cx="11292840" cy="548640"/>
          </a:xfrm>
          <a:prstGeom prst="rect">
            <a:avLst/>
          </a:prstGeom>
          <a:noFill/>
          <a:ln/>
        </p:spPr>
        <p:txBody>
          <a:bodyPr wrap="square" lIns="0" tIns="0" rIns="0" bIns="0" rtlCol="0" anchor="t"/>
          <a:lstStyle/>
          <a:p>
            <a:pPr indent="0" marL="0">
              <a:lnSpc>
                <a:spcPct val="110000"/>
              </a:lnSpc>
              <a:buNone/>
            </a:pPr>
            <a:r>
              <a:rPr lang="en-US" sz="1450" dirty="0">
                <a:solidFill>
                  <a:srgbClr val="00357A"/>
                </a:solidFill>
                <a:latin typeface="Poppins" pitchFamily="34" charset="0"/>
                <a:ea typeface="Poppins" pitchFamily="34" charset="-122"/>
                <a:cs typeface="Poppins" pitchFamily="34" charset="-120"/>
              </a:rPr>
              <a:t>Tarring and uploading have very different shapes, so they are sized independently and the larger request wins — the phases run one after the other inside a single PBS allocation, sharing one ncpus.</a:t>
            </a:r>
            <a:endParaRPr lang="en-US" sz="1450" dirty="0"/>
          </a:p>
        </p:txBody>
      </p:sp>
      <p:sp>
        <p:nvSpPr>
          <p:cNvPr id="5" name="Shape 3"/>
          <p:cNvSpPr/>
          <p:nvPr/>
        </p:nvSpPr>
        <p:spPr>
          <a:xfrm>
            <a:off x="457200" y="2148840"/>
            <a:ext cx="5532120" cy="2286000"/>
          </a:xfrm>
          <a:prstGeom prst="roundRect">
            <a:avLst>
              <a:gd name="adj" fmla="val 4000"/>
            </a:avLst>
          </a:prstGeom>
          <a:solidFill>
            <a:srgbClr val="FFFFFF"/>
          </a:solidFill>
          <a:ln w="19050">
            <a:solidFill>
              <a:srgbClr val="0057C2"/>
            </a:solidFill>
            <a:prstDash val="solid"/>
          </a:ln>
        </p:spPr>
      </p:sp>
      <p:sp>
        <p:nvSpPr>
          <p:cNvPr id="6" name="Text 4"/>
          <p:cNvSpPr/>
          <p:nvPr/>
        </p:nvSpPr>
        <p:spPr>
          <a:xfrm>
            <a:off x="685800" y="2286000"/>
            <a:ext cx="5120640" cy="320040"/>
          </a:xfrm>
          <a:prstGeom prst="rect">
            <a:avLst/>
          </a:prstGeom>
          <a:noFill/>
          <a:ln/>
        </p:spPr>
        <p:txBody>
          <a:bodyPr wrap="square" lIns="0" tIns="0" rIns="0" bIns="0" rtlCol="0" anchor="ctr"/>
          <a:lstStyle/>
          <a:p>
            <a:pPr indent="0" marL="0">
              <a:buNone/>
            </a:pPr>
            <a:r>
              <a:rPr lang="en-US" sz="1500" b="1" dirty="0">
                <a:solidFill>
                  <a:srgbClr val="0057C2"/>
                </a:solidFill>
                <a:latin typeface="Poppins" pitchFamily="34" charset="0"/>
                <a:ea typeface="Poppins" pitchFamily="34" charset="-122"/>
                <a:cs typeface="Poppins" pitchFamily="34" charset="-120"/>
              </a:rPr>
              <a:t>Tarring   (-A 2, -A 3)</a:t>
            </a:r>
            <a:endParaRPr lang="en-US" sz="1500" dirty="0"/>
          </a:p>
        </p:txBody>
      </p:sp>
      <p:sp>
        <p:nvSpPr>
          <p:cNvPr id="7" name="Text 5"/>
          <p:cNvSpPr/>
          <p:nvPr/>
        </p:nvSpPr>
        <p:spPr>
          <a:xfrm>
            <a:off x="685800" y="2606040"/>
            <a:ext cx="5120640" cy="274320"/>
          </a:xfrm>
          <a:prstGeom prst="rect">
            <a:avLst/>
          </a:prstGeom>
          <a:noFill/>
          <a:ln/>
        </p:spPr>
        <p:txBody>
          <a:bodyPr wrap="square" lIns="0" tIns="0" rIns="0" bIns="0" rtlCol="0" anchor="ctr"/>
          <a:lstStyle/>
          <a:p>
            <a:pPr indent="0" marL="0">
              <a:buNone/>
            </a:pPr>
            <a:r>
              <a:rPr lang="en-US" sz="1150" dirty="0">
                <a:solidFill>
                  <a:srgbClr val="53565A"/>
                </a:solidFill>
                <a:latin typeface="Poppins" pitchFamily="34" charset="0"/>
                <a:ea typeface="Poppins" pitchFamily="34" charset="-122"/>
                <a:cs typeface="Poppins" pitchFamily="34" charset="-120"/>
              </a:rPr>
              <a:t>One child per tar file — many small, cheap units.</a:t>
            </a:r>
            <a:endParaRPr lang="en-US" sz="1150" dirty="0"/>
          </a:p>
        </p:txBody>
      </p:sp>
      <p:sp>
        <p:nvSpPr>
          <p:cNvPr id="8" name="Shape 6"/>
          <p:cNvSpPr/>
          <p:nvPr/>
        </p:nvSpPr>
        <p:spPr>
          <a:xfrm>
            <a:off x="685800" y="2907792"/>
            <a:ext cx="5120640" cy="987552"/>
          </a:xfrm>
          <a:prstGeom prst="roundRect">
            <a:avLst>
              <a:gd name="adj" fmla="val 4630"/>
            </a:avLst>
          </a:prstGeom>
          <a:solidFill>
            <a:srgbClr val="011837"/>
          </a:solidFill>
          <a:ln/>
        </p:spPr>
      </p:sp>
      <p:sp>
        <p:nvSpPr>
          <p:cNvPr id="9" name="Text 7"/>
          <p:cNvSpPr/>
          <p:nvPr/>
        </p:nvSpPr>
        <p:spPr>
          <a:xfrm>
            <a:off x="813816" y="2907792"/>
            <a:ext cx="4864608" cy="987552"/>
          </a:xfrm>
          <a:prstGeom prst="rect">
            <a:avLst/>
          </a:prstGeom>
          <a:noFill/>
          <a:ln/>
        </p:spPr>
        <p:txBody>
          <a:bodyPr wrap="square" lIns="0" tIns="0" rIns="0" bIns="0" rtlCol="0" anchor="ctr"/>
          <a:lstStyle/>
          <a:p>
            <a:pPr indent="0" marL="0">
              <a:lnSpc>
                <a:spcPct val="100000"/>
              </a:lnSpc>
              <a:buNone/>
            </a:pPr>
            <a:r>
              <a:rPr lang="en-US" sz="1100" dirty="0">
                <a:solidFill>
                  <a:srgbClr val="0097A7"/>
                </a:solidFill>
                <a:latin typeface="Courier New" pitchFamily="34" charset="0"/>
                <a:ea typeface="Courier New" pitchFamily="34" charset="-122"/>
                <a:cs typeface="Courier New" pitchFamily="34" charset="-120"/>
              </a:rPr>
              <a:t>MPTLIMIT = 200   Glade tar files per process</a:t>
            </a:r>
            <a:endParaRPr lang="en-US" sz="1100" dirty="0"/>
          </a:p>
          <a:p>
            <a:pPr indent="0" marL="0">
              <a:lnSpc>
                <a:spcPct val="100000"/>
              </a:lnSpc>
              <a:buNone/>
            </a:pPr>
            <a:r>
              <a:rPr lang="en-US" sz="1100" dirty="0">
                <a:solidFill>
                  <a:srgbClr val="0097A7"/>
                </a:solidFill>
                <a:latin typeface="Courier New" pitchFamily="34" charset="0"/>
                <a:ea typeface="Courier New" pitchFamily="34" charset="-122"/>
                <a:cs typeface="Courier New" pitchFamily="34" charset="-120"/>
              </a:rPr>
              <a:t>MPOLIMIT =  20   Boreas tar files per process</a:t>
            </a:r>
            <a:endParaRPr lang="en-US" sz="1100" dirty="0"/>
          </a:p>
          <a:p>
            <a:pPr indent="0" marL="0">
              <a:lnSpc>
                <a:spcPct val="100000"/>
              </a:lnSpc>
              <a:buNone/>
            </a:pPr>
            <a:r>
              <a:rPr lang="en-US" sz="1100" dirty="0">
                <a:solidFill>
                  <a:srgbClr val="0097A7"/>
                </a:solidFill>
                <a:latin typeface="Courier New" pitchFamily="34" charset="0"/>
                <a:ea typeface="Courier New" pitchFamily="34" charset="-122"/>
                <a:cs typeface="Courier New" pitchFamily="34" charset="-120"/>
              </a:rPr>
              <a:t>MPTMAX   =  12   process ceiling</a:t>
            </a:r>
            <a:endParaRPr lang="en-US" sz="1100" dirty="0"/>
          </a:p>
          <a:p>
            <a:pPr indent="0" marL="0">
              <a:lnSpc>
                <a:spcPct val="100000"/>
              </a:lnSpc>
              <a:buNone/>
            </a:pPr>
            <a:r>
              <a:rPr lang="en-US" sz="1100" dirty="0">
                <a:solidFill>
                  <a:srgbClr val="0097A7"/>
                </a:solidFill>
                <a:latin typeface="Courier New" pitchFamily="34" charset="0"/>
                <a:ea typeface="Courier New" pitchFamily="34" charset="-122"/>
                <a:cs typeface="Courier New" pitchFamily="34" charset="-120"/>
              </a:rPr>
              <a:t>procs = ceil(Glade/200 + Boreas/20)</a:t>
            </a:r>
            <a:endParaRPr lang="en-US" sz="1100" dirty="0"/>
          </a:p>
        </p:txBody>
      </p:sp>
      <p:sp>
        <p:nvSpPr>
          <p:cNvPr id="10" name="Text 8"/>
          <p:cNvSpPr/>
          <p:nvPr/>
        </p:nvSpPr>
        <p:spPr>
          <a:xfrm>
            <a:off x="685800" y="3968496"/>
            <a:ext cx="5120640" cy="365760"/>
          </a:xfrm>
          <a:prstGeom prst="rect">
            <a:avLst/>
          </a:prstGeom>
          <a:noFill/>
          <a:ln/>
        </p:spPr>
        <p:txBody>
          <a:bodyPr wrap="square" lIns="0" tIns="0" rIns="0" bIns="0" rtlCol="0" anchor="t"/>
          <a:lstStyle/>
          <a:p>
            <a:pPr indent="0" marL="0">
              <a:buNone/>
            </a:pPr>
            <a:r>
              <a:rPr lang="en-US" sz="1100" dirty="0">
                <a:solidFill>
                  <a:srgbClr val="00357A"/>
                </a:solidFill>
                <a:latin typeface="Poppins" pitchFamily="34" charset="0"/>
                <a:ea typeface="Poppins" pitchFamily="34" charset="-122"/>
                <a:cs typeface="Poppins" pitchFamily="34" charset="-120"/>
              </a:rPr>
              <a:t>A small divisor with a high cap: tar work spreads wide, Boreas tars ten times wider.</a:t>
            </a:r>
            <a:endParaRPr lang="en-US" sz="1100" dirty="0"/>
          </a:p>
        </p:txBody>
      </p:sp>
      <p:sp>
        <p:nvSpPr>
          <p:cNvPr id="11" name="Shape 9"/>
          <p:cNvSpPr/>
          <p:nvPr/>
        </p:nvSpPr>
        <p:spPr>
          <a:xfrm>
            <a:off x="6309360" y="2148840"/>
            <a:ext cx="5440680" cy="2286000"/>
          </a:xfrm>
          <a:prstGeom prst="roundRect">
            <a:avLst>
              <a:gd name="adj" fmla="val 4000"/>
            </a:avLst>
          </a:prstGeom>
          <a:solidFill>
            <a:srgbClr val="FFFFFF"/>
          </a:solidFill>
          <a:ln w="19050">
            <a:solidFill>
              <a:srgbClr val="0097A7"/>
            </a:solidFill>
            <a:prstDash val="solid"/>
          </a:ln>
        </p:spPr>
      </p:sp>
      <p:sp>
        <p:nvSpPr>
          <p:cNvPr id="12" name="Text 10"/>
          <p:cNvSpPr/>
          <p:nvPr/>
        </p:nvSpPr>
        <p:spPr>
          <a:xfrm>
            <a:off x="6537960" y="2286000"/>
            <a:ext cx="5029200" cy="320040"/>
          </a:xfrm>
          <a:prstGeom prst="rect">
            <a:avLst/>
          </a:prstGeom>
          <a:noFill/>
          <a:ln/>
        </p:spPr>
        <p:txBody>
          <a:bodyPr wrap="square" lIns="0" tIns="0" rIns="0" bIns="0" rtlCol="0" anchor="ctr"/>
          <a:lstStyle/>
          <a:p>
            <a:pPr indent="0" marL="0">
              <a:buNone/>
            </a:pPr>
            <a:r>
              <a:rPr lang="en-US" sz="1500" b="1" dirty="0">
                <a:solidFill>
                  <a:srgbClr val="0097A7"/>
                </a:solidFill>
                <a:latin typeface="Poppins" pitchFamily="34" charset="0"/>
                <a:ea typeface="Poppins" pitchFamily="34" charset="-122"/>
                <a:cs typeface="Poppins" pitchFamily="34" charset="-120"/>
              </a:rPr>
              <a:t>Uploading   (-A 4)</a:t>
            </a:r>
            <a:endParaRPr lang="en-US" sz="1500" dirty="0"/>
          </a:p>
        </p:txBody>
      </p:sp>
      <p:sp>
        <p:nvSpPr>
          <p:cNvPr id="13" name="Text 11"/>
          <p:cNvSpPr/>
          <p:nvPr/>
        </p:nvSpPr>
        <p:spPr>
          <a:xfrm>
            <a:off x="6537960" y="2606040"/>
            <a:ext cx="5029200" cy="274320"/>
          </a:xfrm>
          <a:prstGeom prst="rect">
            <a:avLst/>
          </a:prstGeom>
          <a:noFill/>
          <a:ln/>
        </p:spPr>
        <p:txBody>
          <a:bodyPr wrap="square" lIns="0" tIns="0" rIns="0" bIns="0" rtlCol="0" anchor="ctr"/>
          <a:lstStyle/>
          <a:p>
            <a:pPr indent="0" marL="0">
              <a:buNone/>
            </a:pPr>
            <a:r>
              <a:rPr lang="en-US" sz="1150" dirty="0">
                <a:solidFill>
                  <a:srgbClr val="53565A"/>
                </a:solidFill>
                <a:latin typeface="Poppins" pitchFamily="34" charset="0"/>
                <a:ea typeface="Poppins" pitchFamily="34" charset="-122"/>
                <a:cs typeface="Poppins" pitchFamily="34" charset="-120"/>
              </a:rPr>
              <a:t>One child per 90 GB batch — few large, network-bound units.</a:t>
            </a:r>
            <a:endParaRPr lang="en-US" sz="1150" dirty="0"/>
          </a:p>
        </p:txBody>
      </p:sp>
      <p:sp>
        <p:nvSpPr>
          <p:cNvPr id="14" name="Shape 12"/>
          <p:cNvSpPr/>
          <p:nvPr/>
        </p:nvSpPr>
        <p:spPr>
          <a:xfrm>
            <a:off x="6537960" y="2926080"/>
            <a:ext cx="5029200" cy="685800"/>
          </a:xfrm>
          <a:prstGeom prst="roundRect">
            <a:avLst>
              <a:gd name="adj" fmla="val 6667"/>
            </a:avLst>
          </a:prstGeom>
          <a:solidFill>
            <a:srgbClr val="011837"/>
          </a:solidFill>
          <a:ln/>
        </p:spPr>
      </p:sp>
      <p:sp>
        <p:nvSpPr>
          <p:cNvPr id="15" name="Text 13"/>
          <p:cNvSpPr/>
          <p:nvPr/>
        </p:nvSpPr>
        <p:spPr>
          <a:xfrm>
            <a:off x="6665976" y="2926080"/>
            <a:ext cx="4773168" cy="685800"/>
          </a:xfrm>
          <a:prstGeom prst="rect">
            <a:avLst/>
          </a:prstGeom>
          <a:noFill/>
          <a:ln/>
        </p:spPr>
        <p:txBody>
          <a:bodyPr wrap="square" lIns="0" tIns="0" rIns="0" bIns="0" rtlCol="0" anchor="ctr"/>
          <a:lstStyle/>
          <a:p>
            <a:pPr indent="0" marL="0">
              <a:lnSpc>
                <a:spcPct val="100000"/>
              </a:lnSpc>
              <a:buNone/>
            </a:pPr>
            <a:r>
              <a:rPr lang="en-US" sz="1150" dirty="0">
                <a:solidFill>
                  <a:srgbClr val="0097A7"/>
                </a:solidFill>
                <a:latin typeface="Courier New" pitchFamily="34" charset="0"/>
                <a:ea typeface="Courier New" pitchFamily="34" charset="-122"/>
                <a:cs typeface="Courier New" pitchFamily="34" charset="-120"/>
              </a:rPr>
              <a:t>MPBLIMIT = 5000  tar files per process</a:t>
            </a:r>
            <a:endParaRPr lang="en-US" sz="1150" dirty="0"/>
          </a:p>
          <a:p>
            <a:pPr indent="0" marL="0">
              <a:lnSpc>
                <a:spcPct val="100000"/>
              </a:lnSpc>
              <a:buNone/>
            </a:pPr>
            <a:r>
              <a:rPr lang="en-US" sz="1150" dirty="0">
                <a:solidFill>
                  <a:srgbClr val="0097A7"/>
                </a:solidFill>
                <a:latin typeface="Courier New" pitchFamily="34" charset="0"/>
                <a:ea typeface="Courier New" pitchFamily="34" charset="-122"/>
                <a:cs typeface="Courier New" pitchFamily="34" charset="-120"/>
              </a:rPr>
              <a:t>MPBMAX   =    4  process ceiling</a:t>
            </a:r>
            <a:endParaRPr lang="en-US" sz="1150" dirty="0"/>
          </a:p>
        </p:txBody>
      </p:sp>
      <p:sp>
        <p:nvSpPr>
          <p:cNvPr id="16" name="Text 14"/>
          <p:cNvSpPr/>
          <p:nvPr/>
        </p:nvSpPr>
        <p:spPr>
          <a:xfrm>
            <a:off x="6537960" y="3703320"/>
            <a:ext cx="5029200" cy="548640"/>
          </a:xfrm>
          <a:prstGeom prst="rect">
            <a:avLst/>
          </a:prstGeom>
          <a:noFill/>
          <a:ln/>
        </p:spPr>
        <p:txBody>
          <a:bodyPr wrap="square" lIns="0" tIns="0" rIns="0" bIns="0" rtlCol="0" anchor="t"/>
          <a:lstStyle/>
          <a:p>
            <a:pPr indent="0" marL="0">
              <a:buNone/>
            </a:pPr>
            <a:r>
              <a:rPr lang="en-US" sz="1100" dirty="0">
                <a:solidFill>
                  <a:srgbClr val="00357A"/>
                </a:solidFill>
                <a:latin typeface="Poppins" pitchFamily="34" charset="0"/>
                <a:ea typeface="Poppins" pitchFamily="34" charset="-122"/>
                <a:cs typeface="Poppins" pitchFamily="34" charset="-120"/>
              </a:rPr>
              <a:t>A large divisor with a low cap: more Globus streams do not move more bytes.</a:t>
            </a:r>
            <a:endParaRPr lang="en-US" sz="1100" dirty="0"/>
          </a:p>
        </p:txBody>
      </p:sp>
      <p:sp>
        <p:nvSpPr>
          <p:cNvPr id="17" name="Text 15"/>
          <p:cNvSpPr/>
          <p:nvPr/>
        </p:nvSpPr>
        <p:spPr>
          <a:xfrm>
            <a:off x="457200" y="4572000"/>
            <a:ext cx="11292840" cy="32004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Why Boreas tars get more processes</a:t>
            </a:r>
            <a:endParaRPr lang="en-US" sz="1500" dirty="0"/>
          </a:p>
        </p:txBody>
      </p:sp>
      <p:sp>
        <p:nvSpPr>
          <p:cNvPr id="18" name="Text 16"/>
          <p:cNvSpPr/>
          <p:nvPr/>
        </p:nvSpPr>
        <p:spPr>
          <a:xfrm>
            <a:off x="457200" y="4892040"/>
            <a:ext cx="11292840" cy="502920"/>
          </a:xfrm>
          <a:prstGeom prst="rect">
            <a:avLst/>
          </a:prstGeom>
          <a:noFill/>
          <a:ln/>
        </p:spPr>
        <p:txBody>
          <a:bodyPr wrap="square" lIns="0" tIns="0" rIns="0" bIns="0" rtlCol="0" anchor="t"/>
          <a:lstStyle/>
          <a:p>
            <a:pPr indent="0" marL="0">
              <a:lnSpc>
                <a:spcPct val="105000"/>
              </a:lnSpc>
              <a:buNone/>
            </a:pPr>
            <a:r>
              <a:rPr lang="en-US" sz="1200" dirty="0">
                <a:solidFill>
                  <a:srgbClr val="53565A"/>
                </a:solidFill>
                <a:latin typeface="Poppins" pitchFamily="34" charset="0"/>
                <a:ea typeface="Poppins" pitchFamily="34" charset="-122"/>
                <a:cs typeface="Poppins" pitchFamily="34" charset="-120"/>
              </a:rPr>
              <a:t>Every member of a Boreas tar is staged down from the object store and checksummed before it is tarred, so it takes many times longer than a Glade tar. The backlog sat in one dataset, d694517 (~730 GB, ~146 tars): one process per 200 tars gave it 1, per 20 it gets 8.</a:t>
            </a:r>
            <a:endParaRPr lang="en-US" sz="1200" dirty="0"/>
          </a:p>
        </p:txBody>
      </p:sp>
      <p:sp>
        <p:nvSpPr>
          <p:cNvPr id="19" name="Shape 17"/>
          <p:cNvSpPr/>
          <p:nvPr/>
        </p:nvSpPr>
        <p:spPr>
          <a:xfrm>
            <a:off x="457200" y="5486400"/>
            <a:ext cx="11292840" cy="548640"/>
          </a:xfrm>
          <a:prstGeom prst="roundRect">
            <a:avLst>
              <a:gd name="adj" fmla="val 13333"/>
            </a:avLst>
          </a:prstGeom>
          <a:solidFill>
            <a:srgbClr val="C7E4F5"/>
          </a:solidFill>
          <a:ln w="12700">
            <a:solidFill>
              <a:srgbClr val="A9D6F2"/>
            </a:solidFill>
            <a:prstDash val="solid"/>
          </a:ln>
        </p:spPr>
      </p:sp>
      <p:sp>
        <p:nvSpPr>
          <p:cNvPr id="20" name="Text 18"/>
          <p:cNvSpPr/>
          <p:nvPr/>
        </p:nvSpPr>
        <p:spPr>
          <a:xfrm>
            <a:off x="658368" y="5486400"/>
            <a:ext cx="10881360" cy="548640"/>
          </a:xfrm>
          <a:prstGeom prst="rect">
            <a:avLst/>
          </a:prstGeom>
          <a:noFill/>
          <a:ln/>
        </p:spPr>
        <p:txBody>
          <a:bodyPr wrap="square" lIns="0" tIns="0" rIns="0" bIns="0" rtlCol="0" anchor="ctr"/>
          <a:lstStyle/>
          <a:p>
            <a:pPr indent="0" marL="0">
              <a:buNone/>
            </a:pPr>
            <a:r>
              <a:rPr lang="en-US" sz="1150" b="1" dirty="0">
                <a:solidFill>
                  <a:srgbClr val="0057C2"/>
                </a:solidFill>
                <a:latin typeface="Poppins" pitchFamily="34" charset="0"/>
                <a:ea typeface="Poppins" pitchFamily="34" charset="-122"/>
                <a:cs typeface="Poppins" pitchFamily="34" charset="-120"/>
              </a:rPr>
              <a:t>-m sets the count by hand.  </a:t>
            </a:r>
            <a:pPr indent="0" marL="0">
              <a:buNone/>
            </a:pPr>
            <a:r>
              <a:rPr lang="en-US" sz="1150" dirty="0">
                <a:solidFill>
                  <a:srgbClr val="00357A"/>
                </a:solidFill>
                <a:latin typeface="Poppins" pitchFamily="34" charset="0"/>
                <a:ea typeface="Poppins" pitchFamily="34" charset="-122"/>
                <a:cs typeface="Poppins" pitchFamily="34" charset="-120"/>
              </a:rPr>
              <a:t>With no -m, a delayed run sizes itself and reads the count back from the reserved PBS ncpus. An explicit -m always wins — including -m 1 to force a single process.</a:t>
            </a:r>
            <a:endParaRPr lang="en-US" sz="1150" dirty="0"/>
          </a:p>
        </p:txBody>
      </p:sp>
      <p:sp>
        <p:nvSpPr>
          <p:cNvPr id="21" name="Text 19"/>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19</a:t>
            </a:r>
            <a:endParaRPr lang="en-US" sz="950" dirty="0"/>
          </a:p>
        </p:txBody>
      </p:sp>
      <p:sp>
        <p:nvSpPr>
          <p:cNvPr id="22" name="Text 20"/>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42C0FF"/>
                </a:solidFill>
                <a:latin typeface="Poppins" pitchFamily="34" charset="0"/>
                <a:ea typeface="Poppins" pitchFamily="34" charset="-122"/>
                <a:cs typeface="Poppins" pitchFamily="34" charset="-120"/>
              </a:rPr>
              <a:t>WALLTIME GUARD</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FFFFFF"/>
                </a:solidFill>
                <a:latin typeface="Poppins" pitchFamily="34" charset="0"/>
                <a:ea typeface="Poppins" pitchFamily="34" charset="-122"/>
                <a:cs typeface="Poppins" pitchFamily="34" charset="-120"/>
              </a:rPr>
              <a:t>Making Sure the Report Outlives the Job</a:t>
            </a:r>
            <a:endParaRPr lang="en-US" sz="3200" dirty="0"/>
          </a:p>
        </p:txBody>
      </p:sp>
      <p:sp>
        <p:nvSpPr>
          <p:cNvPr id="4" name="Text 2"/>
          <p:cNvSpPr/>
          <p:nvPr/>
        </p:nvSpPr>
        <p:spPr>
          <a:xfrm>
            <a:off x="457200" y="1481328"/>
            <a:ext cx="11292840" cy="548640"/>
          </a:xfrm>
          <a:prstGeom prst="rect">
            <a:avLst/>
          </a:prstGeom>
          <a:noFill/>
          <a:ln/>
        </p:spPr>
        <p:txBody>
          <a:bodyPr wrap="square" lIns="0" tIns="0" rIns="0" bIns="0" rtlCol="0" anchor="t"/>
          <a:lstStyle/>
          <a:p>
            <a:pPr indent="0" marL="0">
              <a:lnSpc>
                <a:spcPct val="110000"/>
              </a:lnSpc>
              <a:buNone/>
            </a:pPr>
            <a:r>
              <a:rPr lang="en-US" sz="1450" dirty="0">
                <a:solidFill>
                  <a:srgbClr val="C3D7EE"/>
                </a:solidFill>
                <a:latin typeface="Poppins" pitchFamily="34" charset="0"/>
                <a:ea typeface="Poppins" pitchFamily="34" charset="-122"/>
                <a:cs typeface="Poppins" pitchFamily="34" charset="-120"/>
              </a:rPr>
              <a:t>The queue gives the job 24 hours, and a full pass over the archive can want more. Cutting the work short to make time for the mail wastes a whole run, so instead dsquasar parks a progress report in its dscheck record an hour before the limit, and keeps working.</a:t>
            </a:r>
            <a:endParaRPr lang="en-US" sz="1450" dirty="0"/>
          </a:p>
        </p:txBody>
      </p:sp>
      <p:sp>
        <p:nvSpPr>
          <p:cNvPr id="5" name="Shape 3"/>
          <p:cNvSpPr/>
          <p:nvPr/>
        </p:nvSpPr>
        <p:spPr>
          <a:xfrm>
            <a:off x="822960" y="2514600"/>
            <a:ext cx="10515600" cy="384048"/>
          </a:xfrm>
          <a:prstGeom prst="roundRect">
            <a:avLst>
              <a:gd name="adj" fmla="val 19048"/>
            </a:avLst>
          </a:prstGeom>
          <a:solidFill>
            <a:srgbClr val="0B2A63"/>
          </a:solidFill>
          <a:ln w="12700">
            <a:solidFill>
              <a:srgbClr val="2C4E7D"/>
            </a:solidFill>
            <a:prstDash val="solid"/>
          </a:ln>
        </p:spPr>
      </p:sp>
      <p:sp>
        <p:nvSpPr>
          <p:cNvPr id="6" name="Text 4"/>
          <p:cNvSpPr/>
          <p:nvPr/>
        </p:nvSpPr>
        <p:spPr>
          <a:xfrm>
            <a:off x="822960" y="2514600"/>
            <a:ext cx="10515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work continues   —   0 h to the walltime</a:t>
            </a:r>
            <a:endParaRPr lang="en-US" sz="1200" dirty="0"/>
          </a:p>
        </p:txBody>
      </p:sp>
      <p:sp>
        <p:nvSpPr>
          <p:cNvPr id="7" name="Shape 5"/>
          <p:cNvSpPr/>
          <p:nvPr/>
        </p:nvSpPr>
        <p:spPr>
          <a:xfrm>
            <a:off x="10900410" y="2404872"/>
            <a:ext cx="0" cy="603504"/>
          </a:xfrm>
          <a:prstGeom prst="line">
            <a:avLst/>
          </a:prstGeom>
          <a:noFill/>
          <a:ln w="25400">
            <a:solidFill>
              <a:srgbClr val="42C0FF"/>
            </a:solidFill>
            <a:prstDash val="solid"/>
          </a:ln>
        </p:spPr>
      </p:sp>
      <p:sp>
        <p:nvSpPr>
          <p:cNvPr id="8" name="Text 6"/>
          <p:cNvSpPr/>
          <p:nvPr/>
        </p:nvSpPr>
        <p:spPr>
          <a:xfrm>
            <a:off x="7059930" y="2130552"/>
            <a:ext cx="3840480" cy="274320"/>
          </a:xfrm>
          <a:prstGeom prst="rect">
            <a:avLst/>
          </a:prstGeom>
          <a:noFill/>
          <a:ln/>
        </p:spPr>
        <p:txBody>
          <a:bodyPr wrap="square" lIns="0" tIns="0" rIns="0" bIns="0" rtlCol="0" anchor="ctr"/>
          <a:lstStyle/>
          <a:p>
            <a:pPr algn="r" indent="0" marL="0">
              <a:buNone/>
            </a:pPr>
            <a:r>
              <a:rPr lang="en-US" sz="1000" dirty="0">
                <a:solidFill>
                  <a:srgbClr val="42C0FF"/>
                </a:solidFill>
                <a:latin typeface="Courier New" pitchFamily="34" charset="0"/>
                <a:ea typeface="Courier New" pitchFamily="34" charset="-122"/>
                <a:cs typeface="Courier New" pitchFamily="34" charset="-120"/>
              </a:rPr>
              <a:t>MAXRUNTIME  23 h  —  cache the report</a:t>
            </a:r>
            <a:endParaRPr lang="en-US" sz="1000" dirty="0"/>
          </a:p>
        </p:txBody>
      </p:sp>
      <p:sp>
        <p:nvSpPr>
          <p:cNvPr id="9" name="Text 7"/>
          <p:cNvSpPr/>
          <p:nvPr/>
        </p:nvSpPr>
        <p:spPr>
          <a:xfrm>
            <a:off x="822960" y="2971800"/>
            <a:ext cx="1645920" cy="274320"/>
          </a:xfrm>
          <a:prstGeom prst="rect">
            <a:avLst/>
          </a:prstGeom>
          <a:noFill/>
          <a:ln/>
        </p:spPr>
        <p:txBody>
          <a:bodyPr wrap="square" lIns="0" tIns="0" rIns="0" bIns="0" rtlCol="0" anchor="ctr"/>
          <a:lstStyle/>
          <a:p>
            <a:pPr algn="l" indent="0" marL="0">
              <a:buNone/>
            </a:pPr>
            <a:r>
              <a:rPr lang="en-US" sz="1000" dirty="0">
                <a:solidFill>
                  <a:srgbClr val="97999B"/>
                </a:solidFill>
                <a:latin typeface="Courier New" pitchFamily="34" charset="0"/>
                <a:ea typeface="Courier New" pitchFamily="34" charset="-122"/>
                <a:cs typeface="Courier New" pitchFamily="34" charset="-120"/>
              </a:rPr>
              <a:t>0 h</a:t>
            </a:r>
            <a:endParaRPr lang="en-US" sz="1000" dirty="0"/>
          </a:p>
        </p:txBody>
      </p:sp>
      <p:sp>
        <p:nvSpPr>
          <p:cNvPr id="10" name="Text 8"/>
          <p:cNvSpPr/>
          <p:nvPr/>
        </p:nvSpPr>
        <p:spPr>
          <a:xfrm>
            <a:off x="9144000" y="2971800"/>
            <a:ext cx="2194560" cy="274320"/>
          </a:xfrm>
          <a:prstGeom prst="rect">
            <a:avLst/>
          </a:prstGeom>
          <a:noFill/>
          <a:ln/>
        </p:spPr>
        <p:txBody>
          <a:bodyPr wrap="square" lIns="0" tIns="0" rIns="0" bIns="0" rtlCol="0" anchor="ctr"/>
          <a:lstStyle/>
          <a:p>
            <a:pPr algn="r" indent="0" marL="0">
              <a:buNone/>
            </a:pPr>
            <a:r>
              <a:rPr lang="en-US" sz="1000" dirty="0">
                <a:solidFill>
                  <a:srgbClr val="97999B"/>
                </a:solidFill>
                <a:latin typeface="Courier New" pitchFamily="34" charset="0"/>
                <a:ea typeface="Courier New" pitchFamily="34" charset="-122"/>
                <a:cs typeface="Courier New" pitchFamily="34" charset="-120"/>
              </a:rPr>
              <a:t>24 h  PBS walltime</a:t>
            </a:r>
            <a:endParaRPr lang="en-US" sz="1000" dirty="0"/>
          </a:p>
        </p:txBody>
      </p:sp>
      <p:sp>
        <p:nvSpPr>
          <p:cNvPr id="11" name="Shape 9"/>
          <p:cNvSpPr/>
          <p:nvPr/>
        </p:nvSpPr>
        <p:spPr>
          <a:xfrm>
            <a:off x="822960" y="3246120"/>
            <a:ext cx="10515600" cy="621792"/>
          </a:xfrm>
          <a:prstGeom prst="roundRect">
            <a:avLst>
              <a:gd name="adj" fmla="val 10294"/>
            </a:avLst>
          </a:prstGeom>
          <a:solidFill>
            <a:srgbClr val="0B2A63"/>
          </a:solidFill>
          <a:ln w="12700">
            <a:solidFill>
              <a:srgbClr val="2C4E7D"/>
            </a:solidFill>
            <a:prstDash val="solid"/>
          </a:ln>
        </p:spPr>
      </p:sp>
      <p:sp>
        <p:nvSpPr>
          <p:cNvPr id="12" name="Text 10"/>
          <p:cNvSpPr/>
          <p:nvPr/>
        </p:nvSpPr>
        <p:spPr>
          <a:xfrm>
            <a:off x="1005840" y="3246120"/>
            <a:ext cx="2286000" cy="621792"/>
          </a:xfrm>
          <a:prstGeom prst="rect">
            <a:avLst/>
          </a:prstGeom>
          <a:noFill/>
          <a:ln/>
        </p:spPr>
        <p:txBody>
          <a:bodyPr wrap="square" lIns="0" tIns="0" rIns="0" bIns="0" rtlCol="0" anchor="ctr"/>
          <a:lstStyle/>
          <a:p>
            <a:pPr indent="0" marL="0">
              <a:buNone/>
            </a:pPr>
            <a:r>
              <a:rPr lang="en-US" sz="1250" b="1" dirty="0">
                <a:solidFill>
                  <a:srgbClr val="42C0FF"/>
                </a:solidFill>
                <a:latin typeface="Poppins" pitchFamily="34" charset="0"/>
                <a:ea typeface="Poppins" pitchFamily="34" charset="-122"/>
                <a:cs typeface="Poppins" pitchFamily="34" charset="-120"/>
              </a:rPr>
              <a:t>Ask PBS, not the clock</a:t>
            </a:r>
            <a:endParaRPr lang="en-US" sz="1250" dirty="0"/>
          </a:p>
        </p:txBody>
      </p:sp>
      <p:sp>
        <p:nvSpPr>
          <p:cNvPr id="13" name="Text 11"/>
          <p:cNvSpPr/>
          <p:nvPr/>
        </p:nvSpPr>
        <p:spPr>
          <a:xfrm>
            <a:off x="3337560" y="3246120"/>
            <a:ext cx="7818120" cy="621792"/>
          </a:xfrm>
          <a:prstGeom prst="rect">
            <a:avLst/>
          </a:prstGeom>
          <a:noFill/>
          <a:ln/>
        </p:spPr>
        <p:txBody>
          <a:bodyPr wrap="square" lIns="0" tIns="0" rIns="0" bIns="0" rtlCol="0" anchor="ctr"/>
          <a:lstStyle/>
          <a:p>
            <a:pPr indent="0" marL="0">
              <a:lnSpc>
                <a:spcPct val="100000"/>
              </a:lnSpc>
              <a:buNone/>
            </a:pPr>
            <a:r>
              <a:rPr lang="en-US" sz="1100" dirty="0">
                <a:solidFill>
                  <a:srgbClr val="C3D7EE"/>
                </a:solidFill>
                <a:latin typeface="Poppins" pitchFamily="34" charset="0"/>
                <a:ea typeface="Poppins" pitchFamily="34" charset="-122"/>
                <a:cs typeface="Poppins" pitchFamily="34" charset="-120"/>
              </a:rPr>
              <a:t>qstat gives back the walltime actually granted — the daemon can cap the 24 hours asked for to the queue maximum. The cutoff is always one hour short of it.</a:t>
            </a:r>
            <a:endParaRPr lang="en-US" sz="1100" dirty="0"/>
          </a:p>
        </p:txBody>
      </p:sp>
      <p:sp>
        <p:nvSpPr>
          <p:cNvPr id="14" name="Shape 12"/>
          <p:cNvSpPr/>
          <p:nvPr/>
        </p:nvSpPr>
        <p:spPr>
          <a:xfrm>
            <a:off x="822960" y="3931920"/>
            <a:ext cx="10515600" cy="621792"/>
          </a:xfrm>
          <a:prstGeom prst="roundRect">
            <a:avLst>
              <a:gd name="adj" fmla="val 10294"/>
            </a:avLst>
          </a:prstGeom>
          <a:solidFill>
            <a:srgbClr val="0B2A63"/>
          </a:solidFill>
          <a:ln w="12700">
            <a:solidFill>
              <a:srgbClr val="2C4E7D"/>
            </a:solidFill>
            <a:prstDash val="solid"/>
          </a:ln>
        </p:spPr>
      </p:sp>
      <p:sp>
        <p:nvSpPr>
          <p:cNvPr id="15" name="Text 13"/>
          <p:cNvSpPr/>
          <p:nvPr/>
        </p:nvSpPr>
        <p:spPr>
          <a:xfrm>
            <a:off x="1005840" y="3931920"/>
            <a:ext cx="2286000" cy="621792"/>
          </a:xfrm>
          <a:prstGeom prst="rect">
            <a:avLst/>
          </a:prstGeom>
          <a:noFill/>
          <a:ln/>
        </p:spPr>
        <p:txBody>
          <a:bodyPr wrap="square" lIns="0" tIns="0" rIns="0" bIns="0" rtlCol="0" anchor="ctr"/>
          <a:lstStyle/>
          <a:p>
            <a:pPr indent="0" marL="0">
              <a:buNone/>
            </a:pPr>
            <a:r>
              <a:rPr lang="en-US" sz="1250" b="1" dirty="0">
                <a:solidFill>
                  <a:srgbClr val="42C0FF"/>
                </a:solidFill>
                <a:latin typeface="Poppins" pitchFamily="34" charset="0"/>
                <a:ea typeface="Poppins" pitchFamily="34" charset="-122"/>
                <a:cs typeface="Poppins" pitchFamily="34" charset="-120"/>
              </a:rPr>
              <a:t>At the cutoff</a:t>
            </a:r>
            <a:endParaRPr lang="en-US" sz="1250" dirty="0"/>
          </a:p>
        </p:txBody>
      </p:sp>
      <p:sp>
        <p:nvSpPr>
          <p:cNvPr id="16" name="Text 14"/>
          <p:cNvSpPr/>
          <p:nvPr/>
        </p:nvSpPr>
        <p:spPr>
          <a:xfrm>
            <a:off x="3337560" y="3931920"/>
            <a:ext cx="7818120" cy="621792"/>
          </a:xfrm>
          <a:prstGeom prst="rect">
            <a:avLst/>
          </a:prstGeom>
          <a:noFill/>
          <a:ln/>
        </p:spPr>
        <p:txBody>
          <a:bodyPr wrap="square" lIns="0" tIns="0" rIns="0" bIns="0" rtlCol="0" anchor="ctr"/>
          <a:lstStyle/>
          <a:p>
            <a:pPr indent="0" marL="0">
              <a:lnSpc>
                <a:spcPct val="100000"/>
              </a:lnSpc>
              <a:buNone/>
            </a:pPr>
            <a:r>
              <a:rPr lang="en-US" sz="1100" dirty="0">
                <a:solidFill>
                  <a:srgbClr val="C3D7EE"/>
                </a:solidFill>
                <a:latin typeface="Poppins" pitchFamily="34" charset="0"/>
                <a:ea typeface="Poppins" pitchFamily="34" charset="-122"/>
                <a:cs typeface="Poppins" pitchFamily="34" charset="-120"/>
              </a:rPr>
              <a:t>A progress report is written straight into dscheck.einfo, naming the elapsed time and the tar files left to build and to transfer. The run does not stop.</a:t>
            </a:r>
            <a:endParaRPr lang="en-US" sz="1100" dirty="0"/>
          </a:p>
        </p:txBody>
      </p:sp>
      <p:sp>
        <p:nvSpPr>
          <p:cNvPr id="17" name="Shape 15"/>
          <p:cNvSpPr/>
          <p:nvPr/>
        </p:nvSpPr>
        <p:spPr>
          <a:xfrm>
            <a:off x="822960" y="4617720"/>
            <a:ext cx="10515600" cy="621792"/>
          </a:xfrm>
          <a:prstGeom prst="roundRect">
            <a:avLst>
              <a:gd name="adj" fmla="val 10294"/>
            </a:avLst>
          </a:prstGeom>
          <a:solidFill>
            <a:srgbClr val="0B2A63"/>
          </a:solidFill>
          <a:ln w="12700">
            <a:solidFill>
              <a:srgbClr val="2C4E7D"/>
            </a:solidFill>
            <a:prstDash val="solid"/>
          </a:ln>
        </p:spPr>
      </p:sp>
      <p:sp>
        <p:nvSpPr>
          <p:cNvPr id="18" name="Text 16"/>
          <p:cNvSpPr/>
          <p:nvPr/>
        </p:nvSpPr>
        <p:spPr>
          <a:xfrm>
            <a:off x="1005840" y="4617720"/>
            <a:ext cx="2286000" cy="621792"/>
          </a:xfrm>
          <a:prstGeom prst="rect">
            <a:avLst/>
          </a:prstGeom>
          <a:noFill/>
          <a:ln/>
        </p:spPr>
        <p:txBody>
          <a:bodyPr wrap="square" lIns="0" tIns="0" rIns="0" bIns="0" rtlCol="0" anchor="ctr"/>
          <a:lstStyle/>
          <a:p>
            <a:pPr indent="0" marL="0">
              <a:buNone/>
            </a:pPr>
            <a:r>
              <a:rPr lang="en-US" sz="1250" b="1" dirty="0">
                <a:solidFill>
                  <a:srgbClr val="42C0FF"/>
                </a:solidFill>
                <a:latin typeface="Poppins" pitchFamily="34" charset="0"/>
                <a:ea typeface="Poppins" pitchFamily="34" charset="-122"/>
                <a:cs typeface="Poppins" pitchFamily="34" charset="-120"/>
              </a:rPr>
              <a:t>If PBS kills the job</a:t>
            </a:r>
            <a:endParaRPr lang="en-US" sz="1250" dirty="0"/>
          </a:p>
        </p:txBody>
      </p:sp>
      <p:sp>
        <p:nvSpPr>
          <p:cNvPr id="19" name="Text 17"/>
          <p:cNvSpPr/>
          <p:nvPr/>
        </p:nvSpPr>
        <p:spPr>
          <a:xfrm>
            <a:off x="3337560" y="4617720"/>
            <a:ext cx="7818120" cy="621792"/>
          </a:xfrm>
          <a:prstGeom prst="rect">
            <a:avLst/>
          </a:prstGeom>
          <a:noFill/>
          <a:ln/>
        </p:spPr>
        <p:txBody>
          <a:bodyPr wrap="square" lIns="0" tIns="0" rIns="0" bIns="0" rtlCol="0" anchor="ctr"/>
          <a:lstStyle/>
          <a:p>
            <a:pPr indent="0" marL="0">
              <a:lnSpc>
                <a:spcPct val="100000"/>
              </a:lnSpc>
              <a:buNone/>
            </a:pPr>
            <a:r>
              <a:rPr lang="en-US" sz="1100" dirty="0">
                <a:solidFill>
                  <a:srgbClr val="C3D7EE"/>
                </a:solidFill>
                <a:latin typeface="Poppins" pitchFamily="34" charset="0"/>
                <a:ea typeface="Poppins" pitchFamily="34" charset="-122"/>
                <a:cs typeface="Poppins" pitchFamily="34" charset="-120"/>
              </a:rPr>
              <a:t>The daemon unlocks the dead record, finds einfo filled in, mails it and clears it. An overrun is reported instead of silent.</a:t>
            </a:r>
            <a:endParaRPr lang="en-US" sz="1100" dirty="0"/>
          </a:p>
        </p:txBody>
      </p:sp>
      <p:sp>
        <p:nvSpPr>
          <p:cNvPr id="20" name="Shape 18"/>
          <p:cNvSpPr/>
          <p:nvPr/>
        </p:nvSpPr>
        <p:spPr>
          <a:xfrm>
            <a:off x="822960" y="5303520"/>
            <a:ext cx="10515600" cy="621792"/>
          </a:xfrm>
          <a:prstGeom prst="roundRect">
            <a:avLst>
              <a:gd name="adj" fmla="val 10294"/>
            </a:avLst>
          </a:prstGeom>
          <a:solidFill>
            <a:srgbClr val="0B2A63"/>
          </a:solidFill>
          <a:ln w="12700">
            <a:solidFill>
              <a:srgbClr val="2C4E7D"/>
            </a:solidFill>
            <a:prstDash val="solid"/>
          </a:ln>
        </p:spPr>
      </p:sp>
      <p:sp>
        <p:nvSpPr>
          <p:cNvPr id="21" name="Text 19"/>
          <p:cNvSpPr/>
          <p:nvPr/>
        </p:nvSpPr>
        <p:spPr>
          <a:xfrm>
            <a:off x="1005840" y="5303520"/>
            <a:ext cx="2286000" cy="621792"/>
          </a:xfrm>
          <a:prstGeom prst="rect">
            <a:avLst/>
          </a:prstGeom>
          <a:noFill/>
          <a:ln/>
        </p:spPr>
        <p:txBody>
          <a:bodyPr wrap="square" lIns="0" tIns="0" rIns="0" bIns="0" rtlCol="0" anchor="ctr"/>
          <a:lstStyle/>
          <a:p>
            <a:pPr indent="0" marL="0">
              <a:buNone/>
            </a:pPr>
            <a:r>
              <a:rPr lang="en-US" sz="1250" b="1" dirty="0">
                <a:solidFill>
                  <a:srgbClr val="42C0FF"/>
                </a:solidFill>
                <a:latin typeface="Poppins" pitchFamily="34" charset="0"/>
                <a:ea typeface="Poppins" pitchFamily="34" charset="-122"/>
                <a:cs typeface="Poppins" pitchFamily="34" charset="-120"/>
              </a:rPr>
              <a:t>If the run finishes</a:t>
            </a:r>
            <a:endParaRPr lang="en-US" sz="1250" dirty="0"/>
          </a:p>
        </p:txBody>
      </p:sp>
      <p:sp>
        <p:nvSpPr>
          <p:cNvPr id="22" name="Text 20"/>
          <p:cNvSpPr/>
          <p:nvPr/>
        </p:nvSpPr>
        <p:spPr>
          <a:xfrm>
            <a:off x="3337560" y="5303520"/>
            <a:ext cx="7818120" cy="621792"/>
          </a:xfrm>
          <a:prstGeom prst="rect">
            <a:avLst/>
          </a:prstGeom>
          <a:noFill/>
          <a:ln/>
        </p:spPr>
        <p:txBody>
          <a:bodyPr wrap="square" lIns="0" tIns="0" rIns="0" bIns="0" rtlCol="0" anchor="ctr"/>
          <a:lstStyle/>
          <a:p>
            <a:pPr indent="0" marL="0">
              <a:lnSpc>
                <a:spcPct val="100000"/>
              </a:lnSpc>
              <a:buNone/>
            </a:pPr>
            <a:r>
              <a:rPr lang="en-US" sz="1100" dirty="0">
                <a:solidFill>
                  <a:srgbClr val="C3D7EE"/>
                </a:solidFill>
                <a:latin typeface="Poppins" pitchFamily="34" charset="0"/>
                <a:ea typeface="Poppins" pitchFamily="34" charset="-122"/>
                <a:cs typeface="Poppins" pitchFamily="34" charset="-120"/>
              </a:rPr>
              <a:t>The full report overwrites the cached one in einfo, so exactly one mail goes out — the complete one.</a:t>
            </a:r>
            <a:endParaRPr lang="en-US" sz="1100" dirty="0"/>
          </a:p>
        </p:txBody>
      </p:sp>
      <p:sp>
        <p:nvSpPr>
          <p:cNvPr id="23" name="Text 21"/>
          <p:cNvSpPr/>
          <p:nvPr/>
        </p:nvSpPr>
        <p:spPr>
          <a:xfrm>
            <a:off x="822960" y="6007608"/>
            <a:ext cx="10515600" cy="320040"/>
          </a:xfrm>
          <a:prstGeom prst="rect">
            <a:avLst/>
          </a:prstGeom>
          <a:noFill/>
          <a:ln/>
        </p:spPr>
        <p:txBody>
          <a:bodyPr wrap="square" lIns="0" tIns="0" rIns="0" bIns="0" rtlCol="0" anchor="ctr"/>
          <a:lstStyle/>
          <a:p>
            <a:pPr indent="0" marL="0">
              <a:buNone/>
            </a:pPr>
            <a:r>
              <a:rPr lang="en-US" sz="1100" i="1" dirty="0">
                <a:solidFill>
                  <a:srgbClr val="97999B"/>
                </a:solidFill>
                <a:latin typeface="Poppins" pitchFamily="34" charset="0"/>
                <a:ea typeface="Poppins" pitchFamily="34" charset="-122"/>
                <a:cs typeface="Poppins" pitchFamily="34" charset="-120"/>
              </a:rPr>
              <a:t>The guard only runs inside a real batch job under dscheck with -e; a foreground run mails its report directly.</a:t>
            </a:r>
            <a:endParaRPr lang="en-US" sz="1100" dirty="0"/>
          </a:p>
        </p:txBody>
      </p:sp>
      <p:sp>
        <p:nvSpPr>
          <p:cNvPr id="24" name="Text 22"/>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20</a:t>
            </a:r>
            <a:endParaRPr lang="en-US" sz="950" dirty="0"/>
          </a:p>
        </p:txBody>
      </p:sp>
      <p:sp>
        <p:nvSpPr>
          <p:cNvPr id="25" name="Text 23"/>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2DB"/>
                </a:solidFill>
                <a:latin typeface="Poppins" pitchFamily="34" charset="0"/>
                <a:ea typeface="Poppins" pitchFamily="34" charset="-122"/>
                <a:cs typeface="Poppins" pitchFamily="34" charset="-120"/>
              </a:rPr>
              <a:t>WORKER SLOTS</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-W / -w  —  When One Batch Job Hangs</a:t>
            </a:r>
            <a:endParaRPr lang="en-US" sz="3200" dirty="0"/>
          </a:p>
        </p:txBody>
      </p:sp>
      <p:sp>
        <p:nvSpPr>
          <p:cNvPr id="4" name="Text 2"/>
          <p:cNvSpPr/>
          <p:nvPr/>
        </p:nvSpPr>
        <p:spPr>
          <a:xfrm>
            <a:off x="457200" y="1444752"/>
            <a:ext cx="11292840" cy="566928"/>
          </a:xfrm>
          <a:prstGeom prst="rect">
            <a:avLst/>
          </a:prstGeom>
          <a:noFill/>
          <a:ln/>
        </p:spPr>
        <p:txBody>
          <a:bodyPr wrap="square" lIns="0" tIns="0" rIns="0" bIns="0" rtlCol="0" anchor="t"/>
          <a:lstStyle/>
          <a:p>
            <a:pPr indent="0" marL="0">
              <a:lnSpc>
                <a:spcPct val="110000"/>
              </a:lnSpc>
              <a:buNone/>
            </a:pPr>
            <a:r>
              <a:rPr lang="en-US" sz="1400" dirty="0">
                <a:solidFill>
                  <a:srgbClr val="00357A"/>
                </a:solidFill>
                <a:latin typeface="Poppins" pitchFamily="34" charset="0"/>
                <a:ea typeface="Poppins" pitchFamily="34" charset="-122"/>
                <a:cs typeface="Poppins" pitchFamily="34" charset="-120"/>
              </a:rPr>
              <a:t>The -A 3 gather runs from cron several times a day, so a crashed job restarts quickly — dead locks are taken over and dscheck retries. The gap was a job that is alive but too slow to finish: it holds the duplicate key and every later cron line simply blocks.</a:t>
            </a:r>
            <a:endParaRPr lang="en-US" sz="1400" dirty="0"/>
          </a:p>
        </p:txBody>
      </p:sp>
      <p:sp>
        <p:nvSpPr>
          <p:cNvPr id="5" name="Text 3"/>
          <p:cNvSpPr/>
          <p:nvPr/>
        </p:nvSpPr>
        <p:spPr>
          <a:xfrm>
            <a:off x="457200" y="2148840"/>
            <a:ext cx="5532120" cy="320040"/>
          </a:xfrm>
          <a:prstGeom prst="rect">
            <a:avLst/>
          </a:prstGeom>
          <a:noFill/>
          <a:ln/>
        </p:spPr>
        <p:txBody>
          <a:bodyPr wrap="square" lIns="0" tIns="0" rIns="0" bIns="0" rtlCol="0" anchor="ctr"/>
          <a:lstStyle/>
          <a:p>
            <a:pPr indent="0" marL="0">
              <a:buNone/>
            </a:pPr>
            <a:r>
              <a:rPr lang="en-US" sz="1500" b="1" dirty="0">
                <a:solidFill>
                  <a:srgbClr val="0057C2"/>
                </a:solidFill>
                <a:latin typeface="Poppins" pitchFamily="34" charset="0"/>
                <a:ea typeface="Poppins" pitchFamily="34" charset="-122"/>
                <a:cs typeface="Poppins" pitchFamily="34" charset="-120"/>
              </a:rPr>
              <a:t>Stall test</a:t>
            </a:r>
            <a:endParaRPr lang="en-US" sz="1500" dirty="0"/>
          </a:p>
        </p:txBody>
      </p:sp>
      <p:sp>
        <p:nvSpPr>
          <p:cNvPr id="6" name="Text 4"/>
          <p:cNvSpPr/>
          <p:nvPr/>
        </p:nvSpPr>
        <p:spPr>
          <a:xfrm>
            <a:off x="457200" y="2468880"/>
            <a:ext cx="5532120" cy="292608"/>
          </a:xfrm>
          <a:prstGeom prst="rect">
            <a:avLst/>
          </a:prstGeom>
          <a:noFill/>
          <a:ln/>
        </p:spPr>
        <p:txBody>
          <a:bodyPr wrap="square" lIns="0" tIns="0" rIns="0" bIns="0" rtlCol="0" anchor="ctr"/>
          <a:lstStyle/>
          <a:p>
            <a:pPr indent="0" marL="0">
              <a:buNone/>
            </a:pPr>
            <a:r>
              <a:rPr lang="en-US" sz="1150" dirty="0">
                <a:solidFill>
                  <a:srgbClr val="53565A"/>
                </a:solidFill>
                <a:latin typeface="Poppins" pitchFamily="34" charset="0"/>
                <a:ea typeface="Poppins" pitchFamily="34" charset="-122"/>
                <a:cs typeface="Poppins" pitchFamily="34" charset="-120"/>
              </a:rPr>
              <a:t>A repeat submit inspects the running job. Either way counts as stalled:</a:t>
            </a:r>
            <a:endParaRPr lang="en-US" sz="1150" dirty="0"/>
          </a:p>
        </p:txBody>
      </p:sp>
      <p:sp>
        <p:nvSpPr>
          <p:cNvPr id="7" name="Shape 5"/>
          <p:cNvSpPr/>
          <p:nvPr/>
        </p:nvSpPr>
        <p:spPr>
          <a:xfrm>
            <a:off x="457200" y="2788920"/>
            <a:ext cx="5532120" cy="960120"/>
          </a:xfrm>
          <a:prstGeom prst="roundRect">
            <a:avLst>
              <a:gd name="adj" fmla="val 4762"/>
            </a:avLst>
          </a:prstGeom>
          <a:solidFill>
            <a:srgbClr val="011837"/>
          </a:solidFill>
          <a:ln/>
        </p:spPr>
      </p:sp>
      <p:sp>
        <p:nvSpPr>
          <p:cNvPr id="8" name="Text 6"/>
          <p:cNvSpPr/>
          <p:nvPr/>
        </p:nvSpPr>
        <p:spPr>
          <a:xfrm>
            <a:off x="585216" y="2788920"/>
            <a:ext cx="5276088" cy="960120"/>
          </a:xfrm>
          <a:prstGeom prst="rect">
            <a:avLst/>
          </a:prstGeom>
          <a:noFill/>
          <a:ln/>
        </p:spPr>
        <p:txBody>
          <a:bodyPr wrap="square" lIns="0" tIns="0" rIns="0" bIns="0" rtlCol="0" anchor="ctr"/>
          <a:lstStyle/>
          <a:p>
            <a:pPr indent="0" marL="0">
              <a:lnSpc>
                <a:spcPct val="100000"/>
              </a:lnSpc>
              <a:buNone/>
            </a:pPr>
            <a:r>
              <a:rPr lang="en-US" sz="1200" dirty="0">
                <a:solidFill>
                  <a:srgbClr val="0097A7"/>
                </a:solidFill>
                <a:latin typeface="Courier New" pitchFamily="34" charset="0"/>
                <a:ea typeface="Courier New" pitchFamily="34" charset="-122"/>
                <a:cs typeface="Courier New" pitchFamily="34" charset="-120"/>
              </a:rPr>
              <a:t>runtime &gt; WORKGRACE (1 hour) and</a:t>
            </a:r>
            <a:endParaRPr lang="en-US" sz="1200" dirty="0"/>
          </a:p>
          <a:p>
            <a:pPr indent="0" marL="0">
              <a:lnSpc>
                <a:spcPct val="100000"/>
              </a:lnSpc>
              <a:buNone/>
            </a:pPr>
            <a:r>
              <a:rPr lang="en-US" sz="1200" dirty="0">
                <a:solidFill>
                  <a:srgbClr val="0097A7"/>
                </a:solidFill>
                <a:latin typeface="Courier New" pitchFamily="34" charset="0"/>
                <a:ea typeface="Courier New" pitchFamily="34" charset="-122"/>
                <a:cs typeface="Courier New" pitchFamily="34" charset="-120"/>
              </a:rPr>
              <a:t>   done rate x walltime &lt; MINWPROJ (150 %)</a:t>
            </a:r>
            <a:endParaRPr lang="en-US" sz="1200" dirty="0"/>
          </a:p>
          <a:p>
            <a:pPr indent="0" marL="0">
              <a:lnSpc>
                <a:spcPct val="100000"/>
              </a:lnSpc>
              <a:buNone/>
            </a:pPr>
            <a:r>
              <a:rPr lang="en-US" sz="1200" dirty="0">
                <a:solidFill>
                  <a:srgbClr val="0097A7"/>
                </a:solidFill>
                <a:latin typeface="Courier New" pitchFamily="34" charset="0"/>
                <a:ea typeface="Courier New" pitchFamily="34" charset="-122"/>
                <a:cs typeface="Courier New" pitchFamily="34" charset="-120"/>
              </a:rPr>
              <a:t>runtime &gt; GATHGRACE (2 hours) and dcount = 0</a:t>
            </a:r>
            <a:endParaRPr lang="en-US" sz="1200" dirty="0"/>
          </a:p>
        </p:txBody>
      </p:sp>
      <p:sp>
        <p:nvSpPr>
          <p:cNvPr id="9" name="Text 7"/>
          <p:cNvSpPr/>
          <p:nvPr/>
        </p:nvSpPr>
        <p:spPr>
          <a:xfrm>
            <a:off x="457200" y="3840480"/>
            <a:ext cx="5532120" cy="566928"/>
          </a:xfrm>
          <a:prstGeom prst="rect">
            <a:avLst/>
          </a:prstGeom>
          <a:noFill/>
          <a:ln/>
        </p:spPr>
        <p:txBody>
          <a:bodyPr wrap="square" lIns="0" tIns="0" rIns="0" bIns="0" rtlCol="0" anchor="t"/>
          <a:lstStyle/>
          <a:p>
            <a:pPr indent="0" marL="0">
              <a:lnSpc>
                <a:spcPct val="105000"/>
              </a:lnSpc>
              <a:buNone/>
            </a:pPr>
            <a:r>
              <a:rPr lang="en-US" sz="1150" dirty="0">
                <a:solidFill>
                  <a:srgbClr val="00357A"/>
                </a:solidFill>
                <a:latin typeface="Poppins" pitchFamily="34" charset="0"/>
                <a:ea typeface="Poppins" pitchFamily="34" charset="-122"/>
                <a:cs typeface="Poppins" pitchFamily="34" charset="-120"/>
              </a:rPr>
              <a:t>A job that is not well on its way to finishing its recorded work this attempt is treated as stalled, and the next cron submit adds an extra worker alongside it — up to -W MaxWorkers, default 2.</a:t>
            </a:r>
            <a:endParaRPr lang="en-US" sz="1150" dirty="0"/>
          </a:p>
        </p:txBody>
      </p:sp>
      <p:sp>
        <p:nvSpPr>
          <p:cNvPr id="10" name="Shape 8"/>
          <p:cNvSpPr/>
          <p:nvPr/>
        </p:nvSpPr>
        <p:spPr>
          <a:xfrm>
            <a:off x="457200" y="4480560"/>
            <a:ext cx="5532120" cy="411480"/>
          </a:xfrm>
          <a:prstGeom prst="roundRect">
            <a:avLst>
              <a:gd name="adj" fmla="val 11111"/>
            </a:avLst>
          </a:prstGeom>
          <a:solidFill>
            <a:srgbClr val="011837"/>
          </a:solidFill>
          <a:ln/>
        </p:spPr>
      </p:sp>
      <p:sp>
        <p:nvSpPr>
          <p:cNvPr id="11" name="Text 9"/>
          <p:cNvSpPr/>
          <p:nvPr/>
        </p:nvSpPr>
        <p:spPr>
          <a:xfrm>
            <a:off x="585216" y="4480560"/>
            <a:ext cx="5276088" cy="411480"/>
          </a:xfrm>
          <a:prstGeom prst="rect">
            <a:avLst/>
          </a:prstGeom>
          <a:noFill/>
          <a:ln/>
        </p:spPr>
        <p:txBody>
          <a:bodyPr wrap="square" lIns="0" tIns="0" rIns="0" bIns="0" rtlCol="0" anchor="ctr"/>
          <a:lstStyle/>
          <a:p>
            <a:pPr indent="0" marL="0">
              <a:lnSpc>
                <a:spcPct val="100000"/>
              </a:lnSpc>
              <a:buNone/>
            </a:pPr>
            <a:r>
              <a:rPr lang="en-US" sz="1250" dirty="0">
                <a:solidFill>
                  <a:srgbClr val="0097A7"/>
                </a:solidFill>
                <a:latin typeface="Courier New" pitchFamily="34" charset="0"/>
                <a:ea typeface="Courier New" pitchFamily="34" charset="-122"/>
                <a:cs typeface="Courier New" pitchFamily="34" charset="-120"/>
              </a:rPr>
              <a:t>dsquasar -a -A 3 -b -d PBS -W 2</a:t>
            </a:r>
            <a:endParaRPr lang="en-US" sz="1250" dirty="0"/>
          </a:p>
        </p:txBody>
      </p:sp>
      <p:sp>
        <p:nvSpPr>
          <p:cNvPr id="12" name="Shape 10"/>
          <p:cNvSpPr/>
          <p:nvPr/>
        </p:nvSpPr>
        <p:spPr>
          <a:xfrm>
            <a:off x="457200" y="5029200"/>
            <a:ext cx="5532120" cy="978408"/>
          </a:xfrm>
          <a:prstGeom prst="roundRect">
            <a:avLst>
              <a:gd name="adj" fmla="val 7477"/>
            </a:avLst>
          </a:prstGeom>
          <a:solidFill>
            <a:srgbClr val="C7E4F5"/>
          </a:solidFill>
          <a:ln w="12700">
            <a:solidFill>
              <a:srgbClr val="A9D6F2"/>
            </a:solidFill>
            <a:prstDash val="solid"/>
          </a:ln>
        </p:spPr>
      </p:sp>
      <p:sp>
        <p:nvSpPr>
          <p:cNvPr id="13" name="Text 11"/>
          <p:cNvSpPr/>
          <p:nvPr/>
        </p:nvSpPr>
        <p:spPr>
          <a:xfrm>
            <a:off x="640080" y="5029200"/>
            <a:ext cx="5166360" cy="978408"/>
          </a:xfrm>
          <a:prstGeom prst="rect">
            <a:avLst/>
          </a:prstGeom>
          <a:noFill/>
          <a:ln/>
        </p:spPr>
        <p:txBody>
          <a:bodyPr wrap="square" lIns="0" tIns="0" rIns="0" bIns="0" rtlCol="0" anchor="ctr"/>
          <a:lstStyle/>
          <a:p>
            <a:pPr indent="0" marL="0">
              <a:lnSpc>
                <a:spcPct val="105000"/>
              </a:lnSpc>
              <a:buNone/>
            </a:pPr>
            <a:r>
              <a:rPr lang="en-US" sz="1100" b="1" dirty="0">
                <a:solidFill>
                  <a:srgbClr val="0057C2"/>
                </a:solidFill>
                <a:latin typeface="Poppins" pitchFamily="34" charset="0"/>
                <a:ea typeface="Poppins" pitchFamily="34" charset="-122"/>
                <a:cs typeface="Poppins" pitchFamily="34" charset="-120"/>
              </a:rPr>
              <a:t>Pinned to a single worker when locking is off.  </a:t>
            </a:r>
            <a:pPr indent="0" marL="0">
              <a:lnSpc>
                <a:spcPct val="105000"/>
              </a:lnSpc>
              <a:buNone/>
            </a:pPr>
            <a:r>
              <a:rPr lang="en-US" sz="1100" dirty="0">
                <a:solidFill>
                  <a:srgbClr val="00357A"/>
                </a:solidFill>
                <a:latin typeface="Poppins" pitchFamily="34" charset="0"/>
                <a:ea typeface="Poppins" pitchFamily="34" charset="-122"/>
                <a:cs typeface="Poppins" pitchFamily="34" charset="-120"/>
              </a:rPr>
              <a:t>Extra workers rely on dataset locks to stay off each other's files, so -l N and the transfer actions (-A 4, 6, 7) always run one worker.</a:t>
            </a:r>
            <a:endParaRPr lang="en-US" sz="1100" dirty="0"/>
          </a:p>
        </p:txBody>
      </p:sp>
      <p:sp>
        <p:nvSpPr>
          <p:cNvPr id="14" name="Text 12"/>
          <p:cNvSpPr/>
          <p:nvPr/>
        </p:nvSpPr>
        <p:spPr>
          <a:xfrm>
            <a:off x="6309360" y="2148840"/>
            <a:ext cx="5440680" cy="320040"/>
          </a:xfrm>
          <a:prstGeom prst="rect">
            <a:avLst/>
          </a:prstGeom>
          <a:noFill/>
          <a:ln/>
        </p:spPr>
        <p:txBody>
          <a:bodyPr wrap="square" lIns="0" tIns="0" rIns="0" bIns="0" rtlCol="0" anchor="ctr"/>
          <a:lstStyle/>
          <a:p>
            <a:pPr indent="0" marL="0">
              <a:buNone/>
            </a:pPr>
            <a:r>
              <a:rPr lang="en-US" sz="1500" b="1" dirty="0">
                <a:solidFill>
                  <a:srgbClr val="0057C2"/>
                </a:solidFill>
                <a:latin typeface="Poppins" pitchFamily="34" charset="0"/>
                <a:ea typeface="Poppins" pitchFamily="34" charset="-122"/>
                <a:cs typeface="Poppins" pitchFamily="34" charset="-120"/>
              </a:rPr>
              <a:t>Slot numbering and direction</a:t>
            </a:r>
            <a:endParaRPr lang="en-US" sz="1500" dirty="0"/>
          </a:p>
        </p:txBody>
      </p:sp>
      <p:sp>
        <p:nvSpPr>
          <p:cNvPr id="15" name="Text 13"/>
          <p:cNvSpPr/>
          <p:nvPr/>
        </p:nvSpPr>
        <p:spPr>
          <a:xfrm>
            <a:off x="6309360" y="2468880"/>
            <a:ext cx="5440680" cy="566928"/>
          </a:xfrm>
          <a:prstGeom prst="rect">
            <a:avLst/>
          </a:prstGeom>
          <a:noFill/>
          <a:ln/>
        </p:spPr>
        <p:txBody>
          <a:bodyPr wrap="square" lIns="0" tIns="0" rIns="0" bIns="0" rtlCol="0" anchor="t"/>
          <a:lstStyle/>
          <a:p>
            <a:pPr indent="0" marL="0">
              <a:lnSpc>
                <a:spcPct val="105000"/>
              </a:lnSpc>
              <a:buNone/>
            </a:pPr>
            <a:r>
              <a:rPr lang="en-US" sz="1150" dirty="0">
                <a:solidFill>
                  <a:srgbClr val="53565A"/>
                </a:solidFill>
                <a:latin typeface="Poppins" pitchFamily="34" charset="0"/>
                <a:ea typeface="Poppins" pitchFamily="34" charset="-122"/>
                <a:cs typeface="Poppins" pitchFamily="34" charset="-120"/>
              </a:rPr>
              <a:t>-w N is appended to the extra worker's own command line. Since argv is the only differing key field, that gives it a dscheck record of its own instead of colliding with slot 1.</a:t>
            </a:r>
            <a:endParaRPr lang="en-US" sz="11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309360" y="3127248"/>
          <a:ext cx="5440680" cy="914400"/>
        </p:xfrm>
        <a:graphic>
          <a:graphicData uri="http://schemas.openxmlformats.org/drawingml/2006/table">
            <a:tbl>
              <a:tblPr/>
              <a:tblGrid>
                <a:gridCol w="1234440"/>
                <a:gridCol w="4206240"/>
              </a:tblGrid>
              <a:tr h="365760">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Slot</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57C2"/>
                    </a:solidFill>
                  </a:tcPr>
                </a:tc>
                <a:tc>
                  <a:txBody>
                    <a:bodyPr/>
                    <a:lstStyle/>
                    <a:p>
                      <a:pPr indent="0" marL="0">
                        <a:buNone/>
                      </a:pPr>
                      <a:r>
                        <a:rPr lang="en-US" sz="1200" b="1" dirty="0">
                          <a:solidFill>
                            <a:srgbClr val="FFFFFF"/>
                          </a:solidFill>
                          <a:latin typeface="Poppins" pitchFamily="34" charset="0"/>
                          <a:ea typeface="Poppins" pitchFamily="34" charset="-122"/>
                          <a:cs typeface="Poppins" pitchFamily="34" charset="-120"/>
                        </a:rPr>
                        <a:t>Behaviour</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57C2"/>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slot 1</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plain argv — repeat cron still blocks as a duplicate</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odd</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Boreas datasets first, then Glade; dsid ascending</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even</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Glade datasets first, then Boreas; dsid descending</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bl>
          </a:graphicData>
        </a:graphic>
      </p:graphicFrame>
      <p:sp>
        <p:nvSpPr>
          <p:cNvPr id="17" name="Text 14"/>
          <p:cNvSpPr/>
          <p:nvPr/>
        </p:nvSpPr>
        <p:spPr>
          <a:xfrm>
            <a:off x="6309360" y="4709160"/>
            <a:ext cx="5440680" cy="457200"/>
          </a:xfrm>
          <a:prstGeom prst="rect">
            <a:avLst/>
          </a:prstGeom>
          <a:noFill/>
          <a:ln/>
        </p:spPr>
        <p:txBody>
          <a:bodyPr wrap="square" lIns="0" tIns="0" rIns="0" bIns="0" rtlCol="0" anchor="t"/>
          <a:lstStyle/>
          <a:p>
            <a:pPr indent="0" marL="0">
              <a:lnSpc>
                <a:spcPct val="105000"/>
              </a:lnSpc>
              <a:buNone/>
            </a:pPr>
            <a:r>
              <a:rPr lang="en-US" sz="1150" dirty="0">
                <a:solidFill>
                  <a:srgbClr val="00357A"/>
                </a:solidFill>
                <a:latin typeface="Poppins" pitchFamily="34" charset="0"/>
                <a:ea typeface="Poppins" pitchFamily="34" charset="-122"/>
                <a:cs typeface="Poppins" pitchFamily="34" charset="-120"/>
              </a:rPr>
              <a:t>A pair of workers starts on different storage and meets in the middle rather than fighting over the same dataset lock.</a:t>
            </a:r>
            <a:endParaRPr lang="en-US" sz="1150" dirty="0"/>
          </a:p>
        </p:txBody>
      </p:sp>
      <p:sp>
        <p:nvSpPr>
          <p:cNvPr id="18" name="Shape 15"/>
          <p:cNvSpPr/>
          <p:nvPr/>
        </p:nvSpPr>
        <p:spPr>
          <a:xfrm>
            <a:off x="6309360" y="5230368"/>
            <a:ext cx="5440680" cy="777240"/>
          </a:xfrm>
          <a:prstGeom prst="roundRect">
            <a:avLst>
              <a:gd name="adj" fmla="val 9412"/>
            </a:avLst>
          </a:prstGeom>
          <a:solidFill>
            <a:srgbClr val="011837"/>
          </a:solidFill>
          <a:ln/>
        </p:spPr>
      </p:sp>
      <p:sp>
        <p:nvSpPr>
          <p:cNvPr id="19" name="Text 16"/>
          <p:cNvSpPr/>
          <p:nvPr/>
        </p:nvSpPr>
        <p:spPr>
          <a:xfrm>
            <a:off x="6492240" y="5230368"/>
            <a:ext cx="5074920" cy="777240"/>
          </a:xfrm>
          <a:prstGeom prst="rect">
            <a:avLst/>
          </a:prstGeom>
          <a:noFill/>
          <a:ln/>
        </p:spPr>
        <p:txBody>
          <a:bodyPr wrap="square" lIns="0" tIns="0" rIns="0" bIns="0" rtlCol="0" anchor="ctr"/>
          <a:lstStyle/>
          <a:p>
            <a:pPr indent="0" marL="0">
              <a:lnSpc>
                <a:spcPct val="105000"/>
              </a:lnSpc>
              <a:buNone/>
            </a:pPr>
            <a:r>
              <a:rPr lang="en-US" sz="1100" b="1" dirty="0">
                <a:solidFill>
                  <a:srgbClr val="42C0FF"/>
                </a:solidFill>
                <a:latin typeface="Poppins" pitchFamily="34" charset="0"/>
                <a:ea typeface="Poppins" pitchFamily="34" charset="-122"/>
                <a:cs typeface="Poppins" pitchFamily="34" charset="-120"/>
              </a:rPr>
              <a:t>One huge dataset needs more processes.  </a:t>
            </a:r>
            <a:pPr indent="0" marL="0">
              <a:lnSpc>
                <a:spcPct val="105000"/>
              </a:lnSpc>
              <a:buNone/>
            </a:pPr>
            <a:r>
              <a:rPr lang="en-US" sz="1100" dirty="0">
                <a:solidFill>
                  <a:srgbClr val="C3D7EE"/>
                </a:solidFill>
                <a:latin typeface="Poppins" pitchFamily="34" charset="0"/>
                <a:ea typeface="Poppins" pitchFamily="34" charset="-122"/>
                <a:cs typeface="Poppins" pitchFamily="34" charset="-120"/>
              </a:rPr>
              <a:t>Locks are per dataset, so a second worker cannot help inside it; more tar processes (MPOLIMIT) do.</a:t>
            </a:r>
            <a:endParaRPr lang="en-US" sz="1100" dirty="0"/>
          </a:p>
        </p:txBody>
      </p:sp>
      <p:sp>
        <p:nvSpPr>
          <p:cNvPr id="20" name="Text 17"/>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21</a:t>
            </a:r>
            <a:endParaRPr lang="en-US" sz="950" dirty="0"/>
          </a:p>
        </p:txBody>
      </p:sp>
      <p:sp>
        <p:nvSpPr>
          <p:cNvPr id="21" name="Text 18"/>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7A7"/>
                </a:solidFill>
                <a:latin typeface="Poppins" pitchFamily="34" charset="0"/>
                <a:ea typeface="Poppins" pitchFamily="34" charset="-122"/>
                <a:cs typeface="Poppins" pitchFamily="34" charset="-120"/>
              </a:rPr>
              <a:t>LOCKING</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Keeping Two Runs Off the Same Files</a:t>
            </a:r>
            <a:endParaRPr lang="en-US" sz="3200" dirty="0"/>
          </a:p>
        </p:txBody>
      </p:sp>
      <p:sp>
        <p:nvSpPr>
          <p:cNvPr id="4" name="Text 2"/>
          <p:cNvSpPr/>
          <p:nvPr/>
        </p:nvSpPr>
        <p:spPr>
          <a:xfrm>
            <a:off x="457200" y="1444752"/>
            <a:ext cx="11292840" cy="548640"/>
          </a:xfrm>
          <a:prstGeom prst="rect">
            <a:avLst/>
          </a:prstGeom>
          <a:noFill/>
          <a:ln/>
        </p:spPr>
        <p:txBody>
          <a:bodyPr wrap="square" lIns="0" tIns="0" rIns="0" bIns="0" rtlCol="0" anchor="t"/>
          <a:lstStyle/>
          <a:p>
            <a:pPr indent="0" marL="0">
              <a:lnSpc>
                <a:spcPct val="110000"/>
              </a:lnSpc>
              <a:buNone/>
            </a:pPr>
            <a:r>
              <a:rPr lang="en-US" sz="1400" dirty="0">
                <a:solidFill>
                  <a:srgbClr val="00357A"/>
                </a:solidFill>
                <a:latin typeface="Poppins" pitchFamily="34" charset="0"/>
                <a:ea typeface="Poppins" pitchFamily="34" charset="-122"/>
                <a:cs typeface="Poppins" pitchFamily="34" charset="-120"/>
              </a:rPr>
              <a:t>Every mutual exclusion in dsquasar is a dataset lock — a pid and host stamped on the dataset record, claimed atomically and taken over automatically when the owning process is dead. There is no lock at the tar-file level.</a:t>
            </a:r>
            <a:endParaRPr lang="en-US" sz="1400" dirty="0"/>
          </a:p>
        </p:txBody>
      </p:sp>
      <p:sp>
        <p:nvSpPr>
          <p:cNvPr id="5" name="Shape 3"/>
          <p:cNvSpPr/>
          <p:nvPr/>
        </p:nvSpPr>
        <p:spPr>
          <a:xfrm>
            <a:off x="457200" y="2103120"/>
            <a:ext cx="2734056" cy="2331720"/>
          </a:xfrm>
          <a:prstGeom prst="roundRect">
            <a:avLst>
              <a:gd name="adj" fmla="val 3922"/>
            </a:avLst>
          </a:prstGeom>
          <a:solidFill>
            <a:srgbClr val="FFFFFF"/>
          </a:solidFill>
          <a:ln w="19050">
            <a:solidFill>
              <a:srgbClr val="0057C2"/>
            </a:solidFill>
            <a:prstDash val="solid"/>
          </a:ln>
        </p:spPr>
      </p:sp>
      <p:sp>
        <p:nvSpPr>
          <p:cNvPr id="6" name="Shape 4"/>
          <p:cNvSpPr/>
          <p:nvPr/>
        </p:nvSpPr>
        <p:spPr>
          <a:xfrm>
            <a:off x="457200" y="2103120"/>
            <a:ext cx="2734056" cy="91440"/>
          </a:xfrm>
          <a:prstGeom prst="roundRect">
            <a:avLst>
              <a:gd name="adj" fmla="val 30000"/>
            </a:avLst>
          </a:prstGeom>
          <a:solidFill>
            <a:srgbClr val="0057C2"/>
          </a:solidFill>
          <a:ln/>
        </p:spPr>
      </p:sp>
      <p:sp>
        <p:nvSpPr>
          <p:cNvPr id="7" name="Text 5"/>
          <p:cNvSpPr/>
          <p:nvPr/>
        </p:nvSpPr>
        <p:spPr>
          <a:xfrm>
            <a:off x="640080" y="2331720"/>
            <a:ext cx="2377440" cy="548640"/>
          </a:xfrm>
          <a:prstGeom prst="rect">
            <a:avLst/>
          </a:prstGeom>
          <a:noFill/>
          <a:ln/>
        </p:spPr>
        <p:txBody>
          <a:bodyPr wrap="square" lIns="0" tIns="0" rIns="0" bIns="0" rtlCol="0" anchor="t"/>
          <a:lstStyle/>
          <a:p>
            <a:pPr indent="0" marL="0">
              <a:buNone/>
            </a:pPr>
            <a:r>
              <a:rPr lang="en-US" sz="1350" b="1" dirty="0">
                <a:solidFill>
                  <a:srgbClr val="0057C2"/>
                </a:solidFill>
                <a:latin typeface="Poppins" pitchFamily="34" charset="0"/>
                <a:ea typeface="Poppins" pitchFamily="34" charset="-122"/>
                <a:cs typeface="Poppins" pitchFamily="34" charset="-120"/>
              </a:rPr>
              <a:t>Lock, then work</a:t>
            </a:r>
            <a:endParaRPr lang="en-US" sz="1350" dirty="0"/>
          </a:p>
        </p:txBody>
      </p:sp>
      <p:sp>
        <p:nvSpPr>
          <p:cNvPr id="8" name="Text 6"/>
          <p:cNvSpPr/>
          <p:nvPr/>
        </p:nvSpPr>
        <p:spPr>
          <a:xfrm>
            <a:off x="640080" y="2907792"/>
            <a:ext cx="2377440" cy="1417320"/>
          </a:xfrm>
          <a:prstGeom prst="rect">
            <a:avLst/>
          </a:prstGeom>
          <a:noFill/>
          <a:ln/>
        </p:spPr>
        <p:txBody>
          <a:bodyPr wrap="square" lIns="0" tIns="0" rIns="0" bIns="0" rtlCol="0" anchor="t"/>
          <a:lstStyle/>
          <a:p>
            <a:pPr indent="0" marL="0">
              <a:lnSpc>
                <a:spcPct val="105000"/>
              </a:lnSpc>
              <a:buNone/>
            </a:pPr>
            <a:r>
              <a:rPr lang="en-US" sz="1050" dirty="0">
                <a:solidFill>
                  <a:srgbClr val="53565A"/>
                </a:solidFill>
                <a:latin typeface="Poppins" pitchFamily="34" charset="0"/>
                <a:ea typeface="Poppins" pitchFamily="34" charset="-122"/>
                <a:cs typeface="Poppins" pitchFamily="34" charset="-120"/>
              </a:rPr>
              <a:t>The dataset is locked before its files are gathered or its tars are built, and unlocked as soon as that dataset is finished.</a:t>
            </a:r>
            <a:endParaRPr lang="en-US" sz="1050" dirty="0"/>
          </a:p>
        </p:txBody>
      </p:sp>
      <p:sp>
        <p:nvSpPr>
          <p:cNvPr id="9" name="Shape 7"/>
          <p:cNvSpPr/>
          <p:nvPr/>
        </p:nvSpPr>
        <p:spPr>
          <a:xfrm>
            <a:off x="3300984" y="2103120"/>
            <a:ext cx="2734056" cy="2331720"/>
          </a:xfrm>
          <a:prstGeom prst="roundRect">
            <a:avLst>
              <a:gd name="adj" fmla="val 3922"/>
            </a:avLst>
          </a:prstGeom>
          <a:solidFill>
            <a:srgbClr val="FFFFFF"/>
          </a:solidFill>
          <a:ln w="19050">
            <a:solidFill>
              <a:srgbClr val="0092DB"/>
            </a:solidFill>
            <a:prstDash val="solid"/>
          </a:ln>
        </p:spPr>
      </p:sp>
      <p:sp>
        <p:nvSpPr>
          <p:cNvPr id="10" name="Shape 8"/>
          <p:cNvSpPr/>
          <p:nvPr/>
        </p:nvSpPr>
        <p:spPr>
          <a:xfrm>
            <a:off x="3300984" y="2103120"/>
            <a:ext cx="2734056" cy="91440"/>
          </a:xfrm>
          <a:prstGeom prst="roundRect">
            <a:avLst>
              <a:gd name="adj" fmla="val 30000"/>
            </a:avLst>
          </a:prstGeom>
          <a:solidFill>
            <a:srgbClr val="0092DB"/>
          </a:solidFill>
          <a:ln/>
        </p:spPr>
      </p:sp>
      <p:sp>
        <p:nvSpPr>
          <p:cNvPr id="11" name="Text 9"/>
          <p:cNvSpPr/>
          <p:nvPr/>
        </p:nvSpPr>
        <p:spPr>
          <a:xfrm>
            <a:off x="3483864" y="2331720"/>
            <a:ext cx="2377440" cy="548640"/>
          </a:xfrm>
          <a:prstGeom prst="rect">
            <a:avLst/>
          </a:prstGeom>
          <a:noFill/>
          <a:ln/>
        </p:spPr>
        <p:txBody>
          <a:bodyPr wrap="square" lIns="0" tIns="0" rIns="0" bIns="0" rtlCol="0" anchor="t"/>
          <a:lstStyle/>
          <a:p>
            <a:pPr indent="0" marL="0">
              <a:buNone/>
            </a:pPr>
            <a:r>
              <a:rPr lang="en-US" sz="1350" b="1" dirty="0">
                <a:solidFill>
                  <a:srgbClr val="0092DB"/>
                </a:solidFill>
                <a:latin typeface="Poppins" pitchFamily="34" charset="0"/>
                <a:ea typeface="Poppins" pitchFamily="34" charset="-122"/>
                <a:cs typeface="Poppins" pitchFamily="34" charset="-120"/>
              </a:rPr>
              <a:t>Re-check under the lock</a:t>
            </a:r>
            <a:endParaRPr lang="en-US" sz="1350" dirty="0"/>
          </a:p>
        </p:txBody>
      </p:sp>
      <p:sp>
        <p:nvSpPr>
          <p:cNvPr id="12" name="Text 10"/>
          <p:cNvSpPr/>
          <p:nvPr/>
        </p:nvSpPr>
        <p:spPr>
          <a:xfrm>
            <a:off x="3483864" y="2907792"/>
            <a:ext cx="2377440" cy="1417320"/>
          </a:xfrm>
          <a:prstGeom prst="rect">
            <a:avLst/>
          </a:prstGeom>
          <a:noFill/>
          <a:ln/>
        </p:spPr>
        <p:txBody>
          <a:bodyPr wrap="square" lIns="0" tIns="0" rIns="0" bIns="0" rtlCol="0" anchor="t"/>
          <a:lstStyle/>
          <a:p>
            <a:pPr indent="0" marL="0">
              <a:lnSpc>
                <a:spcPct val="105000"/>
              </a:lnSpc>
              <a:buNone/>
            </a:pPr>
            <a:r>
              <a:rPr lang="en-US" sz="1050" dirty="0">
                <a:solidFill>
                  <a:srgbClr val="53565A"/>
                </a:solidFill>
                <a:latin typeface="Poppins" pitchFamily="34" charset="0"/>
                <a:ea typeface="Poppins" pitchFamily="34" charset="-122"/>
                <a:cs typeface="Poppins" pitchFamily="34" charset="-120"/>
              </a:rPr>
              <a:t>Work is listed before the lock is held, so the list can be hours old. Each candidate is re-read under the lock — still status 'N'? — before a tar is spent on it.</a:t>
            </a:r>
            <a:endParaRPr lang="en-US" sz="1050" dirty="0"/>
          </a:p>
        </p:txBody>
      </p:sp>
      <p:sp>
        <p:nvSpPr>
          <p:cNvPr id="13" name="Shape 11"/>
          <p:cNvSpPr/>
          <p:nvPr/>
        </p:nvSpPr>
        <p:spPr>
          <a:xfrm>
            <a:off x="6144768" y="2103120"/>
            <a:ext cx="2734056" cy="2331720"/>
          </a:xfrm>
          <a:prstGeom prst="roundRect">
            <a:avLst>
              <a:gd name="adj" fmla="val 3922"/>
            </a:avLst>
          </a:prstGeom>
          <a:solidFill>
            <a:srgbClr val="FFFFFF"/>
          </a:solidFill>
          <a:ln w="19050">
            <a:solidFill>
              <a:srgbClr val="0097A7"/>
            </a:solidFill>
            <a:prstDash val="solid"/>
          </a:ln>
        </p:spPr>
      </p:sp>
      <p:sp>
        <p:nvSpPr>
          <p:cNvPr id="14" name="Shape 12"/>
          <p:cNvSpPr/>
          <p:nvPr/>
        </p:nvSpPr>
        <p:spPr>
          <a:xfrm>
            <a:off x="6144768" y="2103120"/>
            <a:ext cx="2734056" cy="91440"/>
          </a:xfrm>
          <a:prstGeom prst="roundRect">
            <a:avLst>
              <a:gd name="adj" fmla="val 30000"/>
            </a:avLst>
          </a:prstGeom>
          <a:solidFill>
            <a:srgbClr val="0097A7"/>
          </a:solidFill>
          <a:ln/>
        </p:spPr>
      </p:sp>
      <p:sp>
        <p:nvSpPr>
          <p:cNvPr id="15" name="Text 13"/>
          <p:cNvSpPr/>
          <p:nvPr/>
        </p:nvSpPr>
        <p:spPr>
          <a:xfrm>
            <a:off x="6327648" y="2331720"/>
            <a:ext cx="2377440" cy="548640"/>
          </a:xfrm>
          <a:prstGeom prst="rect">
            <a:avLst/>
          </a:prstGeom>
          <a:noFill/>
          <a:ln/>
        </p:spPr>
        <p:txBody>
          <a:bodyPr wrap="square" lIns="0" tIns="0" rIns="0" bIns="0" rtlCol="0" anchor="t"/>
          <a:lstStyle/>
          <a:p>
            <a:pPr indent="0" marL="0">
              <a:buNone/>
            </a:pPr>
            <a:r>
              <a:rPr lang="en-US" sz="1350" b="1" dirty="0">
                <a:solidFill>
                  <a:srgbClr val="0097A7"/>
                </a:solidFill>
                <a:latin typeface="Poppins" pitchFamily="34" charset="0"/>
                <a:ea typeface="Poppins" pitchFamily="34" charset="-122"/>
                <a:cs typeface="Poppins" pitchFamily="34" charset="-120"/>
              </a:rPr>
              <a:t>Multi-dataset tars</a:t>
            </a:r>
            <a:endParaRPr lang="en-US" sz="1350" dirty="0"/>
          </a:p>
        </p:txBody>
      </p:sp>
      <p:sp>
        <p:nvSpPr>
          <p:cNvPr id="16" name="Text 14"/>
          <p:cNvSpPr/>
          <p:nvPr/>
        </p:nvSpPr>
        <p:spPr>
          <a:xfrm>
            <a:off x="6327648" y="2907792"/>
            <a:ext cx="2377440" cy="1417320"/>
          </a:xfrm>
          <a:prstGeom prst="rect">
            <a:avLst/>
          </a:prstGeom>
          <a:noFill/>
          <a:ln/>
        </p:spPr>
        <p:txBody>
          <a:bodyPr wrap="square" lIns="0" tIns="0" rIns="0" bIns="0" rtlCol="0" anchor="t"/>
          <a:lstStyle/>
          <a:p>
            <a:pPr indent="0" marL="0">
              <a:lnSpc>
                <a:spcPct val="105000"/>
              </a:lnSpc>
              <a:buNone/>
            </a:pPr>
            <a:r>
              <a:rPr lang="en-US" sz="1050" dirty="0">
                <a:solidFill>
                  <a:srgbClr val="53565A"/>
                </a:solidFill>
                <a:latin typeface="Poppins" pitchFamily="34" charset="0"/>
                <a:ea typeface="Poppins" pitchFamily="34" charset="-122"/>
                <a:cs typeface="Poppins" pitchFamily="34" charset="-120"/>
              </a:rPr>
              <a:t>One tar may hold files from many datasets. All are locked before tarring and released once it is dispatched; if any is held elsewhere, the tar waits.</a:t>
            </a:r>
            <a:endParaRPr lang="en-US" sz="1050" dirty="0"/>
          </a:p>
        </p:txBody>
      </p:sp>
      <p:sp>
        <p:nvSpPr>
          <p:cNvPr id="17" name="Shape 15"/>
          <p:cNvSpPr/>
          <p:nvPr/>
        </p:nvSpPr>
        <p:spPr>
          <a:xfrm>
            <a:off x="8988552" y="2103120"/>
            <a:ext cx="2734056" cy="2331720"/>
          </a:xfrm>
          <a:prstGeom prst="roundRect">
            <a:avLst>
              <a:gd name="adj" fmla="val 3922"/>
            </a:avLst>
          </a:prstGeom>
          <a:solidFill>
            <a:srgbClr val="FFFFFF"/>
          </a:solidFill>
          <a:ln w="19050">
            <a:solidFill>
              <a:srgbClr val="C25E00"/>
            </a:solidFill>
            <a:prstDash val="solid"/>
          </a:ln>
        </p:spPr>
      </p:sp>
      <p:sp>
        <p:nvSpPr>
          <p:cNvPr id="18" name="Shape 16"/>
          <p:cNvSpPr/>
          <p:nvPr/>
        </p:nvSpPr>
        <p:spPr>
          <a:xfrm>
            <a:off x="8988552" y="2103120"/>
            <a:ext cx="2734056" cy="91440"/>
          </a:xfrm>
          <a:prstGeom prst="roundRect">
            <a:avLst>
              <a:gd name="adj" fmla="val 30000"/>
            </a:avLst>
          </a:prstGeom>
          <a:solidFill>
            <a:srgbClr val="C25E00"/>
          </a:solidFill>
          <a:ln/>
        </p:spPr>
      </p:sp>
      <p:sp>
        <p:nvSpPr>
          <p:cNvPr id="19" name="Text 17"/>
          <p:cNvSpPr/>
          <p:nvPr/>
        </p:nvSpPr>
        <p:spPr>
          <a:xfrm>
            <a:off x="9171432" y="2331720"/>
            <a:ext cx="2377440" cy="548640"/>
          </a:xfrm>
          <a:prstGeom prst="rect">
            <a:avLst/>
          </a:prstGeom>
          <a:noFill/>
          <a:ln/>
        </p:spPr>
        <p:txBody>
          <a:bodyPr wrap="square" lIns="0" tIns="0" rIns="0" bIns="0" rtlCol="0" anchor="t"/>
          <a:lstStyle/>
          <a:p>
            <a:pPr indent="0" marL="0">
              <a:buNone/>
            </a:pPr>
            <a:r>
              <a:rPr lang="en-US" sz="1350" b="1" dirty="0">
                <a:solidFill>
                  <a:srgbClr val="C25E00"/>
                </a:solidFill>
                <a:latin typeface="Poppins" pitchFamily="34" charset="0"/>
                <a:ea typeface="Poppins" pitchFamily="34" charset="-122"/>
                <a:cs typeface="Poppins" pitchFamily="34" charset="-120"/>
              </a:rPr>
              <a:t>Tar names are safe</a:t>
            </a:r>
            <a:endParaRPr lang="en-US" sz="1350" dirty="0"/>
          </a:p>
        </p:txBody>
      </p:sp>
      <p:sp>
        <p:nvSpPr>
          <p:cNvPr id="20" name="Text 18"/>
          <p:cNvSpPr/>
          <p:nvPr/>
        </p:nvSpPr>
        <p:spPr>
          <a:xfrm>
            <a:off x="9171432" y="2907792"/>
            <a:ext cx="2377440" cy="1417320"/>
          </a:xfrm>
          <a:prstGeom prst="rect">
            <a:avLst/>
          </a:prstGeom>
          <a:noFill/>
          <a:ln/>
        </p:spPr>
        <p:txBody>
          <a:bodyPr wrap="square" lIns="0" tIns="0" rIns="0" bIns="0" rtlCol="0" anchor="t"/>
          <a:lstStyle/>
          <a:p>
            <a:pPr indent="0" marL="0">
              <a:lnSpc>
                <a:spcPct val="105000"/>
              </a:lnSpc>
              <a:buNone/>
            </a:pPr>
            <a:r>
              <a:rPr lang="en-US" sz="1050" dirty="0">
                <a:solidFill>
                  <a:srgbClr val="53565A"/>
                </a:solidFill>
                <a:latin typeface="Poppins" pitchFamily="34" charset="0"/>
                <a:ea typeface="Poppins" pitchFamily="34" charset="-122"/>
                <a:cs typeface="Poppins" pitchFamily="34" charset="-120"/>
              </a:rPr>
              <a:t>The predicted bid is only a guess. The insert uses AUTOID and the tar is renamed if the database returns a different id.</a:t>
            </a:r>
            <a:endParaRPr lang="en-US" sz="1050" dirty="0"/>
          </a:p>
        </p:txBody>
      </p:sp>
      <p:sp>
        <p:nvSpPr>
          <p:cNvPr id="21" name="Text 19"/>
          <p:cNvSpPr/>
          <p:nvPr/>
        </p:nvSpPr>
        <p:spPr>
          <a:xfrm>
            <a:off x="457200" y="4617720"/>
            <a:ext cx="11292840" cy="32004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Operator controls</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4956048"/>
          <a:ext cx="11292840" cy="914400"/>
        </p:xfrm>
        <a:graphic>
          <a:graphicData uri="http://schemas.openxmlformats.org/drawingml/2006/table">
            <a:tbl>
              <a:tblPr/>
              <a:tblGrid>
                <a:gridCol w="1371600"/>
                <a:gridCol w="9921240"/>
              </a:tblGrid>
              <a:tr h="365760">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Option</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7A7"/>
                    </a:solidFill>
                  </a:tcPr>
                </a:tc>
                <a:tc>
                  <a:txBody>
                    <a:bodyPr/>
                    <a:lstStyle/>
                    <a:p>
                      <a:pPr indent="0" marL="0">
                        <a:buNone/>
                      </a:pPr>
                      <a:r>
                        <a:rPr lang="en-US" sz="1200" b="1" dirty="0">
                          <a:solidFill>
                            <a:srgbClr val="FFFFFF"/>
                          </a:solidFill>
                          <a:latin typeface="Poppins" pitchFamily="34" charset="0"/>
                          <a:ea typeface="Poppins" pitchFamily="34" charset="-122"/>
                          <a:cs typeface="Poppins" pitchFamily="34" charset="-120"/>
                        </a:rPr>
                        <a:t>Effect</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7A7"/>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-l Y | -l N</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Lock datasets before backing them up. Y is the default; N skips locking entirely and forces a single worker.</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-u</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Clean up backup locks left behind on the named datasets. Dataset IDs are required — not valid with -a.</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bl>
          </a:graphicData>
        </a:graphic>
      </p:graphicFrame>
      <p:sp>
        <p:nvSpPr>
          <p:cNvPr id="23" name="Text 20"/>
          <p:cNvSpPr/>
          <p:nvPr/>
        </p:nvSpPr>
        <p:spPr>
          <a:xfrm>
            <a:off x="457200" y="6126480"/>
            <a:ext cx="11292840" cy="274320"/>
          </a:xfrm>
          <a:prstGeom prst="rect">
            <a:avLst/>
          </a:prstGeom>
          <a:noFill/>
          <a:ln/>
        </p:spPr>
        <p:txBody>
          <a:bodyPr wrap="square" lIns="0" tIns="0" rIns="0" bIns="0" rtlCol="0" anchor="ctr"/>
          <a:lstStyle/>
          <a:p>
            <a:pPr indent="0" marL="0">
              <a:buNone/>
            </a:pPr>
            <a:r>
              <a:rPr lang="en-US" sz="1100" i="1" dirty="0">
                <a:solidFill>
                  <a:srgbClr val="53565A"/>
                </a:solidFill>
                <a:latin typeface="Poppins" pitchFamily="34" charset="0"/>
                <a:ea typeface="Poppins" pitchFamily="34" charset="-122"/>
                <a:cs typeface="Poppins" pitchFamily="34" charset="-120"/>
              </a:rPr>
              <a:t>Locks left by a killed process are reclaimed automatically; -u is for the cases where you want them gone now.</a:t>
            </a:r>
            <a:endParaRPr lang="en-US" sz="1100" dirty="0"/>
          </a:p>
        </p:txBody>
      </p:sp>
      <p:sp>
        <p:nvSpPr>
          <p:cNvPr id="24" name="Text 21"/>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22</a:t>
            </a:r>
            <a:endParaRPr lang="en-US" sz="950" dirty="0"/>
          </a:p>
        </p:txBody>
      </p:sp>
      <p:sp>
        <p:nvSpPr>
          <p:cNvPr id="25" name="Text 22"/>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2DB"/>
                </a:solidFill>
                <a:latin typeface="Poppins" pitchFamily="34" charset="0"/>
                <a:ea typeface="Poppins" pitchFamily="34" charset="-122"/>
                <a:cs typeface="Poppins" pitchFamily="34" charset="-120"/>
              </a:rPr>
              <a:t>REPORTING</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-e / -E  —  Mail to the Specialist</a:t>
            </a:r>
            <a:endParaRPr lang="en-US" sz="3200" dirty="0"/>
          </a:p>
        </p:txBody>
      </p:sp>
      <p:sp>
        <p:nvSpPr>
          <p:cNvPr id="4" name="Text 2"/>
          <p:cNvSpPr/>
          <p:nvPr/>
        </p:nvSpPr>
        <p:spPr>
          <a:xfrm>
            <a:off x="457200" y="1463040"/>
            <a:ext cx="11292840" cy="365760"/>
          </a:xfrm>
          <a:prstGeom prst="rect">
            <a:avLst/>
          </a:prstGeom>
          <a:noFill/>
          <a:ln/>
        </p:spPr>
        <p:txBody>
          <a:bodyPr wrap="square" lIns="0" tIns="0" rIns="0" bIns="0" rtlCol="0" anchor="ctr"/>
          <a:lstStyle/>
          <a:p>
            <a:pPr indent="0" marL="0">
              <a:buNone/>
            </a:pPr>
            <a:r>
              <a:rPr lang="en-US" sz="1450" dirty="0">
                <a:solidFill>
                  <a:srgbClr val="00357A"/>
                </a:solidFill>
                <a:latin typeface="Poppins" pitchFamily="34" charset="0"/>
                <a:ea typeface="Poppins" pitchFamily="34" charset="-122"/>
                <a:cs typeface="Poppins" pitchFamily="34" charset="-120"/>
              </a:rPr>
              <a:t>A batch run leaves no one watching the screen, so dsquasar mails the outcome to the dataset specialist. Two levels of detail.</a:t>
            </a:r>
            <a:endParaRPr lang="en-US" sz="1450" dirty="0"/>
          </a:p>
        </p:txBody>
      </p:sp>
      <p:sp>
        <p:nvSpPr>
          <p:cNvPr id="5" name="Shape 3"/>
          <p:cNvSpPr/>
          <p:nvPr/>
        </p:nvSpPr>
        <p:spPr>
          <a:xfrm>
            <a:off x="457200" y="1965960"/>
            <a:ext cx="5532120" cy="1371600"/>
          </a:xfrm>
          <a:prstGeom prst="roundRect">
            <a:avLst>
              <a:gd name="adj" fmla="val 6667"/>
            </a:avLst>
          </a:prstGeom>
          <a:solidFill>
            <a:srgbClr val="DCEBF7"/>
          </a:solidFill>
          <a:ln w="19050">
            <a:solidFill>
              <a:srgbClr val="0057C2"/>
            </a:solidFill>
            <a:prstDash val="solid"/>
          </a:ln>
        </p:spPr>
      </p:sp>
      <p:sp>
        <p:nvSpPr>
          <p:cNvPr id="6" name="Text 4"/>
          <p:cNvSpPr/>
          <p:nvPr/>
        </p:nvSpPr>
        <p:spPr>
          <a:xfrm>
            <a:off x="658368" y="2121408"/>
            <a:ext cx="822960" cy="457200"/>
          </a:xfrm>
          <a:prstGeom prst="rect">
            <a:avLst/>
          </a:prstGeom>
          <a:noFill/>
          <a:ln/>
        </p:spPr>
        <p:txBody>
          <a:bodyPr wrap="square" lIns="0" tIns="0" rIns="0" bIns="0" rtlCol="0" anchor="ctr"/>
          <a:lstStyle/>
          <a:p>
            <a:pPr indent="0" marL="0">
              <a:buNone/>
            </a:pPr>
            <a:r>
              <a:rPr lang="en-US" sz="2200" b="1" dirty="0">
                <a:solidFill>
                  <a:srgbClr val="0057C2"/>
                </a:solidFill>
                <a:latin typeface="Courier New" pitchFamily="34" charset="0"/>
                <a:ea typeface="Courier New" pitchFamily="34" charset="-122"/>
                <a:cs typeface="Courier New" pitchFamily="34" charset="-120"/>
              </a:rPr>
              <a:t>-e</a:t>
            </a:r>
            <a:endParaRPr lang="en-US" sz="2200" dirty="0"/>
          </a:p>
        </p:txBody>
      </p:sp>
      <p:sp>
        <p:nvSpPr>
          <p:cNvPr id="7" name="Text 5"/>
          <p:cNvSpPr/>
          <p:nvPr/>
        </p:nvSpPr>
        <p:spPr>
          <a:xfrm>
            <a:off x="1554480" y="2121408"/>
            <a:ext cx="4206240" cy="457200"/>
          </a:xfrm>
          <a:prstGeom prst="rect">
            <a:avLst/>
          </a:prstGeom>
          <a:noFill/>
          <a:ln/>
        </p:spPr>
        <p:txBody>
          <a:bodyPr wrap="square" lIns="0" tIns="0" rIns="0" bIns="0" rtlCol="0" anchor="ctr"/>
          <a:lstStyle/>
          <a:p>
            <a:pPr indent="0" marL="0">
              <a:buNone/>
            </a:pPr>
            <a:r>
              <a:rPr lang="en-US" sz="1600" b="1" dirty="0">
                <a:solidFill>
                  <a:srgbClr val="00357A"/>
                </a:solidFill>
                <a:latin typeface="Poppins" pitchFamily="34" charset="0"/>
                <a:ea typeface="Poppins" pitchFamily="34" charset="-122"/>
                <a:cs typeface="Poppins" pitchFamily="34" charset="-120"/>
              </a:rPr>
              <a:t>Summary</a:t>
            </a:r>
            <a:endParaRPr lang="en-US" sz="1600" dirty="0"/>
          </a:p>
        </p:txBody>
      </p:sp>
      <p:sp>
        <p:nvSpPr>
          <p:cNvPr id="8" name="Text 6"/>
          <p:cNvSpPr/>
          <p:nvPr/>
        </p:nvSpPr>
        <p:spPr>
          <a:xfrm>
            <a:off x="658368" y="2651760"/>
            <a:ext cx="5120640" cy="594360"/>
          </a:xfrm>
          <a:prstGeom prst="rect">
            <a:avLst/>
          </a:prstGeom>
          <a:noFill/>
          <a:ln/>
        </p:spPr>
        <p:txBody>
          <a:bodyPr wrap="square" lIns="0" tIns="0" rIns="0" bIns="0" rtlCol="0" anchor="t"/>
          <a:lstStyle/>
          <a:p>
            <a:pPr indent="0" marL="0">
              <a:lnSpc>
                <a:spcPct val="105000"/>
              </a:lnSpc>
              <a:buNone/>
            </a:pPr>
            <a:r>
              <a:rPr lang="en-US" sz="1150" dirty="0">
                <a:solidFill>
                  <a:srgbClr val="53565A"/>
                </a:solidFill>
                <a:latin typeface="Poppins" pitchFamily="34" charset="0"/>
                <a:ea typeface="Poppins" pitchFamily="34" charset="-122"/>
                <a:cs typeface="Poppins" pitchFamily="34" charset="-120"/>
              </a:rPr>
              <a:t>Totals only: how many files and bytes were backed up, and how much is still waiting.</a:t>
            </a:r>
            <a:endParaRPr lang="en-US" sz="1150" dirty="0"/>
          </a:p>
        </p:txBody>
      </p:sp>
      <p:sp>
        <p:nvSpPr>
          <p:cNvPr id="9" name="Shape 7"/>
          <p:cNvSpPr/>
          <p:nvPr/>
        </p:nvSpPr>
        <p:spPr>
          <a:xfrm>
            <a:off x="6263640" y="1965960"/>
            <a:ext cx="5532120" cy="1371600"/>
          </a:xfrm>
          <a:prstGeom prst="roundRect">
            <a:avLst>
              <a:gd name="adj" fmla="val 6667"/>
            </a:avLst>
          </a:prstGeom>
          <a:solidFill>
            <a:srgbClr val="DCEBF7"/>
          </a:solidFill>
          <a:ln w="19050">
            <a:solidFill>
              <a:srgbClr val="0097A7"/>
            </a:solidFill>
            <a:prstDash val="solid"/>
          </a:ln>
        </p:spPr>
      </p:sp>
      <p:sp>
        <p:nvSpPr>
          <p:cNvPr id="10" name="Text 8"/>
          <p:cNvSpPr/>
          <p:nvPr/>
        </p:nvSpPr>
        <p:spPr>
          <a:xfrm>
            <a:off x="6464808" y="2121408"/>
            <a:ext cx="822960" cy="457200"/>
          </a:xfrm>
          <a:prstGeom prst="rect">
            <a:avLst/>
          </a:prstGeom>
          <a:noFill/>
          <a:ln/>
        </p:spPr>
        <p:txBody>
          <a:bodyPr wrap="square" lIns="0" tIns="0" rIns="0" bIns="0" rtlCol="0" anchor="ctr"/>
          <a:lstStyle/>
          <a:p>
            <a:pPr indent="0" marL="0">
              <a:buNone/>
            </a:pPr>
            <a:r>
              <a:rPr lang="en-US" sz="2200" b="1" dirty="0">
                <a:solidFill>
                  <a:srgbClr val="0097A7"/>
                </a:solidFill>
                <a:latin typeface="Courier New" pitchFamily="34" charset="0"/>
                <a:ea typeface="Courier New" pitchFamily="34" charset="-122"/>
                <a:cs typeface="Courier New" pitchFamily="34" charset="-120"/>
              </a:rPr>
              <a:t>-E</a:t>
            </a:r>
            <a:endParaRPr lang="en-US" sz="2200" dirty="0"/>
          </a:p>
        </p:txBody>
      </p:sp>
      <p:sp>
        <p:nvSpPr>
          <p:cNvPr id="11" name="Text 9"/>
          <p:cNvSpPr/>
          <p:nvPr/>
        </p:nvSpPr>
        <p:spPr>
          <a:xfrm>
            <a:off x="7360920" y="2121408"/>
            <a:ext cx="4206240" cy="457200"/>
          </a:xfrm>
          <a:prstGeom prst="rect">
            <a:avLst/>
          </a:prstGeom>
          <a:noFill/>
          <a:ln/>
        </p:spPr>
        <p:txBody>
          <a:bodyPr wrap="square" lIns="0" tIns="0" rIns="0" bIns="0" rtlCol="0" anchor="ctr"/>
          <a:lstStyle/>
          <a:p>
            <a:pPr indent="0" marL="0">
              <a:buNone/>
            </a:pPr>
            <a:r>
              <a:rPr lang="en-US" sz="1600" b="1" dirty="0">
                <a:solidFill>
                  <a:srgbClr val="00357A"/>
                </a:solidFill>
                <a:latin typeface="Poppins" pitchFamily="34" charset="0"/>
                <a:ea typeface="Poppins" pitchFamily="34" charset="-122"/>
                <a:cs typeface="Poppins" pitchFamily="34" charset="-120"/>
              </a:rPr>
              <a:t>Detailed</a:t>
            </a:r>
            <a:endParaRPr lang="en-US" sz="1600" dirty="0"/>
          </a:p>
        </p:txBody>
      </p:sp>
      <p:sp>
        <p:nvSpPr>
          <p:cNvPr id="12" name="Text 10"/>
          <p:cNvSpPr/>
          <p:nvPr/>
        </p:nvSpPr>
        <p:spPr>
          <a:xfrm>
            <a:off x="6464808" y="2651760"/>
            <a:ext cx="5120640" cy="594360"/>
          </a:xfrm>
          <a:prstGeom prst="rect">
            <a:avLst/>
          </a:prstGeom>
          <a:noFill/>
          <a:ln/>
        </p:spPr>
        <p:txBody>
          <a:bodyPr wrap="square" lIns="0" tIns="0" rIns="0" bIns="0" rtlCol="0" anchor="t"/>
          <a:lstStyle/>
          <a:p>
            <a:pPr indent="0" marL="0">
              <a:lnSpc>
                <a:spcPct val="105000"/>
              </a:lnSpc>
              <a:buNone/>
            </a:pPr>
            <a:r>
              <a:rPr lang="en-US" sz="1150" dirty="0">
                <a:solidFill>
                  <a:srgbClr val="53565A"/>
                </a:solidFill>
                <a:latin typeface="Poppins" pitchFamily="34" charset="0"/>
                <a:ea typeface="Poppins" pitchFamily="34" charset="-122"/>
                <a:cs typeface="Poppins" pitchFamily="34" charset="-120"/>
              </a:rPr>
              <a:t>The same totals plus a per-dataset breakdown — which datasets moved, which are still behind.</a:t>
            </a:r>
            <a:endParaRPr lang="en-US" sz="1150" dirty="0"/>
          </a:p>
        </p:txBody>
      </p:sp>
      <p:sp>
        <p:nvSpPr>
          <p:cNvPr id="13" name="Text 11"/>
          <p:cNvSpPr/>
          <p:nvPr/>
        </p:nvSpPr>
        <p:spPr>
          <a:xfrm>
            <a:off x="457200" y="3566160"/>
            <a:ext cx="11292840" cy="320040"/>
          </a:xfrm>
          <a:prstGeom prst="rect">
            <a:avLst/>
          </a:prstGeom>
          <a:noFill/>
          <a:ln/>
        </p:spPr>
        <p:txBody>
          <a:bodyPr wrap="square" lIns="0" tIns="0" rIns="0" bIns="0" rtlCol="0" anchor="ctr"/>
          <a:lstStyle/>
          <a:p>
            <a:pPr indent="0" marL="0">
              <a:buNone/>
            </a:pPr>
            <a:r>
              <a:rPr lang="en-US" sz="1500" b="1" dirty="0">
                <a:solidFill>
                  <a:srgbClr val="0057C2"/>
                </a:solidFill>
                <a:latin typeface="Poppins" pitchFamily="34" charset="0"/>
                <a:ea typeface="Poppins" pitchFamily="34" charset="-122"/>
                <a:cs typeface="Poppins" pitchFamily="34" charset="-120"/>
              </a:rPr>
              <a:t>Typical summary mail</a:t>
            </a:r>
            <a:endParaRPr lang="en-US" sz="1500" dirty="0"/>
          </a:p>
        </p:txBody>
      </p:sp>
      <p:sp>
        <p:nvSpPr>
          <p:cNvPr id="14" name="Shape 12"/>
          <p:cNvSpPr/>
          <p:nvPr/>
        </p:nvSpPr>
        <p:spPr>
          <a:xfrm>
            <a:off x="457200" y="3913632"/>
            <a:ext cx="11292840" cy="1691640"/>
          </a:xfrm>
          <a:prstGeom prst="roundRect">
            <a:avLst>
              <a:gd name="adj" fmla="val 2703"/>
            </a:avLst>
          </a:prstGeom>
          <a:solidFill>
            <a:srgbClr val="011837"/>
          </a:solidFill>
          <a:ln/>
        </p:spPr>
      </p:sp>
      <p:sp>
        <p:nvSpPr>
          <p:cNvPr id="15" name="Text 13"/>
          <p:cNvSpPr/>
          <p:nvPr/>
        </p:nvSpPr>
        <p:spPr>
          <a:xfrm>
            <a:off x="585216" y="3913632"/>
            <a:ext cx="11036808" cy="1691640"/>
          </a:xfrm>
          <a:prstGeom prst="rect">
            <a:avLst/>
          </a:prstGeom>
          <a:noFill/>
          <a:ln/>
        </p:spPr>
        <p:txBody>
          <a:bodyPr wrap="square" lIns="0" tIns="0" rIns="0" bIns="0" rtlCol="0" anchor="ctr"/>
          <a:lstStyle/>
          <a:p>
            <a:pPr indent="0" marL="0">
              <a:lnSpc>
                <a:spcPct val="100000"/>
              </a:lnSpc>
              <a:buNone/>
            </a:pPr>
            <a:r>
              <a:rPr lang="en-US" sz="1150" dirty="0">
                <a:solidFill>
                  <a:srgbClr val="0097A7"/>
                </a:solidFill>
                <a:latin typeface="Courier New" pitchFamily="34" charset="0"/>
                <a:ea typeface="Courier New" pitchFamily="34" charset="-122"/>
                <a:cs typeface="Courier New" pitchFamily="34" charset="-120"/>
              </a:rPr>
              <a:t>Subject: dsquasar backup statistics</a:t>
            </a:r>
            <a:endParaRPr lang="en-US" sz="1150" dirty="0"/>
          </a:p>
          <a:p>
            <a:pPr indent="0" marL="0">
              <a:lnSpc>
                <a:spcPct val="100000"/>
              </a:lnSpc>
              <a:buNone/>
            </a:pPr>
            <a:endParaRPr lang="en-US" sz="1150" dirty="0"/>
          </a:p>
          <a:p>
            <a:pPr indent="0" marL="0">
              <a:lnSpc>
                <a:spcPct val="100000"/>
              </a:lnSpc>
              <a:buNone/>
            </a:pPr>
            <a:r>
              <a:rPr lang="en-US" sz="1150" dirty="0">
                <a:solidFill>
                  <a:srgbClr val="0097A7"/>
                </a:solidFill>
                <a:latin typeface="Courier New" pitchFamily="34" charset="0"/>
                <a:ea typeface="Courier New" pitchFamily="34" charset="-122"/>
                <a:cs typeface="Courier New" pitchFamily="34" charset="-120"/>
              </a:rPr>
              <a:t>Backed up : 148,392 files   612.4 GB   in 128 tar files</a:t>
            </a:r>
            <a:endParaRPr lang="en-US" sz="1150" dirty="0"/>
          </a:p>
          <a:p>
            <a:pPr indent="0" marL="0">
              <a:lnSpc>
                <a:spcPct val="100000"/>
              </a:lnSpc>
              <a:buNone/>
            </a:pPr>
            <a:r>
              <a:rPr lang="en-US" sz="1150" dirty="0">
                <a:solidFill>
                  <a:srgbClr val="0097A7"/>
                </a:solidFill>
                <a:latin typeface="Courier New" pitchFamily="34" charset="0"/>
                <a:ea typeface="Courier New" pitchFamily="34" charset="-122"/>
                <a:cs typeface="Courier New" pitchFamily="34" charset="-120"/>
              </a:rPr>
              <a:t>Ready     :  22,105 files    91.7 GB</a:t>
            </a:r>
            <a:endParaRPr lang="en-US" sz="1150" dirty="0"/>
          </a:p>
          <a:p>
            <a:pPr indent="0" marL="0">
              <a:lnSpc>
                <a:spcPct val="100000"/>
              </a:lnSpc>
              <a:buNone/>
            </a:pPr>
            <a:r>
              <a:rPr lang="en-US" sz="1150" dirty="0">
                <a:solidFill>
                  <a:srgbClr val="0097A7"/>
                </a:solidFill>
                <a:latin typeface="Courier New" pitchFamily="34" charset="0"/>
                <a:ea typeface="Courier New" pitchFamily="34" charset="-122"/>
                <a:cs typeface="Courier New" pitchFamily="34" charset="-120"/>
              </a:rPr>
              <a:t>Tar files : N = 18   T = 6   A = 128</a:t>
            </a:r>
            <a:endParaRPr lang="en-US" sz="1150" dirty="0"/>
          </a:p>
          <a:p>
            <a:pPr indent="0" marL="0">
              <a:lnSpc>
                <a:spcPct val="100000"/>
              </a:lnSpc>
              <a:buNone/>
            </a:pPr>
            <a:endParaRPr lang="en-US" sz="1150" dirty="0"/>
          </a:p>
          <a:p>
            <a:pPr indent="0" marL="0">
              <a:lnSpc>
                <a:spcPct val="100000"/>
              </a:lnSpc>
              <a:buNone/>
            </a:pPr>
            <a:r>
              <a:rPr lang="en-US" sz="1150" dirty="0">
                <a:solidFill>
                  <a:srgbClr val="0097A7"/>
                </a:solidFill>
                <a:latin typeface="Courier New" pitchFamily="34" charset="0"/>
                <a:ea typeface="Courier New" pitchFamily="34" charset="-122"/>
                <a:cs typeface="Courier New" pitchFamily="34" charset="-120"/>
              </a:rPr>
              <a:t>d123456   12,004 files   58.2 GB  backed up      2,110 files ready</a:t>
            </a:r>
            <a:endParaRPr lang="en-US" sz="1150" dirty="0"/>
          </a:p>
          <a:p>
            <a:pPr indent="0" marL="0">
              <a:lnSpc>
                <a:spcPct val="100000"/>
              </a:lnSpc>
              <a:buNone/>
            </a:pPr>
            <a:r>
              <a:rPr lang="en-US" sz="1150" dirty="0">
                <a:solidFill>
                  <a:srgbClr val="0097A7"/>
                </a:solidFill>
                <a:latin typeface="Courier New" pitchFamily="34" charset="0"/>
                <a:ea typeface="Courier New" pitchFamily="34" charset="-122"/>
                <a:cs typeface="Courier New" pitchFamily="34" charset="-120"/>
              </a:rPr>
              <a:t>d999001    1,338 files    9.9 GB  backed up          0 files ready</a:t>
            </a:r>
            <a:endParaRPr lang="en-US" sz="1150" dirty="0"/>
          </a:p>
        </p:txBody>
      </p:sp>
      <p:sp>
        <p:nvSpPr>
          <p:cNvPr id="16" name="Shape 14"/>
          <p:cNvSpPr/>
          <p:nvPr/>
        </p:nvSpPr>
        <p:spPr>
          <a:xfrm>
            <a:off x="457200" y="5742432"/>
            <a:ext cx="11292840" cy="548640"/>
          </a:xfrm>
          <a:prstGeom prst="roundRect">
            <a:avLst>
              <a:gd name="adj" fmla="val 13333"/>
            </a:avLst>
          </a:prstGeom>
          <a:solidFill>
            <a:srgbClr val="C7E4F5"/>
          </a:solidFill>
          <a:ln w="12700">
            <a:solidFill>
              <a:srgbClr val="A9D6F2"/>
            </a:solidFill>
            <a:prstDash val="solid"/>
          </a:ln>
        </p:spPr>
      </p:sp>
      <p:sp>
        <p:nvSpPr>
          <p:cNvPr id="17" name="Text 15"/>
          <p:cNvSpPr/>
          <p:nvPr/>
        </p:nvSpPr>
        <p:spPr>
          <a:xfrm>
            <a:off x="658368" y="5742432"/>
            <a:ext cx="9784080" cy="548640"/>
          </a:xfrm>
          <a:prstGeom prst="rect">
            <a:avLst/>
          </a:prstGeom>
          <a:noFill/>
          <a:ln/>
        </p:spPr>
        <p:txBody>
          <a:bodyPr wrap="square" lIns="0" tIns="0" rIns="0" bIns="0" rtlCol="0" anchor="ctr"/>
          <a:lstStyle/>
          <a:p>
            <a:pPr indent="0" marL="0">
              <a:buNone/>
            </a:pPr>
            <a:r>
              <a:rPr lang="en-US" sz="1150" b="1" dirty="0">
                <a:solidFill>
                  <a:srgbClr val="0057C2"/>
                </a:solidFill>
                <a:latin typeface="Poppins" pitchFamily="34" charset="0"/>
                <a:ea typeface="Poppins" pitchFamily="34" charset="-122"/>
                <a:cs typeface="Poppins" pitchFamily="34" charset="-120"/>
              </a:rPr>
              <a:t>A run that overruns still mails.  </a:t>
            </a:r>
            <a:pPr indent="0" marL="0">
              <a:buNone/>
            </a:pPr>
            <a:r>
              <a:rPr lang="en-US" sz="1150" dirty="0">
                <a:solidFill>
                  <a:srgbClr val="00357A"/>
                </a:solidFill>
                <a:latin typeface="Poppins" pitchFamily="34" charset="0"/>
                <a:ea typeface="Poppins" pitchFamily="34" charset="-122"/>
                <a:cs typeface="Poppins" pitchFamily="34" charset="-120"/>
              </a:rPr>
              <a:t>An hour before the PBS walltime the report so far is cached in dscheck.einfo, so even a job killed by the queue is reported rather than silent.</a:t>
            </a:r>
            <a:endParaRPr lang="en-US" sz="1150" dirty="0"/>
          </a:p>
        </p:txBody>
      </p:sp>
      <p:sp>
        <p:nvSpPr>
          <p:cNvPr id="18" name="Text 16"/>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23</a:t>
            </a:r>
            <a:endParaRPr lang="en-US" sz="950" dirty="0"/>
          </a:p>
        </p:txBody>
      </p:sp>
      <p:sp>
        <p:nvSpPr>
          <p:cNvPr id="19" name="Text 17"/>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C25E00"/>
                </a:solidFill>
                <a:latin typeface="Poppins" pitchFamily="34" charset="0"/>
                <a:ea typeface="Poppins" pitchFamily="34" charset="-122"/>
                <a:cs typeface="Poppins" pitchFamily="34" charset="-120"/>
              </a:rPr>
              <a:t>REFERENCE</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Option Reference</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532120" cy="914400"/>
        </p:xfrm>
        <a:graphic>
          <a:graphicData uri="http://schemas.openxmlformats.org/drawingml/2006/table">
            <a:tbl>
              <a:tblPr/>
              <a:tblGrid>
                <a:gridCol w="1234440"/>
                <a:gridCol w="4297680"/>
              </a:tblGrid>
              <a:tr h="365760">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Selection &amp; scope</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57C2"/>
                    </a:solidFill>
                  </a:tcPr>
                </a:tc>
                <a:tc>
                  <a:txBody>
                    <a:bodyPr/>
                    <a:lstStyle/>
                    <a:p>
                      <a:pPr indent="0" marL="0">
                        <a:buNone/>
                      </a:pPr>
                      <a:r>
                        <a:rPr lang="en-US" sz="1200" b="1" dirty="0">
                          <a:solidFill>
                            <a:srgbClr val="FFFFFF"/>
                          </a:solidFill>
                          <a:latin typeface="Poppins" pitchFamily="34" charset="0"/>
                          <a:ea typeface="Poppins" pitchFamily="34" charset="-122"/>
                          <a:cs typeface="Poppins" pitchFamily="34" charset="-120"/>
                        </a:rPr>
                        <a:t>Meaning</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57C2"/>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-a</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all datasets with a backup flag set</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-t ids</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named datasets; SQL % wildcard allowed</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-B</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only work flagged 'B' (Backup only)</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-D</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only work flagged 'D' (Backup + Drdata)</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-A bits</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actions: 1 2 3 4 6 7 8 16 (default 3)</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-c days</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with -A 1, re-back up recently changed files</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-e / -E</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mail summary / detailed statistics</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6309360" y="1417320"/>
          <a:ext cx="5440680" cy="914400"/>
        </p:xfrm>
        <a:graphic>
          <a:graphicData uri="http://schemas.openxmlformats.org/drawingml/2006/table">
            <a:tbl>
              <a:tblPr/>
              <a:tblGrid>
                <a:gridCol w="1234440"/>
                <a:gridCol w="4206240"/>
              </a:tblGrid>
              <a:tr h="365760">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Run control</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7A7"/>
                    </a:solidFill>
                  </a:tcPr>
                </a:tc>
                <a:tc>
                  <a:txBody>
                    <a:bodyPr/>
                    <a:lstStyle/>
                    <a:p>
                      <a:pPr indent="0" marL="0">
                        <a:buNone/>
                      </a:pPr>
                      <a:r>
                        <a:rPr lang="en-US" sz="1200" b="1" dirty="0">
                          <a:solidFill>
                            <a:srgbClr val="FFFFFF"/>
                          </a:solidFill>
                          <a:latin typeface="Poppins" pitchFamily="34" charset="0"/>
                          <a:ea typeface="Poppins" pitchFamily="34" charset="-122"/>
                          <a:cs typeface="Poppins" pitchFamily="34" charset="-120"/>
                        </a:rPr>
                        <a:t>Meaning</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7A7"/>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-b</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background mode, no screen output</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-d [h] [n]</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delay mode: submit as a PBS batch job</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-m N</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concurrent child processes (default 1)</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-l Y | N</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lock datasets before backing up (default Y)</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-n</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show available file counts only, do nothing</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-W N</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max concurrent batch workers (default 2)</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-w N</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worker slot; set automatically, not by hand</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-u</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clean up backup locks on the named datasets</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-h</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display the help document</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4617720"/>
            <a:ext cx="5532120" cy="640080"/>
          </a:xfrm>
          <a:prstGeom prst="rect">
            <a:avLst/>
          </a:prstGeom>
          <a:noFill/>
          <a:ln/>
        </p:spPr>
        <p:txBody>
          <a:bodyPr wrap="square" lIns="0" tIns="0" rIns="0" bIns="0" rtlCol="0" anchor="t"/>
          <a:lstStyle/>
          <a:p>
            <a:pPr indent="0" marL="0">
              <a:lnSpc>
                <a:spcPct val="105000"/>
              </a:lnSpc>
              <a:buNone/>
            </a:pPr>
            <a:r>
              <a:rPr lang="en-US" sz="1150" dirty="0">
                <a:solidFill>
                  <a:srgbClr val="53565A"/>
                </a:solidFill>
                <a:latin typeface="Poppins" pitchFamily="34" charset="0"/>
                <a:ea typeface="Poppins" pitchFamily="34" charset="-122"/>
                <a:cs typeface="Poppins" pitchFamily="34" charset="-120"/>
              </a:rPr>
              <a:t>Either -a or -t is required — without one, dsquasar prints its usage and exits. -B and -D only narrow what a run processes; with neither, each dataset is backed up per its own backflag.</a:t>
            </a:r>
            <a:endParaRPr lang="en-US" sz="1150" dirty="0"/>
          </a:p>
        </p:txBody>
      </p:sp>
      <p:sp>
        <p:nvSpPr>
          <p:cNvPr id="7" name="Text 3"/>
          <p:cNvSpPr/>
          <p:nvPr/>
        </p:nvSpPr>
        <p:spPr>
          <a:xfrm>
            <a:off x="457200" y="5303520"/>
            <a:ext cx="11292840" cy="32004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Six lines that cover most days</a:t>
            </a:r>
            <a:endParaRPr lang="en-US" sz="1500" dirty="0"/>
          </a:p>
        </p:txBody>
      </p:sp>
      <p:sp>
        <p:nvSpPr>
          <p:cNvPr id="8" name="Shape 4"/>
          <p:cNvSpPr/>
          <p:nvPr/>
        </p:nvSpPr>
        <p:spPr>
          <a:xfrm>
            <a:off x="457200" y="5623560"/>
            <a:ext cx="11292840" cy="777240"/>
          </a:xfrm>
          <a:prstGeom prst="roundRect">
            <a:avLst>
              <a:gd name="adj" fmla="val 5882"/>
            </a:avLst>
          </a:prstGeom>
          <a:solidFill>
            <a:srgbClr val="011837"/>
          </a:solidFill>
          <a:ln/>
        </p:spPr>
      </p:sp>
      <p:sp>
        <p:nvSpPr>
          <p:cNvPr id="9" name="Text 5"/>
          <p:cNvSpPr/>
          <p:nvPr/>
        </p:nvSpPr>
        <p:spPr>
          <a:xfrm>
            <a:off x="585216" y="5623560"/>
            <a:ext cx="11036808" cy="777240"/>
          </a:xfrm>
          <a:prstGeom prst="rect">
            <a:avLst/>
          </a:prstGeom>
          <a:noFill/>
          <a:ln/>
        </p:spPr>
        <p:txBody>
          <a:bodyPr wrap="square" lIns="0" tIns="0" rIns="0" bIns="0" rtlCol="0" anchor="ctr"/>
          <a:lstStyle/>
          <a:p>
            <a:pPr indent="0" marL="0">
              <a:lnSpc>
                <a:spcPct val="100000"/>
              </a:lnSpc>
              <a:buNone/>
            </a:pPr>
            <a:r>
              <a:rPr lang="en-US" sz="1150" dirty="0">
                <a:solidFill>
                  <a:srgbClr val="0097A7"/>
                </a:solidFill>
                <a:latin typeface="Courier New" pitchFamily="34" charset="0"/>
                <a:ea typeface="Courier New" pitchFamily="34" charset="-122"/>
                <a:cs typeface="Courier New" pitchFamily="34" charset="-120"/>
              </a:rPr>
              <a:t>dsquasar -a -A 3 -e -b -d PBS     dsquasar -t d123456 -A 4</a:t>
            </a:r>
            <a:endParaRPr lang="en-US" sz="1150" dirty="0"/>
          </a:p>
          <a:p>
            <a:pPr indent="0" marL="0">
              <a:lnSpc>
                <a:spcPct val="100000"/>
              </a:lnSpc>
              <a:buNone/>
            </a:pPr>
            <a:r>
              <a:rPr lang="en-US" sz="1150" dirty="0">
                <a:solidFill>
                  <a:srgbClr val="0097A7"/>
                </a:solidFill>
                <a:latin typeface="Courier New" pitchFamily="34" charset="0"/>
                <a:ea typeface="Courier New" pitchFamily="34" charset="-122"/>
                <a:cs typeface="Courier New" pitchFamily="34" charset="-120"/>
              </a:rPr>
              <a:t>dsquasar -t d123456 -n            dsquasar -a -A 16 -e</a:t>
            </a:r>
            <a:endParaRPr lang="en-US" sz="1150" dirty="0"/>
          </a:p>
          <a:p>
            <a:pPr indent="0" marL="0">
              <a:lnSpc>
                <a:spcPct val="100000"/>
              </a:lnSpc>
              <a:buNone/>
            </a:pPr>
            <a:r>
              <a:rPr lang="en-US" sz="1150" dirty="0">
                <a:solidFill>
                  <a:srgbClr val="0097A7"/>
                </a:solidFill>
                <a:latin typeface="Courier New" pitchFamily="34" charset="0"/>
                <a:ea typeface="Courier New" pitchFamily="34" charset="-122"/>
                <a:cs typeface="Courier New" pitchFamily="34" charset="-120"/>
              </a:rPr>
              <a:t>dsquasar -t d123456 -A 1 -c 30    dsquasar -t d123456 -u</a:t>
            </a:r>
            <a:endParaRPr lang="en-US" sz="1150" dirty="0"/>
          </a:p>
        </p:txBody>
      </p:sp>
      <p:sp>
        <p:nvSpPr>
          <p:cNvPr id="10" name="Text 6"/>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24</a:t>
            </a:r>
            <a:endParaRPr lang="en-US" sz="950" dirty="0"/>
          </a:p>
        </p:txBody>
      </p:sp>
      <p:sp>
        <p:nvSpPr>
          <p:cNvPr id="11" name="Text 7"/>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2DB"/>
                </a:solidFill>
                <a:latin typeface="Poppins" pitchFamily="34" charset="0"/>
                <a:ea typeface="Poppins" pitchFamily="34" charset="-122"/>
                <a:cs typeface="Poppins" pitchFamily="34" charset="-120"/>
              </a:rPr>
              <a:t>ENVIRONMENT</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Where Things Live</a:t>
            </a:r>
            <a:endParaRPr lang="en-US" sz="3200" dirty="0"/>
          </a:p>
        </p:txBody>
      </p:sp>
      <p:sp>
        <p:nvSpPr>
          <p:cNvPr id="4" name="Text 2"/>
          <p:cNvSpPr/>
          <p:nvPr/>
        </p:nvSpPr>
        <p:spPr>
          <a:xfrm>
            <a:off x="457200" y="1444752"/>
            <a:ext cx="11292840" cy="365760"/>
          </a:xfrm>
          <a:prstGeom prst="rect">
            <a:avLst/>
          </a:prstGeom>
          <a:noFill/>
          <a:ln/>
        </p:spPr>
        <p:txBody>
          <a:bodyPr wrap="square" lIns="0" tIns="0" rIns="0" bIns="0" rtlCol="0" anchor="ctr"/>
          <a:lstStyle/>
          <a:p>
            <a:pPr indent="0" marL="0">
              <a:buNone/>
            </a:pPr>
            <a:r>
              <a:rPr lang="en-US" sz="1450" dirty="0">
                <a:solidFill>
                  <a:srgbClr val="00357A"/>
                </a:solidFill>
                <a:latin typeface="Poppins" pitchFamily="34" charset="0"/>
                <a:ea typeface="Poppins" pitchFamily="34" charset="-122"/>
                <a:cs typeface="Poppins" pitchFamily="34" charset="-120"/>
              </a:rPr>
              <a:t>dsquasar always runs from the Quasar backup work directory — it changes there itself, so it can be launched from anywhere.</a:t>
            </a:r>
            <a:endParaRPr lang="en-US" sz="1450" dirty="0"/>
          </a:p>
        </p:txBody>
      </p:sp>
      <p:sp>
        <p:nvSpPr>
          <p:cNvPr id="5" name="Shape 3"/>
          <p:cNvSpPr/>
          <p:nvPr/>
        </p:nvSpPr>
        <p:spPr>
          <a:xfrm>
            <a:off x="457200" y="1874520"/>
            <a:ext cx="11292840" cy="457200"/>
          </a:xfrm>
          <a:prstGeom prst="roundRect">
            <a:avLst>
              <a:gd name="adj" fmla="val 10000"/>
            </a:avLst>
          </a:prstGeom>
          <a:solidFill>
            <a:srgbClr val="011837"/>
          </a:solidFill>
          <a:ln/>
        </p:spPr>
      </p:sp>
      <p:sp>
        <p:nvSpPr>
          <p:cNvPr id="6" name="Text 4"/>
          <p:cNvSpPr/>
          <p:nvPr/>
        </p:nvSpPr>
        <p:spPr>
          <a:xfrm>
            <a:off x="585216" y="1874520"/>
            <a:ext cx="11036808" cy="457200"/>
          </a:xfrm>
          <a:prstGeom prst="rect">
            <a:avLst/>
          </a:prstGeom>
          <a:noFill/>
          <a:ln/>
        </p:spPr>
        <p:txBody>
          <a:bodyPr wrap="square" lIns="0" tIns="0" rIns="0" bIns="0" rtlCol="0" anchor="ctr"/>
          <a:lstStyle/>
          <a:p>
            <a:pPr indent="0" marL="0">
              <a:lnSpc>
                <a:spcPct val="100000"/>
              </a:lnSpc>
              <a:buNone/>
            </a:pPr>
            <a:r>
              <a:rPr lang="en-US" sz="1400" dirty="0">
                <a:solidFill>
                  <a:srgbClr val="0097A7"/>
                </a:solidFill>
                <a:latin typeface="Courier New" pitchFamily="34" charset="0"/>
                <a:ea typeface="Courier New" pitchFamily="34" charset="-122"/>
                <a:cs typeface="Courier New" pitchFamily="34" charset="-120"/>
              </a:rPr>
              <a:t>$GDEXWORK/$COMMONUSER/quasar_backup</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2514600"/>
          <a:ext cx="5532120" cy="914400"/>
        </p:xfrm>
        <a:graphic>
          <a:graphicData uri="http://schemas.openxmlformats.org/drawingml/2006/table">
            <a:tbl>
              <a:tblPr/>
              <a:tblGrid>
                <a:gridCol w="2103120"/>
                <a:gridCol w="3429000"/>
              </a:tblGrid>
              <a:tr h="365760">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Work directory</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57C2"/>
                    </a:solidFill>
                  </a:tcPr>
                </a:tc>
                <a:tc>
                  <a:txBody>
                    <a:bodyPr/>
                    <a:lstStyle/>
                    <a:p>
                      <a:pPr indent="0" marL="0">
                        <a:buNone/>
                      </a:pPr>
                      <a:r>
                        <a:rPr lang="en-US" sz="1200" b="1" dirty="0">
                          <a:solidFill>
                            <a:srgbClr val="FFFFFF"/>
                          </a:solidFill>
                          <a:latin typeface="Poppins" pitchFamily="34" charset="0"/>
                          <a:ea typeface="Poppins" pitchFamily="34" charset="-122"/>
                          <a:cs typeface="Poppins" pitchFamily="34" charset="-120"/>
                        </a:rPr>
                        <a:t>Contents</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57C2"/>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&lt;dsid&gt;_&lt;t&gt;_&lt;bid&gt;.txt</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dsarch input list, one per type per tar</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&lt;dsid&gt;_sn..._fn....tar</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the built tar, deleted after transfer</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dsquasar.log</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run log — first place to look</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57C2"/>
                          </a:solidFill>
                          <a:latin typeface="Courier New" pitchFamily="34" charset="0"/>
                          <a:ea typeface="Courier New" pitchFamily="34" charset="-122"/>
                          <a:cs typeface="Courier New" pitchFamily="34" charset="-120"/>
                        </a:rPr>
                        <a:t>dscheck record</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batch state, retries and progress counts</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bl>
          </a:graphicData>
        </a:graphic>
      </p:graphicFrame>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6309360" y="2514600"/>
          <a:ext cx="5440680" cy="914400"/>
        </p:xfrm>
        <a:graphic>
          <a:graphicData uri="http://schemas.openxmlformats.org/drawingml/2006/table">
            <a:tbl>
              <a:tblPr/>
              <a:tblGrid>
                <a:gridCol w="2148840"/>
                <a:gridCol w="3291840"/>
              </a:tblGrid>
              <a:tr h="365760">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Globus &amp; paths</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7A7"/>
                    </a:solidFill>
                  </a:tcPr>
                </a:tc>
                <a:tc>
                  <a:txBody>
                    <a:bodyPr/>
                    <a:lstStyle/>
                    <a:p>
                      <a:pPr indent="0" marL="0">
                        <a:buNone/>
                      </a:pPr>
                      <a:r>
                        <a:rPr lang="en-US" sz="1200" b="1" dirty="0">
                          <a:solidFill>
                            <a:srgbClr val="FFFFFF"/>
                          </a:solidFill>
                          <a:latin typeface="Poppins" pitchFamily="34" charset="0"/>
                          <a:ea typeface="Poppins" pitchFamily="34" charset="-122"/>
                          <a:cs typeface="Poppins" pitchFamily="34" charset="-120"/>
                        </a:rPr>
                        <a:t>Role</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7A7"/>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gdex-glade</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source end point (archive on disk)</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gdex-quasar</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Backup copy on tape</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gdex-quasar-drdata</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disaster-recovery copy</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/data/...</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Web file staging path</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/decsdata/...</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Saved file staging path</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bl>
          </a:graphicData>
        </a:graphic>
      </p:graphicFrame>
      <p:sp>
        <p:nvSpPr>
          <p:cNvPr id="9" name="Text 5"/>
          <p:cNvSpPr/>
          <p:nvPr/>
        </p:nvSpPr>
        <p:spPr>
          <a:xfrm>
            <a:off x="457200" y="4709160"/>
            <a:ext cx="11292840" cy="32004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Where the backup flags are set</a:t>
            </a:r>
            <a:endParaRPr lang="en-US" sz="1500" dirty="0"/>
          </a:p>
        </p:txBody>
      </p:sp>
      <p:sp>
        <p:nvSpPr>
          <p:cNvPr id="10" name="Shape 6"/>
          <p:cNvSpPr/>
          <p:nvPr/>
        </p:nvSpPr>
        <p:spPr>
          <a:xfrm>
            <a:off x="457200" y="5074920"/>
            <a:ext cx="11292840" cy="1051560"/>
          </a:xfrm>
          <a:prstGeom prst="roundRect">
            <a:avLst>
              <a:gd name="adj" fmla="val 6957"/>
            </a:avLst>
          </a:prstGeom>
          <a:solidFill>
            <a:srgbClr val="DCEBF7"/>
          </a:solidFill>
          <a:ln w="15240">
            <a:solidFill>
              <a:srgbClr val="0057C2"/>
            </a:solidFill>
            <a:prstDash val="solid"/>
          </a:ln>
        </p:spPr>
      </p:sp>
      <p:sp>
        <p:nvSpPr>
          <p:cNvPr id="11" name="Text 7"/>
          <p:cNvSpPr/>
          <p:nvPr/>
        </p:nvSpPr>
        <p:spPr>
          <a:xfrm>
            <a:off x="685800" y="5074920"/>
            <a:ext cx="10835640" cy="1051560"/>
          </a:xfrm>
          <a:prstGeom prst="rect">
            <a:avLst/>
          </a:prstGeom>
          <a:noFill/>
          <a:ln/>
        </p:spPr>
        <p:txBody>
          <a:bodyPr wrap="square" lIns="0" tIns="0" rIns="0" bIns="0" rtlCol="0" anchor="ctr"/>
          <a:lstStyle/>
          <a:p>
            <a:pPr indent="0" marL="0">
              <a:lnSpc>
                <a:spcPct val="110000"/>
              </a:lnSpc>
              <a:buNone/>
            </a:pPr>
            <a:r>
              <a:rPr lang="en-US" sz="1300" b="1" dirty="0">
                <a:solidFill>
                  <a:srgbClr val="0057C2"/>
                </a:solidFill>
                <a:latin typeface="Courier New" pitchFamily="34" charset="0"/>
                <a:ea typeface="Courier New" pitchFamily="34" charset="-122"/>
                <a:cs typeface="Courier New" pitchFamily="34" charset="-120"/>
              </a:rPr>
              <a:t>dsquasar</a:t>
            </a:r>
            <a:pPr indent="0" marL="0">
              <a:lnSpc>
                <a:spcPct val="110000"/>
              </a:lnSpc>
              <a:buNone/>
            </a:pPr>
            <a:r>
              <a:rPr lang="en-US" sz="1300" dirty="0">
                <a:solidFill>
                  <a:srgbClr val="00357A"/>
                </a:solidFill>
                <a:latin typeface="Poppins" pitchFamily="34" charset="0"/>
                <a:ea typeface="Poppins" pitchFamily="34" charset="-122"/>
                <a:cs typeface="Poppins" pitchFamily="34" charset="-120"/>
              </a:rPr>
              <a:t> ships with rda_python_dsquasar.   Backup flags are edited at </a:t>
            </a:r>
            <a:pPr indent="0" marL="0">
              <a:lnSpc>
                <a:spcPct val="110000"/>
              </a:lnSpc>
              <a:buNone/>
            </a:pPr>
            <a:r>
              <a:rPr lang="en-US" sz="1300" b="1" u="sng" dirty="0">
                <a:solidFill>
                  <a:srgbClr val="0057C2"/>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gdex.ucar.edu/rda_pg_config/</a:t>
            </a:r>
            <a:pPr indent="0" marL="0">
              <a:lnSpc>
                <a:spcPct val="110000"/>
              </a:lnSpc>
              <a:buNone/>
            </a:pPr>
            <a:r>
              <a:rPr lang="en-US" sz="1300" dirty="0">
                <a:solidFill>
                  <a:srgbClr val="00357A"/>
                </a:solidFill>
                <a:latin typeface="Poppins" pitchFamily="34" charset="0"/>
                <a:ea typeface="Poppins" pitchFamily="34" charset="-122"/>
                <a:cs typeface="Poppins" pitchFamily="34" charset="-120"/>
              </a:rPr>
              <a:t>  (DSARCH → Dataset Information).</a:t>
            </a:r>
            <a:endParaRPr lang="en-US" sz="1300" dirty="0"/>
          </a:p>
        </p:txBody>
      </p:sp>
      <p:sp>
        <p:nvSpPr>
          <p:cNvPr id="12" name="Text 8"/>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25</a:t>
            </a:r>
            <a:endParaRPr lang="en-US" sz="950" dirty="0"/>
          </a:p>
        </p:txBody>
      </p:sp>
      <p:sp>
        <p:nvSpPr>
          <p:cNvPr id="13" name="Text 9"/>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C25E00"/>
                </a:solidFill>
                <a:latin typeface="Poppins" pitchFamily="34" charset="0"/>
                <a:ea typeface="Poppins" pitchFamily="34" charset="-122"/>
                <a:cs typeface="Poppins" pitchFamily="34" charset="-120"/>
              </a:rPr>
              <a:t>TROUBLESHOOTING</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When Something Looks Wrong</a:t>
            </a:r>
            <a:endParaRPr lang="en-US" sz="3200" dirty="0"/>
          </a:p>
        </p:txBody>
      </p:sp>
      <p:sp>
        <p:nvSpPr>
          <p:cNvPr id="4" name="Shape 2"/>
          <p:cNvSpPr/>
          <p:nvPr/>
        </p:nvSpPr>
        <p:spPr>
          <a:xfrm>
            <a:off x="457200" y="1444752"/>
            <a:ext cx="11292840" cy="658368"/>
          </a:xfrm>
          <a:prstGeom prst="roundRect">
            <a:avLst>
              <a:gd name="adj" fmla="val 9722"/>
            </a:avLst>
          </a:prstGeom>
          <a:solidFill>
            <a:srgbClr val="DCEBF7"/>
          </a:solidFill>
          <a:ln/>
        </p:spPr>
      </p:sp>
      <p:sp>
        <p:nvSpPr>
          <p:cNvPr id="5" name="Shape 3"/>
          <p:cNvSpPr/>
          <p:nvPr/>
        </p:nvSpPr>
        <p:spPr>
          <a:xfrm>
            <a:off x="457200" y="1444752"/>
            <a:ext cx="82296" cy="658368"/>
          </a:xfrm>
          <a:prstGeom prst="roundRect">
            <a:avLst>
              <a:gd name="adj" fmla="val 22222"/>
            </a:avLst>
          </a:prstGeom>
          <a:solidFill>
            <a:srgbClr val="0057C2"/>
          </a:solidFill>
          <a:ln/>
        </p:spPr>
      </p:sp>
      <p:sp>
        <p:nvSpPr>
          <p:cNvPr id="6" name="Text 4"/>
          <p:cNvSpPr/>
          <p:nvPr/>
        </p:nvSpPr>
        <p:spPr>
          <a:xfrm>
            <a:off x="713232" y="1444752"/>
            <a:ext cx="3017520" cy="658368"/>
          </a:xfrm>
          <a:prstGeom prst="rect">
            <a:avLst/>
          </a:prstGeom>
          <a:noFill/>
          <a:ln/>
        </p:spPr>
        <p:txBody>
          <a:bodyPr wrap="square" lIns="0" tIns="0" rIns="0" bIns="0" rtlCol="0" anchor="ctr"/>
          <a:lstStyle/>
          <a:p>
            <a:pPr indent="0" marL="0">
              <a:buNone/>
            </a:pPr>
            <a:r>
              <a:rPr lang="en-US" sz="1250" b="1" dirty="0">
                <a:solidFill>
                  <a:srgbClr val="0057C2"/>
                </a:solidFill>
                <a:latin typeface="Poppins" pitchFamily="34" charset="0"/>
                <a:ea typeface="Poppins" pitchFamily="34" charset="-122"/>
                <a:cs typeface="Poppins" pitchFamily="34" charset="-120"/>
              </a:rPr>
              <a:t>Nothing is gathered</a:t>
            </a:r>
            <a:endParaRPr lang="en-US" sz="1250" dirty="0"/>
          </a:p>
        </p:txBody>
      </p:sp>
      <p:sp>
        <p:nvSpPr>
          <p:cNvPr id="7" name="Text 5"/>
          <p:cNvSpPr/>
          <p:nvPr/>
        </p:nvSpPr>
        <p:spPr>
          <a:xfrm>
            <a:off x="3794760" y="1444752"/>
            <a:ext cx="7772400" cy="658368"/>
          </a:xfrm>
          <a:prstGeom prst="rect">
            <a:avLst/>
          </a:prstGeom>
          <a:noFill/>
          <a:ln/>
        </p:spPr>
        <p:txBody>
          <a:bodyPr wrap="square" lIns="0" tIns="0" rIns="0" bIns="0" rtlCol="0" anchor="ctr"/>
          <a:lstStyle/>
          <a:p>
            <a:pPr indent="0" marL="0">
              <a:lnSpc>
                <a:spcPct val="100000"/>
              </a:lnSpc>
              <a:buNone/>
            </a:pPr>
            <a:r>
              <a:rPr lang="en-US" sz="1100" dirty="0">
                <a:solidFill>
                  <a:srgbClr val="00357A"/>
                </a:solidFill>
                <a:latin typeface="Poppins" pitchFamily="34" charset="0"/>
                <a:ea typeface="Poppins" pitchFamily="34" charset="-122"/>
                <a:cs typeface="Poppins" pitchFamily="34" charset="-120"/>
              </a:rPr>
              <a:t>The dataset or group backflag is not set. Check with  dsquasar -t &lt;dsid&gt; -n  first.</a:t>
            </a:r>
            <a:endParaRPr lang="en-US" sz="1100" dirty="0"/>
          </a:p>
        </p:txBody>
      </p:sp>
      <p:sp>
        <p:nvSpPr>
          <p:cNvPr id="8" name="Shape 6"/>
          <p:cNvSpPr/>
          <p:nvPr/>
        </p:nvSpPr>
        <p:spPr>
          <a:xfrm>
            <a:off x="457200" y="2176272"/>
            <a:ext cx="11292840" cy="658368"/>
          </a:xfrm>
          <a:prstGeom prst="roundRect">
            <a:avLst>
              <a:gd name="adj" fmla="val 9722"/>
            </a:avLst>
          </a:prstGeom>
          <a:solidFill>
            <a:srgbClr val="DCEBF7"/>
          </a:solidFill>
          <a:ln/>
        </p:spPr>
      </p:sp>
      <p:sp>
        <p:nvSpPr>
          <p:cNvPr id="9" name="Shape 7"/>
          <p:cNvSpPr/>
          <p:nvPr/>
        </p:nvSpPr>
        <p:spPr>
          <a:xfrm>
            <a:off x="457200" y="2176272"/>
            <a:ext cx="82296" cy="658368"/>
          </a:xfrm>
          <a:prstGeom prst="roundRect">
            <a:avLst>
              <a:gd name="adj" fmla="val 22222"/>
            </a:avLst>
          </a:prstGeom>
          <a:solidFill>
            <a:srgbClr val="0092DB"/>
          </a:solidFill>
          <a:ln/>
        </p:spPr>
      </p:sp>
      <p:sp>
        <p:nvSpPr>
          <p:cNvPr id="10" name="Text 8"/>
          <p:cNvSpPr/>
          <p:nvPr/>
        </p:nvSpPr>
        <p:spPr>
          <a:xfrm>
            <a:off x="713232" y="2176272"/>
            <a:ext cx="3017520" cy="658368"/>
          </a:xfrm>
          <a:prstGeom prst="rect">
            <a:avLst/>
          </a:prstGeom>
          <a:noFill/>
          <a:ln/>
        </p:spPr>
        <p:txBody>
          <a:bodyPr wrap="square" lIns="0" tIns="0" rIns="0" bIns="0" rtlCol="0" anchor="ctr"/>
          <a:lstStyle/>
          <a:p>
            <a:pPr indent="0" marL="0">
              <a:buNone/>
            </a:pPr>
            <a:r>
              <a:rPr lang="en-US" sz="1250" b="1" dirty="0">
                <a:solidFill>
                  <a:srgbClr val="0092DB"/>
                </a:solidFill>
                <a:latin typeface="Poppins" pitchFamily="34" charset="0"/>
                <a:ea typeface="Poppins" pitchFamily="34" charset="-122"/>
                <a:cs typeface="Poppins" pitchFamily="34" charset="-120"/>
              </a:rPr>
              <a:t>A repeat submit does nothing</a:t>
            </a:r>
            <a:endParaRPr lang="en-US" sz="1250" dirty="0"/>
          </a:p>
        </p:txBody>
      </p:sp>
      <p:sp>
        <p:nvSpPr>
          <p:cNvPr id="11" name="Text 9"/>
          <p:cNvSpPr/>
          <p:nvPr/>
        </p:nvSpPr>
        <p:spPr>
          <a:xfrm>
            <a:off x="3794760" y="2176272"/>
            <a:ext cx="7772400" cy="658368"/>
          </a:xfrm>
          <a:prstGeom prst="rect">
            <a:avLst/>
          </a:prstGeom>
          <a:noFill/>
          <a:ln/>
        </p:spPr>
        <p:txBody>
          <a:bodyPr wrap="square" lIns="0" tIns="0" rIns="0" bIns="0" rtlCol="0" anchor="ctr"/>
          <a:lstStyle/>
          <a:p>
            <a:pPr indent="0" marL="0">
              <a:lnSpc>
                <a:spcPct val="100000"/>
              </a:lnSpc>
              <a:buNone/>
            </a:pPr>
            <a:r>
              <a:rPr lang="en-US" sz="1100" dirty="0">
                <a:solidFill>
                  <a:srgbClr val="00357A"/>
                </a:solidFill>
                <a:latin typeface="Poppins" pitchFamily="34" charset="0"/>
                <a:ea typeface="Poppins" pitchFamily="34" charset="-122"/>
                <a:cs typeface="Poppins" pitchFamily="34" charset="-120"/>
              </a:rPr>
              <a:t>The duplicate check working: an identical command is already queued or running.</a:t>
            </a:r>
            <a:endParaRPr lang="en-US" sz="1100" dirty="0"/>
          </a:p>
        </p:txBody>
      </p:sp>
      <p:sp>
        <p:nvSpPr>
          <p:cNvPr id="12" name="Shape 10"/>
          <p:cNvSpPr/>
          <p:nvPr/>
        </p:nvSpPr>
        <p:spPr>
          <a:xfrm>
            <a:off x="457200" y="2907792"/>
            <a:ext cx="11292840" cy="658368"/>
          </a:xfrm>
          <a:prstGeom prst="roundRect">
            <a:avLst>
              <a:gd name="adj" fmla="val 9722"/>
            </a:avLst>
          </a:prstGeom>
          <a:solidFill>
            <a:srgbClr val="DCEBF7"/>
          </a:solidFill>
          <a:ln/>
        </p:spPr>
      </p:sp>
      <p:sp>
        <p:nvSpPr>
          <p:cNvPr id="13" name="Shape 11"/>
          <p:cNvSpPr/>
          <p:nvPr/>
        </p:nvSpPr>
        <p:spPr>
          <a:xfrm>
            <a:off x="457200" y="2907792"/>
            <a:ext cx="82296" cy="658368"/>
          </a:xfrm>
          <a:prstGeom prst="roundRect">
            <a:avLst>
              <a:gd name="adj" fmla="val 22222"/>
            </a:avLst>
          </a:prstGeom>
          <a:solidFill>
            <a:srgbClr val="0097A7"/>
          </a:solidFill>
          <a:ln/>
        </p:spPr>
      </p:sp>
      <p:sp>
        <p:nvSpPr>
          <p:cNvPr id="14" name="Text 12"/>
          <p:cNvSpPr/>
          <p:nvPr/>
        </p:nvSpPr>
        <p:spPr>
          <a:xfrm>
            <a:off x="713232" y="2907792"/>
            <a:ext cx="3017520" cy="658368"/>
          </a:xfrm>
          <a:prstGeom prst="rect">
            <a:avLst/>
          </a:prstGeom>
          <a:noFill/>
          <a:ln/>
        </p:spPr>
        <p:txBody>
          <a:bodyPr wrap="square" lIns="0" tIns="0" rIns="0" bIns="0" rtlCol="0" anchor="ctr"/>
          <a:lstStyle/>
          <a:p>
            <a:pPr indent="0" marL="0">
              <a:buNone/>
            </a:pPr>
            <a:r>
              <a:rPr lang="en-US" sz="1250" b="1" dirty="0">
                <a:solidFill>
                  <a:srgbClr val="0097A7"/>
                </a:solidFill>
                <a:latin typeface="Poppins" pitchFamily="34" charset="0"/>
                <a:ea typeface="Poppins" pitchFamily="34" charset="-122"/>
                <a:cs typeface="Poppins" pitchFamily="34" charset="-120"/>
              </a:rPr>
              <a:t>Records stuck at 'N'</a:t>
            </a:r>
            <a:endParaRPr lang="en-US" sz="1250" dirty="0"/>
          </a:p>
        </p:txBody>
      </p:sp>
      <p:sp>
        <p:nvSpPr>
          <p:cNvPr id="15" name="Text 13"/>
          <p:cNvSpPr/>
          <p:nvPr/>
        </p:nvSpPr>
        <p:spPr>
          <a:xfrm>
            <a:off x="3794760" y="2907792"/>
            <a:ext cx="7772400" cy="658368"/>
          </a:xfrm>
          <a:prstGeom prst="rect">
            <a:avLst/>
          </a:prstGeom>
          <a:noFill/>
          <a:ln/>
        </p:spPr>
        <p:txBody>
          <a:bodyPr wrap="square" lIns="0" tIns="0" rIns="0" bIns="0" rtlCol="0" anchor="ctr"/>
          <a:lstStyle/>
          <a:p>
            <a:pPr indent="0" marL="0">
              <a:lnSpc>
                <a:spcPct val="100000"/>
              </a:lnSpc>
              <a:buNone/>
            </a:pPr>
            <a:r>
              <a:rPr lang="en-US" sz="1100" dirty="0">
                <a:solidFill>
                  <a:srgbClr val="00357A"/>
                </a:solidFill>
                <a:latin typeface="Poppins" pitchFamily="34" charset="0"/>
                <a:ea typeface="Poppins" pitchFamily="34" charset="-122"/>
                <a:cs typeface="Poppins" pitchFamily="34" charset="-120"/>
              </a:rPr>
              <a:t>Tarring never reached them — the 23-hour guard, or the dataset was locked. Resolves next run.</a:t>
            </a:r>
            <a:endParaRPr lang="en-US" sz="1100" dirty="0"/>
          </a:p>
        </p:txBody>
      </p:sp>
      <p:sp>
        <p:nvSpPr>
          <p:cNvPr id="16" name="Shape 14"/>
          <p:cNvSpPr/>
          <p:nvPr/>
        </p:nvSpPr>
        <p:spPr>
          <a:xfrm>
            <a:off x="457200" y="3639312"/>
            <a:ext cx="11292840" cy="658368"/>
          </a:xfrm>
          <a:prstGeom prst="roundRect">
            <a:avLst>
              <a:gd name="adj" fmla="val 9722"/>
            </a:avLst>
          </a:prstGeom>
          <a:solidFill>
            <a:srgbClr val="DCEBF7"/>
          </a:solidFill>
          <a:ln/>
        </p:spPr>
      </p:sp>
      <p:sp>
        <p:nvSpPr>
          <p:cNvPr id="17" name="Shape 15"/>
          <p:cNvSpPr/>
          <p:nvPr/>
        </p:nvSpPr>
        <p:spPr>
          <a:xfrm>
            <a:off x="457200" y="3639312"/>
            <a:ext cx="82296" cy="658368"/>
          </a:xfrm>
          <a:prstGeom prst="roundRect">
            <a:avLst>
              <a:gd name="adj" fmla="val 22222"/>
            </a:avLst>
          </a:prstGeom>
          <a:solidFill>
            <a:srgbClr val="C25E00"/>
          </a:solidFill>
          <a:ln/>
        </p:spPr>
      </p:sp>
      <p:sp>
        <p:nvSpPr>
          <p:cNvPr id="18" name="Text 16"/>
          <p:cNvSpPr/>
          <p:nvPr/>
        </p:nvSpPr>
        <p:spPr>
          <a:xfrm>
            <a:off x="713232" y="3639312"/>
            <a:ext cx="3017520" cy="658368"/>
          </a:xfrm>
          <a:prstGeom prst="rect">
            <a:avLst/>
          </a:prstGeom>
          <a:noFill/>
          <a:ln/>
        </p:spPr>
        <p:txBody>
          <a:bodyPr wrap="square" lIns="0" tIns="0" rIns="0" bIns="0" rtlCol="0" anchor="ctr"/>
          <a:lstStyle/>
          <a:p>
            <a:pPr indent="0" marL="0">
              <a:buNone/>
            </a:pPr>
            <a:r>
              <a:rPr lang="en-US" sz="1250" b="1" dirty="0">
                <a:solidFill>
                  <a:srgbClr val="C25E00"/>
                </a:solidFill>
                <a:latin typeface="Poppins" pitchFamily="34" charset="0"/>
                <a:ea typeface="Poppins" pitchFamily="34" charset="-122"/>
                <a:cs typeface="Poppins" pitchFamily="34" charset="-120"/>
              </a:rPr>
              <a:t>Records stuck at 'T'</a:t>
            </a:r>
            <a:endParaRPr lang="en-US" sz="1250" dirty="0"/>
          </a:p>
        </p:txBody>
      </p:sp>
      <p:sp>
        <p:nvSpPr>
          <p:cNvPr id="19" name="Text 17"/>
          <p:cNvSpPr/>
          <p:nvPr/>
        </p:nvSpPr>
        <p:spPr>
          <a:xfrm>
            <a:off x="3794760" y="3639312"/>
            <a:ext cx="7772400" cy="658368"/>
          </a:xfrm>
          <a:prstGeom prst="rect">
            <a:avLst/>
          </a:prstGeom>
          <a:noFill/>
          <a:ln/>
        </p:spPr>
        <p:txBody>
          <a:bodyPr wrap="square" lIns="0" tIns="0" rIns="0" bIns="0" rtlCol="0" anchor="ctr"/>
          <a:lstStyle/>
          <a:p>
            <a:pPr indent="0" marL="0">
              <a:lnSpc>
                <a:spcPct val="100000"/>
              </a:lnSpc>
              <a:buNone/>
            </a:pPr>
            <a:r>
              <a:rPr lang="en-US" sz="1100" dirty="0">
                <a:solidFill>
                  <a:srgbClr val="00357A"/>
                </a:solidFill>
                <a:latin typeface="Poppins" pitchFamily="34" charset="0"/>
                <a:ea typeface="Poppins" pitchFamily="34" charset="-122"/>
                <a:cs typeface="Poppins" pitchFamily="34" charset="-120"/>
              </a:rPr>
              <a:t>Built but not transferred. Run  -A 4 . If the local tar is gone the record resets to 'N'.</a:t>
            </a:r>
            <a:endParaRPr lang="en-US" sz="1100" dirty="0"/>
          </a:p>
        </p:txBody>
      </p:sp>
      <p:sp>
        <p:nvSpPr>
          <p:cNvPr id="20" name="Shape 18"/>
          <p:cNvSpPr/>
          <p:nvPr/>
        </p:nvSpPr>
        <p:spPr>
          <a:xfrm>
            <a:off x="457200" y="4370832"/>
            <a:ext cx="11292840" cy="658368"/>
          </a:xfrm>
          <a:prstGeom prst="roundRect">
            <a:avLst>
              <a:gd name="adj" fmla="val 9722"/>
            </a:avLst>
          </a:prstGeom>
          <a:solidFill>
            <a:srgbClr val="DCEBF7"/>
          </a:solidFill>
          <a:ln/>
        </p:spPr>
      </p:sp>
      <p:sp>
        <p:nvSpPr>
          <p:cNvPr id="21" name="Shape 19"/>
          <p:cNvSpPr/>
          <p:nvPr/>
        </p:nvSpPr>
        <p:spPr>
          <a:xfrm>
            <a:off x="457200" y="4370832"/>
            <a:ext cx="82296" cy="658368"/>
          </a:xfrm>
          <a:prstGeom prst="roundRect">
            <a:avLst>
              <a:gd name="adj" fmla="val 22222"/>
            </a:avLst>
          </a:prstGeom>
          <a:solidFill>
            <a:srgbClr val="0057C2"/>
          </a:solidFill>
          <a:ln/>
        </p:spPr>
      </p:sp>
      <p:sp>
        <p:nvSpPr>
          <p:cNvPr id="22" name="Text 20"/>
          <p:cNvSpPr/>
          <p:nvPr/>
        </p:nvSpPr>
        <p:spPr>
          <a:xfrm>
            <a:off x="713232" y="4370832"/>
            <a:ext cx="3017520" cy="658368"/>
          </a:xfrm>
          <a:prstGeom prst="rect">
            <a:avLst/>
          </a:prstGeom>
          <a:noFill/>
          <a:ln/>
        </p:spPr>
        <p:txBody>
          <a:bodyPr wrap="square" lIns="0" tIns="0" rIns="0" bIns="0" rtlCol="0" anchor="ctr"/>
          <a:lstStyle/>
          <a:p>
            <a:pPr indent="0" marL="0">
              <a:buNone/>
            </a:pPr>
            <a:r>
              <a:rPr lang="en-US" sz="1250" b="1" dirty="0">
                <a:solidFill>
                  <a:srgbClr val="0057C2"/>
                </a:solidFill>
                <a:latin typeface="Poppins" pitchFamily="34" charset="0"/>
                <a:ea typeface="Poppins" pitchFamily="34" charset="-122"/>
                <a:cs typeface="Poppins" pitchFamily="34" charset="-120"/>
              </a:rPr>
              <a:t>Sizes disagree with tape</a:t>
            </a:r>
            <a:endParaRPr lang="en-US" sz="1250" dirty="0"/>
          </a:p>
        </p:txBody>
      </p:sp>
      <p:sp>
        <p:nvSpPr>
          <p:cNvPr id="23" name="Text 21"/>
          <p:cNvSpPr/>
          <p:nvPr/>
        </p:nvSpPr>
        <p:spPr>
          <a:xfrm>
            <a:off x="3794760" y="4370832"/>
            <a:ext cx="7772400" cy="658368"/>
          </a:xfrm>
          <a:prstGeom prst="rect">
            <a:avLst/>
          </a:prstGeom>
          <a:noFill/>
          <a:ln/>
        </p:spPr>
        <p:txBody>
          <a:bodyPr wrap="square" lIns="0" tIns="0" rIns="0" bIns="0" rtlCol="0" anchor="ctr"/>
          <a:lstStyle/>
          <a:p>
            <a:pPr indent="0" marL="0">
              <a:lnSpc>
                <a:spcPct val="100000"/>
              </a:lnSpc>
              <a:buNone/>
            </a:pPr>
            <a:r>
              <a:rPr lang="en-US" sz="1100" dirty="0">
                <a:solidFill>
                  <a:srgbClr val="00357A"/>
                </a:solidFill>
                <a:latin typeface="Poppins" pitchFamily="34" charset="0"/>
                <a:ea typeface="Poppins" pitchFamily="34" charset="-122"/>
                <a:cs typeface="Poppins" pitchFamily="34" charset="-120"/>
              </a:rPr>
              <a:t>Run  -A 8  — mismatched records reset to 'N' and are redone from the archive.</a:t>
            </a:r>
            <a:endParaRPr lang="en-US" sz="1100" dirty="0"/>
          </a:p>
        </p:txBody>
      </p:sp>
      <p:sp>
        <p:nvSpPr>
          <p:cNvPr id="24" name="Shape 22"/>
          <p:cNvSpPr/>
          <p:nvPr/>
        </p:nvSpPr>
        <p:spPr>
          <a:xfrm>
            <a:off x="457200" y="5102352"/>
            <a:ext cx="11292840" cy="658368"/>
          </a:xfrm>
          <a:prstGeom prst="roundRect">
            <a:avLst>
              <a:gd name="adj" fmla="val 9722"/>
            </a:avLst>
          </a:prstGeom>
          <a:solidFill>
            <a:srgbClr val="DCEBF7"/>
          </a:solidFill>
          <a:ln/>
        </p:spPr>
      </p:sp>
      <p:sp>
        <p:nvSpPr>
          <p:cNvPr id="25" name="Shape 23"/>
          <p:cNvSpPr/>
          <p:nvPr/>
        </p:nvSpPr>
        <p:spPr>
          <a:xfrm>
            <a:off x="457200" y="5102352"/>
            <a:ext cx="82296" cy="658368"/>
          </a:xfrm>
          <a:prstGeom prst="roundRect">
            <a:avLst>
              <a:gd name="adj" fmla="val 22222"/>
            </a:avLst>
          </a:prstGeom>
          <a:solidFill>
            <a:srgbClr val="0092DB"/>
          </a:solidFill>
          <a:ln/>
        </p:spPr>
      </p:sp>
      <p:sp>
        <p:nvSpPr>
          <p:cNvPr id="26" name="Text 24"/>
          <p:cNvSpPr/>
          <p:nvPr/>
        </p:nvSpPr>
        <p:spPr>
          <a:xfrm>
            <a:off x="713232" y="5102352"/>
            <a:ext cx="3017520" cy="658368"/>
          </a:xfrm>
          <a:prstGeom prst="rect">
            <a:avLst/>
          </a:prstGeom>
          <a:noFill/>
          <a:ln/>
        </p:spPr>
        <p:txBody>
          <a:bodyPr wrap="square" lIns="0" tIns="0" rIns="0" bIns="0" rtlCol="0" anchor="ctr"/>
          <a:lstStyle/>
          <a:p>
            <a:pPr indent="0" marL="0">
              <a:buNone/>
            </a:pPr>
            <a:r>
              <a:rPr lang="en-US" sz="1250" b="1" dirty="0">
                <a:solidFill>
                  <a:srgbClr val="0092DB"/>
                </a:solidFill>
                <a:latin typeface="Poppins" pitchFamily="34" charset="0"/>
                <a:ea typeface="Poppins" pitchFamily="34" charset="-122"/>
                <a:cs typeface="Poppins" pitchFamily="34" charset="-120"/>
              </a:rPr>
              <a:t>Locks left on a dataset</a:t>
            </a:r>
            <a:endParaRPr lang="en-US" sz="1250" dirty="0"/>
          </a:p>
        </p:txBody>
      </p:sp>
      <p:sp>
        <p:nvSpPr>
          <p:cNvPr id="27" name="Text 25"/>
          <p:cNvSpPr/>
          <p:nvPr/>
        </p:nvSpPr>
        <p:spPr>
          <a:xfrm>
            <a:off x="3794760" y="5102352"/>
            <a:ext cx="7772400" cy="658368"/>
          </a:xfrm>
          <a:prstGeom prst="rect">
            <a:avLst/>
          </a:prstGeom>
          <a:noFill/>
          <a:ln/>
        </p:spPr>
        <p:txBody>
          <a:bodyPr wrap="square" lIns="0" tIns="0" rIns="0" bIns="0" rtlCol="0" anchor="ctr"/>
          <a:lstStyle/>
          <a:p>
            <a:pPr indent="0" marL="0">
              <a:lnSpc>
                <a:spcPct val="100000"/>
              </a:lnSpc>
              <a:buNone/>
            </a:pPr>
            <a:r>
              <a:rPr lang="en-US" sz="1100" dirty="0">
                <a:solidFill>
                  <a:srgbClr val="00357A"/>
                </a:solidFill>
                <a:latin typeface="Poppins" pitchFamily="34" charset="0"/>
                <a:ea typeface="Poppins" pitchFamily="34" charset="-122"/>
                <a:cs typeface="Poppins" pitchFamily="34" charset="-120"/>
              </a:rPr>
              <a:t>Dead-process locks are taken over automatically. To clear now:  dsquasar -t &lt;dsid&gt; -u</a:t>
            </a:r>
            <a:endParaRPr lang="en-US" sz="1100" dirty="0"/>
          </a:p>
        </p:txBody>
      </p:sp>
      <p:sp>
        <p:nvSpPr>
          <p:cNvPr id="28" name="Shape 26"/>
          <p:cNvSpPr/>
          <p:nvPr/>
        </p:nvSpPr>
        <p:spPr>
          <a:xfrm>
            <a:off x="457200" y="5852160"/>
            <a:ext cx="9966960" cy="502920"/>
          </a:xfrm>
          <a:prstGeom prst="roundRect">
            <a:avLst>
              <a:gd name="adj" fmla="val 14545"/>
            </a:avLst>
          </a:prstGeom>
          <a:solidFill>
            <a:srgbClr val="011837"/>
          </a:solidFill>
          <a:ln/>
        </p:spPr>
      </p:sp>
      <p:sp>
        <p:nvSpPr>
          <p:cNvPr id="29" name="Text 27"/>
          <p:cNvSpPr/>
          <p:nvPr/>
        </p:nvSpPr>
        <p:spPr>
          <a:xfrm>
            <a:off x="658368" y="5852160"/>
            <a:ext cx="9564624" cy="502920"/>
          </a:xfrm>
          <a:prstGeom prst="rect">
            <a:avLst/>
          </a:prstGeom>
          <a:noFill/>
          <a:ln/>
        </p:spPr>
        <p:txBody>
          <a:bodyPr wrap="square" lIns="0" tIns="0" rIns="0" bIns="0" rtlCol="0" anchor="ctr"/>
          <a:lstStyle/>
          <a:p>
            <a:pPr indent="0" marL="0">
              <a:buNone/>
            </a:pPr>
            <a:r>
              <a:rPr lang="en-US" sz="1100" b="1" dirty="0">
                <a:solidFill>
                  <a:srgbClr val="42C0FF"/>
                </a:solidFill>
                <a:latin typeface="Poppins" pitchFamily="34" charset="0"/>
                <a:ea typeface="Poppins" pitchFamily="34" charset="-122"/>
                <a:cs typeface="Poppins" pitchFamily="34" charset="-120"/>
              </a:rPr>
              <a:t>Statuses only ever move forward on success.  </a:t>
            </a:r>
            <a:pPr indent="0" marL="0">
              <a:buNone/>
            </a:pPr>
            <a:r>
              <a:rPr lang="en-US" sz="1100" dirty="0">
                <a:solidFill>
                  <a:srgbClr val="C3D7EE"/>
                </a:solidFill>
                <a:latin typeface="Poppins" pitchFamily="34" charset="0"/>
                <a:ea typeface="Poppins" pitchFamily="34" charset="-122"/>
                <a:cs typeface="Poppins" pitchFamily="34" charset="-120"/>
              </a:rPr>
              <a:t>Every backwards step — T→N, A→N — is deliberate, and just means the work is queued to be done again.</a:t>
            </a:r>
            <a:endParaRPr lang="en-US" sz="1100" dirty="0"/>
          </a:p>
        </p:txBody>
      </p:sp>
      <p:sp>
        <p:nvSpPr>
          <p:cNvPr id="30" name="Text 28"/>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26</a:t>
            </a:r>
            <a:endParaRPr lang="en-US" sz="950" dirty="0"/>
          </a:p>
        </p:txBody>
      </p:sp>
      <p:sp>
        <p:nvSpPr>
          <p:cNvPr id="31" name="Text 29"/>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7A7"/>
                </a:solidFill>
                <a:latin typeface="Poppins" pitchFamily="34" charset="0"/>
                <a:ea typeface="Poppins" pitchFamily="34" charset="-122"/>
                <a:cs typeface="Poppins" pitchFamily="34" charset="-120"/>
              </a:rPr>
              <a:t>RECOVERY</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Getting Data Back Off Tape</a:t>
            </a:r>
            <a:endParaRPr lang="en-US" sz="3200" dirty="0"/>
          </a:p>
        </p:txBody>
      </p:sp>
      <p:sp>
        <p:nvSpPr>
          <p:cNvPr id="4" name="Text 2"/>
          <p:cNvSpPr/>
          <p:nvPr/>
        </p:nvSpPr>
        <p:spPr>
          <a:xfrm>
            <a:off x="457200" y="1463040"/>
            <a:ext cx="11292840" cy="457200"/>
          </a:xfrm>
          <a:prstGeom prst="rect">
            <a:avLst/>
          </a:prstGeom>
          <a:noFill/>
          <a:ln/>
        </p:spPr>
        <p:txBody>
          <a:bodyPr wrap="square" lIns="0" tIns="0" rIns="0" bIns="0" rtlCol="0" anchor="t"/>
          <a:lstStyle/>
          <a:p>
            <a:pPr indent="0" marL="0">
              <a:lnSpc>
                <a:spcPct val="110000"/>
              </a:lnSpc>
              <a:buNone/>
            </a:pPr>
            <a:r>
              <a:rPr lang="en-US" sz="1450" dirty="0">
                <a:solidFill>
                  <a:srgbClr val="00357A"/>
                </a:solidFill>
                <a:latin typeface="Poppins" pitchFamily="34" charset="0"/>
                <a:ea typeface="Poppins" pitchFamily="34" charset="-122"/>
                <a:cs typeface="Poppins" pitchFamily="34" charset="-120"/>
              </a:rPr>
              <a:t>Backing up is only half the point. Because every tar is recorded in GDEXDB with the datasets and files it contains, recovery is a lookup rather than a search of the tape.</a:t>
            </a:r>
            <a:endParaRPr lang="en-US" sz="1450" dirty="0"/>
          </a:p>
        </p:txBody>
      </p:sp>
      <p:sp>
        <p:nvSpPr>
          <p:cNvPr id="5" name="Shape 3"/>
          <p:cNvSpPr/>
          <p:nvPr/>
        </p:nvSpPr>
        <p:spPr>
          <a:xfrm>
            <a:off x="457200" y="2057400"/>
            <a:ext cx="5532120" cy="2377440"/>
          </a:xfrm>
          <a:prstGeom prst="roundRect">
            <a:avLst>
              <a:gd name="adj" fmla="val 3846"/>
            </a:avLst>
          </a:prstGeom>
          <a:solidFill>
            <a:srgbClr val="FFFFFF"/>
          </a:solidFill>
          <a:ln w="19050">
            <a:solidFill>
              <a:srgbClr val="0057C2"/>
            </a:solidFill>
            <a:prstDash val="solid"/>
          </a:ln>
        </p:spPr>
      </p:sp>
      <p:sp>
        <p:nvSpPr>
          <p:cNvPr id="6" name="Text 4"/>
          <p:cNvSpPr/>
          <p:nvPr/>
        </p:nvSpPr>
        <p:spPr>
          <a:xfrm>
            <a:off x="685800" y="2212848"/>
            <a:ext cx="5120640" cy="320040"/>
          </a:xfrm>
          <a:prstGeom prst="rect">
            <a:avLst/>
          </a:prstGeom>
          <a:noFill/>
          <a:ln/>
        </p:spPr>
        <p:txBody>
          <a:bodyPr wrap="square" lIns="0" tIns="0" rIns="0" bIns="0" rtlCol="0" anchor="ctr"/>
          <a:lstStyle/>
          <a:p>
            <a:pPr indent="0" marL="0">
              <a:buNone/>
            </a:pPr>
            <a:r>
              <a:rPr lang="en-US" sz="1500" b="1" dirty="0">
                <a:solidFill>
                  <a:srgbClr val="0057C2"/>
                </a:solidFill>
                <a:latin typeface="Poppins" pitchFamily="34" charset="0"/>
                <a:ea typeface="Poppins" pitchFamily="34" charset="-122"/>
                <a:cs typeface="Poppins" pitchFamily="34" charset="-120"/>
              </a:rPr>
              <a:t>Restore through dsarch</a:t>
            </a:r>
            <a:endParaRPr lang="en-US" sz="1500" dirty="0"/>
          </a:p>
        </p:txBody>
      </p:sp>
      <p:sp>
        <p:nvSpPr>
          <p:cNvPr id="7" name="Text 5"/>
          <p:cNvSpPr/>
          <p:nvPr/>
        </p:nvSpPr>
        <p:spPr>
          <a:xfrm>
            <a:off x="685800" y="2542032"/>
            <a:ext cx="5120640" cy="548640"/>
          </a:xfrm>
          <a:prstGeom prst="rect">
            <a:avLst/>
          </a:prstGeom>
          <a:noFill/>
          <a:ln/>
        </p:spPr>
        <p:txBody>
          <a:bodyPr wrap="square" lIns="0" tIns="0" rIns="0" bIns="0" rtlCol="0" anchor="t"/>
          <a:lstStyle/>
          <a:p>
            <a:pPr indent="0" marL="0">
              <a:lnSpc>
                <a:spcPct val="105000"/>
              </a:lnSpc>
              <a:buNone/>
            </a:pPr>
            <a:r>
              <a:rPr lang="en-US" sz="1150" dirty="0">
                <a:solidFill>
                  <a:srgbClr val="53565A"/>
                </a:solidFill>
                <a:latin typeface="Poppins" pitchFamily="34" charset="0"/>
                <a:ea typeface="Poppins" pitchFamily="34" charset="-122"/>
                <a:cs typeface="Poppins" pitchFamily="34" charset="-120"/>
              </a:rPr>
              <a:t>dsquasar writes the backup; dsarch reads it back. The -RQ action pulls a tar from Quasar and unpacks the requested files.</a:t>
            </a:r>
            <a:endParaRPr lang="en-US" sz="1150" dirty="0"/>
          </a:p>
        </p:txBody>
      </p:sp>
      <p:sp>
        <p:nvSpPr>
          <p:cNvPr id="8" name="Shape 6"/>
          <p:cNvSpPr/>
          <p:nvPr/>
        </p:nvSpPr>
        <p:spPr>
          <a:xfrm>
            <a:off x="685800" y="3154680"/>
            <a:ext cx="5120640" cy="502920"/>
          </a:xfrm>
          <a:prstGeom prst="roundRect">
            <a:avLst>
              <a:gd name="adj" fmla="val 9091"/>
            </a:avLst>
          </a:prstGeom>
          <a:solidFill>
            <a:srgbClr val="011837"/>
          </a:solidFill>
          <a:ln/>
        </p:spPr>
      </p:sp>
      <p:sp>
        <p:nvSpPr>
          <p:cNvPr id="9" name="Text 7"/>
          <p:cNvSpPr/>
          <p:nvPr/>
        </p:nvSpPr>
        <p:spPr>
          <a:xfrm>
            <a:off x="813816" y="3154680"/>
            <a:ext cx="4864608" cy="502920"/>
          </a:xfrm>
          <a:prstGeom prst="rect">
            <a:avLst/>
          </a:prstGeom>
          <a:noFill/>
          <a:ln/>
        </p:spPr>
        <p:txBody>
          <a:bodyPr wrap="square" lIns="0" tIns="0" rIns="0" bIns="0" rtlCol="0" anchor="ctr"/>
          <a:lstStyle/>
          <a:p>
            <a:pPr indent="0" marL="0">
              <a:lnSpc>
                <a:spcPct val="100000"/>
              </a:lnSpc>
              <a:buNone/>
            </a:pPr>
            <a:r>
              <a:rPr lang="en-US" sz="1300" dirty="0">
                <a:solidFill>
                  <a:srgbClr val="0097A7"/>
                </a:solidFill>
                <a:latin typeface="Courier New" pitchFamily="34" charset="0"/>
                <a:ea typeface="Courier New" pitchFamily="34" charset="-122"/>
                <a:cs typeface="Courier New" pitchFamily="34" charset="-120"/>
              </a:rPr>
              <a:t>dsarch &lt;dsid&gt; -RQ ...</a:t>
            </a:r>
            <a:endParaRPr lang="en-US" sz="1300" dirty="0"/>
          </a:p>
        </p:txBody>
      </p:sp>
      <p:sp>
        <p:nvSpPr>
          <p:cNvPr id="10" name="Text 8"/>
          <p:cNvSpPr/>
          <p:nvPr/>
        </p:nvSpPr>
        <p:spPr>
          <a:xfrm>
            <a:off x="685800" y="3749040"/>
            <a:ext cx="5120640" cy="548640"/>
          </a:xfrm>
          <a:prstGeom prst="rect">
            <a:avLst/>
          </a:prstGeom>
          <a:noFill/>
          <a:ln/>
        </p:spPr>
        <p:txBody>
          <a:bodyPr wrap="square" lIns="0" tIns="0" rIns="0" bIns="0" rtlCol="0" anchor="t"/>
          <a:lstStyle/>
          <a:p>
            <a:pPr indent="0" marL="0">
              <a:lnSpc>
                <a:spcPct val="105000"/>
              </a:lnSpc>
              <a:buNone/>
            </a:pPr>
            <a:r>
              <a:rPr lang="en-US" sz="1100" dirty="0">
                <a:solidFill>
                  <a:srgbClr val="00357A"/>
                </a:solidFill>
                <a:latin typeface="Poppins" pitchFamily="34" charset="0"/>
                <a:ea typeface="Poppins" pitchFamily="34" charset="-122"/>
                <a:cs typeface="Poppins" pitchFamily="34" charset="-120"/>
              </a:rPr>
              <a:t>The bfile record supplies the tar name, the end point and the path, so the operator does not have to know where on tape the file sits.</a:t>
            </a:r>
            <a:endParaRPr lang="en-US" sz="1100" dirty="0"/>
          </a:p>
        </p:txBody>
      </p:sp>
      <p:sp>
        <p:nvSpPr>
          <p:cNvPr id="11" name="Shape 9"/>
          <p:cNvSpPr/>
          <p:nvPr/>
        </p:nvSpPr>
        <p:spPr>
          <a:xfrm>
            <a:off x="6309360" y="2057400"/>
            <a:ext cx="5440680" cy="2377440"/>
          </a:xfrm>
          <a:prstGeom prst="roundRect">
            <a:avLst>
              <a:gd name="adj" fmla="val 3846"/>
            </a:avLst>
          </a:prstGeom>
          <a:solidFill>
            <a:srgbClr val="FFFFFF"/>
          </a:solidFill>
          <a:ln w="19050">
            <a:solidFill>
              <a:srgbClr val="0097A7"/>
            </a:solidFill>
            <a:prstDash val="solid"/>
          </a:ln>
        </p:spPr>
      </p:sp>
      <p:sp>
        <p:nvSpPr>
          <p:cNvPr id="12" name="Text 10"/>
          <p:cNvSpPr/>
          <p:nvPr/>
        </p:nvSpPr>
        <p:spPr>
          <a:xfrm>
            <a:off x="6537960" y="2212848"/>
            <a:ext cx="5029200" cy="320040"/>
          </a:xfrm>
          <a:prstGeom prst="rect">
            <a:avLst/>
          </a:prstGeom>
          <a:noFill/>
          <a:ln/>
        </p:spPr>
        <p:txBody>
          <a:bodyPr wrap="square" lIns="0" tIns="0" rIns="0" bIns="0" rtlCol="0" anchor="ctr"/>
          <a:lstStyle/>
          <a:p>
            <a:pPr indent="0" marL="0">
              <a:buNone/>
            </a:pPr>
            <a:r>
              <a:rPr lang="en-US" sz="1500" b="1" dirty="0">
                <a:solidFill>
                  <a:srgbClr val="0097A7"/>
                </a:solidFill>
                <a:latin typeface="Poppins" pitchFamily="34" charset="0"/>
                <a:ea typeface="Poppins" pitchFamily="34" charset="-122"/>
                <a:cs typeface="Poppins" pitchFamily="34" charset="-120"/>
              </a:rPr>
              <a:t>Two independent copies</a:t>
            </a:r>
            <a:endParaRPr lang="en-US" sz="1500" dirty="0"/>
          </a:p>
        </p:txBody>
      </p:sp>
      <p:sp>
        <p:nvSpPr>
          <p:cNvPr id="13" name="Text 11"/>
          <p:cNvSpPr/>
          <p:nvPr/>
        </p:nvSpPr>
        <p:spPr>
          <a:xfrm>
            <a:off x="6537960" y="2542032"/>
            <a:ext cx="5029200" cy="502920"/>
          </a:xfrm>
          <a:prstGeom prst="rect">
            <a:avLst/>
          </a:prstGeom>
          <a:noFill/>
          <a:ln/>
        </p:spPr>
        <p:txBody>
          <a:bodyPr wrap="square" lIns="0" tIns="0" rIns="0" bIns="0" rtlCol="0" anchor="t"/>
          <a:lstStyle/>
          <a:p>
            <a:pPr indent="0" marL="0">
              <a:lnSpc>
                <a:spcPct val="105000"/>
              </a:lnSpc>
              <a:buNone/>
            </a:pPr>
            <a:r>
              <a:rPr lang="en-US" sz="1100" dirty="0">
                <a:solidFill>
                  <a:srgbClr val="53565A"/>
                </a:solidFill>
                <a:latin typeface="Poppins" pitchFamily="34" charset="0"/>
                <a:ea typeface="Poppins" pitchFamily="34" charset="-122"/>
                <a:cs typeface="Poppins" pitchFamily="34" charset="-120"/>
              </a:rPr>
              <a:t>A dataset flagged D is written to both end points, Drdata first, so an interrupted run still leaves the DR copy complete.</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537960" y="3127248"/>
          <a:ext cx="5029200" cy="914400"/>
        </p:xfrm>
        <a:graphic>
          <a:graphicData uri="http://schemas.openxmlformats.org/drawingml/2006/table">
            <a:tbl>
              <a:tblPr/>
              <a:tblGrid>
                <a:gridCol w="1828800"/>
                <a:gridCol w="3200400"/>
              </a:tblGrid>
              <a:tr h="365760">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End point</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7A7"/>
                    </a:solidFill>
                  </a:tcPr>
                </a:tc>
                <a:tc>
                  <a:txBody>
                    <a:bodyPr/>
                    <a:lstStyle/>
                    <a:p>
                      <a:pPr indent="0" marL="0">
                        <a:buNone/>
                      </a:pPr>
                      <a:r>
                        <a:rPr lang="en-US" sz="1200" b="1" dirty="0">
                          <a:solidFill>
                            <a:srgbClr val="FFFFFF"/>
                          </a:solidFill>
                          <a:latin typeface="Poppins" pitchFamily="34" charset="0"/>
                          <a:ea typeface="Poppins" pitchFamily="34" charset="-122"/>
                          <a:cs typeface="Poppins" pitchFamily="34" charset="-120"/>
                        </a:rPr>
                        <a:t>Copy</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0097A7"/>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gdex-quasar</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primary Backup copy</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097A7"/>
                          </a:solidFill>
                          <a:latin typeface="Courier New" pitchFamily="34" charset="0"/>
                          <a:ea typeface="Courier New" pitchFamily="34" charset="-122"/>
                          <a:cs typeface="Courier New" pitchFamily="34" charset="-120"/>
                        </a:rPr>
                        <a:t>gdex-quasar-drdata</a:t>
                      </a:r>
                      <a:endParaRPr lang="en-US" sz="12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200" dirty="0">
                          <a:solidFill>
                            <a:srgbClr val="00357A"/>
                          </a:solidFill>
                          <a:latin typeface="Poppins" pitchFamily="34" charset="0"/>
                          <a:ea typeface="Poppins" pitchFamily="34" charset="-122"/>
                          <a:cs typeface="Poppins" pitchFamily="34" charset="-120"/>
                        </a:rPr>
                        <a:t>disaster-recovery copy</a:t>
                      </a:r>
                      <a:endParaRPr lang="en-US" sz="12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bl>
          </a:graphicData>
        </a:graphic>
      </p:graphicFrame>
      <p:sp>
        <p:nvSpPr>
          <p:cNvPr id="15" name="Text 12"/>
          <p:cNvSpPr/>
          <p:nvPr/>
        </p:nvSpPr>
        <p:spPr>
          <a:xfrm>
            <a:off x="457200" y="4709160"/>
            <a:ext cx="11292840" cy="320040"/>
          </a:xfrm>
          <a:prstGeom prst="rect">
            <a:avLst/>
          </a:prstGeom>
          <a:noFill/>
          <a:ln/>
        </p:spPr>
        <p:txBody>
          <a:bodyPr wrap="square" lIns="0" tIns="0" rIns="0" bIns="0" rtlCol="0" anchor="ctr"/>
          <a:lstStyle/>
          <a:p>
            <a:pPr indent="0" marL="0">
              <a:buNone/>
            </a:pPr>
            <a:r>
              <a:rPr lang="en-US" sz="1500" b="1" dirty="0">
                <a:solidFill>
                  <a:srgbClr val="00357A"/>
                </a:solidFill>
                <a:latin typeface="Poppins" pitchFamily="34" charset="0"/>
                <a:ea typeface="Poppins" pitchFamily="34" charset="-122"/>
                <a:cs typeface="Poppins" pitchFamily="34" charset="-120"/>
              </a:rPr>
              <a:t>No separate recovery tool</a:t>
            </a:r>
            <a:endParaRPr lang="en-US" sz="1500" dirty="0"/>
          </a:p>
        </p:txBody>
      </p:sp>
      <p:sp>
        <p:nvSpPr>
          <p:cNvPr id="16" name="Text 13"/>
          <p:cNvSpPr/>
          <p:nvPr/>
        </p:nvSpPr>
        <p:spPr>
          <a:xfrm>
            <a:off x="457200" y="5047488"/>
            <a:ext cx="11292840" cy="548640"/>
          </a:xfrm>
          <a:prstGeom prst="rect">
            <a:avLst/>
          </a:prstGeom>
          <a:noFill/>
          <a:ln/>
        </p:spPr>
        <p:txBody>
          <a:bodyPr wrap="square" lIns="0" tIns="0" rIns="0" bIns="0" rtlCol="0" anchor="t"/>
          <a:lstStyle/>
          <a:p>
            <a:pPr indent="0" marL="0">
              <a:lnSpc>
                <a:spcPct val="105000"/>
              </a:lnSpc>
              <a:buNone/>
            </a:pPr>
            <a:r>
              <a:rPr lang="en-US" sz="1200" dirty="0">
                <a:solidFill>
                  <a:srgbClr val="53565A"/>
                </a:solidFill>
                <a:latin typeface="Poppins" pitchFamily="34" charset="0"/>
                <a:ea typeface="Poppins" pitchFamily="34" charset="-122"/>
                <a:cs typeface="Poppins" pitchFamily="34" charset="-120"/>
              </a:rPr>
              <a:t>Nothing extra to install: the same dsarch that stages files for the backup also reads them back. Point -RQ at a dataset and file, and it fetches the right tar from the right end point and unpacks only what you asked for.</a:t>
            </a:r>
            <a:endParaRPr lang="en-US" sz="1200" dirty="0"/>
          </a:p>
        </p:txBody>
      </p:sp>
      <p:sp>
        <p:nvSpPr>
          <p:cNvPr id="17" name="Shape 14"/>
          <p:cNvSpPr/>
          <p:nvPr/>
        </p:nvSpPr>
        <p:spPr>
          <a:xfrm>
            <a:off x="457200" y="5669280"/>
            <a:ext cx="11292840" cy="548640"/>
          </a:xfrm>
          <a:prstGeom prst="roundRect">
            <a:avLst>
              <a:gd name="adj" fmla="val 13333"/>
            </a:avLst>
          </a:prstGeom>
          <a:solidFill>
            <a:srgbClr val="C7E4F5"/>
          </a:solidFill>
          <a:ln w="12700">
            <a:solidFill>
              <a:srgbClr val="A9D6F2"/>
            </a:solidFill>
            <a:prstDash val="solid"/>
          </a:ln>
        </p:spPr>
      </p:sp>
      <p:sp>
        <p:nvSpPr>
          <p:cNvPr id="18" name="Text 15"/>
          <p:cNvSpPr/>
          <p:nvPr/>
        </p:nvSpPr>
        <p:spPr>
          <a:xfrm>
            <a:off x="658368" y="5669280"/>
            <a:ext cx="10881360" cy="548640"/>
          </a:xfrm>
          <a:prstGeom prst="rect">
            <a:avLst/>
          </a:prstGeom>
          <a:noFill/>
          <a:ln/>
        </p:spPr>
        <p:txBody>
          <a:bodyPr wrap="square" lIns="0" tIns="0" rIns="0" bIns="0" rtlCol="0" anchor="ctr"/>
          <a:lstStyle/>
          <a:p>
            <a:pPr indent="0" marL="0">
              <a:buNone/>
            </a:pPr>
            <a:r>
              <a:rPr lang="en-US" sz="1150" b="1" dirty="0">
                <a:solidFill>
                  <a:srgbClr val="0057C2"/>
                </a:solidFill>
                <a:latin typeface="Poppins" pitchFamily="34" charset="0"/>
                <a:ea typeface="Poppins" pitchFamily="34" charset="-122"/>
                <a:cs typeface="Poppins" pitchFamily="34" charset="-120"/>
              </a:rPr>
              <a:t>Verify before you need it.  </a:t>
            </a:r>
            <a:pPr indent="0" marL="0">
              <a:buNone/>
            </a:pPr>
            <a:r>
              <a:rPr lang="en-US" sz="1150" dirty="0">
                <a:solidFill>
                  <a:srgbClr val="00357A"/>
                </a:solidFill>
                <a:latin typeface="Poppins" pitchFamily="34" charset="0"/>
                <a:ea typeface="Poppins" pitchFamily="34" charset="-122"/>
                <a:cs typeface="Poppins" pitchFamily="34" charset="-120"/>
              </a:rPr>
              <a:t>A scheduled  -A 8  run is what turns “we have backups” into “we have backups that match the archive”.</a:t>
            </a:r>
            <a:endParaRPr lang="en-US" sz="1150" dirty="0"/>
          </a:p>
        </p:txBody>
      </p:sp>
      <p:sp>
        <p:nvSpPr>
          <p:cNvPr id="19" name="Text 16"/>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27</a:t>
            </a:r>
            <a:endParaRPr lang="en-US" sz="950" dirty="0"/>
          </a:p>
        </p:txBody>
      </p:sp>
      <p:sp>
        <p:nvSpPr>
          <p:cNvPr id="20" name="Text 17"/>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0097A7"/>
                </a:solidFill>
                <a:latin typeface="Poppins" pitchFamily="34" charset="0"/>
                <a:ea typeface="Poppins" pitchFamily="34" charset="-122"/>
                <a:cs typeface="Poppins" pitchFamily="34" charset="-120"/>
              </a:rPr>
              <a:t>RECOVERY</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dsarch -RQ  —  How a File Comes Back</a:t>
            </a:r>
            <a:endParaRPr lang="en-US" sz="3200" dirty="0"/>
          </a:p>
        </p:txBody>
      </p:sp>
      <p:sp>
        <p:nvSpPr>
          <p:cNvPr id="4" name="Text 2"/>
          <p:cNvSpPr/>
          <p:nvPr/>
        </p:nvSpPr>
        <p:spPr>
          <a:xfrm>
            <a:off x="457200" y="1463040"/>
            <a:ext cx="11292840" cy="457200"/>
          </a:xfrm>
          <a:prstGeom prst="rect">
            <a:avLst/>
          </a:prstGeom>
          <a:noFill/>
          <a:ln/>
        </p:spPr>
        <p:txBody>
          <a:bodyPr wrap="square" lIns="0" tIns="0" rIns="0" bIns="0" rtlCol="0" anchor="t"/>
          <a:lstStyle/>
          <a:p>
            <a:pPr indent="0" marL="0">
              <a:lnSpc>
                <a:spcPct val="110000"/>
              </a:lnSpc>
              <a:buNone/>
            </a:pPr>
            <a:r>
              <a:rPr lang="en-US" sz="1450" dirty="0">
                <a:solidFill>
                  <a:srgbClr val="00357A"/>
                </a:solidFill>
                <a:latin typeface="Poppins" pitchFamily="34" charset="0"/>
                <a:ea typeface="Poppins" pitchFamily="34" charset="-122"/>
                <a:cs typeface="Poppins" pitchFamily="34" charset="-120"/>
              </a:rPr>
              <a:t>Name the files you want back and dsarch does the rest. The outline below is enough to run a restore; the dsarch guide covers the options in full.</a:t>
            </a:r>
            <a:endParaRPr lang="en-US" sz="1450" dirty="0"/>
          </a:p>
        </p:txBody>
      </p:sp>
      <p:sp>
        <p:nvSpPr>
          <p:cNvPr id="5" name="Shape 3"/>
          <p:cNvSpPr/>
          <p:nvPr/>
        </p:nvSpPr>
        <p:spPr>
          <a:xfrm>
            <a:off x="457200" y="2029968"/>
            <a:ext cx="11292840" cy="566928"/>
          </a:xfrm>
          <a:prstGeom prst="roundRect">
            <a:avLst>
              <a:gd name="adj" fmla="val 8065"/>
            </a:avLst>
          </a:prstGeom>
          <a:solidFill>
            <a:srgbClr val="011837"/>
          </a:solidFill>
          <a:ln/>
        </p:spPr>
      </p:sp>
      <p:sp>
        <p:nvSpPr>
          <p:cNvPr id="6" name="Text 4"/>
          <p:cNvSpPr/>
          <p:nvPr/>
        </p:nvSpPr>
        <p:spPr>
          <a:xfrm>
            <a:off x="585216" y="2029968"/>
            <a:ext cx="11036808" cy="566928"/>
          </a:xfrm>
          <a:prstGeom prst="rect">
            <a:avLst/>
          </a:prstGeom>
          <a:noFill/>
          <a:ln/>
        </p:spPr>
        <p:txBody>
          <a:bodyPr wrap="square" lIns="0" tIns="0" rIns="0" bIns="0" rtlCol="0" anchor="ctr"/>
          <a:lstStyle/>
          <a:p>
            <a:pPr indent="0" marL="0">
              <a:lnSpc>
                <a:spcPct val="100000"/>
              </a:lnSpc>
              <a:buNone/>
            </a:pPr>
            <a:r>
              <a:rPr lang="en-US" sz="1250" dirty="0">
                <a:solidFill>
                  <a:srgbClr val="0097A7"/>
                </a:solidFill>
                <a:latin typeface="Courier New" pitchFamily="34" charset="0"/>
                <a:ea typeface="Courier New" pitchFamily="34" charset="-122"/>
                <a:cs typeface="Courier New" pitchFamily="34" charset="-120"/>
              </a:rPr>
              <a:t>dsarch &lt;dsid&gt; -RQ -WF &lt;web files&gt;   [-WT &lt;types&gt;]</a:t>
            </a:r>
            <a:endParaRPr lang="en-US" sz="1250" dirty="0"/>
          </a:p>
          <a:p>
            <a:pPr indent="0" marL="0">
              <a:lnSpc>
                <a:spcPct val="100000"/>
              </a:lnSpc>
              <a:buNone/>
            </a:pPr>
            <a:r>
              <a:rPr lang="en-US" sz="1250" dirty="0">
                <a:solidFill>
                  <a:srgbClr val="0097A7"/>
                </a:solidFill>
                <a:latin typeface="Courier New" pitchFamily="34" charset="0"/>
                <a:ea typeface="Courier New" pitchFamily="34" charset="-122"/>
                <a:cs typeface="Courier New" pitchFamily="34" charset="-120"/>
              </a:rPr>
              <a:t>dsarch &lt;dsid&gt; -RQ -SF &lt;saved files&gt;  -ST &lt;types&gt;     # or -QF &lt;tar&gt; for a whole tar</a:t>
            </a:r>
            <a:endParaRPr lang="en-US" sz="1250" dirty="0"/>
          </a:p>
        </p:txBody>
      </p:sp>
      <p:sp>
        <p:nvSpPr>
          <p:cNvPr id="7" name="Shape 5"/>
          <p:cNvSpPr/>
          <p:nvPr/>
        </p:nvSpPr>
        <p:spPr>
          <a:xfrm>
            <a:off x="457200" y="2761488"/>
            <a:ext cx="11292840" cy="548640"/>
          </a:xfrm>
          <a:prstGeom prst="roundRect">
            <a:avLst>
              <a:gd name="adj" fmla="val 11667"/>
            </a:avLst>
          </a:prstGeom>
          <a:solidFill>
            <a:srgbClr val="DCEBF7"/>
          </a:solidFill>
          <a:ln/>
        </p:spPr>
      </p:sp>
      <p:sp>
        <p:nvSpPr>
          <p:cNvPr id="8" name="Shape 6"/>
          <p:cNvSpPr/>
          <p:nvPr/>
        </p:nvSpPr>
        <p:spPr>
          <a:xfrm>
            <a:off x="621792" y="2834640"/>
            <a:ext cx="402336" cy="402336"/>
          </a:xfrm>
          <a:prstGeom prst="ellipse">
            <a:avLst/>
          </a:prstGeom>
          <a:solidFill>
            <a:srgbClr val="0057C2"/>
          </a:solidFill>
          <a:ln/>
        </p:spPr>
      </p:sp>
      <p:sp>
        <p:nvSpPr>
          <p:cNvPr id="9" name="Text 7"/>
          <p:cNvSpPr/>
          <p:nvPr/>
        </p:nvSpPr>
        <p:spPr>
          <a:xfrm>
            <a:off x="621792" y="28346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1</a:t>
            </a:r>
            <a:endParaRPr lang="en-US" sz="1300" dirty="0"/>
          </a:p>
        </p:txBody>
      </p:sp>
      <p:sp>
        <p:nvSpPr>
          <p:cNvPr id="10" name="Text 8"/>
          <p:cNvSpPr/>
          <p:nvPr/>
        </p:nvSpPr>
        <p:spPr>
          <a:xfrm>
            <a:off x="1170432" y="2761488"/>
            <a:ext cx="1874520" cy="548640"/>
          </a:xfrm>
          <a:prstGeom prst="rect">
            <a:avLst/>
          </a:prstGeom>
          <a:noFill/>
          <a:ln/>
        </p:spPr>
        <p:txBody>
          <a:bodyPr wrap="square" lIns="0" tIns="0" rIns="0" bIns="0" rtlCol="0" anchor="ctr"/>
          <a:lstStyle/>
          <a:p>
            <a:pPr indent="0" marL="0">
              <a:buNone/>
            </a:pPr>
            <a:r>
              <a:rPr lang="en-US" sz="1250" b="1" dirty="0">
                <a:solidFill>
                  <a:srgbClr val="00357A"/>
                </a:solidFill>
                <a:latin typeface="Poppins" pitchFamily="34" charset="0"/>
                <a:ea typeface="Poppins" pitchFamily="34" charset="-122"/>
                <a:cs typeface="Poppins" pitchFamily="34" charset="-120"/>
              </a:rPr>
              <a:t>Name the files</a:t>
            </a:r>
            <a:endParaRPr lang="en-US" sz="1250" dirty="0"/>
          </a:p>
        </p:txBody>
      </p:sp>
      <p:sp>
        <p:nvSpPr>
          <p:cNvPr id="11" name="Text 9"/>
          <p:cNvSpPr/>
          <p:nvPr/>
        </p:nvSpPr>
        <p:spPr>
          <a:xfrm>
            <a:off x="3063240" y="2761488"/>
            <a:ext cx="8503920" cy="548640"/>
          </a:xfrm>
          <a:prstGeom prst="rect">
            <a:avLst/>
          </a:prstGeom>
          <a:noFill/>
          <a:ln/>
        </p:spPr>
        <p:txBody>
          <a:bodyPr wrap="square" lIns="0" tIns="0" rIns="0" bIns="0" rtlCol="0" anchor="ctr"/>
          <a:lstStyle/>
          <a:p>
            <a:pPr indent="0" marL="0">
              <a:lnSpc>
                <a:spcPct val="95000"/>
              </a:lnSpc>
              <a:buNone/>
            </a:pPr>
            <a:r>
              <a:rPr lang="en-US" sz="1050" dirty="0">
                <a:solidFill>
                  <a:srgbClr val="53565A"/>
                </a:solidFill>
                <a:latin typeface="Poppins" pitchFamily="34" charset="0"/>
                <a:ea typeface="Poppins" pitchFamily="34" charset="-122"/>
                <a:cs typeface="Poppins" pitchFamily="34" charset="-120"/>
              </a:rPr>
              <a:t>-WF for web files, -SF plus -ST for saved files. -QF names a Quasar tar directly, and pulls it down without restoring anything.</a:t>
            </a:r>
            <a:endParaRPr lang="en-US" sz="1050" dirty="0"/>
          </a:p>
        </p:txBody>
      </p:sp>
      <p:sp>
        <p:nvSpPr>
          <p:cNvPr id="12" name="Shape 10"/>
          <p:cNvSpPr/>
          <p:nvPr/>
        </p:nvSpPr>
        <p:spPr>
          <a:xfrm>
            <a:off x="457200" y="3383280"/>
            <a:ext cx="11292840" cy="548640"/>
          </a:xfrm>
          <a:prstGeom prst="roundRect">
            <a:avLst>
              <a:gd name="adj" fmla="val 11667"/>
            </a:avLst>
          </a:prstGeom>
          <a:solidFill>
            <a:srgbClr val="DCEBF7"/>
          </a:solidFill>
          <a:ln/>
        </p:spPr>
      </p:sp>
      <p:sp>
        <p:nvSpPr>
          <p:cNvPr id="13" name="Shape 11"/>
          <p:cNvSpPr/>
          <p:nvPr/>
        </p:nvSpPr>
        <p:spPr>
          <a:xfrm>
            <a:off x="621792" y="3456432"/>
            <a:ext cx="402336" cy="402336"/>
          </a:xfrm>
          <a:prstGeom prst="ellipse">
            <a:avLst/>
          </a:prstGeom>
          <a:solidFill>
            <a:srgbClr val="0092DB"/>
          </a:solidFill>
          <a:ln/>
        </p:spPr>
      </p:sp>
      <p:sp>
        <p:nvSpPr>
          <p:cNvPr id="14" name="Text 12"/>
          <p:cNvSpPr/>
          <p:nvPr/>
        </p:nvSpPr>
        <p:spPr>
          <a:xfrm>
            <a:off x="621792" y="34564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2</a:t>
            </a:r>
            <a:endParaRPr lang="en-US" sz="1300" dirty="0"/>
          </a:p>
        </p:txBody>
      </p:sp>
      <p:sp>
        <p:nvSpPr>
          <p:cNvPr id="15" name="Text 13"/>
          <p:cNvSpPr/>
          <p:nvPr/>
        </p:nvSpPr>
        <p:spPr>
          <a:xfrm>
            <a:off x="1170432" y="3383280"/>
            <a:ext cx="1874520" cy="548640"/>
          </a:xfrm>
          <a:prstGeom prst="rect">
            <a:avLst/>
          </a:prstGeom>
          <a:noFill/>
          <a:ln/>
        </p:spPr>
        <p:txBody>
          <a:bodyPr wrap="square" lIns="0" tIns="0" rIns="0" bIns="0" rtlCol="0" anchor="ctr"/>
          <a:lstStyle/>
          <a:p>
            <a:pPr indent="0" marL="0">
              <a:buNone/>
            </a:pPr>
            <a:r>
              <a:rPr lang="en-US" sz="1250" b="1" dirty="0">
                <a:solidFill>
                  <a:srgbClr val="00357A"/>
                </a:solidFill>
                <a:latin typeface="Poppins" pitchFamily="34" charset="0"/>
                <a:ea typeface="Poppins" pitchFamily="34" charset="-122"/>
                <a:cs typeface="Poppins" pitchFamily="34" charset="-120"/>
              </a:rPr>
              <a:t>Find the tar</a:t>
            </a:r>
            <a:endParaRPr lang="en-US" sz="1250" dirty="0"/>
          </a:p>
        </p:txBody>
      </p:sp>
      <p:sp>
        <p:nvSpPr>
          <p:cNvPr id="16" name="Text 14"/>
          <p:cNvSpPr/>
          <p:nvPr/>
        </p:nvSpPr>
        <p:spPr>
          <a:xfrm>
            <a:off x="3063240" y="3383280"/>
            <a:ext cx="8503920" cy="548640"/>
          </a:xfrm>
          <a:prstGeom prst="rect">
            <a:avLst/>
          </a:prstGeom>
          <a:noFill/>
          <a:ln/>
        </p:spPr>
        <p:txBody>
          <a:bodyPr wrap="square" lIns="0" tIns="0" rIns="0" bIns="0" rtlCol="0" anchor="ctr"/>
          <a:lstStyle/>
          <a:p>
            <a:pPr indent="0" marL="0">
              <a:lnSpc>
                <a:spcPct val="95000"/>
              </a:lnSpc>
              <a:buNone/>
            </a:pPr>
            <a:r>
              <a:rPr lang="en-US" sz="1050" dirty="0">
                <a:solidFill>
                  <a:srgbClr val="53565A"/>
                </a:solidFill>
                <a:latin typeface="Poppins" pitchFamily="34" charset="0"/>
                <a:ea typeface="Poppins" pitchFamily="34" charset="-122"/>
                <a:cs typeface="Poppins" pitchFamily="34" charset="-120"/>
              </a:rPr>
              <a:t>Each wfile and sfile record carries the bid of the backup it went into, so one lookup gives the tar name, its end point and its path.</a:t>
            </a:r>
            <a:endParaRPr lang="en-US" sz="1050" dirty="0"/>
          </a:p>
        </p:txBody>
      </p:sp>
      <p:sp>
        <p:nvSpPr>
          <p:cNvPr id="17" name="Shape 15"/>
          <p:cNvSpPr/>
          <p:nvPr/>
        </p:nvSpPr>
        <p:spPr>
          <a:xfrm>
            <a:off x="457200" y="4005072"/>
            <a:ext cx="11292840" cy="548640"/>
          </a:xfrm>
          <a:prstGeom prst="roundRect">
            <a:avLst>
              <a:gd name="adj" fmla="val 11667"/>
            </a:avLst>
          </a:prstGeom>
          <a:solidFill>
            <a:srgbClr val="DCEBF7"/>
          </a:solidFill>
          <a:ln/>
        </p:spPr>
      </p:sp>
      <p:sp>
        <p:nvSpPr>
          <p:cNvPr id="18" name="Shape 16"/>
          <p:cNvSpPr/>
          <p:nvPr/>
        </p:nvSpPr>
        <p:spPr>
          <a:xfrm>
            <a:off x="621792" y="4078224"/>
            <a:ext cx="402336" cy="402336"/>
          </a:xfrm>
          <a:prstGeom prst="ellipse">
            <a:avLst/>
          </a:prstGeom>
          <a:solidFill>
            <a:srgbClr val="0097A7"/>
          </a:solidFill>
          <a:ln/>
        </p:spPr>
      </p:sp>
      <p:sp>
        <p:nvSpPr>
          <p:cNvPr id="19" name="Text 17"/>
          <p:cNvSpPr/>
          <p:nvPr/>
        </p:nvSpPr>
        <p:spPr>
          <a:xfrm>
            <a:off x="621792" y="40782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3</a:t>
            </a:r>
            <a:endParaRPr lang="en-US" sz="1300" dirty="0"/>
          </a:p>
        </p:txBody>
      </p:sp>
      <p:sp>
        <p:nvSpPr>
          <p:cNvPr id="20" name="Text 18"/>
          <p:cNvSpPr/>
          <p:nvPr/>
        </p:nvSpPr>
        <p:spPr>
          <a:xfrm>
            <a:off x="1170432" y="4005072"/>
            <a:ext cx="1874520" cy="548640"/>
          </a:xfrm>
          <a:prstGeom prst="rect">
            <a:avLst/>
          </a:prstGeom>
          <a:noFill/>
          <a:ln/>
        </p:spPr>
        <p:txBody>
          <a:bodyPr wrap="square" lIns="0" tIns="0" rIns="0" bIns="0" rtlCol="0" anchor="ctr"/>
          <a:lstStyle/>
          <a:p>
            <a:pPr indent="0" marL="0">
              <a:buNone/>
            </a:pPr>
            <a:r>
              <a:rPr lang="en-US" sz="1250" b="1" dirty="0">
                <a:solidFill>
                  <a:srgbClr val="00357A"/>
                </a:solidFill>
                <a:latin typeface="Poppins" pitchFamily="34" charset="0"/>
                <a:ea typeface="Poppins" pitchFamily="34" charset="-122"/>
                <a:cs typeface="Poppins" pitchFamily="34" charset="-120"/>
              </a:rPr>
              <a:t>Fetch it once</a:t>
            </a:r>
            <a:endParaRPr lang="en-US" sz="1250" dirty="0"/>
          </a:p>
        </p:txBody>
      </p:sp>
      <p:sp>
        <p:nvSpPr>
          <p:cNvPr id="21" name="Text 19"/>
          <p:cNvSpPr/>
          <p:nvPr/>
        </p:nvSpPr>
        <p:spPr>
          <a:xfrm>
            <a:off x="3063240" y="4005072"/>
            <a:ext cx="8503920" cy="548640"/>
          </a:xfrm>
          <a:prstGeom prst="rect">
            <a:avLst/>
          </a:prstGeom>
          <a:noFill/>
          <a:ln/>
        </p:spPr>
        <p:txBody>
          <a:bodyPr wrap="square" lIns="0" tIns="0" rIns="0" bIns="0" rtlCol="0" anchor="ctr"/>
          <a:lstStyle/>
          <a:p>
            <a:pPr indent="0" marL="0">
              <a:lnSpc>
                <a:spcPct val="95000"/>
              </a:lnSpc>
              <a:buNone/>
            </a:pPr>
            <a:r>
              <a:rPr lang="en-US" sz="1050" dirty="0">
                <a:solidFill>
                  <a:srgbClr val="53565A"/>
                </a:solidFill>
                <a:latin typeface="Poppins" pitchFamily="34" charset="0"/>
                <a:ea typeface="Poppins" pitchFamily="34" charset="-122"/>
                <a:cs typeface="Poppins" pitchFamily="34" charset="-120"/>
              </a:rPr>
              <a:t>The tar is transferred from gdex-quasar into the dataset work area. A tar already sitting there is reused, so several files out of one tar cost one transfer.</a:t>
            </a:r>
            <a:endParaRPr lang="en-US" sz="1050" dirty="0"/>
          </a:p>
        </p:txBody>
      </p:sp>
      <p:sp>
        <p:nvSpPr>
          <p:cNvPr id="22" name="Shape 20"/>
          <p:cNvSpPr/>
          <p:nvPr/>
        </p:nvSpPr>
        <p:spPr>
          <a:xfrm>
            <a:off x="457200" y="4626864"/>
            <a:ext cx="11292840" cy="548640"/>
          </a:xfrm>
          <a:prstGeom prst="roundRect">
            <a:avLst>
              <a:gd name="adj" fmla="val 11667"/>
            </a:avLst>
          </a:prstGeom>
          <a:solidFill>
            <a:srgbClr val="DCEBF7"/>
          </a:solidFill>
          <a:ln/>
        </p:spPr>
      </p:sp>
      <p:sp>
        <p:nvSpPr>
          <p:cNvPr id="23" name="Shape 21"/>
          <p:cNvSpPr/>
          <p:nvPr/>
        </p:nvSpPr>
        <p:spPr>
          <a:xfrm>
            <a:off x="621792" y="4700016"/>
            <a:ext cx="402336" cy="402336"/>
          </a:xfrm>
          <a:prstGeom prst="ellipse">
            <a:avLst/>
          </a:prstGeom>
          <a:solidFill>
            <a:srgbClr val="C25E00"/>
          </a:solidFill>
          <a:ln/>
        </p:spPr>
      </p:sp>
      <p:sp>
        <p:nvSpPr>
          <p:cNvPr id="24" name="Text 22"/>
          <p:cNvSpPr/>
          <p:nvPr/>
        </p:nvSpPr>
        <p:spPr>
          <a:xfrm>
            <a:off x="621792" y="47000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4</a:t>
            </a:r>
            <a:endParaRPr lang="en-US" sz="1300" dirty="0"/>
          </a:p>
        </p:txBody>
      </p:sp>
      <p:sp>
        <p:nvSpPr>
          <p:cNvPr id="25" name="Text 23"/>
          <p:cNvSpPr/>
          <p:nvPr/>
        </p:nvSpPr>
        <p:spPr>
          <a:xfrm>
            <a:off x="1170432" y="4626864"/>
            <a:ext cx="1874520" cy="548640"/>
          </a:xfrm>
          <a:prstGeom prst="rect">
            <a:avLst/>
          </a:prstGeom>
          <a:noFill/>
          <a:ln/>
        </p:spPr>
        <p:txBody>
          <a:bodyPr wrap="square" lIns="0" tIns="0" rIns="0" bIns="0" rtlCol="0" anchor="ctr"/>
          <a:lstStyle/>
          <a:p>
            <a:pPr indent="0" marL="0">
              <a:buNone/>
            </a:pPr>
            <a:r>
              <a:rPr lang="en-US" sz="1250" b="1" dirty="0">
                <a:solidFill>
                  <a:srgbClr val="00357A"/>
                </a:solidFill>
                <a:latin typeface="Poppins" pitchFamily="34" charset="0"/>
                <a:ea typeface="Poppins" pitchFamily="34" charset="-122"/>
                <a:cs typeface="Poppins" pitchFamily="34" charset="-120"/>
              </a:rPr>
              <a:t>Unpack what was asked</a:t>
            </a:r>
            <a:endParaRPr lang="en-US" sz="1250" dirty="0"/>
          </a:p>
        </p:txBody>
      </p:sp>
      <p:sp>
        <p:nvSpPr>
          <p:cNvPr id="26" name="Text 24"/>
          <p:cNvSpPr/>
          <p:nvPr/>
        </p:nvSpPr>
        <p:spPr>
          <a:xfrm>
            <a:off x="3063240" y="4626864"/>
            <a:ext cx="8503920" cy="548640"/>
          </a:xfrm>
          <a:prstGeom prst="rect">
            <a:avLst/>
          </a:prstGeom>
          <a:noFill/>
          <a:ln/>
        </p:spPr>
        <p:txBody>
          <a:bodyPr wrap="square" lIns="0" tIns="0" rIns="0" bIns="0" rtlCol="0" anchor="ctr"/>
          <a:lstStyle/>
          <a:p>
            <a:pPr indent="0" marL="0">
              <a:lnSpc>
                <a:spcPct val="95000"/>
              </a:lnSpc>
              <a:buNone/>
            </a:pPr>
            <a:r>
              <a:rPr lang="en-US" sz="1050" dirty="0">
                <a:solidFill>
                  <a:srgbClr val="53565A"/>
                </a:solidFill>
                <a:latin typeface="Poppins" pitchFamily="34" charset="0"/>
                <a:ea typeface="Poppins" pitchFamily="34" charset="-122"/>
                <a:cs typeface="Poppins" pitchFamily="34" charset="-120"/>
              </a:rPr>
              <a:t>The member list in the bfile note locates each file inside the tar — including any later rename — and only those members are extracted.</a:t>
            </a:r>
            <a:endParaRPr lang="en-US" sz="1050" dirty="0"/>
          </a:p>
        </p:txBody>
      </p:sp>
      <p:sp>
        <p:nvSpPr>
          <p:cNvPr id="27" name="Shape 25"/>
          <p:cNvSpPr/>
          <p:nvPr/>
        </p:nvSpPr>
        <p:spPr>
          <a:xfrm>
            <a:off x="457200" y="5248656"/>
            <a:ext cx="11292840" cy="548640"/>
          </a:xfrm>
          <a:prstGeom prst="roundRect">
            <a:avLst>
              <a:gd name="adj" fmla="val 11667"/>
            </a:avLst>
          </a:prstGeom>
          <a:solidFill>
            <a:srgbClr val="DCEBF7"/>
          </a:solidFill>
          <a:ln/>
        </p:spPr>
      </p:sp>
      <p:sp>
        <p:nvSpPr>
          <p:cNvPr id="28" name="Shape 26"/>
          <p:cNvSpPr/>
          <p:nvPr/>
        </p:nvSpPr>
        <p:spPr>
          <a:xfrm>
            <a:off x="621792" y="5321808"/>
            <a:ext cx="402336" cy="402336"/>
          </a:xfrm>
          <a:prstGeom prst="ellipse">
            <a:avLst/>
          </a:prstGeom>
          <a:solidFill>
            <a:srgbClr val="0057C2"/>
          </a:solidFill>
          <a:ln/>
        </p:spPr>
      </p:sp>
      <p:sp>
        <p:nvSpPr>
          <p:cNvPr id="29" name="Text 27"/>
          <p:cNvSpPr/>
          <p:nvPr/>
        </p:nvSpPr>
        <p:spPr>
          <a:xfrm>
            <a:off x="621792" y="53218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5</a:t>
            </a:r>
            <a:endParaRPr lang="en-US" sz="1300" dirty="0"/>
          </a:p>
        </p:txBody>
      </p:sp>
      <p:sp>
        <p:nvSpPr>
          <p:cNvPr id="30" name="Text 28"/>
          <p:cNvSpPr/>
          <p:nvPr/>
        </p:nvSpPr>
        <p:spPr>
          <a:xfrm>
            <a:off x="1170432" y="5248656"/>
            <a:ext cx="1874520" cy="548640"/>
          </a:xfrm>
          <a:prstGeom prst="rect">
            <a:avLst/>
          </a:prstGeom>
          <a:noFill/>
          <a:ln/>
        </p:spPr>
        <p:txBody>
          <a:bodyPr wrap="square" lIns="0" tIns="0" rIns="0" bIns="0" rtlCol="0" anchor="ctr"/>
          <a:lstStyle/>
          <a:p>
            <a:pPr indent="0" marL="0">
              <a:buNone/>
            </a:pPr>
            <a:r>
              <a:rPr lang="en-US" sz="1250" b="1" dirty="0">
                <a:solidFill>
                  <a:srgbClr val="00357A"/>
                </a:solidFill>
                <a:latin typeface="Poppins" pitchFamily="34" charset="0"/>
                <a:ea typeface="Poppins" pitchFamily="34" charset="-122"/>
                <a:cs typeface="Poppins" pitchFamily="34" charset="-120"/>
              </a:rPr>
              <a:t>Put it back</a:t>
            </a:r>
            <a:endParaRPr lang="en-US" sz="1250" dirty="0"/>
          </a:p>
        </p:txBody>
      </p:sp>
      <p:sp>
        <p:nvSpPr>
          <p:cNvPr id="31" name="Text 29"/>
          <p:cNvSpPr/>
          <p:nvPr/>
        </p:nvSpPr>
        <p:spPr>
          <a:xfrm>
            <a:off x="3063240" y="5248656"/>
            <a:ext cx="8503920" cy="548640"/>
          </a:xfrm>
          <a:prstGeom prst="rect">
            <a:avLst/>
          </a:prstGeom>
          <a:noFill/>
          <a:ln/>
        </p:spPr>
        <p:txBody>
          <a:bodyPr wrap="square" lIns="0" tIns="0" rIns="0" bIns="0" rtlCol="0" anchor="ctr"/>
          <a:lstStyle/>
          <a:p>
            <a:pPr indent="0" marL="0">
              <a:lnSpc>
                <a:spcPct val="95000"/>
              </a:lnSpc>
              <a:buNone/>
            </a:pPr>
            <a:r>
              <a:rPr lang="en-US" sz="1050" dirty="0">
                <a:solidFill>
                  <a:srgbClr val="53565A"/>
                </a:solidFill>
                <a:latin typeface="Poppins" pitchFamily="34" charset="0"/>
                <a:ea typeface="Poppins" pitchFamily="34" charset="-122"/>
                <a:cs typeface="Poppins" pitchFamily="34" charset="-120"/>
              </a:rPr>
              <a:t>Web files return to the dataset data tree or the object store, saved files to decsdata. Files still present on GDEX are left untouched.</a:t>
            </a:r>
            <a:endParaRPr lang="en-US" sz="1050" dirty="0"/>
          </a:p>
        </p:txBody>
      </p:sp>
      <p:sp>
        <p:nvSpPr>
          <p:cNvPr id="32" name="Shape 30"/>
          <p:cNvSpPr/>
          <p:nvPr/>
        </p:nvSpPr>
        <p:spPr>
          <a:xfrm>
            <a:off x="457200" y="5907024"/>
            <a:ext cx="11292840" cy="502920"/>
          </a:xfrm>
          <a:prstGeom prst="roundRect">
            <a:avLst>
              <a:gd name="adj" fmla="val 14545"/>
            </a:avLst>
          </a:prstGeom>
          <a:solidFill>
            <a:srgbClr val="011837"/>
          </a:solidFill>
          <a:ln/>
        </p:spPr>
      </p:sp>
      <p:sp>
        <p:nvSpPr>
          <p:cNvPr id="33" name="Text 31"/>
          <p:cNvSpPr/>
          <p:nvPr/>
        </p:nvSpPr>
        <p:spPr>
          <a:xfrm>
            <a:off x="658368" y="5907024"/>
            <a:ext cx="10881360" cy="502920"/>
          </a:xfrm>
          <a:prstGeom prst="rect">
            <a:avLst/>
          </a:prstGeom>
          <a:noFill/>
          <a:ln/>
        </p:spPr>
        <p:txBody>
          <a:bodyPr wrap="square" lIns="0" tIns="0" rIns="0" bIns="0" rtlCol="0" anchor="ctr"/>
          <a:lstStyle/>
          <a:p>
            <a:pPr indent="0" marL="0">
              <a:buNone/>
            </a:pPr>
            <a:r>
              <a:rPr lang="en-US" sz="1150" b="1" dirty="0">
                <a:solidFill>
                  <a:srgbClr val="42C0FF"/>
                </a:solidFill>
                <a:latin typeface="Poppins" pitchFamily="34" charset="0"/>
                <a:ea typeface="Poppins" pitchFamily="34" charset="-122"/>
                <a:cs typeface="Poppins" pitchFamily="34" charset="-120"/>
              </a:rPr>
              <a:t>Restores are safe to repeat.  </a:t>
            </a:r>
            <a:pPr indent="0" marL="0">
              <a:buNone/>
            </a:pPr>
            <a:r>
              <a:rPr lang="en-US" sz="1150" dirty="0">
                <a:solidFill>
                  <a:srgbClr val="C3D7EE"/>
                </a:solidFill>
                <a:latin typeface="Poppins" pitchFamily="34" charset="0"/>
                <a:ea typeface="Poppins" pitchFamily="34" charset="-122"/>
                <a:cs typeface="Poppins" pitchFamily="34" charset="-120"/>
              </a:rPr>
              <a:t>Anything already on GDEX is skipped, and each restored file is size checked against its GDEXDB record.</a:t>
            </a:r>
            <a:endParaRPr lang="en-US" sz="1150" dirty="0"/>
          </a:p>
        </p:txBody>
      </p:sp>
      <p:sp>
        <p:nvSpPr>
          <p:cNvPr id="34" name="Text 32"/>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28</a:t>
            </a:r>
            <a:endParaRPr lang="en-US" sz="950" dirty="0"/>
          </a:p>
        </p:txBody>
      </p:sp>
      <p:sp>
        <p:nvSpPr>
          <p:cNvPr id="35" name="Text 33"/>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C25E00"/>
                </a:solidFill>
                <a:latin typeface="Poppins" pitchFamily="34" charset="0"/>
                <a:ea typeface="Poppins" pitchFamily="34" charset="-122"/>
                <a:cs typeface="Poppins" pitchFamily="34" charset="-120"/>
              </a:rPr>
              <a:t>COLD STORAGE</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3200" b="1" dirty="0">
                <a:solidFill>
                  <a:srgbClr val="00357A"/>
                </a:solidFill>
                <a:latin typeface="Poppins" pitchFamily="34" charset="0"/>
                <a:ea typeface="Poppins" pitchFamily="34" charset="-122"/>
                <a:cs typeface="Poppins" pitchFamily="34" charset="-120"/>
              </a:rPr>
              <a:t>Saved Files Now Go to GLADE Tape</a:t>
            </a:r>
            <a:endParaRPr lang="en-US" sz="3200" dirty="0"/>
          </a:p>
        </p:txBody>
      </p:sp>
      <p:sp>
        <p:nvSpPr>
          <p:cNvPr id="4" name="Text 2"/>
          <p:cNvSpPr/>
          <p:nvPr/>
        </p:nvSpPr>
        <p:spPr>
          <a:xfrm>
            <a:off x="457200" y="1444752"/>
            <a:ext cx="11292840" cy="457200"/>
          </a:xfrm>
          <a:prstGeom prst="rect">
            <a:avLst/>
          </a:prstGeom>
          <a:noFill/>
          <a:ln/>
        </p:spPr>
        <p:txBody>
          <a:bodyPr wrap="square" lIns="0" tIns="0" rIns="0" bIns="0" rtlCol="0" anchor="t"/>
          <a:lstStyle/>
          <a:p>
            <a:pPr indent="0" marL="0">
              <a:lnSpc>
                <a:spcPct val="110000"/>
              </a:lnSpc>
              <a:buNone/>
            </a:pPr>
            <a:r>
              <a:rPr lang="en-US" sz="1450" dirty="0">
                <a:solidFill>
                  <a:srgbClr val="00357A"/>
                </a:solidFill>
                <a:latin typeface="Poppins" pitchFamily="34" charset="0"/>
                <a:ea typeface="Poppins" pitchFamily="34" charset="-122"/>
                <a:cs typeface="Poppins" pitchFamily="34" charset="-120"/>
              </a:rPr>
              <a:t>Saved files under the decsdata area are no longer shipped to Quasar. They are handed to the GLADE HSM instead, which keeps them on the campaign file system until the batch processes migrate them onto tape.</a:t>
            </a:r>
            <a:endParaRPr lang="en-US" sz="1450" dirty="0"/>
          </a:p>
        </p:txBody>
      </p:sp>
      <p:sp>
        <p:nvSpPr>
          <p:cNvPr id="5" name="Shape 3"/>
          <p:cNvSpPr/>
          <p:nvPr/>
        </p:nvSpPr>
        <p:spPr>
          <a:xfrm>
            <a:off x="457200" y="1993392"/>
            <a:ext cx="11292840" cy="566928"/>
          </a:xfrm>
          <a:prstGeom prst="roundRect">
            <a:avLst>
              <a:gd name="adj" fmla="val 12903"/>
            </a:avLst>
          </a:prstGeom>
          <a:solidFill>
            <a:srgbClr val="C7E4F5"/>
          </a:solidFill>
          <a:ln w="12700">
            <a:solidFill>
              <a:srgbClr val="A9D6F2"/>
            </a:solidFill>
            <a:prstDash val="solid"/>
          </a:ln>
        </p:spPr>
      </p:sp>
      <p:sp>
        <p:nvSpPr>
          <p:cNvPr id="6" name="Text 4"/>
          <p:cNvSpPr/>
          <p:nvPr/>
        </p:nvSpPr>
        <p:spPr>
          <a:xfrm>
            <a:off x="658368" y="1993392"/>
            <a:ext cx="10881360" cy="566928"/>
          </a:xfrm>
          <a:prstGeom prst="rect">
            <a:avLst/>
          </a:prstGeom>
          <a:noFill/>
          <a:ln/>
        </p:spPr>
        <p:txBody>
          <a:bodyPr wrap="square" lIns="0" tIns="0" rIns="0" bIns="0" rtlCol="0" anchor="ctr"/>
          <a:lstStyle/>
          <a:p>
            <a:pPr indent="0" marL="0">
              <a:buNone/>
            </a:pPr>
            <a:r>
              <a:rPr lang="en-US" sz="1150" b="1" dirty="0">
                <a:solidFill>
                  <a:srgbClr val="C25E00"/>
                </a:solidFill>
                <a:latin typeface="Poppins" pitchFamily="34" charset="0"/>
                <a:ea typeface="Poppins" pitchFamily="34" charset="-122"/>
                <a:cs typeface="Poppins" pitchFamily="34" charset="-120"/>
              </a:rPr>
              <a:t>Paused, not removed.  </a:t>
            </a:r>
            <a:pPr indent="0" marL="0">
              <a:buNone/>
            </a:pPr>
            <a:r>
              <a:rPr lang="en-US" sz="1150" dirty="0">
                <a:solidFill>
                  <a:srgbClr val="00357A"/>
                </a:solidFill>
                <a:latin typeface="Poppins" pitchFamily="34" charset="0"/>
                <a:ea typeface="Poppins" pitchFamily="34" charset="-122"/>
                <a:cs typeface="Poppins" pitchFamily="34" charset="-120"/>
              </a:rPr>
              <a:t>Everything dsquasar does with Saved files still works — the </a:t>
            </a:r>
            <a:pPr indent="0" marL="0">
              <a:buNone/>
            </a:pPr>
            <a:r>
              <a:rPr lang="en-US" sz="1150" b="1" dirty="0">
                <a:solidFill>
                  <a:srgbClr val="00357A"/>
                </a:solidFill>
                <a:latin typeface="Courier New" pitchFamily="34" charset="0"/>
                <a:ea typeface="Courier New" pitchFamily="34" charset="-122"/>
                <a:cs typeface="Courier New" pitchFamily="34" charset="-120"/>
              </a:rPr>
              <a:t>sfile</a:t>
            </a:r>
            <a:pPr indent="0" marL="0">
              <a:buNone/>
            </a:pPr>
            <a:r>
              <a:rPr lang="en-US" sz="1150" dirty="0">
                <a:solidFill>
                  <a:srgbClr val="00357A"/>
                </a:solidFill>
                <a:latin typeface="Poppins" pitchFamily="34" charset="0"/>
                <a:ea typeface="Poppins" pitchFamily="34" charset="-122"/>
                <a:cs typeface="Poppins" pitchFamily="34" charset="-120"/>
              </a:rPr>
              <a:t> gathering, tarring and </a:t>
            </a:r>
            <a:pPr indent="0" marL="0">
              <a:buNone/>
            </a:pPr>
            <a:r>
              <a:rPr lang="en-US" sz="1150" b="1" dirty="0">
                <a:solidFill>
                  <a:srgbClr val="00357A"/>
                </a:solidFill>
                <a:latin typeface="Courier New" pitchFamily="34" charset="0"/>
                <a:ea typeface="Courier New" pitchFamily="34" charset="-122"/>
                <a:cs typeface="Courier New" pitchFamily="34" charset="-120"/>
              </a:rPr>
              <a:t>-RQ</a:t>
            </a:r>
            <a:pPr indent="0" marL="0">
              <a:buNone/>
            </a:pPr>
            <a:r>
              <a:rPr lang="en-US" sz="1150" dirty="0">
                <a:solidFill>
                  <a:srgbClr val="00357A"/>
                </a:solidFill>
                <a:latin typeface="Poppins" pitchFamily="34" charset="0"/>
                <a:ea typeface="Poppins" pitchFamily="34" charset="-122"/>
                <a:cs typeface="Poppins" pitchFamily="34" charset="-120"/>
              </a:rPr>
              <a:t> restore paths are untouched. Set the backup flags again and Saved files go back onto Quasar.</a:t>
            </a:r>
            <a:endParaRPr lang="en-US" sz="1150" dirty="0"/>
          </a:p>
        </p:txBody>
      </p:sp>
      <p:sp>
        <p:nvSpPr>
          <p:cNvPr id="7" name="Shape 5"/>
          <p:cNvSpPr/>
          <p:nvPr/>
        </p:nvSpPr>
        <p:spPr>
          <a:xfrm>
            <a:off x="457200" y="2761488"/>
            <a:ext cx="3474720" cy="1371600"/>
          </a:xfrm>
          <a:prstGeom prst="roundRect">
            <a:avLst>
              <a:gd name="adj" fmla="val 6667"/>
            </a:avLst>
          </a:prstGeom>
          <a:solidFill>
            <a:srgbClr val="DCEBF7"/>
          </a:solidFill>
          <a:ln w="25400">
            <a:solidFill>
              <a:srgbClr val="0057C2"/>
            </a:solidFill>
            <a:prstDash val="solid"/>
          </a:ln>
        </p:spPr>
      </p:sp>
      <p:sp>
        <p:nvSpPr>
          <p:cNvPr id="8" name="Text 6"/>
          <p:cNvSpPr/>
          <p:nvPr/>
        </p:nvSpPr>
        <p:spPr>
          <a:xfrm>
            <a:off x="566928" y="2926080"/>
            <a:ext cx="3255264" cy="548640"/>
          </a:xfrm>
          <a:prstGeom prst="rect">
            <a:avLst/>
          </a:prstGeom>
          <a:noFill/>
          <a:ln/>
        </p:spPr>
        <p:txBody>
          <a:bodyPr wrap="square" lIns="0" tIns="0" rIns="0" bIns="0" rtlCol="0" anchor="ctr"/>
          <a:lstStyle/>
          <a:p>
            <a:pPr algn="ctr" indent="0" marL="0">
              <a:buNone/>
            </a:pPr>
            <a:r>
              <a:rPr lang="en-US" sz="1250" b="1" dirty="0">
                <a:solidFill>
                  <a:srgbClr val="0057C2"/>
                </a:solidFill>
                <a:latin typeface="Courier New" pitchFamily="34" charset="0"/>
                <a:ea typeface="Courier New" pitchFamily="34" charset="-122"/>
                <a:cs typeface="Courier New" pitchFamily="34" charset="-120"/>
              </a:rPr>
              <a:t>&lt;decsdata&gt;/&lt;dsid&gt;</a:t>
            </a:r>
            <a:endParaRPr lang="en-US" sz="1250" dirty="0"/>
          </a:p>
        </p:txBody>
      </p:sp>
      <p:sp>
        <p:nvSpPr>
          <p:cNvPr id="9" name="Text 7"/>
          <p:cNvSpPr/>
          <p:nvPr/>
        </p:nvSpPr>
        <p:spPr>
          <a:xfrm>
            <a:off x="594360" y="3474720"/>
            <a:ext cx="3200400" cy="548640"/>
          </a:xfrm>
          <a:prstGeom prst="rect">
            <a:avLst/>
          </a:prstGeom>
          <a:noFill/>
          <a:ln/>
        </p:spPr>
        <p:txBody>
          <a:bodyPr wrap="square" lIns="0" tIns="0" rIns="0" bIns="0" rtlCol="0" anchor="t"/>
          <a:lstStyle/>
          <a:p>
            <a:pPr algn="ctr" indent="0" marL="0">
              <a:lnSpc>
                <a:spcPct val="105000"/>
              </a:lnSpc>
              <a:buNone/>
            </a:pPr>
            <a:r>
              <a:rPr lang="en-US" sz="1100" dirty="0">
                <a:solidFill>
                  <a:srgbClr val="53565A"/>
                </a:solidFill>
                <a:latin typeface="Poppins" pitchFamily="34" charset="0"/>
                <a:ea typeface="Poppins" pitchFamily="34" charset="-122"/>
                <a:cs typeface="Poppins" pitchFamily="34" charset="-120"/>
              </a:rPr>
              <a:t>The Saved files as dsarch stores them</a:t>
            </a:r>
            <a:endParaRPr lang="en-US" sz="1100" dirty="0"/>
          </a:p>
        </p:txBody>
      </p:sp>
      <p:sp>
        <p:nvSpPr>
          <p:cNvPr id="10" name="Text 8"/>
          <p:cNvSpPr/>
          <p:nvPr/>
        </p:nvSpPr>
        <p:spPr>
          <a:xfrm>
            <a:off x="3950208" y="2761488"/>
            <a:ext cx="356616" cy="1371600"/>
          </a:xfrm>
          <a:prstGeom prst="rect">
            <a:avLst/>
          </a:prstGeom>
          <a:noFill/>
          <a:ln/>
        </p:spPr>
        <p:txBody>
          <a:bodyPr wrap="square" lIns="0" tIns="0" rIns="0" bIns="0" rtlCol="0" anchor="ctr"/>
          <a:lstStyle/>
          <a:p>
            <a:pPr algn="ctr" indent="0" marL="0">
              <a:buNone/>
            </a:pPr>
            <a:r>
              <a:rPr lang="en-US" sz="2400" b="1" dirty="0">
                <a:solidFill>
                  <a:srgbClr val="0057C2"/>
                </a:solidFill>
                <a:latin typeface="Poppins" pitchFamily="34" charset="0"/>
                <a:ea typeface="Poppins" pitchFamily="34" charset="-122"/>
                <a:cs typeface="Poppins" pitchFamily="34" charset="-120"/>
              </a:rPr>
              <a:t>→</a:t>
            </a:r>
            <a:endParaRPr lang="en-US" sz="2400" dirty="0"/>
          </a:p>
        </p:txBody>
      </p:sp>
      <p:sp>
        <p:nvSpPr>
          <p:cNvPr id="11" name="Shape 9"/>
          <p:cNvSpPr/>
          <p:nvPr/>
        </p:nvSpPr>
        <p:spPr>
          <a:xfrm>
            <a:off x="4325112" y="2761488"/>
            <a:ext cx="3474720" cy="1371600"/>
          </a:xfrm>
          <a:prstGeom prst="roundRect">
            <a:avLst>
              <a:gd name="adj" fmla="val 6667"/>
            </a:avLst>
          </a:prstGeom>
          <a:solidFill>
            <a:srgbClr val="DCEBF7"/>
          </a:solidFill>
          <a:ln w="25400">
            <a:solidFill>
              <a:srgbClr val="0092DB"/>
            </a:solidFill>
            <a:prstDash val="solid"/>
          </a:ln>
        </p:spPr>
      </p:sp>
      <p:sp>
        <p:nvSpPr>
          <p:cNvPr id="12" name="Text 10"/>
          <p:cNvSpPr/>
          <p:nvPr/>
        </p:nvSpPr>
        <p:spPr>
          <a:xfrm>
            <a:off x="4434840" y="2926080"/>
            <a:ext cx="3255264" cy="548640"/>
          </a:xfrm>
          <a:prstGeom prst="rect">
            <a:avLst/>
          </a:prstGeom>
          <a:noFill/>
          <a:ln/>
        </p:spPr>
        <p:txBody>
          <a:bodyPr wrap="square" lIns="0" tIns="0" rIns="0" bIns="0" rtlCol="0" anchor="ctr"/>
          <a:lstStyle/>
          <a:p>
            <a:pPr algn="ctr" indent="0" marL="0">
              <a:buNone/>
            </a:pPr>
            <a:r>
              <a:rPr lang="en-US" sz="1250" b="1" dirty="0">
                <a:solidFill>
                  <a:srgbClr val="0092DB"/>
                </a:solidFill>
                <a:latin typeface="Courier New" pitchFamily="34" charset="0"/>
                <a:ea typeface="Courier New" pitchFamily="34" charset="-122"/>
                <a:cs typeface="Courier New" pitchFamily="34" charset="-120"/>
              </a:rPr>
              <a:t>cold_storage_&lt;date&gt;/&lt;dsid&gt;</a:t>
            </a:r>
            <a:endParaRPr lang="en-US" sz="1250" dirty="0"/>
          </a:p>
        </p:txBody>
      </p:sp>
      <p:sp>
        <p:nvSpPr>
          <p:cNvPr id="13" name="Text 11"/>
          <p:cNvSpPr/>
          <p:nvPr/>
        </p:nvSpPr>
        <p:spPr>
          <a:xfrm>
            <a:off x="4462272" y="3474720"/>
            <a:ext cx="3200400" cy="548640"/>
          </a:xfrm>
          <a:prstGeom prst="rect">
            <a:avLst/>
          </a:prstGeom>
          <a:noFill/>
          <a:ln/>
        </p:spPr>
        <p:txBody>
          <a:bodyPr wrap="square" lIns="0" tIns="0" rIns="0" bIns="0" rtlCol="0" anchor="t"/>
          <a:lstStyle/>
          <a:p>
            <a:pPr algn="ctr" indent="0" marL="0">
              <a:lnSpc>
                <a:spcPct val="105000"/>
              </a:lnSpc>
              <a:buNone/>
            </a:pPr>
            <a:r>
              <a:rPr lang="en-US" sz="1100" dirty="0">
                <a:solidFill>
                  <a:srgbClr val="53565A"/>
                </a:solidFill>
                <a:latin typeface="Poppins" pitchFamily="34" charset="0"/>
                <a:ea typeface="Poppins" pitchFamily="34" charset="-122"/>
                <a:cs typeface="Poppins" pitchFamily="34" charset="-120"/>
              </a:rPr>
              <a:t>decsdata_storage moves the dataset here</a:t>
            </a:r>
            <a:endParaRPr lang="en-US" sz="1100" dirty="0"/>
          </a:p>
        </p:txBody>
      </p:sp>
      <p:sp>
        <p:nvSpPr>
          <p:cNvPr id="14" name="Text 12"/>
          <p:cNvSpPr/>
          <p:nvPr/>
        </p:nvSpPr>
        <p:spPr>
          <a:xfrm>
            <a:off x="7818120" y="2761488"/>
            <a:ext cx="356616" cy="1371600"/>
          </a:xfrm>
          <a:prstGeom prst="rect">
            <a:avLst/>
          </a:prstGeom>
          <a:noFill/>
          <a:ln/>
        </p:spPr>
        <p:txBody>
          <a:bodyPr wrap="square" lIns="0" tIns="0" rIns="0" bIns="0" rtlCol="0" anchor="ctr"/>
          <a:lstStyle/>
          <a:p>
            <a:pPr algn="ctr" indent="0" marL="0">
              <a:buNone/>
            </a:pPr>
            <a:r>
              <a:rPr lang="en-US" sz="2400" b="1" dirty="0">
                <a:solidFill>
                  <a:srgbClr val="0092DB"/>
                </a:solidFill>
                <a:latin typeface="Poppins" pitchFamily="34" charset="0"/>
                <a:ea typeface="Poppins" pitchFamily="34" charset="-122"/>
                <a:cs typeface="Poppins" pitchFamily="34" charset="-120"/>
              </a:rPr>
              <a:t>→</a:t>
            </a:r>
            <a:endParaRPr lang="en-US" sz="2400" dirty="0"/>
          </a:p>
        </p:txBody>
      </p:sp>
      <p:sp>
        <p:nvSpPr>
          <p:cNvPr id="15" name="Shape 13"/>
          <p:cNvSpPr/>
          <p:nvPr/>
        </p:nvSpPr>
        <p:spPr>
          <a:xfrm>
            <a:off x="8193024" y="2761488"/>
            <a:ext cx="3474720" cy="1371600"/>
          </a:xfrm>
          <a:prstGeom prst="roundRect">
            <a:avLst>
              <a:gd name="adj" fmla="val 6667"/>
            </a:avLst>
          </a:prstGeom>
          <a:solidFill>
            <a:srgbClr val="DCEBF7"/>
          </a:solidFill>
          <a:ln w="25400">
            <a:solidFill>
              <a:srgbClr val="C25E00"/>
            </a:solidFill>
            <a:prstDash val="solid"/>
          </a:ln>
        </p:spPr>
      </p:sp>
      <p:sp>
        <p:nvSpPr>
          <p:cNvPr id="16" name="Text 14"/>
          <p:cNvSpPr/>
          <p:nvPr/>
        </p:nvSpPr>
        <p:spPr>
          <a:xfrm>
            <a:off x="8302752" y="2926080"/>
            <a:ext cx="3255264" cy="548640"/>
          </a:xfrm>
          <a:prstGeom prst="rect">
            <a:avLst/>
          </a:prstGeom>
          <a:noFill/>
          <a:ln/>
        </p:spPr>
        <p:txBody>
          <a:bodyPr wrap="square" lIns="0" tIns="0" rIns="0" bIns="0" rtlCol="0" anchor="ctr"/>
          <a:lstStyle/>
          <a:p>
            <a:pPr algn="ctr" indent="0" marL="0">
              <a:buNone/>
            </a:pPr>
            <a:r>
              <a:rPr lang="en-US" sz="1250" b="1" dirty="0">
                <a:solidFill>
                  <a:srgbClr val="C25E00"/>
                </a:solidFill>
                <a:latin typeface="Courier New" pitchFamily="34" charset="0"/>
                <a:ea typeface="Courier New" pitchFamily="34" charset="-122"/>
                <a:cs typeface="Courier New" pitchFamily="34" charset="-120"/>
              </a:rPr>
              <a:t>COLD_STORAGE/&lt;dsid&gt;</a:t>
            </a:r>
            <a:endParaRPr lang="en-US" sz="1250" dirty="0"/>
          </a:p>
        </p:txBody>
      </p:sp>
      <p:sp>
        <p:nvSpPr>
          <p:cNvPr id="17" name="Text 15"/>
          <p:cNvSpPr/>
          <p:nvPr/>
        </p:nvSpPr>
        <p:spPr>
          <a:xfrm>
            <a:off x="8330184" y="3474720"/>
            <a:ext cx="3200400" cy="548640"/>
          </a:xfrm>
          <a:prstGeom prst="rect">
            <a:avLst/>
          </a:prstGeom>
          <a:noFill/>
          <a:ln/>
        </p:spPr>
        <p:txBody>
          <a:bodyPr wrap="square" lIns="0" tIns="0" rIns="0" bIns="0" rtlCol="0" anchor="t"/>
          <a:lstStyle/>
          <a:p>
            <a:pPr algn="ctr" indent="0" marL="0">
              <a:lnSpc>
                <a:spcPct val="105000"/>
              </a:lnSpc>
              <a:buNone/>
            </a:pPr>
            <a:r>
              <a:rPr lang="en-US" sz="1100" dirty="0">
                <a:solidFill>
                  <a:srgbClr val="53565A"/>
                </a:solidFill>
                <a:latin typeface="Poppins" pitchFamily="34" charset="0"/>
                <a:ea typeface="Poppins" pitchFamily="34" charset="-122"/>
                <a:cs typeface="Poppins" pitchFamily="34" charset="-120"/>
              </a:rPr>
              <a:t>glade_hsm migrate -f relocates it once more</a:t>
            </a:r>
            <a:endParaRPr lang="en-US" sz="1100" dirty="0"/>
          </a:p>
        </p:txBody>
      </p:sp>
      <p:sp>
        <p:nvSpPr>
          <p:cNvPr id="18" name="Text 16"/>
          <p:cNvSpPr/>
          <p:nvPr/>
        </p:nvSpPr>
        <p:spPr>
          <a:xfrm>
            <a:off x="457200" y="4206240"/>
            <a:ext cx="5532120" cy="274320"/>
          </a:xfrm>
          <a:prstGeom prst="rect">
            <a:avLst/>
          </a:prstGeom>
          <a:noFill/>
          <a:ln/>
        </p:spPr>
        <p:txBody>
          <a:bodyPr wrap="square" lIns="0" tIns="0" rIns="0" bIns="0" rtlCol="0" anchor="ctr"/>
          <a:lstStyle/>
          <a:p>
            <a:pPr indent="0" marL="0">
              <a:buNone/>
            </a:pPr>
            <a:r>
              <a:rPr lang="en-US" sz="1300" b="1" dirty="0">
                <a:solidFill>
                  <a:srgbClr val="00357A"/>
                </a:solidFill>
                <a:latin typeface="Poppins" pitchFamily="34" charset="0"/>
                <a:ea typeface="Poppins" pitchFamily="34" charset="-122"/>
                <a:cs typeface="Poppins" pitchFamily="34" charset="-120"/>
              </a:rPr>
              <a:t>Run it</a:t>
            </a:r>
            <a:endParaRPr lang="en-US" sz="1300" dirty="0"/>
          </a:p>
        </p:txBody>
      </p:sp>
      <p:sp>
        <p:nvSpPr>
          <p:cNvPr id="19" name="Shape 17"/>
          <p:cNvSpPr/>
          <p:nvPr/>
        </p:nvSpPr>
        <p:spPr>
          <a:xfrm>
            <a:off x="457200" y="4480560"/>
            <a:ext cx="5532120" cy="713232"/>
          </a:xfrm>
          <a:prstGeom prst="roundRect">
            <a:avLst>
              <a:gd name="adj" fmla="val 6410"/>
            </a:avLst>
          </a:prstGeom>
          <a:solidFill>
            <a:srgbClr val="011837"/>
          </a:solidFill>
          <a:ln/>
        </p:spPr>
      </p:sp>
      <p:sp>
        <p:nvSpPr>
          <p:cNvPr id="20" name="Text 18"/>
          <p:cNvSpPr/>
          <p:nvPr/>
        </p:nvSpPr>
        <p:spPr>
          <a:xfrm>
            <a:off x="585216" y="4480560"/>
            <a:ext cx="5276088" cy="713232"/>
          </a:xfrm>
          <a:prstGeom prst="rect">
            <a:avLst/>
          </a:prstGeom>
          <a:noFill/>
          <a:ln/>
        </p:spPr>
        <p:txBody>
          <a:bodyPr wrap="square" lIns="0" tIns="0" rIns="0" bIns="0" rtlCol="0" anchor="ctr"/>
          <a:lstStyle/>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decsdata_storage -d d612000 d627000 -x</a:t>
            </a:r>
            <a:endParaRPr lang="en-US" sz="1050" dirty="0"/>
          </a:p>
          <a:p>
            <a:pPr indent="0" marL="0">
              <a:lnSpc>
                <a:spcPct val="100000"/>
              </a:lnSpc>
              <a:buNone/>
            </a:pPr>
            <a:r>
              <a:rPr lang="en-US" sz="1050" dirty="0">
                <a:solidFill>
                  <a:srgbClr val="0097A7"/>
                </a:solidFill>
                <a:latin typeface="Courier New" pitchFamily="34" charset="0"/>
                <a:ea typeface="Courier New" pitchFamily="34" charset="-122"/>
                <a:cs typeface="Courier New" pitchFamily="34" charset="-120"/>
              </a:rPr>
              <a:t>decsdata_storage -D 20250529 -w /gdex/decsdata -x</a:t>
            </a:r>
            <a:endParaRPr lang="en-US" sz="1050" dirty="0"/>
          </a:p>
        </p:txBody>
      </p:sp>
      <p:sp>
        <p:nvSpPr>
          <p:cNvPr id="21" name="Text 19"/>
          <p:cNvSpPr/>
          <p:nvPr/>
        </p:nvSpPr>
        <p:spPr>
          <a:xfrm>
            <a:off x="457200" y="5285232"/>
            <a:ext cx="5532120" cy="1005840"/>
          </a:xfrm>
          <a:prstGeom prst="rect">
            <a:avLst/>
          </a:prstGeom>
          <a:noFill/>
          <a:ln/>
        </p:spPr>
        <p:txBody>
          <a:bodyPr wrap="square" lIns="0" tIns="0" rIns="0" bIns="0" rtlCol="0" anchor="t"/>
          <a:lstStyle/>
          <a:p>
            <a:pPr indent="0" marL="0">
              <a:lnSpc>
                <a:spcPct val="106000"/>
              </a:lnSpc>
              <a:buNone/>
            </a:pPr>
            <a:r>
              <a:rPr lang="en-US" sz="1100" dirty="0">
                <a:solidFill>
                  <a:srgbClr val="53565A"/>
                </a:solidFill>
                <a:latin typeface="Poppins" pitchFamily="34" charset="0"/>
                <a:ea typeface="Poppins" pitchFamily="34" charset="-122"/>
                <a:cs typeface="Poppins" pitchFamily="34" charset="-120"/>
              </a:rPr>
              <a:t>The HSM migrates every file of 100 MB or more onto tape, and everything under a </a:t>
            </a:r>
            <a:pPr indent="0" marL="0">
              <a:lnSpc>
                <a:spcPct val="106000"/>
              </a:lnSpc>
              <a:buNone/>
            </a:pPr>
            <a:r>
              <a:rPr lang="en-US" sz="1100" b="1" dirty="0">
                <a:solidFill>
                  <a:srgbClr val="53565A"/>
                </a:solidFill>
                <a:latin typeface="Courier New" pitchFamily="34" charset="0"/>
                <a:ea typeface="Courier New" pitchFamily="34" charset="-122"/>
                <a:cs typeface="Courier New" pitchFamily="34" charset="-120"/>
              </a:rPr>
              <a:t>COLD_STORAGE/</a:t>
            </a:r>
            <a:pPr indent="0" marL="0">
              <a:lnSpc>
                <a:spcPct val="106000"/>
              </a:lnSpc>
              <a:buNone/>
            </a:pPr>
            <a:r>
              <a:rPr lang="en-US" sz="1100" dirty="0">
                <a:solidFill>
                  <a:srgbClr val="53565A"/>
                </a:solidFill>
                <a:latin typeface="Poppins" pitchFamily="34" charset="0"/>
                <a:ea typeface="Poppins" pitchFamily="34" charset="-122"/>
                <a:cs typeface="Poppins" pitchFamily="34" charset="-120"/>
              </a:rPr>
              <a:t> path is marked immutable. No </a:t>
            </a:r>
            <a:pPr indent="0" marL="0">
              <a:lnSpc>
                <a:spcPct val="106000"/>
              </a:lnSpc>
              <a:buNone/>
            </a:pPr>
            <a:r>
              <a:rPr lang="en-US" sz="1100" b="1" dirty="0">
                <a:solidFill>
                  <a:srgbClr val="53565A"/>
                </a:solidFill>
                <a:latin typeface="Courier New" pitchFamily="34" charset="0"/>
                <a:ea typeface="Courier New" pitchFamily="34" charset="-122"/>
                <a:cs typeface="Courier New" pitchFamily="34" charset="-120"/>
              </a:rPr>
              <a:t>bfile</a:t>
            </a:r>
            <a:pPr indent="0" marL="0">
              <a:lnSpc>
                <a:spcPct val="106000"/>
              </a:lnSpc>
              <a:buNone/>
            </a:pPr>
            <a:r>
              <a:rPr lang="en-US" sz="1100" dirty="0">
                <a:solidFill>
                  <a:srgbClr val="53565A"/>
                </a:solidFill>
                <a:latin typeface="Poppins" pitchFamily="34" charset="0"/>
                <a:ea typeface="Poppins" pitchFamily="34" charset="-122"/>
                <a:cs typeface="Poppins" pitchFamily="34" charset="-120"/>
              </a:rPr>
              <a:t> records are written — cold storage is outside the dsquasar bookkeeping.</a:t>
            </a:r>
            <a:endParaRPr lang="en-US" sz="1100" dirty="0"/>
          </a:p>
        </p:txBody>
      </p:sp>
      <p:sp>
        <p:nvSpPr>
          <p:cNvPr id="22" name="Text 20"/>
          <p:cNvSpPr/>
          <p:nvPr/>
        </p:nvSpPr>
        <p:spPr>
          <a:xfrm>
            <a:off x="6309360" y="4206240"/>
            <a:ext cx="5440680" cy="274320"/>
          </a:xfrm>
          <a:prstGeom prst="rect">
            <a:avLst/>
          </a:prstGeom>
          <a:noFill/>
          <a:ln/>
        </p:spPr>
        <p:txBody>
          <a:bodyPr wrap="square" lIns="0" tIns="0" rIns="0" bIns="0" rtlCol="0" anchor="ctr"/>
          <a:lstStyle/>
          <a:p>
            <a:pPr indent="0" marL="0">
              <a:buNone/>
            </a:pPr>
            <a:r>
              <a:rPr lang="en-US" sz="1300" b="1" dirty="0">
                <a:solidFill>
                  <a:srgbClr val="00357A"/>
                </a:solidFill>
                <a:latin typeface="Poppins" pitchFamily="34" charset="0"/>
                <a:ea typeface="Poppins" pitchFamily="34" charset="-122"/>
                <a:cs typeface="Poppins" pitchFamily="34" charset="-120"/>
              </a:rPr>
              <a:t>Options</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309360" y="4480560"/>
          <a:ext cx="5440680" cy="914400"/>
        </p:xfrm>
        <a:graphic>
          <a:graphicData uri="http://schemas.openxmlformats.org/drawingml/2006/table">
            <a:tbl>
              <a:tblPr/>
              <a:tblGrid>
                <a:gridCol w="1234440"/>
                <a:gridCol w="4206240"/>
              </a:tblGrid>
              <a:tr h="365760">
                <a:tc>
                  <a:txBody>
                    <a:bodyPr/>
                    <a:lstStyle/>
                    <a:p>
                      <a:pPr indent="0" marL="0">
                        <a:buNone/>
                      </a:pPr>
                      <a:r>
                        <a:rPr lang="en-US" sz="1100" b="1" dirty="0">
                          <a:solidFill>
                            <a:srgbClr val="FFFFFF"/>
                          </a:solidFill>
                          <a:latin typeface="Courier New" pitchFamily="34" charset="0"/>
                          <a:ea typeface="Courier New" pitchFamily="34" charset="-122"/>
                          <a:cs typeface="Courier New" pitchFamily="34" charset="-120"/>
                        </a:rPr>
                        <a:t>Option</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C25E00"/>
                    </a:solidFill>
                  </a:tcPr>
                </a:tc>
                <a:tc>
                  <a:txBody>
                    <a:bodyPr/>
                    <a:lstStyle/>
                    <a:p>
                      <a:pPr indent="0" marL="0">
                        <a:buNone/>
                      </a:pPr>
                      <a:r>
                        <a:rPr lang="en-US" sz="1100" b="1" dirty="0">
                          <a:solidFill>
                            <a:srgbClr val="FFFFFF"/>
                          </a:solidFill>
                          <a:latin typeface="Poppins" pitchFamily="34" charset="0"/>
                          <a:ea typeface="Poppins" pitchFamily="34" charset="-122"/>
                          <a:cs typeface="Poppins" pitchFamily="34" charset="-120"/>
                        </a:rPr>
                        <a:t>decsdata_storage — part of rda-python-miscs</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C25E00"/>
                    </a:solidFill>
                  </a:tcPr>
                </a:tc>
              </a:tr>
              <a:tr h="365760">
                <a:tc>
                  <a:txBody>
                    <a:bodyPr/>
                    <a:lstStyle/>
                    <a:p>
                      <a:pPr indent="0" marL="0">
                        <a:buNone/>
                      </a:pPr>
                      <a:r>
                        <a:rPr lang="en-US" sz="1100" b="1" dirty="0">
                          <a:solidFill>
                            <a:srgbClr val="C25E00"/>
                          </a:solidFill>
                          <a:latin typeface="Courier New" pitchFamily="34" charset="0"/>
                          <a:ea typeface="Courier New" pitchFamily="34" charset="-122"/>
                          <a:cs typeface="Courier New" pitchFamily="34" charset="-120"/>
                        </a:rPr>
                        <a:t>-D &lt;date&gt;</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Names cold_storage_&lt;date&gt;; defaults to today</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C25E00"/>
                          </a:solidFill>
                          <a:latin typeface="Courier New" pitchFamily="34" charset="0"/>
                          <a:ea typeface="Courier New" pitchFamily="34" charset="-122"/>
                          <a:cs typeface="Courier New" pitchFamily="34" charset="-120"/>
                        </a:rPr>
                        <a:t>-w &lt;dir&gt;</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The decsdata directory; defaults to /gdex/decsdata</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r h="365760">
                <a:tc>
                  <a:txBody>
                    <a:bodyPr/>
                    <a:lstStyle/>
                    <a:p>
                      <a:pPr indent="0" marL="0">
                        <a:buNone/>
                      </a:pPr>
                      <a:r>
                        <a:rPr lang="en-US" sz="1100" b="1" dirty="0">
                          <a:solidFill>
                            <a:srgbClr val="C25E00"/>
                          </a:solidFill>
                          <a:latin typeface="Courier New" pitchFamily="34" charset="0"/>
                          <a:ea typeface="Courier New" pitchFamily="34" charset="-122"/>
                          <a:cs typeface="Courier New" pitchFamily="34" charset="-120"/>
                        </a:rPr>
                        <a:t>-d | -l</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Dataset IDs on the command line, or a list file</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C25E00"/>
                          </a:solidFill>
                          <a:latin typeface="Courier New" pitchFamily="34" charset="0"/>
                          <a:ea typeface="Courier New" pitchFamily="34" charset="-122"/>
                          <a:cs typeface="Courier New" pitchFamily="34" charset="-120"/>
                        </a:rPr>
                        <a:t>-x</a:t>
                      </a:r>
                      <a:endParaRPr lang="en-US" sz="1100" dirty="0">
                        <a:latin typeface="Courier New" charset="0"/>
                        <a:ea typeface="Courier New" charset="0"/>
                        <a:cs typeface="Courier New"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c>
                  <a:txBody>
                    <a:bodyPr/>
                    <a:lstStyle/>
                    <a:p>
                      <a:pPr indent="0" marL="0">
                        <a:buNone/>
                      </a:pPr>
                      <a:r>
                        <a:rPr lang="en-US" sz="1100" dirty="0">
                          <a:solidFill>
                            <a:srgbClr val="00357A"/>
                          </a:solidFill>
                          <a:latin typeface="Poppins" pitchFamily="34" charset="0"/>
                          <a:ea typeface="Poppins" pitchFamily="34" charset="-122"/>
                          <a:cs typeface="Poppins" pitchFamily="34" charset="-120"/>
                        </a:rPr>
                        <a:t>Mandatory — without it the help is shown</a:t>
                      </a:r>
                      <a:endParaRPr lang="en-US" sz="1100" dirty="0">
                        <a:latin typeface="Poppins" charset="0"/>
                        <a:ea typeface="Poppins" charset="0"/>
                        <a:cs typeface="Poppins" charset="0"/>
                      </a:endParaRPr>
                    </a:p>
                  </a:txBody>
                  <a:tcPr marL="64008" marR="64008" marT="0" marB="0" anchor="ctr">
                    <a:lnL w="6350" cap="flat" cmpd="sng" algn="ctr">
                      <a:solidFill>
                        <a:srgbClr val="A9D6F2"/>
                      </a:solidFill>
                      <a:prstDash val="solid"/>
                      <a:round/>
                      <a:headEnd type="none" w="med" len="med"/>
                      <a:tailEnd type="none" w="med" len="med"/>
                    </a:lnL>
                    <a:lnR w="6350" cap="flat" cmpd="sng" algn="ctr">
                      <a:solidFill>
                        <a:srgbClr val="A9D6F2"/>
                      </a:solidFill>
                      <a:prstDash val="solid"/>
                      <a:round/>
                      <a:headEnd type="none" w="med" len="med"/>
                      <a:tailEnd type="none" w="med" len="med"/>
                    </a:lnR>
                    <a:lnT w="6350" cap="flat" cmpd="sng" algn="ctr">
                      <a:solidFill>
                        <a:srgbClr val="A9D6F2"/>
                      </a:solidFill>
                      <a:prstDash val="solid"/>
                      <a:round/>
                      <a:headEnd type="none" w="med" len="med"/>
                      <a:tailEnd type="none" w="med" len="med"/>
                    </a:lnT>
                    <a:lnB w="6350" cap="flat" cmpd="sng" algn="ctr">
                      <a:solidFill>
                        <a:srgbClr val="A9D6F2"/>
                      </a:solidFill>
                      <a:prstDash val="solid"/>
                      <a:round/>
                      <a:headEnd type="none" w="med" len="med"/>
                      <a:tailEnd type="none" w="med" len="med"/>
                    </a:lnB>
                    <a:solidFill>
                      <a:srgbClr val="DCEBF7"/>
                    </a:solidFill>
                  </a:tcPr>
                </a:tc>
              </a:tr>
            </a:tbl>
          </a:graphicData>
        </a:graphic>
      </p:graphicFrame>
      <p:sp>
        <p:nvSpPr>
          <p:cNvPr id="24" name="Text 21"/>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29</a:t>
            </a:r>
            <a:endParaRPr lang="en-US" sz="950" dirty="0"/>
          </a:p>
        </p:txBody>
      </p:sp>
      <p:sp>
        <p:nvSpPr>
          <p:cNvPr id="25" name="Text 22"/>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200" b="1" spc="200" kern="0" dirty="0">
                <a:solidFill>
                  <a:srgbClr val="C25E00"/>
                </a:solidFill>
                <a:latin typeface="Poppins" pitchFamily="34" charset="0"/>
                <a:ea typeface="Poppins" pitchFamily="34" charset="-122"/>
                <a:cs typeface="Poppins" pitchFamily="34" charset="-120"/>
              </a:rPr>
              <a:t>COLD STORAGE</a:t>
            </a:r>
            <a:endParaRPr lang="en-US" sz="1200" dirty="0"/>
          </a:p>
        </p:txBody>
      </p:sp>
      <p:sp>
        <p:nvSpPr>
          <p:cNvPr id="3" name="Text 1"/>
          <p:cNvSpPr/>
          <p:nvPr/>
        </p:nvSpPr>
        <p:spPr>
          <a:xfrm>
            <a:off x="457200" y="658368"/>
            <a:ext cx="9326880" cy="640080"/>
          </a:xfrm>
          <a:prstGeom prst="rect">
            <a:avLst/>
          </a:prstGeom>
          <a:noFill/>
          <a:ln/>
        </p:spPr>
        <p:txBody>
          <a:bodyPr wrap="square" lIns="0" tIns="0" rIns="0" bIns="0" rtlCol="0" anchor="ctr"/>
          <a:lstStyle/>
          <a:p>
            <a:pPr indent="0" marL="0">
              <a:buNone/>
            </a:pPr>
            <a:r>
              <a:rPr lang="en-US" sz="2900" b="1" dirty="0">
                <a:solidFill>
                  <a:srgbClr val="00357A"/>
                </a:solidFill>
                <a:latin typeface="Poppins" pitchFamily="34" charset="0"/>
                <a:ea typeface="Poppins" pitchFamily="34" charset="-122"/>
                <a:cs typeface="Poppins" pitchFamily="34" charset="-120"/>
              </a:rPr>
              <a:t>decsdata_restore  —  Three Steps Off Tape</a:t>
            </a:r>
            <a:endParaRPr lang="en-US" sz="2900" dirty="0"/>
          </a:p>
        </p:txBody>
      </p:sp>
      <p:sp>
        <p:nvSpPr>
          <p:cNvPr id="4" name="Text 2"/>
          <p:cNvSpPr/>
          <p:nvPr/>
        </p:nvSpPr>
        <p:spPr>
          <a:xfrm>
            <a:off x="457200" y="1444752"/>
            <a:ext cx="11292840" cy="457200"/>
          </a:xfrm>
          <a:prstGeom prst="rect">
            <a:avLst/>
          </a:prstGeom>
          <a:noFill/>
          <a:ln/>
        </p:spPr>
        <p:txBody>
          <a:bodyPr wrap="square" lIns="0" tIns="0" rIns="0" bIns="0" rtlCol="0" anchor="t"/>
          <a:lstStyle/>
          <a:p>
            <a:pPr indent="0" marL="0">
              <a:lnSpc>
                <a:spcPct val="110000"/>
              </a:lnSpc>
              <a:buNone/>
            </a:pPr>
            <a:r>
              <a:rPr lang="en-US" sz="1450" dirty="0">
                <a:solidFill>
                  <a:srgbClr val="00357A"/>
                </a:solidFill>
                <a:latin typeface="Poppins" pitchFamily="34" charset="0"/>
                <a:ea typeface="Poppins" pitchFamily="34" charset="-122"/>
                <a:cs typeface="Poppins" pitchFamily="34" charset="-120"/>
              </a:rPr>
              <a:t>A recall is only a request: the HSM reads the tape later, on its own schedule. Restoring is therefore always three commands. Name a dataset, or a sub-path of one, and without -D every cold storage directory is searched, the newest first.</a:t>
            </a:r>
            <a:endParaRPr lang="en-US" sz="1450" dirty="0"/>
          </a:p>
        </p:txBody>
      </p:sp>
      <p:sp>
        <p:nvSpPr>
          <p:cNvPr id="5" name="Shape 3"/>
          <p:cNvSpPr/>
          <p:nvPr/>
        </p:nvSpPr>
        <p:spPr>
          <a:xfrm>
            <a:off x="457200" y="2011680"/>
            <a:ext cx="11292840" cy="777240"/>
          </a:xfrm>
          <a:prstGeom prst="roundRect">
            <a:avLst>
              <a:gd name="adj" fmla="val 5882"/>
            </a:avLst>
          </a:prstGeom>
          <a:solidFill>
            <a:srgbClr val="011837"/>
          </a:solidFill>
          <a:ln/>
        </p:spPr>
      </p:sp>
      <p:sp>
        <p:nvSpPr>
          <p:cNvPr id="6" name="Text 4"/>
          <p:cNvSpPr/>
          <p:nvPr/>
        </p:nvSpPr>
        <p:spPr>
          <a:xfrm>
            <a:off x="585216" y="2011680"/>
            <a:ext cx="11036808" cy="777240"/>
          </a:xfrm>
          <a:prstGeom prst="rect">
            <a:avLst/>
          </a:prstGeom>
          <a:noFill/>
          <a:ln/>
        </p:spPr>
        <p:txBody>
          <a:bodyPr wrap="square" lIns="0" tIns="0" rIns="0" bIns="0" rtlCol="0" anchor="ctr"/>
          <a:lstStyle/>
          <a:p>
            <a:pPr indent="0" marL="0">
              <a:lnSpc>
                <a:spcPct val="100000"/>
              </a:lnSpc>
              <a:buNone/>
            </a:pPr>
            <a:r>
              <a:rPr lang="en-US" sz="1150" dirty="0">
                <a:solidFill>
                  <a:srgbClr val="0097A7"/>
                </a:solidFill>
                <a:latin typeface="Courier New" pitchFamily="34" charset="0"/>
                <a:ea typeface="Courier New" pitchFamily="34" charset="-122"/>
                <a:cs typeface="Courier New" pitchFamily="34" charset="-120"/>
              </a:rPr>
              <a:t>decsdata_restore -d d612000/2020 -x      # 1. ask for it</a:t>
            </a:r>
            <a:endParaRPr lang="en-US" sz="1150" dirty="0"/>
          </a:p>
          <a:p>
            <a:pPr indent="0" marL="0">
              <a:lnSpc>
                <a:spcPct val="100000"/>
              </a:lnSpc>
              <a:buNone/>
            </a:pPr>
            <a:r>
              <a:rPr lang="en-US" sz="1150" dirty="0">
                <a:solidFill>
                  <a:srgbClr val="0097A7"/>
                </a:solidFill>
                <a:latin typeface="Courier New" pitchFamily="34" charset="0"/>
                <a:ea typeface="Courier New" pitchFamily="34" charset="-122"/>
                <a:cs typeface="Courier New" pitchFamily="34" charset="-120"/>
              </a:rPr>
              <a:t>decsdata_restore -d d612000/2020 -s      # 2. wait for it</a:t>
            </a:r>
            <a:endParaRPr lang="en-US" sz="1150" dirty="0"/>
          </a:p>
          <a:p>
            <a:pPr indent="0" marL="0">
              <a:lnSpc>
                <a:spcPct val="100000"/>
              </a:lnSpc>
              <a:buNone/>
            </a:pPr>
            <a:r>
              <a:rPr lang="en-US" sz="1150" dirty="0">
                <a:solidFill>
                  <a:srgbClr val="0097A7"/>
                </a:solidFill>
                <a:latin typeface="Courier New" pitchFamily="34" charset="0"/>
                <a:ea typeface="Courier New" pitchFamily="34" charset="-122"/>
                <a:cs typeface="Courier New" pitchFamily="34" charset="-120"/>
              </a:rPr>
              <a:t>decsdata_restore -d d612000/2020 -r      # 3. copy it back</a:t>
            </a:r>
            <a:endParaRPr lang="en-US" sz="1150" dirty="0"/>
          </a:p>
        </p:txBody>
      </p:sp>
      <p:sp>
        <p:nvSpPr>
          <p:cNvPr id="7" name="Shape 5"/>
          <p:cNvSpPr/>
          <p:nvPr/>
        </p:nvSpPr>
        <p:spPr>
          <a:xfrm>
            <a:off x="457200" y="2944368"/>
            <a:ext cx="11292840" cy="868680"/>
          </a:xfrm>
          <a:prstGeom prst="roundRect">
            <a:avLst>
              <a:gd name="adj" fmla="val 8421"/>
            </a:avLst>
          </a:prstGeom>
          <a:solidFill>
            <a:srgbClr val="DCEBF7"/>
          </a:solidFill>
          <a:ln/>
        </p:spPr>
      </p:sp>
      <p:sp>
        <p:nvSpPr>
          <p:cNvPr id="8" name="Shape 6"/>
          <p:cNvSpPr/>
          <p:nvPr/>
        </p:nvSpPr>
        <p:spPr>
          <a:xfrm>
            <a:off x="621792" y="3163824"/>
            <a:ext cx="685800" cy="420624"/>
          </a:xfrm>
          <a:prstGeom prst="roundRect">
            <a:avLst>
              <a:gd name="adj" fmla="val 13043"/>
            </a:avLst>
          </a:prstGeom>
          <a:solidFill>
            <a:srgbClr val="0057C2"/>
          </a:solidFill>
          <a:ln/>
        </p:spPr>
      </p:sp>
      <p:sp>
        <p:nvSpPr>
          <p:cNvPr id="9" name="Text 7"/>
          <p:cNvSpPr/>
          <p:nvPr/>
        </p:nvSpPr>
        <p:spPr>
          <a:xfrm>
            <a:off x="621792" y="3163824"/>
            <a:ext cx="68580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-x</a:t>
            </a:r>
            <a:endParaRPr lang="en-US" sz="1300" dirty="0"/>
          </a:p>
        </p:txBody>
      </p:sp>
      <p:sp>
        <p:nvSpPr>
          <p:cNvPr id="10" name="Text 8"/>
          <p:cNvSpPr/>
          <p:nvPr/>
        </p:nvSpPr>
        <p:spPr>
          <a:xfrm>
            <a:off x="1463040" y="2944368"/>
            <a:ext cx="1920240" cy="868680"/>
          </a:xfrm>
          <a:prstGeom prst="rect">
            <a:avLst/>
          </a:prstGeom>
          <a:noFill/>
          <a:ln/>
        </p:spPr>
        <p:txBody>
          <a:bodyPr wrap="square" lIns="0" tIns="0" rIns="0" bIns="0" rtlCol="0" anchor="ctr"/>
          <a:lstStyle/>
          <a:p>
            <a:pPr indent="0" marL="0">
              <a:buNone/>
            </a:pPr>
            <a:r>
              <a:rPr lang="en-US" sz="1250" b="1" dirty="0">
                <a:solidFill>
                  <a:srgbClr val="00357A"/>
                </a:solidFill>
                <a:latin typeface="Poppins" pitchFamily="34" charset="0"/>
                <a:ea typeface="Poppins" pitchFamily="34" charset="-122"/>
                <a:cs typeface="Poppins" pitchFamily="34" charset="-120"/>
              </a:rPr>
              <a:t>Request the recall</a:t>
            </a:r>
            <a:endParaRPr lang="en-US" sz="1250" dirty="0"/>
          </a:p>
        </p:txBody>
      </p:sp>
      <p:sp>
        <p:nvSpPr>
          <p:cNvPr id="11" name="Text 9"/>
          <p:cNvSpPr/>
          <p:nvPr/>
        </p:nvSpPr>
        <p:spPr>
          <a:xfrm>
            <a:off x="3429000" y="2944368"/>
            <a:ext cx="8138160" cy="868680"/>
          </a:xfrm>
          <a:prstGeom prst="rect">
            <a:avLst/>
          </a:prstGeom>
          <a:noFill/>
          <a:ln/>
        </p:spPr>
        <p:txBody>
          <a:bodyPr wrap="square" lIns="0" tIns="0" rIns="0" bIns="0" rtlCol="0" anchor="ctr"/>
          <a:lstStyle/>
          <a:p>
            <a:pPr indent="0" marL="0">
              <a:lnSpc>
                <a:spcPct val="100000"/>
              </a:lnSpc>
              <a:buNone/>
            </a:pPr>
            <a:r>
              <a:rPr lang="en-US" sz="1050" dirty="0">
                <a:solidFill>
                  <a:srgbClr val="53565A"/>
                </a:solidFill>
                <a:latin typeface="Poppins" pitchFamily="34" charset="0"/>
                <a:ea typeface="Poppins" pitchFamily="34" charset="-122"/>
                <a:cs typeface="Poppins" pitchFamily="34" charset="-120"/>
              </a:rPr>
              <a:t>Submits the glade_hsm recall request. First the restore size is added up from Table sfile in RDADB and compared with the free space gladequota reports — twice the size is required, since the recalled copy and the copy made by -r both live under the decsdata quota.</a:t>
            </a:r>
            <a:endParaRPr lang="en-US" sz="1050" dirty="0"/>
          </a:p>
        </p:txBody>
      </p:sp>
      <p:sp>
        <p:nvSpPr>
          <p:cNvPr id="12" name="Shape 10"/>
          <p:cNvSpPr/>
          <p:nvPr/>
        </p:nvSpPr>
        <p:spPr>
          <a:xfrm>
            <a:off x="457200" y="3886200"/>
            <a:ext cx="11292840" cy="868680"/>
          </a:xfrm>
          <a:prstGeom prst="roundRect">
            <a:avLst>
              <a:gd name="adj" fmla="val 8421"/>
            </a:avLst>
          </a:prstGeom>
          <a:solidFill>
            <a:srgbClr val="DCEBF7"/>
          </a:solidFill>
          <a:ln/>
        </p:spPr>
      </p:sp>
      <p:sp>
        <p:nvSpPr>
          <p:cNvPr id="13" name="Shape 11"/>
          <p:cNvSpPr/>
          <p:nvPr/>
        </p:nvSpPr>
        <p:spPr>
          <a:xfrm>
            <a:off x="621792" y="4105656"/>
            <a:ext cx="685800" cy="420624"/>
          </a:xfrm>
          <a:prstGeom prst="roundRect">
            <a:avLst>
              <a:gd name="adj" fmla="val 13043"/>
            </a:avLst>
          </a:prstGeom>
          <a:solidFill>
            <a:srgbClr val="0092DB"/>
          </a:solidFill>
          <a:ln/>
        </p:spPr>
      </p:sp>
      <p:sp>
        <p:nvSpPr>
          <p:cNvPr id="14" name="Text 12"/>
          <p:cNvSpPr/>
          <p:nvPr/>
        </p:nvSpPr>
        <p:spPr>
          <a:xfrm>
            <a:off x="621792" y="4105656"/>
            <a:ext cx="68580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-s</a:t>
            </a:r>
            <a:endParaRPr lang="en-US" sz="1300" dirty="0"/>
          </a:p>
        </p:txBody>
      </p:sp>
      <p:sp>
        <p:nvSpPr>
          <p:cNvPr id="15" name="Text 13"/>
          <p:cNvSpPr/>
          <p:nvPr/>
        </p:nvSpPr>
        <p:spPr>
          <a:xfrm>
            <a:off x="1463040" y="3886200"/>
            <a:ext cx="1920240" cy="868680"/>
          </a:xfrm>
          <a:prstGeom prst="rect">
            <a:avLst/>
          </a:prstGeom>
          <a:noFill/>
          <a:ln/>
        </p:spPr>
        <p:txBody>
          <a:bodyPr wrap="square" lIns="0" tIns="0" rIns="0" bIns="0" rtlCol="0" anchor="ctr"/>
          <a:lstStyle/>
          <a:p>
            <a:pPr indent="0" marL="0">
              <a:buNone/>
            </a:pPr>
            <a:r>
              <a:rPr lang="en-US" sz="1250" b="1" dirty="0">
                <a:solidFill>
                  <a:srgbClr val="00357A"/>
                </a:solidFill>
                <a:latin typeface="Poppins" pitchFamily="34" charset="0"/>
                <a:ea typeface="Poppins" pitchFamily="34" charset="-122"/>
                <a:cs typeface="Poppins" pitchFamily="34" charset="-120"/>
              </a:rPr>
              <a:t>Watch the status</a:t>
            </a:r>
            <a:endParaRPr lang="en-US" sz="1250" dirty="0"/>
          </a:p>
        </p:txBody>
      </p:sp>
      <p:sp>
        <p:nvSpPr>
          <p:cNvPr id="16" name="Text 14"/>
          <p:cNvSpPr/>
          <p:nvPr/>
        </p:nvSpPr>
        <p:spPr>
          <a:xfrm>
            <a:off x="3429000" y="3886200"/>
            <a:ext cx="8138160" cy="868680"/>
          </a:xfrm>
          <a:prstGeom prst="rect">
            <a:avLst/>
          </a:prstGeom>
          <a:noFill/>
          <a:ln/>
        </p:spPr>
        <p:txBody>
          <a:bodyPr wrap="square" lIns="0" tIns="0" rIns="0" bIns="0" rtlCol="0" anchor="ctr"/>
          <a:lstStyle/>
          <a:p>
            <a:pPr indent="0" marL="0">
              <a:lnSpc>
                <a:spcPct val="100000"/>
              </a:lnSpc>
              <a:buNone/>
            </a:pPr>
            <a:r>
              <a:rPr lang="en-US" sz="1050" dirty="0">
                <a:solidFill>
                  <a:srgbClr val="53565A"/>
                </a:solidFill>
                <a:latin typeface="Poppins" pitchFamily="34" charset="0"/>
                <a:ea typeface="Poppins" pitchFamily="34" charset="-122"/>
                <a:cs typeface="Poppins" pitchFamily="34" charset="-120"/>
              </a:rPr>
              <a:t>Reports how many files are still on tape, plus the log of any outstanding request. Repeat it until nothing is left offline.</a:t>
            </a:r>
            <a:endParaRPr lang="en-US" sz="1050" dirty="0"/>
          </a:p>
        </p:txBody>
      </p:sp>
      <p:sp>
        <p:nvSpPr>
          <p:cNvPr id="17" name="Shape 15"/>
          <p:cNvSpPr/>
          <p:nvPr/>
        </p:nvSpPr>
        <p:spPr>
          <a:xfrm>
            <a:off x="457200" y="4828032"/>
            <a:ext cx="11292840" cy="868680"/>
          </a:xfrm>
          <a:prstGeom prst="roundRect">
            <a:avLst>
              <a:gd name="adj" fmla="val 8421"/>
            </a:avLst>
          </a:prstGeom>
          <a:solidFill>
            <a:srgbClr val="DCEBF7"/>
          </a:solidFill>
          <a:ln/>
        </p:spPr>
      </p:sp>
      <p:sp>
        <p:nvSpPr>
          <p:cNvPr id="18" name="Shape 16"/>
          <p:cNvSpPr/>
          <p:nvPr/>
        </p:nvSpPr>
        <p:spPr>
          <a:xfrm>
            <a:off x="621792" y="5047488"/>
            <a:ext cx="685800" cy="420624"/>
          </a:xfrm>
          <a:prstGeom prst="roundRect">
            <a:avLst>
              <a:gd name="adj" fmla="val 13043"/>
            </a:avLst>
          </a:prstGeom>
          <a:solidFill>
            <a:srgbClr val="C25E00"/>
          </a:solidFill>
          <a:ln/>
        </p:spPr>
      </p:sp>
      <p:sp>
        <p:nvSpPr>
          <p:cNvPr id="19" name="Text 17"/>
          <p:cNvSpPr/>
          <p:nvPr/>
        </p:nvSpPr>
        <p:spPr>
          <a:xfrm>
            <a:off x="621792" y="5047488"/>
            <a:ext cx="68580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-r</a:t>
            </a:r>
            <a:endParaRPr lang="en-US" sz="1300" dirty="0"/>
          </a:p>
        </p:txBody>
      </p:sp>
      <p:sp>
        <p:nvSpPr>
          <p:cNvPr id="20" name="Text 18"/>
          <p:cNvSpPr/>
          <p:nvPr/>
        </p:nvSpPr>
        <p:spPr>
          <a:xfrm>
            <a:off x="1463040" y="4828032"/>
            <a:ext cx="1920240" cy="868680"/>
          </a:xfrm>
          <a:prstGeom prst="rect">
            <a:avLst/>
          </a:prstGeom>
          <a:noFill/>
          <a:ln/>
        </p:spPr>
        <p:txBody>
          <a:bodyPr wrap="square" lIns="0" tIns="0" rIns="0" bIns="0" rtlCol="0" anchor="ctr"/>
          <a:lstStyle/>
          <a:p>
            <a:pPr indent="0" marL="0">
              <a:buNone/>
            </a:pPr>
            <a:r>
              <a:rPr lang="en-US" sz="1250" b="1" dirty="0">
                <a:solidFill>
                  <a:srgbClr val="00357A"/>
                </a:solidFill>
                <a:latin typeface="Poppins" pitchFamily="34" charset="0"/>
                <a:ea typeface="Poppins" pitchFamily="34" charset="-122"/>
                <a:cs typeface="Poppins" pitchFamily="34" charset="-120"/>
              </a:rPr>
              <a:t>Copy it back</a:t>
            </a:r>
            <a:endParaRPr lang="en-US" sz="1250" dirty="0"/>
          </a:p>
        </p:txBody>
      </p:sp>
      <p:sp>
        <p:nvSpPr>
          <p:cNvPr id="21" name="Text 19"/>
          <p:cNvSpPr/>
          <p:nvPr/>
        </p:nvSpPr>
        <p:spPr>
          <a:xfrm>
            <a:off x="3429000" y="4828032"/>
            <a:ext cx="8138160" cy="868680"/>
          </a:xfrm>
          <a:prstGeom prst="rect">
            <a:avLst/>
          </a:prstGeom>
          <a:noFill/>
          <a:ln/>
        </p:spPr>
        <p:txBody>
          <a:bodyPr wrap="square" lIns="0" tIns="0" rIns="0" bIns="0" rtlCol="0" anchor="ctr"/>
          <a:lstStyle/>
          <a:p>
            <a:pPr indent="0" marL="0">
              <a:lnSpc>
                <a:spcPct val="100000"/>
              </a:lnSpc>
              <a:buNone/>
            </a:pPr>
            <a:r>
              <a:rPr lang="en-US" sz="1050" dirty="0">
                <a:solidFill>
                  <a:srgbClr val="53565A"/>
                </a:solidFill>
                <a:latin typeface="Poppins" pitchFamily="34" charset="0"/>
                <a:ea typeface="Poppins" pitchFamily="34" charset="-122"/>
                <a:cs typeface="Poppins" pitchFamily="34" charset="-120"/>
              </a:rPr>
              <a:t>Copies the recalled data back under &lt;decsdata&gt;/&lt;dsid&gt;, or under a target directory given after -r; a restored sub-path keeps its relative position. -f copies even while files are still on tape.</a:t>
            </a:r>
            <a:endParaRPr lang="en-US" sz="1050" dirty="0"/>
          </a:p>
        </p:txBody>
      </p:sp>
      <p:sp>
        <p:nvSpPr>
          <p:cNvPr id="22" name="Shape 20"/>
          <p:cNvSpPr/>
          <p:nvPr/>
        </p:nvSpPr>
        <p:spPr>
          <a:xfrm>
            <a:off x="457200" y="5815584"/>
            <a:ext cx="11292840" cy="502920"/>
          </a:xfrm>
          <a:prstGeom prst="roundRect">
            <a:avLst>
              <a:gd name="adj" fmla="val 14545"/>
            </a:avLst>
          </a:prstGeom>
          <a:solidFill>
            <a:srgbClr val="011837"/>
          </a:solidFill>
          <a:ln/>
        </p:spPr>
      </p:sp>
      <p:sp>
        <p:nvSpPr>
          <p:cNvPr id="23" name="Text 21"/>
          <p:cNvSpPr/>
          <p:nvPr/>
        </p:nvSpPr>
        <p:spPr>
          <a:xfrm>
            <a:off x="658368" y="5815584"/>
            <a:ext cx="10881360" cy="502920"/>
          </a:xfrm>
          <a:prstGeom prst="rect">
            <a:avLst/>
          </a:prstGeom>
          <a:noFill/>
          <a:ln/>
        </p:spPr>
        <p:txBody>
          <a:bodyPr wrap="square" lIns="0" tIns="0" rIns="0" bIns="0" rtlCol="0" anchor="ctr"/>
          <a:lstStyle/>
          <a:p>
            <a:pPr indent="0" marL="0">
              <a:buNone/>
            </a:pPr>
            <a:r>
              <a:rPr lang="en-US" sz="1150" b="1" dirty="0">
                <a:solidFill>
                  <a:srgbClr val="42C0FF"/>
                </a:solidFill>
                <a:latin typeface="Poppins" pitchFamily="34" charset="0"/>
                <a:ea typeface="Poppins" pitchFamily="34" charset="-122"/>
                <a:cs typeface="Poppins" pitchFamily="34" charset="-120"/>
              </a:rPr>
              <a:t>Seven-day window.  </a:t>
            </a:r>
            <a:pPr indent="0" marL="0">
              <a:buNone/>
            </a:pPr>
            <a:r>
              <a:rPr lang="en-US" sz="1150" dirty="0">
                <a:solidFill>
                  <a:srgbClr val="C3D7EE"/>
                </a:solidFill>
                <a:latin typeface="Poppins" pitchFamily="34" charset="0"/>
                <a:ea typeface="Poppins" pitchFamily="34" charset="-122"/>
                <a:cs typeface="Poppins" pitchFamily="34" charset="-120"/>
              </a:rPr>
              <a:t>Recalled files stay readable for 7 days and are then migrated back onto tape. -r leaves the cold copy in place, so taking a dataset out of the HSM for good means moving it out of the COLD_STORAGE path.</a:t>
            </a:r>
            <a:endParaRPr lang="en-US" sz="1150" dirty="0"/>
          </a:p>
        </p:txBody>
      </p:sp>
      <p:sp>
        <p:nvSpPr>
          <p:cNvPr id="24" name="Text 22"/>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30</a:t>
            </a:r>
            <a:endParaRPr lang="en-US" sz="950" dirty="0"/>
          </a:p>
        </p:txBody>
      </p:sp>
      <p:sp>
        <p:nvSpPr>
          <p:cNvPr id="25" name="Text 23"/>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00357A"/>
                </a:solidFill>
                <a:latin typeface="Poppins" pitchFamily="34" charset="0"/>
                <a:ea typeface="Poppins" pitchFamily="34" charset="-122"/>
                <a:cs typeface="Poppins" pitchFamily="34" charset="-120"/>
              </a:rPr>
              <a:t>DSQUASAR  •  QUASAR BACKUP GUIDE</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57C2"/>
        </a:solidFill>
      </p:bgPr>
    </p:bg>
    <p:spTree>
      <p:nvGrpSpPr>
        <p:cNvPr id="1" name=""/>
        <p:cNvGrpSpPr/>
        <p:nvPr/>
      </p:nvGrpSpPr>
      <p:grpSpPr>
        <a:xfrm>
          <a:off x="0" y="0"/>
          <a:ext cx="0" cy="0"/>
          <a:chOff x="0" y="0"/>
          <a:chExt cx="0" cy="0"/>
        </a:xfrm>
      </p:grpSpPr>
      <p:pic>
        <p:nvPicPr>
          <p:cNvPr id="2" name="Image 0" descr="interior_bg.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gdex_lockup_white.png">    </p:cNvPr>
          <p:cNvPicPr>
            <a:picLocks noChangeAspect="1"/>
          </p:cNvPicPr>
          <p:nvPr/>
        </p:nvPicPr>
        <p:blipFill>
          <a:blip r:embed="rId2"/>
          <a:stretch>
            <a:fillRect/>
          </a:stretch>
        </p:blipFill>
        <p:spPr>
          <a:xfrm>
            <a:off x="612648" y="365760"/>
            <a:ext cx="1024128" cy="521208"/>
          </a:xfrm>
          <a:prstGeom prst="rect">
            <a:avLst/>
          </a:prstGeom>
        </p:spPr>
      </p:pic>
      <p:pic>
        <p:nvPicPr>
          <p:cNvPr id="4" name="Image 2" descr="nsf_ncar_logo_white.png">    </p:cNvPr>
          <p:cNvPicPr>
            <a:picLocks noChangeAspect="1"/>
          </p:cNvPicPr>
          <p:nvPr/>
        </p:nvPicPr>
        <p:blipFill>
          <a:blip r:embed="rId3"/>
          <a:stretch>
            <a:fillRect/>
          </a:stretch>
        </p:blipFill>
        <p:spPr>
          <a:xfrm>
            <a:off x="9683496" y="393192"/>
            <a:ext cx="1892808" cy="521208"/>
          </a:xfrm>
          <a:prstGeom prst="rect">
            <a:avLst/>
          </a:prstGeom>
        </p:spPr>
      </p:pic>
      <p:sp>
        <p:nvSpPr>
          <p:cNvPr id="5" name="Text 0"/>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31</a:t>
            </a:r>
            <a:endParaRPr lang="en-US" sz="950" dirty="0"/>
          </a:p>
        </p:txBody>
      </p:sp>
      <p:sp>
        <p:nvSpPr>
          <p:cNvPr id="6" name="Shape 1"/>
          <p:cNvSpPr/>
          <p:nvPr/>
        </p:nvSpPr>
        <p:spPr>
          <a:xfrm>
            <a:off x="612648" y="6437376"/>
            <a:ext cx="0" cy="201168"/>
          </a:xfrm>
          <a:prstGeom prst="line">
            <a:avLst/>
          </a:prstGeom>
          <a:noFill/>
          <a:ln w="9525">
            <a:solidFill>
              <a:srgbClr val="FFFFFF"/>
            </a:solidFill>
            <a:prstDash val="solid"/>
          </a:ln>
        </p:spPr>
      </p:sp>
      <p:sp>
        <p:nvSpPr>
          <p:cNvPr id="7" name="Text 2"/>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DSQUASAR  •  QUASAR BACKUP GUIDE</a:t>
            </a:r>
            <a:endParaRPr lang="en-US" sz="950" dirty="0"/>
          </a:p>
        </p:txBody>
      </p:sp>
      <p:sp>
        <p:nvSpPr>
          <p:cNvPr id="8" name="Text 3"/>
          <p:cNvSpPr/>
          <p:nvPr/>
        </p:nvSpPr>
        <p:spPr>
          <a:xfrm>
            <a:off x="1527048" y="1060704"/>
            <a:ext cx="7315200" cy="320040"/>
          </a:xfrm>
          <a:prstGeom prst="rect">
            <a:avLst/>
          </a:prstGeom>
          <a:noFill/>
          <a:ln/>
        </p:spPr>
        <p:txBody>
          <a:bodyPr wrap="square" lIns="0" tIns="0" rIns="0" bIns="0" rtlCol="0" anchor="ctr"/>
          <a:lstStyle/>
          <a:p>
            <a:pPr indent="0" marL="0">
              <a:buNone/>
            </a:pPr>
            <a:r>
              <a:rPr lang="en-US" sz="1300" b="1" spc="200" kern="0" dirty="0">
                <a:solidFill>
                  <a:srgbClr val="42C0FF"/>
                </a:solidFill>
                <a:latin typeface="Poppins" pitchFamily="34" charset="0"/>
                <a:ea typeface="Poppins" pitchFamily="34" charset="-122"/>
                <a:cs typeface="Poppins" pitchFamily="34" charset="-120"/>
              </a:rPr>
              <a:t>RECAP</a:t>
            </a:r>
            <a:endParaRPr lang="en-US" sz="1300" dirty="0"/>
          </a:p>
        </p:txBody>
      </p:sp>
      <p:sp>
        <p:nvSpPr>
          <p:cNvPr id="9" name="Text 4"/>
          <p:cNvSpPr/>
          <p:nvPr/>
        </p:nvSpPr>
        <p:spPr>
          <a:xfrm>
            <a:off x="1527048" y="1408176"/>
            <a:ext cx="9144000" cy="731520"/>
          </a:xfrm>
          <a:prstGeom prst="rect">
            <a:avLst/>
          </a:prstGeom>
          <a:noFill/>
          <a:ln/>
        </p:spPr>
        <p:txBody>
          <a:bodyPr wrap="square" lIns="0" tIns="0" rIns="0" bIns="0" rtlCol="0" anchor="ctr"/>
          <a:lstStyle/>
          <a:p>
            <a:pPr indent="0" marL="0">
              <a:buNone/>
            </a:pPr>
            <a:r>
              <a:rPr lang="en-US" sz="4000" b="1" dirty="0">
                <a:solidFill>
                  <a:srgbClr val="FFFFFF"/>
                </a:solidFill>
                <a:latin typeface="Poppins" pitchFamily="34" charset="0"/>
                <a:ea typeface="Poppins" pitchFamily="34" charset="-122"/>
                <a:cs typeface="Poppins" pitchFamily="34" charset="-120"/>
              </a:rPr>
              <a:t>Six Things Worth Remembering</a:t>
            </a:r>
            <a:endParaRPr lang="en-US" sz="4000" dirty="0"/>
          </a:p>
        </p:txBody>
      </p:sp>
      <p:sp>
        <p:nvSpPr>
          <p:cNvPr id="10" name="Shape 5"/>
          <p:cNvSpPr/>
          <p:nvPr/>
        </p:nvSpPr>
        <p:spPr>
          <a:xfrm>
            <a:off x="822960" y="2450592"/>
            <a:ext cx="5120640" cy="1170432"/>
          </a:xfrm>
          <a:prstGeom prst="roundRect">
            <a:avLst>
              <a:gd name="adj" fmla="val 7813"/>
            </a:avLst>
          </a:prstGeom>
          <a:solidFill>
            <a:srgbClr val="00357A"/>
          </a:solidFill>
          <a:ln w="12700">
            <a:solidFill>
              <a:srgbClr val="2C6FB8"/>
            </a:solidFill>
            <a:prstDash val="solid"/>
          </a:ln>
        </p:spPr>
      </p:sp>
      <p:sp>
        <p:nvSpPr>
          <p:cNvPr id="11" name="Shape 6"/>
          <p:cNvSpPr/>
          <p:nvPr/>
        </p:nvSpPr>
        <p:spPr>
          <a:xfrm>
            <a:off x="1024128" y="2633472"/>
            <a:ext cx="402336" cy="402336"/>
          </a:xfrm>
          <a:prstGeom prst="ellipse">
            <a:avLst/>
          </a:prstGeom>
          <a:solidFill>
            <a:srgbClr val="42C0FF"/>
          </a:solidFill>
          <a:ln/>
        </p:spPr>
      </p:sp>
      <p:sp>
        <p:nvSpPr>
          <p:cNvPr id="12" name="Text 7"/>
          <p:cNvSpPr/>
          <p:nvPr/>
        </p:nvSpPr>
        <p:spPr>
          <a:xfrm>
            <a:off x="1024128" y="2633472"/>
            <a:ext cx="402336" cy="402336"/>
          </a:xfrm>
          <a:prstGeom prst="rect">
            <a:avLst/>
          </a:prstGeom>
          <a:noFill/>
          <a:ln/>
        </p:spPr>
        <p:txBody>
          <a:bodyPr wrap="square" lIns="0" tIns="0" rIns="0" bIns="0" rtlCol="0" anchor="ctr"/>
          <a:lstStyle/>
          <a:p>
            <a:pPr algn="ctr" indent="0" marL="0">
              <a:buNone/>
            </a:pPr>
            <a:r>
              <a:rPr lang="en-US" sz="1400" b="1" dirty="0">
                <a:solidFill>
                  <a:srgbClr val="00357A"/>
                </a:solidFill>
                <a:latin typeface="Poppins" pitchFamily="34" charset="0"/>
                <a:ea typeface="Poppins" pitchFamily="34" charset="-122"/>
                <a:cs typeface="Poppins" pitchFamily="34" charset="-120"/>
              </a:rPr>
              <a:t>1</a:t>
            </a:r>
            <a:endParaRPr lang="en-US" sz="1400" dirty="0"/>
          </a:p>
        </p:txBody>
      </p:sp>
      <p:sp>
        <p:nvSpPr>
          <p:cNvPr id="13" name="Text 8"/>
          <p:cNvSpPr/>
          <p:nvPr/>
        </p:nvSpPr>
        <p:spPr>
          <a:xfrm>
            <a:off x="1536192" y="2578608"/>
            <a:ext cx="4206240" cy="347472"/>
          </a:xfrm>
          <a:prstGeom prst="rect">
            <a:avLst/>
          </a:prstGeom>
          <a:noFill/>
          <a:ln/>
        </p:spPr>
        <p:txBody>
          <a:bodyPr wrap="square" lIns="0" tIns="0" rIns="0" bIns="0" rtlCol="0" anchor="ctr"/>
          <a:lstStyle/>
          <a:p>
            <a:pPr indent="0" marL="0">
              <a:buNone/>
            </a:pPr>
            <a:r>
              <a:rPr lang="en-US" sz="1300" b="1" dirty="0">
                <a:solidFill>
                  <a:srgbClr val="42C0FF"/>
                </a:solidFill>
                <a:latin typeface="Poppins" pitchFamily="34" charset="0"/>
                <a:ea typeface="Poppins" pitchFamily="34" charset="-122"/>
                <a:cs typeface="Poppins" pitchFamily="34" charset="-120"/>
              </a:rPr>
              <a:t>dataset.backflag enrolls</a:t>
            </a:r>
            <a:endParaRPr lang="en-US" sz="1300" dirty="0"/>
          </a:p>
        </p:txBody>
      </p:sp>
      <p:sp>
        <p:nvSpPr>
          <p:cNvPr id="14" name="Text 9"/>
          <p:cNvSpPr/>
          <p:nvPr/>
        </p:nvSpPr>
        <p:spPr>
          <a:xfrm>
            <a:off x="1536192" y="2944368"/>
            <a:ext cx="4206240" cy="585216"/>
          </a:xfrm>
          <a:prstGeom prst="rect">
            <a:avLst/>
          </a:prstGeom>
          <a:noFill/>
          <a:ln/>
        </p:spPr>
        <p:txBody>
          <a:bodyPr wrap="square" lIns="0" tIns="0" rIns="0" bIns="0" rtlCol="0" anchor="t"/>
          <a:lstStyle/>
          <a:p>
            <a:pPr indent="0" marL="0">
              <a:lnSpc>
                <a:spcPct val="105000"/>
              </a:lnSpc>
              <a:buNone/>
            </a:pPr>
            <a:r>
              <a:rPr lang="en-US" sz="1050" dirty="0">
                <a:solidFill>
                  <a:srgbClr val="D5E8FA"/>
                </a:solidFill>
                <a:latin typeface="Poppins" pitchFamily="34" charset="0"/>
                <a:ea typeface="Poppins" pitchFamily="34" charset="-122"/>
                <a:cs typeface="Poppins" pitchFamily="34" charset="-120"/>
              </a:rPr>
              <a:t>Setting that one field puts a dataset under backup; dsgroup.backflag refines it. -t narrows a run, it does not override a flag.</a:t>
            </a:r>
            <a:endParaRPr lang="en-US" sz="1050" dirty="0"/>
          </a:p>
        </p:txBody>
      </p:sp>
      <p:sp>
        <p:nvSpPr>
          <p:cNvPr id="15" name="Shape 10"/>
          <p:cNvSpPr/>
          <p:nvPr/>
        </p:nvSpPr>
        <p:spPr>
          <a:xfrm>
            <a:off x="6263640" y="2450592"/>
            <a:ext cx="5120640" cy="1170432"/>
          </a:xfrm>
          <a:prstGeom prst="roundRect">
            <a:avLst>
              <a:gd name="adj" fmla="val 7813"/>
            </a:avLst>
          </a:prstGeom>
          <a:solidFill>
            <a:srgbClr val="00357A"/>
          </a:solidFill>
          <a:ln w="12700">
            <a:solidFill>
              <a:srgbClr val="2C6FB8"/>
            </a:solidFill>
            <a:prstDash val="solid"/>
          </a:ln>
        </p:spPr>
      </p:sp>
      <p:sp>
        <p:nvSpPr>
          <p:cNvPr id="16" name="Shape 11"/>
          <p:cNvSpPr/>
          <p:nvPr/>
        </p:nvSpPr>
        <p:spPr>
          <a:xfrm>
            <a:off x="6464808" y="2633472"/>
            <a:ext cx="402336" cy="402336"/>
          </a:xfrm>
          <a:prstGeom prst="ellipse">
            <a:avLst/>
          </a:prstGeom>
          <a:solidFill>
            <a:srgbClr val="42C0FF"/>
          </a:solidFill>
          <a:ln/>
        </p:spPr>
      </p:sp>
      <p:sp>
        <p:nvSpPr>
          <p:cNvPr id="17" name="Text 12"/>
          <p:cNvSpPr/>
          <p:nvPr/>
        </p:nvSpPr>
        <p:spPr>
          <a:xfrm>
            <a:off x="6464808" y="2633472"/>
            <a:ext cx="402336" cy="402336"/>
          </a:xfrm>
          <a:prstGeom prst="rect">
            <a:avLst/>
          </a:prstGeom>
          <a:noFill/>
          <a:ln/>
        </p:spPr>
        <p:txBody>
          <a:bodyPr wrap="square" lIns="0" tIns="0" rIns="0" bIns="0" rtlCol="0" anchor="ctr"/>
          <a:lstStyle/>
          <a:p>
            <a:pPr algn="ctr" indent="0" marL="0">
              <a:buNone/>
            </a:pPr>
            <a:r>
              <a:rPr lang="en-US" sz="1400" b="1" dirty="0">
                <a:solidFill>
                  <a:srgbClr val="00357A"/>
                </a:solidFill>
                <a:latin typeface="Poppins" pitchFamily="34" charset="0"/>
                <a:ea typeface="Poppins" pitchFamily="34" charset="-122"/>
                <a:cs typeface="Poppins" pitchFamily="34" charset="-120"/>
              </a:rPr>
              <a:t>2</a:t>
            </a:r>
            <a:endParaRPr lang="en-US" sz="1400" dirty="0"/>
          </a:p>
        </p:txBody>
      </p:sp>
      <p:sp>
        <p:nvSpPr>
          <p:cNvPr id="18" name="Text 13"/>
          <p:cNvSpPr/>
          <p:nvPr/>
        </p:nvSpPr>
        <p:spPr>
          <a:xfrm>
            <a:off x="6976872" y="2578608"/>
            <a:ext cx="4206240" cy="347472"/>
          </a:xfrm>
          <a:prstGeom prst="rect">
            <a:avLst/>
          </a:prstGeom>
          <a:noFill/>
          <a:ln/>
        </p:spPr>
        <p:txBody>
          <a:bodyPr wrap="square" lIns="0" tIns="0" rIns="0" bIns="0" rtlCol="0" anchor="ctr"/>
          <a:lstStyle/>
          <a:p>
            <a:pPr indent="0" marL="0">
              <a:buNone/>
            </a:pPr>
            <a:r>
              <a:rPr lang="en-US" sz="1300" b="1" dirty="0">
                <a:solidFill>
                  <a:srgbClr val="42C0FF"/>
                </a:solidFill>
                <a:latin typeface="Poppins" pitchFamily="34" charset="0"/>
                <a:ea typeface="Poppins" pitchFamily="34" charset="-122"/>
                <a:cs typeface="Poppins" pitchFamily="34" charset="-120"/>
              </a:rPr>
              <a:t>-A 3 is the working default</a:t>
            </a:r>
            <a:endParaRPr lang="en-US" sz="1300" dirty="0"/>
          </a:p>
        </p:txBody>
      </p:sp>
      <p:sp>
        <p:nvSpPr>
          <p:cNvPr id="19" name="Text 14"/>
          <p:cNvSpPr/>
          <p:nvPr/>
        </p:nvSpPr>
        <p:spPr>
          <a:xfrm>
            <a:off x="6976872" y="2944368"/>
            <a:ext cx="4206240" cy="585216"/>
          </a:xfrm>
          <a:prstGeom prst="rect">
            <a:avLst/>
          </a:prstGeom>
          <a:noFill/>
          <a:ln/>
        </p:spPr>
        <p:txBody>
          <a:bodyPr wrap="square" lIns="0" tIns="0" rIns="0" bIns="0" rtlCol="0" anchor="t"/>
          <a:lstStyle/>
          <a:p>
            <a:pPr indent="0" marL="0">
              <a:lnSpc>
                <a:spcPct val="105000"/>
              </a:lnSpc>
              <a:buNone/>
            </a:pPr>
            <a:r>
              <a:rPr lang="en-US" sz="1050" dirty="0">
                <a:solidFill>
                  <a:srgbClr val="D5E8FA"/>
                </a:solidFill>
                <a:latin typeface="Poppins" pitchFamily="34" charset="0"/>
                <a:ea typeface="Poppins" pitchFamily="34" charset="-122"/>
                <a:cs typeface="Poppins" pitchFamily="34" charset="-120"/>
              </a:rPr>
              <a:t>Create the input lists and build the tars in one pass. -A 4 ships them. -A 7 does both.</a:t>
            </a:r>
            <a:endParaRPr lang="en-US" sz="1050" dirty="0"/>
          </a:p>
        </p:txBody>
      </p:sp>
      <p:sp>
        <p:nvSpPr>
          <p:cNvPr id="20" name="Shape 15"/>
          <p:cNvSpPr/>
          <p:nvPr/>
        </p:nvSpPr>
        <p:spPr>
          <a:xfrm>
            <a:off x="822960" y="3694176"/>
            <a:ext cx="5120640" cy="1170432"/>
          </a:xfrm>
          <a:prstGeom prst="roundRect">
            <a:avLst>
              <a:gd name="adj" fmla="val 7813"/>
            </a:avLst>
          </a:prstGeom>
          <a:solidFill>
            <a:srgbClr val="00357A"/>
          </a:solidFill>
          <a:ln w="12700">
            <a:solidFill>
              <a:srgbClr val="2C6FB8"/>
            </a:solidFill>
            <a:prstDash val="solid"/>
          </a:ln>
        </p:spPr>
      </p:sp>
      <p:sp>
        <p:nvSpPr>
          <p:cNvPr id="21" name="Shape 16"/>
          <p:cNvSpPr/>
          <p:nvPr/>
        </p:nvSpPr>
        <p:spPr>
          <a:xfrm>
            <a:off x="1024128" y="3877056"/>
            <a:ext cx="402336" cy="402336"/>
          </a:xfrm>
          <a:prstGeom prst="ellipse">
            <a:avLst/>
          </a:prstGeom>
          <a:solidFill>
            <a:srgbClr val="42C0FF"/>
          </a:solidFill>
          <a:ln/>
        </p:spPr>
      </p:sp>
      <p:sp>
        <p:nvSpPr>
          <p:cNvPr id="22" name="Text 17"/>
          <p:cNvSpPr/>
          <p:nvPr/>
        </p:nvSpPr>
        <p:spPr>
          <a:xfrm>
            <a:off x="1024128" y="3877056"/>
            <a:ext cx="402336" cy="402336"/>
          </a:xfrm>
          <a:prstGeom prst="rect">
            <a:avLst/>
          </a:prstGeom>
          <a:noFill/>
          <a:ln/>
        </p:spPr>
        <p:txBody>
          <a:bodyPr wrap="square" lIns="0" tIns="0" rIns="0" bIns="0" rtlCol="0" anchor="ctr"/>
          <a:lstStyle/>
          <a:p>
            <a:pPr algn="ctr" indent="0" marL="0">
              <a:buNone/>
            </a:pPr>
            <a:r>
              <a:rPr lang="en-US" sz="1400" b="1" dirty="0">
                <a:solidFill>
                  <a:srgbClr val="00357A"/>
                </a:solidFill>
                <a:latin typeface="Poppins" pitchFamily="34" charset="0"/>
                <a:ea typeface="Poppins" pitchFamily="34" charset="-122"/>
                <a:cs typeface="Poppins" pitchFamily="34" charset="-120"/>
              </a:rPr>
              <a:t>3</a:t>
            </a:r>
            <a:endParaRPr lang="en-US" sz="1400" dirty="0"/>
          </a:p>
        </p:txBody>
      </p:sp>
      <p:sp>
        <p:nvSpPr>
          <p:cNvPr id="23" name="Text 18"/>
          <p:cNvSpPr/>
          <p:nvPr/>
        </p:nvSpPr>
        <p:spPr>
          <a:xfrm>
            <a:off x="1536192" y="3822192"/>
            <a:ext cx="4206240" cy="347472"/>
          </a:xfrm>
          <a:prstGeom prst="rect">
            <a:avLst/>
          </a:prstGeom>
          <a:noFill/>
          <a:ln/>
        </p:spPr>
        <p:txBody>
          <a:bodyPr wrap="square" lIns="0" tIns="0" rIns="0" bIns="0" rtlCol="0" anchor="ctr"/>
          <a:lstStyle/>
          <a:p>
            <a:pPr indent="0" marL="0">
              <a:buNone/>
            </a:pPr>
            <a:r>
              <a:rPr lang="en-US" sz="1300" b="1" dirty="0">
                <a:solidFill>
                  <a:srgbClr val="42C0FF"/>
                </a:solidFill>
                <a:latin typeface="Poppins" pitchFamily="34" charset="0"/>
                <a:ea typeface="Poppins" pitchFamily="34" charset="-122"/>
                <a:cs typeface="Poppins" pitchFamily="34" charset="-120"/>
              </a:rPr>
              <a:t>Status is the whole story</a:t>
            </a:r>
            <a:endParaRPr lang="en-US" sz="1300" dirty="0"/>
          </a:p>
        </p:txBody>
      </p:sp>
      <p:sp>
        <p:nvSpPr>
          <p:cNvPr id="24" name="Text 19"/>
          <p:cNvSpPr/>
          <p:nvPr/>
        </p:nvSpPr>
        <p:spPr>
          <a:xfrm>
            <a:off x="1536192" y="4187952"/>
            <a:ext cx="4206240" cy="585216"/>
          </a:xfrm>
          <a:prstGeom prst="rect">
            <a:avLst/>
          </a:prstGeom>
          <a:noFill/>
          <a:ln/>
        </p:spPr>
        <p:txBody>
          <a:bodyPr wrap="square" lIns="0" tIns="0" rIns="0" bIns="0" rtlCol="0" anchor="t"/>
          <a:lstStyle/>
          <a:p>
            <a:pPr indent="0" marL="0">
              <a:lnSpc>
                <a:spcPct val="105000"/>
              </a:lnSpc>
              <a:buNone/>
            </a:pPr>
            <a:r>
              <a:rPr lang="en-US" sz="1050" dirty="0">
                <a:solidFill>
                  <a:srgbClr val="D5E8FA"/>
                </a:solidFill>
                <a:latin typeface="Poppins" pitchFamily="34" charset="0"/>
                <a:ea typeface="Poppins" pitchFamily="34" charset="-122"/>
                <a:cs typeface="Poppins" pitchFamily="34" charset="-120"/>
              </a:rPr>
              <a:t>N listed, T tarred, A archived. Backwards moves are deliberate and simply requeue the work.</a:t>
            </a:r>
            <a:endParaRPr lang="en-US" sz="1050" dirty="0"/>
          </a:p>
        </p:txBody>
      </p:sp>
      <p:sp>
        <p:nvSpPr>
          <p:cNvPr id="25" name="Shape 20"/>
          <p:cNvSpPr/>
          <p:nvPr/>
        </p:nvSpPr>
        <p:spPr>
          <a:xfrm>
            <a:off x="6263640" y="3694176"/>
            <a:ext cx="5120640" cy="1170432"/>
          </a:xfrm>
          <a:prstGeom prst="roundRect">
            <a:avLst>
              <a:gd name="adj" fmla="val 7813"/>
            </a:avLst>
          </a:prstGeom>
          <a:solidFill>
            <a:srgbClr val="00357A"/>
          </a:solidFill>
          <a:ln w="12700">
            <a:solidFill>
              <a:srgbClr val="2C6FB8"/>
            </a:solidFill>
            <a:prstDash val="solid"/>
          </a:ln>
        </p:spPr>
      </p:sp>
      <p:sp>
        <p:nvSpPr>
          <p:cNvPr id="26" name="Shape 21"/>
          <p:cNvSpPr/>
          <p:nvPr/>
        </p:nvSpPr>
        <p:spPr>
          <a:xfrm>
            <a:off x="6464808" y="3877056"/>
            <a:ext cx="402336" cy="402336"/>
          </a:xfrm>
          <a:prstGeom prst="ellipse">
            <a:avLst/>
          </a:prstGeom>
          <a:solidFill>
            <a:srgbClr val="42C0FF"/>
          </a:solidFill>
          <a:ln/>
        </p:spPr>
      </p:sp>
      <p:sp>
        <p:nvSpPr>
          <p:cNvPr id="27" name="Text 22"/>
          <p:cNvSpPr/>
          <p:nvPr/>
        </p:nvSpPr>
        <p:spPr>
          <a:xfrm>
            <a:off x="6464808" y="3877056"/>
            <a:ext cx="402336" cy="402336"/>
          </a:xfrm>
          <a:prstGeom prst="rect">
            <a:avLst/>
          </a:prstGeom>
          <a:noFill/>
          <a:ln/>
        </p:spPr>
        <p:txBody>
          <a:bodyPr wrap="square" lIns="0" tIns="0" rIns="0" bIns="0" rtlCol="0" anchor="ctr"/>
          <a:lstStyle/>
          <a:p>
            <a:pPr algn="ctr" indent="0" marL="0">
              <a:buNone/>
            </a:pPr>
            <a:r>
              <a:rPr lang="en-US" sz="1400" b="1" dirty="0">
                <a:solidFill>
                  <a:srgbClr val="00357A"/>
                </a:solidFill>
                <a:latin typeface="Poppins" pitchFamily="34" charset="0"/>
                <a:ea typeface="Poppins" pitchFamily="34" charset="-122"/>
                <a:cs typeface="Poppins" pitchFamily="34" charset="-120"/>
              </a:rPr>
              <a:t>4</a:t>
            </a:r>
            <a:endParaRPr lang="en-US" sz="1400" dirty="0"/>
          </a:p>
        </p:txBody>
      </p:sp>
      <p:sp>
        <p:nvSpPr>
          <p:cNvPr id="28" name="Text 23"/>
          <p:cNvSpPr/>
          <p:nvPr/>
        </p:nvSpPr>
        <p:spPr>
          <a:xfrm>
            <a:off x="6976872" y="3822192"/>
            <a:ext cx="4206240" cy="347472"/>
          </a:xfrm>
          <a:prstGeom prst="rect">
            <a:avLst/>
          </a:prstGeom>
          <a:noFill/>
          <a:ln/>
        </p:spPr>
        <p:txBody>
          <a:bodyPr wrap="square" lIns="0" tIns="0" rIns="0" bIns="0" rtlCol="0" anchor="ctr"/>
          <a:lstStyle/>
          <a:p>
            <a:pPr indent="0" marL="0">
              <a:buNone/>
            </a:pPr>
            <a:r>
              <a:rPr lang="en-US" sz="1300" b="1" dirty="0">
                <a:solidFill>
                  <a:srgbClr val="42C0FF"/>
                </a:solidFill>
                <a:latin typeface="Poppins" pitchFamily="34" charset="0"/>
                <a:ea typeface="Poppins" pitchFamily="34" charset="-122"/>
                <a:cs typeface="Poppins" pitchFamily="34" charset="-120"/>
              </a:rPr>
              <a:t>Tar size is the economics</a:t>
            </a:r>
            <a:endParaRPr lang="en-US" sz="1300" dirty="0"/>
          </a:p>
        </p:txBody>
      </p:sp>
      <p:sp>
        <p:nvSpPr>
          <p:cNvPr id="29" name="Text 24"/>
          <p:cNvSpPr/>
          <p:nvPr/>
        </p:nvSpPr>
        <p:spPr>
          <a:xfrm>
            <a:off x="6976872" y="4187952"/>
            <a:ext cx="4206240" cy="585216"/>
          </a:xfrm>
          <a:prstGeom prst="rect">
            <a:avLst/>
          </a:prstGeom>
          <a:noFill/>
          <a:ln/>
        </p:spPr>
        <p:txBody>
          <a:bodyPr wrap="square" lIns="0" tIns="0" rIns="0" bIns="0" rtlCol="0" anchor="t"/>
          <a:lstStyle/>
          <a:p>
            <a:pPr indent="0" marL="0">
              <a:lnSpc>
                <a:spcPct val="105000"/>
              </a:lnSpc>
              <a:buNone/>
            </a:pPr>
            <a:r>
              <a:rPr lang="en-US" sz="1050" dirty="0">
                <a:solidFill>
                  <a:srgbClr val="D5E8FA"/>
                </a:solidFill>
                <a:latin typeface="Poppins" pitchFamily="34" charset="0"/>
                <a:ea typeface="Poppins" pitchFamily="34" charset="-122"/>
                <a:cs typeface="Poppins" pitchFamily="34" charset="-120"/>
              </a:rPr>
              <a:t>5 GB target tars batched into 90 GB transfers is what makes tape and Globus efficient.</a:t>
            </a:r>
            <a:endParaRPr lang="en-US" sz="1050" dirty="0"/>
          </a:p>
        </p:txBody>
      </p:sp>
      <p:sp>
        <p:nvSpPr>
          <p:cNvPr id="30" name="Shape 25"/>
          <p:cNvSpPr/>
          <p:nvPr/>
        </p:nvSpPr>
        <p:spPr>
          <a:xfrm>
            <a:off x="822960" y="4937760"/>
            <a:ext cx="5120640" cy="1170432"/>
          </a:xfrm>
          <a:prstGeom prst="roundRect">
            <a:avLst>
              <a:gd name="adj" fmla="val 7813"/>
            </a:avLst>
          </a:prstGeom>
          <a:solidFill>
            <a:srgbClr val="00357A"/>
          </a:solidFill>
          <a:ln w="12700">
            <a:solidFill>
              <a:srgbClr val="2C6FB8"/>
            </a:solidFill>
            <a:prstDash val="solid"/>
          </a:ln>
        </p:spPr>
      </p:sp>
      <p:sp>
        <p:nvSpPr>
          <p:cNvPr id="31" name="Shape 26"/>
          <p:cNvSpPr/>
          <p:nvPr/>
        </p:nvSpPr>
        <p:spPr>
          <a:xfrm>
            <a:off x="1024128" y="5120640"/>
            <a:ext cx="402336" cy="402336"/>
          </a:xfrm>
          <a:prstGeom prst="ellipse">
            <a:avLst/>
          </a:prstGeom>
          <a:solidFill>
            <a:srgbClr val="42C0FF"/>
          </a:solidFill>
          <a:ln/>
        </p:spPr>
      </p:sp>
      <p:sp>
        <p:nvSpPr>
          <p:cNvPr id="32" name="Text 27"/>
          <p:cNvSpPr/>
          <p:nvPr/>
        </p:nvSpPr>
        <p:spPr>
          <a:xfrm>
            <a:off x="1024128" y="5120640"/>
            <a:ext cx="402336" cy="402336"/>
          </a:xfrm>
          <a:prstGeom prst="rect">
            <a:avLst/>
          </a:prstGeom>
          <a:noFill/>
          <a:ln/>
        </p:spPr>
        <p:txBody>
          <a:bodyPr wrap="square" lIns="0" tIns="0" rIns="0" bIns="0" rtlCol="0" anchor="ctr"/>
          <a:lstStyle/>
          <a:p>
            <a:pPr algn="ctr" indent="0" marL="0">
              <a:buNone/>
            </a:pPr>
            <a:r>
              <a:rPr lang="en-US" sz="1400" b="1" dirty="0">
                <a:solidFill>
                  <a:srgbClr val="00357A"/>
                </a:solidFill>
                <a:latin typeface="Poppins" pitchFamily="34" charset="0"/>
                <a:ea typeface="Poppins" pitchFamily="34" charset="-122"/>
                <a:cs typeface="Poppins" pitchFamily="34" charset="-120"/>
              </a:rPr>
              <a:t>5</a:t>
            </a:r>
            <a:endParaRPr lang="en-US" sz="1400" dirty="0"/>
          </a:p>
        </p:txBody>
      </p:sp>
      <p:sp>
        <p:nvSpPr>
          <p:cNvPr id="33" name="Text 28"/>
          <p:cNvSpPr/>
          <p:nvPr/>
        </p:nvSpPr>
        <p:spPr>
          <a:xfrm>
            <a:off x="1536192" y="5065776"/>
            <a:ext cx="4206240" cy="347472"/>
          </a:xfrm>
          <a:prstGeom prst="rect">
            <a:avLst/>
          </a:prstGeom>
          <a:noFill/>
          <a:ln/>
        </p:spPr>
        <p:txBody>
          <a:bodyPr wrap="square" lIns="0" tIns="0" rIns="0" bIns="0" rtlCol="0" anchor="ctr"/>
          <a:lstStyle/>
          <a:p>
            <a:pPr indent="0" marL="0">
              <a:buNone/>
            </a:pPr>
            <a:r>
              <a:rPr lang="en-US" sz="1300" b="1" dirty="0">
                <a:solidFill>
                  <a:srgbClr val="42C0FF"/>
                </a:solidFill>
                <a:latin typeface="Poppins" pitchFamily="34" charset="0"/>
                <a:ea typeface="Poppins" pitchFamily="34" charset="-122"/>
                <a:cs typeface="Poppins" pitchFamily="34" charset="-120"/>
              </a:rPr>
              <a:t>The dataset lock is the only lock</a:t>
            </a:r>
            <a:endParaRPr lang="en-US" sz="1300" dirty="0"/>
          </a:p>
        </p:txBody>
      </p:sp>
      <p:sp>
        <p:nvSpPr>
          <p:cNvPr id="34" name="Text 29"/>
          <p:cNvSpPr/>
          <p:nvPr/>
        </p:nvSpPr>
        <p:spPr>
          <a:xfrm>
            <a:off x="1536192" y="5431536"/>
            <a:ext cx="4206240" cy="585216"/>
          </a:xfrm>
          <a:prstGeom prst="rect">
            <a:avLst/>
          </a:prstGeom>
          <a:noFill/>
          <a:ln/>
        </p:spPr>
        <p:txBody>
          <a:bodyPr wrap="square" lIns="0" tIns="0" rIns="0" bIns="0" rtlCol="0" anchor="t"/>
          <a:lstStyle/>
          <a:p>
            <a:pPr indent="0" marL="0">
              <a:lnSpc>
                <a:spcPct val="105000"/>
              </a:lnSpc>
              <a:buNone/>
            </a:pPr>
            <a:r>
              <a:rPr lang="en-US" sz="1050" dirty="0">
                <a:solidFill>
                  <a:srgbClr val="D5E8FA"/>
                </a:solidFill>
                <a:latin typeface="Poppins" pitchFamily="34" charset="0"/>
                <a:ea typeface="Poppins" pitchFamily="34" charset="-122"/>
                <a:cs typeface="Poppins" pitchFamily="34" charset="-120"/>
              </a:rPr>
              <a:t>Everything about concurrency — workers, re-checks, multi-dataset tars — is built on it.</a:t>
            </a:r>
            <a:endParaRPr lang="en-US" sz="1050" dirty="0"/>
          </a:p>
        </p:txBody>
      </p:sp>
      <p:sp>
        <p:nvSpPr>
          <p:cNvPr id="35" name="Shape 30"/>
          <p:cNvSpPr/>
          <p:nvPr/>
        </p:nvSpPr>
        <p:spPr>
          <a:xfrm>
            <a:off x="6263640" y="4937760"/>
            <a:ext cx="5120640" cy="1170432"/>
          </a:xfrm>
          <a:prstGeom prst="roundRect">
            <a:avLst>
              <a:gd name="adj" fmla="val 7813"/>
            </a:avLst>
          </a:prstGeom>
          <a:solidFill>
            <a:srgbClr val="00357A"/>
          </a:solidFill>
          <a:ln w="12700">
            <a:solidFill>
              <a:srgbClr val="2C6FB8"/>
            </a:solidFill>
            <a:prstDash val="solid"/>
          </a:ln>
        </p:spPr>
      </p:sp>
      <p:sp>
        <p:nvSpPr>
          <p:cNvPr id="36" name="Shape 31"/>
          <p:cNvSpPr/>
          <p:nvPr/>
        </p:nvSpPr>
        <p:spPr>
          <a:xfrm>
            <a:off x="6464808" y="5120640"/>
            <a:ext cx="402336" cy="402336"/>
          </a:xfrm>
          <a:prstGeom prst="ellipse">
            <a:avLst/>
          </a:prstGeom>
          <a:solidFill>
            <a:srgbClr val="42C0FF"/>
          </a:solidFill>
          <a:ln/>
        </p:spPr>
      </p:sp>
      <p:sp>
        <p:nvSpPr>
          <p:cNvPr id="37" name="Text 32"/>
          <p:cNvSpPr/>
          <p:nvPr/>
        </p:nvSpPr>
        <p:spPr>
          <a:xfrm>
            <a:off x="6464808" y="5120640"/>
            <a:ext cx="402336" cy="402336"/>
          </a:xfrm>
          <a:prstGeom prst="rect">
            <a:avLst/>
          </a:prstGeom>
          <a:noFill/>
          <a:ln/>
        </p:spPr>
        <p:txBody>
          <a:bodyPr wrap="square" lIns="0" tIns="0" rIns="0" bIns="0" rtlCol="0" anchor="ctr"/>
          <a:lstStyle/>
          <a:p>
            <a:pPr algn="ctr" indent="0" marL="0">
              <a:buNone/>
            </a:pPr>
            <a:r>
              <a:rPr lang="en-US" sz="1400" b="1" dirty="0">
                <a:solidFill>
                  <a:srgbClr val="00357A"/>
                </a:solidFill>
                <a:latin typeface="Poppins" pitchFamily="34" charset="0"/>
                <a:ea typeface="Poppins" pitchFamily="34" charset="-122"/>
                <a:cs typeface="Poppins" pitchFamily="34" charset="-120"/>
              </a:rPr>
              <a:t>6</a:t>
            </a:r>
            <a:endParaRPr lang="en-US" sz="1400" dirty="0"/>
          </a:p>
        </p:txBody>
      </p:sp>
      <p:sp>
        <p:nvSpPr>
          <p:cNvPr id="38" name="Text 33"/>
          <p:cNvSpPr/>
          <p:nvPr/>
        </p:nvSpPr>
        <p:spPr>
          <a:xfrm>
            <a:off x="6976872" y="5065776"/>
            <a:ext cx="4206240" cy="347472"/>
          </a:xfrm>
          <a:prstGeom prst="rect">
            <a:avLst/>
          </a:prstGeom>
          <a:noFill/>
          <a:ln/>
        </p:spPr>
        <p:txBody>
          <a:bodyPr wrap="square" lIns="0" tIns="0" rIns="0" bIns="0" rtlCol="0" anchor="ctr"/>
          <a:lstStyle/>
          <a:p>
            <a:pPr indent="0" marL="0">
              <a:buNone/>
            </a:pPr>
            <a:r>
              <a:rPr lang="en-US" sz="1300" b="1" dirty="0">
                <a:solidFill>
                  <a:srgbClr val="42C0FF"/>
                </a:solidFill>
                <a:latin typeface="Poppins" pitchFamily="34" charset="0"/>
                <a:ea typeface="Poppins" pitchFamily="34" charset="-122"/>
                <a:cs typeface="Poppins" pitchFamily="34" charset="-120"/>
              </a:rPr>
              <a:t>Nothing is lost by stopping</a:t>
            </a:r>
            <a:endParaRPr lang="en-US" sz="1300" dirty="0"/>
          </a:p>
        </p:txBody>
      </p:sp>
      <p:sp>
        <p:nvSpPr>
          <p:cNvPr id="39" name="Text 34"/>
          <p:cNvSpPr/>
          <p:nvPr/>
        </p:nvSpPr>
        <p:spPr>
          <a:xfrm>
            <a:off x="6976872" y="5431536"/>
            <a:ext cx="4206240" cy="585216"/>
          </a:xfrm>
          <a:prstGeom prst="rect">
            <a:avLst/>
          </a:prstGeom>
          <a:noFill/>
          <a:ln/>
        </p:spPr>
        <p:txBody>
          <a:bodyPr wrap="square" lIns="0" tIns="0" rIns="0" bIns="0" rtlCol="0" anchor="t"/>
          <a:lstStyle/>
          <a:p>
            <a:pPr indent="0" marL="0">
              <a:lnSpc>
                <a:spcPct val="105000"/>
              </a:lnSpc>
              <a:buNone/>
            </a:pPr>
            <a:r>
              <a:rPr lang="en-US" sz="1050" dirty="0">
                <a:solidFill>
                  <a:srgbClr val="D5E8FA"/>
                </a:solidFill>
                <a:latin typeface="Poppins" pitchFamily="34" charset="0"/>
                <a:ea typeface="Poppins" pitchFamily="34" charset="-122"/>
                <a:cs typeface="Poppins" pitchFamily="34" charset="-120"/>
              </a:rPr>
              <a:t>The 23-hour guard, the retry limit and the resumable statuses mean an interrupted run just continues later.</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57C2"/>
        </a:solidFill>
      </p:bgPr>
    </p:bg>
    <p:spTree>
      <p:nvGrpSpPr>
        <p:cNvPr id="1" name=""/>
        <p:cNvGrpSpPr/>
        <p:nvPr/>
      </p:nvGrpSpPr>
      <p:grpSpPr>
        <a:xfrm>
          <a:off x="0" y="0"/>
          <a:ext cx="0" cy="0"/>
          <a:chOff x="0" y="0"/>
          <a:chExt cx="0" cy="0"/>
        </a:xfrm>
      </p:grpSpPr>
      <p:pic>
        <p:nvPicPr>
          <p:cNvPr id="2" name="Image 0" descr="interior_bg.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gdex_lockup_white.png">    </p:cNvPr>
          <p:cNvPicPr>
            <a:picLocks noChangeAspect="1"/>
          </p:cNvPicPr>
          <p:nvPr/>
        </p:nvPicPr>
        <p:blipFill>
          <a:blip r:embed="rId2"/>
          <a:stretch>
            <a:fillRect/>
          </a:stretch>
        </p:blipFill>
        <p:spPr>
          <a:xfrm>
            <a:off x="612648" y="365760"/>
            <a:ext cx="1024128" cy="521208"/>
          </a:xfrm>
          <a:prstGeom prst="rect">
            <a:avLst/>
          </a:prstGeom>
        </p:spPr>
      </p:pic>
      <p:pic>
        <p:nvPicPr>
          <p:cNvPr id="4" name="Image 2" descr="nsf_ncar_logo_white.png">    </p:cNvPr>
          <p:cNvPicPr>
            <a:picLocks noChangeAspect="1"/>
          </p:cNvPicPr>
          <p:nvPr/>
        </p:nvPicPr>
        <p:blipFill>
          <a:blip r:embed="rId3"/>
          <a:stretch>
            <a:fillRect/>
          </a:stretch>
        </p:blipFill>
        <p:spPr>
          <a:xfrm>
            <a:off x="9683496" y="393192"/>
            <a:ext cx="1892808" cy="521208"/>
          </a:xfrm>
          <a:prstGeom prst="rect">
            <a:avLst/>
          </a:prstGeom>
        </p:spPr>
      </p:pic>
      <p:sp>
        <p:nvSpPr>
          <p:cNvPr id="5" name="Text 0"/>
          <p:cNvSpPr/>
          <p:nvPr/>
        </p:nvSpPr>
        <p:spPr>
          <a:xfrm>
            <a:off x="256032" y="6446520"/>
            <a:ext cx="365760" cy="274320"/>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32</a:t>
            </a:r>
            <a:endParaRPr lang="en-US" sz="950" dirty="0"/>
          </a:p>
        </p:txBody>
      </p:sp>
      <p:sp>
        <p:nvSpPr>
          <p:cNvPr id="6" name="Shape 1"/>
          <p:cNvSpPr/>
          <p:nvPr/>
        </p:nvSpPr>
        <p:spPr>
          <a:xfrm>
            <a:off x="612648" y="6437376"/>
            <a:ext cx="0" cy="201168"/>
          </a:xfrm>
          <a:prstGeom prst="line">
            <a:avLst/>
          </a:prstGeom>
          <a:noFill/>
          <a:ln w="9525">
            <a:solidFill>
              <a:srgbClr val="FFFFFF"/>
            </a:solidFill>
            <a:prstDash val="solid"/>
          </a:ln>
        </p:spPr>
      </p:sp>
      <p:sp>
        <p:nvSpPr>
          <p:cNvPr id="7" name="Text 2"/>
          <p:cNvSpPr/>
          <p:nvPr/>
        </p:nvSpPr>
        <p:spPr>
          <a:xfrm>
            <a:off x="786384" y="6446520"/>
            <a:ext cx="5486400" cy="274320"/>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DSQUASAR  •  QUASAR BACKUP GUIDE</a:t>
            </a:r>
            <a:endParaRPr lang="en-US" sz="950" dirty="0"/>
          </a:p>
        </p:txBody>
      </p:sp>
      <p:sp>
        <p:nvSpPr>
          <p:cNvPr id="8" name="Text 3"/>
          <p:cNvSpPr/>
          <p:nvPr/>
        </p:nvSpPr>
        <p:spPr>
          <a:xfrm>
            <a:off x="1527048" y="1078992"/>
            <a:ext cx="9144000" cy="2743200"/>
          </a:xfrm>
          <a:prstGeom prst="rect">
            <a:avLst/>
          </a:prstGeom>
          <a:noFill/>
          <a:ln/>
        </p:spPr>
        <p:txBody>
          <a:bodyPr wrap="square" lIns="0" tIns="0" rIns="0" bIns="0" rtlCol="0" anchor="b"/>
          <a:lstStyle/>
          <a:p>
            <a:pPr indent="0" marL="0">
              <a:buNone/>
            </a:pPr>
            <a:r>
              <a:rPr lang="en-US" sz="5400" b="1" dirty="0">
                <a:solidFill>
                  <a:srgbClr val="FFFFFF"/>
                </a:solidFill>
                <a:latin typeface="Poppins" pitchFamily="34" charset="0"/>
                <a:ea typeface="Poppins" pitchFamily="34" charset="-122"/>
                <a:cs typeface="Poppins" pitchFamily="34" charset="-120"/>
              </a:rPr>
              <a:t>Any Questions?</a:t>
            </a:r>
            <a:endParaRPr lang="en-US" sz="5400" dirty="0"/>
          </a:p>
        </p:txBody>
      </p:sp>
      <p:sp>
        <p:nvSpPr>
          <p:cNvPr id="9" name="Shape 4"/>
          <p:cNvSpPr/>
          <p:nvPr/>
        </p:nvSpPr>
        <p:spPr>
          <a:xfrm>
            <a:off x="1527048" y="4160520"/>
            <a:ext cx="804672" cy="0"/>
          </a:xfrm>
          <a:prstGeom prst="line">
            <a:avLst/>
          </a:prstGeom>
          <a:noFill/>
          <a:ln w="38100">
            <a:solidFill>
              <a:srgbClr val="42C0FF"/>
            </a:solidFill>
            <a:prstDash val="solid"/>
          </a:ln>
        </p:spPr>
      </p:sp>
      <p:sp>
        <p:nvSpPr>
          <p:cNvPr id="10" name="Text 5"/>
          <p:cNvSpPr/>
          <p:nvPr/>
        </p:nvSpPr>
        <p:spPr>
          <a:xfrm>
            <a:off x="1527048" y="4434840"/>
            <a:ext cx="9144000" cy="457200"/>
          </a:xfrm>
          <a:prstGeom prst="rect">
            <a:avLst/>
          </a:prstGeom>
          <a:noFill/>
          <a:ln/>
        </p:spPr>
        <p:txBody>
          <a:bodyPr wrap="square" lIns="0" tIns="0" rIns="0" bIns="0" rtlCol="0" anchor="ctr"/>
          <a:lstStyle/>
          <a:p>
            <a:pPr indent="0" marL="0">
              <a:buNone/>
            </a:pPr>
            <a:r>
              <a:rPr lang="en-US" sz="1600" dirty="0">
                <a:solidFill>
                  <a:srgbClr val="D5E8FA"/>
                </a:solidFill>
                <a:latin typeface="Poppins" pitchFamily="34" charset="0"/>
                <a:ea typeface="Poppins" pitchFamily="34" charset="-122"/>
                <a:cs typeface="Poppins" pitchFamily="34" charset="-120"/>
              </a:rPr>
              <a:t>Thank you — dsquasar keeps a tape copy of the whole GDEX archive, run after run.</a:t>
            </a:r>
            <a:endParaRPr lang="en-US" sz="1600" dirty="0"/>
          </a:p>
        </p:txBody>
      </p:sp>
      <p:sp>
        <p:nvSpPr>
          <p:cNvPr id="11" name="Shape 6"/>
          <p:cNvSpPr/>
          <p:nvPr/>
        </p:nvSpPr>
        <p:spPr>
          <a:xfrm>
            <a:off x="1527048" y="5166360"/>
            <a:ext cx="9144000" cy="685800"/>
          </a:xfrm>
          <a:prstGeom prst="roundRect">
            <a:avLst>
              <a:gd name="adj" fmla="val 13333"/>
            </a:avLst>
          </a:prstGeom>
          <a:solidFill>
            <a:srgbClr val="00357A"/>
          </a:solidFill>
          <a:ln w="12700">
            <a:solidFill>
              <a:srgbClr val="42C0FF"/>
            </a:solidFill>
            <a:prstDash val="solid"/>
          </a:ln>
        </p:spPr>
      </p:sp>
      <p:sp>
        <p:nvSpPr>
          <p:cNvPr id="12" name="Text 7"/>
          <p:cNvSpPr/>
          <p:nvPr/>
        </p:nvSpPr>
        <p:spPr>
          <a:xfrm>
            <a:off x="1755648" y="5166360"/>
            <a:ext cx="8686800" cy="685800"/>
          </a:xfrm>
          <a:prstGeom prst="rect">
            <a:avLst/>
          </a:prstGeom>
          <a:noFill/>
          <a:ln/>
        </p:spPr>
        <p:txBody>
          <a:bodyPr wrap="square" lIns="0" tIns="0" rIns="0" bIns="0" rtlCol="0" anchor="ctr"/>
          <a:lstStyle/>
          <a:p>
            <a:pPr indent="0" marL="0">
              <a:buNone/>
            </a:pPr>
            <a:r>
              <a:rPr lang="en-US" sz="1250" dirty="0">
                <a:solidFill>
                  <a:srgbClr val="D5E8FA"/>
                </a:solidFill>
                <a:latin typeface="Poppins" pitchFamily="34" charset="0"/>
                <a:ea typeface="Poppins" pitchFamily="34" charset="-122"/>
                <a:cs typeface="Poppins" pitchFamily="34" charset="-120"/>
              </a:rPr>
              <a:t>Zaihua Ji   •   zji@ucar.edu   •   </a:t>
            </a:r>
            <a:pPr indent="0" marL="0">
              <a:buNone/>
            </a:pPr>
            <a:r>
              <a:rPr lang="en-US" sz="1250" dirty="0">
                <a:solidFill>
                  <a:srgbClr val="FFFFFF"/>
                </a:solidFill>
                <a:latin typeface="Courier New" pitchFamily="34" charset="0"/>
                <a:ea typeface="Courier New" pitchFamily="34" charset="-122"/>
                <a:cs typeface="Courier New" pitchFamily="34" charset="-120"/>
              </a:rPr>
              <a:t>dsquasar -h</a:t>
            </a:r>
            <a:pPr indent="0" marL="0">
              <a:buNone/>
            </a:pPr>
            <a:r>
              <a:rPr lang="en-US" sz="1250" dirty="0">
                <a:solidFill>
                  <a:srgbClr val="D5E8FA"/>
                </a:solidFill>
                <a:latin typeface="Poppins" pitchFamily="34" charset="0"/>
                <a:ea typeface="Poppins" pitchFamily="34" charset="-122"/>
                <a:cs typeface="Poppins" pitchFamily="34" charset="-120"/>
              </a:rPr>
              <a:t>   •   dsquasar.usg   •   </a:t>
            </a:r>
            <a:pPr indent="0" marL="0">
              <a:buNone/>
            </a:pPr>
            <a:r>
              <a:rPr lang="en-US" sz="1250" u="sng" dirty="0">
                <a:solidFill>
                  <a:srgbClr val="D5E8FA"/>
                </a:solidFill>
                <a:latin typeface="Poppins" pitchFamily="34" charset="0"/>
                <a:ea typeface="Poppins" pitchFamily="34" charset="-122"/>
                <a:cs typeface="Poppi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github.com/NCAR/rda-python-dsquasar</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2026-10-19T18:00:39Z</dcterms:created>
  <dcterms:modified xsi:type="dcterms:W3CDTF">2026-10-19T18:00:39Z</dcterms:modified>
</cp:coreProperties>
</file>